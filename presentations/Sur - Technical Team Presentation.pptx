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گس</c:v>
                </c:pt>
              </c:strCache>
            </c:strRef>
          </c:tx>
          <c:spPr>
            <a:solidFill>
              <a:srgbClr val="2F3690"/>
            </a:solidFill>
            <a:effectLst/>
          </c:spPr>
          <c:invertIfNegative val="0"/>
          <c:dLbls>
            <c:numFmt formatCode="#,##0" sourceLinked="0"/>
            <c:txPr>
              <a:bodyPr/>
              <a:lstStyle/>
              <a:p>
                <a:pPr>
                  <a:defRPr b="0" i="0" strike="noStrike" sz="1100" u="none">
                    <a:solidFill>
                      <a:srgbClr val="1B1B2F"/>
                    </a:solidFill>
                    <a:latin typeface="Vazirmatn"/>
                  </a:defRPr>
                </a:pPr>
              </a:p>
            </c:txPr>
            <c:showLegendKey val="0"/>
            <c:showVal val="1"/>
            <c:showCatName val="0"/>
            <c:showSerName val="0"/>
            <c:showPercent val="0"/>
            <c:showBubbleSize val="0"/>
            <c:showLeaderLines val="0"/>
          </c:dLbls>
          <c:cat>
            <c:multiLvlStrRef>
              <c:f>Sheet1!$A$2:$A$8</c:f>
              <c:multiLvlStrCache>
                <c:ptCount val="7"/>
                <c:lvl>
                  <c:pt idx="0">
                    <c:v>k=۰</c:v>
                  </c:pt>
                  <c:pt idx="1">
                    <c:v>k=۱</c:v>
                  </c:pt>
                  <c:pt idx="2">
                    <c:v>k=۵</c:v>
                  </c:pt>
                  <c:pt idx="3">
                    <c:v>k=۲۰</c:v>
                  </c:pt>
                  <c:pt idx="4">
                    <c:v>k=۴۰</c:v>
                  </c:pt>
                  <c:pt idx="5">
                    <c:v>k=۱۰۰</c:v>
                  </c:pt>
                  <c:pt idx="6">
                    <c:v>k=۳۹۹</c:v>
                  </c:pt>
                </c:lvl>
              </c:multiLvlStrCache>
            </c:multiLvlStrRef>
          </c:cat>
          <c:val>
            <c:numRef>
              <c:f>Sheet1!$B$2:$B$8</c:f>
              <c:numCache>
                <c:formatCode>General</c:formatCode>
                <c:ptCount val="7"/>
                <c:pt idx="0">
                  <c:v>45689</c:v>
                </c:pt>
                <c:pt idx="1">
                  <c:v>49033</c:v>
                </c:pt>
                <c:pt idx="2">
                  <c:v>56173</c:v>
                </c:pt>
                <c:pt idx="3">
                  <c:v>96484</c:v>
                </c:pt>
                <c:pt idx="4">
                  <c:v>152497</c:v>
                </c:pt>
                <c:pt idx="5">
                  <c:v>326289</c:v>
                </c:pt>
                <c:pt idx="6">
                  <c:v>1160454</c:v>
                </c:pt>
              </c:numCache>
            </c:numRef>
          </c:val>
        </c:ser>
        <c:dLbls>
          <c:numFmt formatCode="#,##0" sourceLinked="0"/>
          <c:txPr>
            <a:bodyPr/>
            <a:lstStyle/>
            <a:p>
              <a:pPr>
                <a:defRPr b="0" i="0" strike="noStrike" sz="1100" u="none">
                  <a:solidFill>
                    <a:srgbClr val="1B1B2F"/>
                  </a:solidFill>
                  <a:latin typeface="Vazirmatn"/>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65D7A"/>
                </a:solidFill>
                <a:latin typeface="Vazirmatn"/>
              </a:defRPr>
            </a:pPr>
            <a:endParaRPr lang="en-US"/>
          </a:p>
        </c:txPr>
        <c:crossAx val="2094734552"/>
        <c:crosses val="autoZero"/>
        <c:auto val="1"/>
        <c:lblAlgn val="ctr"/>
        <c:noMultiLvlLbl val="1"/>
      </c:catAx>
      <c:valAx>
        <c:axId val="2094734552"/>
        <c:scaling>
          <c:orientation val="minMax"/>
          <c:max val="1300000"/>
          <c:min val="0"/>
        </c:scaling>
        <c:delete val="0"/>
        <c:axPos val="l"/>
        <c:majorGridlines>
          <c:spPr>
            <a:ln w="9525" cap="flat">
              <a:solidFill>
                <a:srgbClr val="DDE1EE"/>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65D7A"/>
                </a:solidFill>
                <a:latin typeface="Vazirmatn"/>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F3690"/>
        </a:solidFill>
      </p:bgPr>
    </p:bg>
    <p:spTree>
      <p:nvGrpSpPr>
        <p:cNvPr id="1" name=""/>
        <p:cNvGrpSpPr/>
        <p:nvPr/>
      </p:nvGrpSpPr>
      <p:grpSpPr>
        <a:xfrm>
          <a:off x="0" y="0"/>
          <a:ext cx="0" cy="0"/>
          <a:chOff x="0" y="0"/>
          <a:chExt cx="0" cy="0"/>
        </a:xfrm>
      </p:grpSpPr>
      <p:sp>
        <p:nvSpPr>
          <p:cNvPr id="2" name="Shape 0"/>
          <p:cNvSpPr/>
          <p:nvPr/>
        </p:nvSpPr>
        <p:spPr>
          <a:xfrm>
            <a:off x="-1645920" y="3840480"/>
            <a:ext cx="5120640" cy="5120640"/>
          </a:xfrm>
          <a:prstGeom prst="ellipse">
            <a:avLst/>
          </a:prstGeom>
          <a:solidFill>
            <a:srgbClr val="3D46A8">
              <a:alpha val="45000"/>
            </a:srgbClr>
          </a:solidFill>
          <a:ln w="12700">
            <a:solidFill>
              <a:srgbClr val="3D46A8"/>
            </a:solidFill>
            <a:prstDash val="solid"/>
          </a:ln>
        </p:spPr>
      </p:sp>
      <p:sp>
        <p:nvSpPr>
          <p:cNvPr id="3" name="Shape 1"/>
          <p:cNvSpPr/>
          <p:nvPr/>
        </p:nvSpPr>
        <p:spPr>
          <a:xfrm>
            <a:off x="7863840" y="-2011680"/>
            <a:ext cx="4937760" cy="4937760"/>
          </a:xfrm>
          <a:prstGeom prst="ellipse">
            <a:avLst/>
          </a:prstGeom>
          <a:solidFill>
            <a:srgbClr val="3D46A8">
              <a:alpha val="30000"/>
            </a:srgbClr>
          </a:solidFill>
          <a:ln w="12700">
            <a:solidFill>
              <a:srgbClr val="3D46A8"/>
            </a:solidFill>
            <a:prstDash val="solid"/>
          </a:ln>
        </p:spPr>
      </p:sp>
      <p:sp>
        <p:nvSpPr>
          <p:cNvPr id="4" name="Shape 2"/>
          <p:cNvSpPr/>
          <p:nvPr/>
        </p:nvSpPr>
        <p:spPr>
          <a:xfrm>
            <a:off x="9997135" y="685800"/>
            <a:ext cx="1371600" cy="1371600"/>
          </a:xfrm>
          <a:prstGeom prst="ellipse">
            <a:avLst/>
          </a:prstGeom>
          <a:solidFill>
            <a:srgbClr val="FFFFFF"/>
          </a:solidFill>
          <a:ln w="12700">
            <a:solidFill>
              <a:srgbClr val="FFFFFF"/>
            </a:solidFill>
            <a:prstDash val="solid"/>
          </a:ln>
        </p:spPr>
      </p:sp>
      <p:pic>
        <p:nvPicPr>
          <p:cNvPr id="5" name="Image 0" descr="/home/claude/bd/logo.png">    </p:cNvPr>
          <p:cNvPicPr>
            <a:picLocks noChangeAspect="1"/>
          </p:cNvPicPr>
          <p:nvPr/>
        </p:nvPicPr>
        <p:blipFill>
          <a:blip r:embed="rId1"/>
          <a:stretch>
            <a:fillRect/>
          </a:stretch>
        </p:blipFill>
        <p:spPr>
          <a:xfrm>
            <a:off x="10207447" y="896112"/>
            <a:ext cx="950976" cy="950976"/>
          </a:xfrm>
          <a:prstGeom prst="rect">
            <a:avLst/>
          </a:prstGeom>
        </p:spPr>
      </p:pic>
      <p:sp>
        <p:nvSpPr>
          <p:cNvPr id="6" name="Text 3"/>
          <p:cNvSpPr txBox="1"/>
          <p:nvPr/>
        </p:nvSpPr>
        <p:spPr>
          <a:xfrm>
            <a:off x="3139135" y="2606040"/>
            <a:ext cx="8229600" cy="365760"/>
          </a:xfrm>
          <a:prstGeom prst="rect">
            <a:avLst/>
          </a:prstGeom>
          <a:noFill/>
          <a:ln/>
        </p:spPr>
        <p:txBody>
          <a:bodyPr wrap="square" lIns="0" tIns="0" rIns="0" bIns="0" rtlCol="0" anchor="t"/>
          <a:lstStyle/>
          <a:p>
            <a:pPr rtl="1" algn="r" indent="0" marL="0">
              <a:lnSpc>
                <a:spcPct val="105000"/>
              </a:lnSpc>
              <a:buNone/>
            </a:pPr>
            <a:r>
              <a:rPr lang="fa-IR" altLang="en-US" sz="1800" b="1" dirty="0">
                <a:solidFill>
                  <a:srgbClr val="CAD0F5"/>
                </a:solidFill>
                <a:latin typeface="Vazirmatn" pitchFamily="34" charset="0"/>
                <a:ea typeface="Vazirmatn" pitchFamily="34" charset="-122"/>
                <a:cs typeface="Vazirmatn" pitchFamily="34" charset="-120"/>
              </a:rPr>
              <a:t>ارائه به تیم فنی</a:t>
            </a:r>
            <a:endParaRPr lang="en-US" sz="1800" dirty="0"/>
          </a:p>
        </p:txBody>
      </p:sp>
      <p:sp>
        <p:nvSpPr>
          <p:cNvPr id="7" name="Text 4"/>
          <p:cNvSpPr txBox="1"/>
          <p:nvPr/>
        </p:nvSpPr>
        <p:spPr>
          <a:xfrm>
            <a:off x="853135" y="3108960"/>
            <a:ext cx="10515600" cy="914400"/>
          </a:xfrm>
          <a:prstGeom prst="rect">
            <a:avLst/>
          </a:prstGeom>
          <a:noFill/>
          <a:ln/>
        </p:spPr>
        <p:txBody>
          <a:bodyPr wrap="square" lIns="0" tIns="0" rIns="0" bIns="0" rtlCol="0" anchor="t"/>
          <a:lstStyle/>
          <a:p>
            <a:pPr rtl="1" algn="r" indent="0" marL="0">
              <a:lnSpc>
                <a:spcPct val="105000"/>
              </a:lnSpc>
              <a:buNone/>
            </a:pPr>
            <a:r>
              <a:rPr lang="fa-IR" altLang="en-US" sz="4600" b="1" dirty="0">
                <a:solidFill>
                  <a:srgbClr val="FFFFFF"/>
                </a:solidFill>
                <a:latin typeface="Vazirmatn" pitchFamily="34" charset="0"/>
                <a:ea typeface="Vazirmatn" pitchFamily="34" charset="-122"/>
                <a:cs typeface="Vazirmatn" pitchFamily="34" charset="-120"/>
              </a:rPr>
              <a:t>پیاده‌سازی فنی بلاک‌چین سور</a:t>
            </a:r>
            <a:endParaRPr lang="en-US" sz="4600" dirty="0"/>
          </a:p>
        </p:txBody>
      </p:sp>
      <p:sp>
        <p:nvSpPr>
          <p:cNvPr id="8" name="Text 5"/>
          <p:cNvSpPr txBox="1"/>
          <p:nvPr/>
        </p:nvSpPr>
        <p:spPr>
          <a:xfrm>
            <a:off x="853135" y="4206240"/>
            <a:ext cx="10515600" cy="457200"/>
          </a:xfrm>
          <a:prstGeom prst="rect">
            <a:avLst/>
          </a:prstGeom>
          <a:noFill/>
          <a:ln/>
        </p:spPr>
        <p:txBody>
          <a:bodyPr wrap="square" lIns="0" tIns="0" rIns="0" bIns="0" rtlCol="0" anchor="t"/>
          <a:lstStyle/>
          <a:p>
            <a:pPr rtl="1" algn="r" indent="0" marL="0">
              <a:lnSpc>
                <a:spcPct val="105000"/>
              </a:lnSpc>
              <a:buNone/>
            </a:pPr>
            <a:r>
              <a:rPr lang="fa-IR" altLang="en-US" sz="2100" dirty="0">
                <a:solidFill>
                  <a:srgbClr val="E5E8FF"/>
                </a:solidFill>
                <a:latin typeface="Vazirmatn" pitchFamily="34" charset="0"/>
                <a:ea typeface="Vazirmatn" pitchFamily="34" charset="-122"/>
                <a:cs typeface="Vazirmatn" pitchFamily="34" charset="-120"/>
              </a:rPr>
              <a:t>شبکه‌ی Besu، قراردادهای هوشمند، سرویس‌های آف‌چین و روش راه‌اندازی</a:t>
            </a:r>
            <a:endParaRPr lang="en-US" sz="2100" dirty="0"/>
          </a:p>
        </p:txBody>
      </p:sp>
      <p:sp>
        <p:nvSpPr>
          <p:cNvPr id="9" name="Text 6"/>
          <p:cNvSpPr txBox="1"/>
          <p:nvPr/>
        </p:nvSpPr>
        <p:spPr>
          <a:xfrm>
            <a:off x="7711135" y="5760720"/>
            <a:ext cx="3657600" cy="365760"/>
          </a:xfrm>
          <a:prstGeom prst="rect">
            <a:avLst/>
          </a:prstGeom>
          <a:noFill/>
          <a:ln/>
        </p:spPr>
        <p:txBody>
          <a:bodyPr wrap="square" lIns="0" tIns="0" rIns="0" bIns="0" rtlCol="0" anchor="t"/>
          <a:lstStyle/>
          <a:p>
            <a:pPr rtl="1" algn="r" indent="0" marL="0">
              <a:lnSpc>
                <a:spcPct val="105000"/>
              </a:lnSpc>
              <a:buNone/>
            </a:pPr>
            <a:r>
              <a:rPr lang="fa-IR" altLang="en-US" sz="1600" dirty="0">
                <a:solidFill>
                  <a:srgbClr val="CAD0F5"/>
                </a:solidFill>
                <a:latin typeface="Vazirmatn" pitchFamily="34" charset="0"/>
                <a:ea typeface="Vazirmatn" pitchFamily="34" charset="-122"/>
                <a:cs typeface="Vazirmatn" pitchFamily="34" charset="-120"/>
              </a:rPr>
              <a:t>مهر ۱۴۰۵</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نمای کلی</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دستور جلسه</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a:t>
            </a:r>
            <a:endParaRPr lang="en-US" sz="1000" dirty="0"/>
          </a:p>
        </p:txBody>
      </p:sp>
      <p:sp>
        <p:nvSpPr>
          <p:cNvPr id="6" name="Shape 4"/>
          <p:cNvSpPr/>
          <p:nvPr/>
        </p:nvSpPr>
        <p:spPr>
          <a:xfrm>
            <a:off x="6233465" y="1691640"/>
            <a:ext cx="5410048" cy="868680"/>
          </a:xfrm>
          <a:prstGeom prst="roundRect">
            <a:avLst>
              <a:gd name="adj" fmla="val 12632"/>
            </a:avLst>
          </a:prstGeom>
          <a:solidFill>
            <a:srgbClr val="F7F9FC"/>
          </a:solidFill>
          <a:ln w="9525">
            <a:solidFill>
              <a:srgbClr val="DDE1EE"/>
            </a:solidFill>
            <a:prstDash val="solid"/>
          </a:ln>
        </p:spPr>
      </p:sp>
      <p:sp>
        <p:nvSpPr>
          <p:cNvPr id="7" name="Shape 5"/>
          <p:cNvSpPr/>
          <p:nvPr/>
        </p:nvSpPr>
        <p:spPr>
          <a:xfrm>
            <a:off x="11003432" y="1874520"/>
            <a:ext cx="502920" cy="502920"/>
          </a:xfrm>
          <a:prstGeom prst="ellipse">
            <a:avLst/>
          </a:prstGeom>
          <a:solidFill>
            <a:srgbClr val="2F3690"/>
          </a:solidFill>
          <a:ln w="12700">
            <a:solidFill>
              <a:srgbClr val="2F3690"/>
            </a:solidFill>
            <a:prstDash val="solid"/>
          </a:ln>
        </p:spPr>
      </p:sp>
      <p:sp>
        <p:nvSpPr>
          <p:cNvPr id="8" name="Text 6"/>
          <p:cNvSpPr txBox="1"/>
          <p:nvPr/>
        </p:nvSpPr>
        <p:spPr>
          <a:xfrm>
            <a:off x="11003432" y="1874520"/>
            <a:ext cx="502920" cy="502920"/>
          </a:xfrm>
          <a:prstGeom prst="rect">
            <a:avLst/>
          </a:prstGeom>
          <a:noFill/>
          <a:ln/>
        </p:spPr>
        <p:txBody>
          <a:bodyPr wrap="square" lIns="0" tIns="0" rIns="0" bIns="0" rtlCol="0" anchor="ctr"/>
          <a:lstStyle/>
          <a:p>
            <a:pPr rtl="1" algn="ctr" indent="0" marL="0">
              <a:lnSpc>
                <a:spcPct val="105000"/>
              </a:lnSpc>
              <a:buNone/>
            </a:pPr>
            <a:r>
              <a:rPr lang="fa-IR" altLang="en-US" sz="1700" b="1" dirty="0">
                <a:solidFill>
                  <a:srgbClr val="FFFFFF"/>
                </a:solidFill>
                <a:latin typeface="Vazirmatn" pitchFamily="34" charset="0"/>
                <a:ea typeface="Vazirmatn" pitchFamily="34" charset="-122"/>
                <a:cs typeface="Vazirmatn" pitchFamily="34" charset="-120"/>
              </a:rPr>
              <a:t>۱</a:t>
            </a:r>
            <a:endParaRPr lang="en-US" sz="1700" dirty="0"/>
          </a:p>
        </p:txBody>
      </p:sp>
      <p:sp>
        <p:nvSpPr>
          <p:cNvPr id="9" name="Text 7"/>
          <p:cNvSpPr txBox="1"/>
          <p:nvPr/>
        </p:nvSpPr>
        <p:spPr>
          <a:xfrm>
            <a:off x="6416345" y="1691640"/>
            <a:ext cx="4404208" cy="86868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سور و واژگان این ارائه</a:t>
            </a:r>
            <a:endParaRPr lang="en-US" sz="1600" dirty="0"/>
          </a:p>
        </p:txBody>
      </p:sp>
      <p:sp>
        <p:nvSpPr>
          <p:cNvPr id="10" name="Shape 8"/>
          <p:cNvSpPr/>
          <p:nvPr/>
        </p:nvSpPr>
        <p:spPr>
          <a:xfrm>
            <a:off x="6233465" y="2788920"/>
            <a:ext cx="5410048" cy="868680"/>
          </a:xfrm>
          <a:prstGeom prst="roundRect">
            <a:avLst>
              <a:gd name="adj" fmla="val 12632"/>
            </a:avLst>
          </a:prstGeom>
          <a:solidFill>
            <a:srgbClr val="F7F9FC"/>
          </a:solidFill>
          <a:ln w="9525">
            <a:solidFill>
              <a:srgbClr val="DDE1EE"/>
            </a:solidFill>
            <a:prstDash val="solid"/>
          </a:ln>
        </p:spPr>
      </p:sp>
      <p:sp>
        <p:nvSpPr>
          <p:cNvPr id="11" name="Shape 9"/>
          <p:cNvSpPr/>
          <p:nvPr/>
        </p:nvSpPr>
        <p:spPr>
          <a:xfrm>
            <a:off x="11003432" y="2971800"/>
            <a:ext cx="502920" cy="502920"/>
          </a:xfrm>
          <a:prstGeom prst="ellipse">
            <a:avLst/>
          </a:prstGeom>
          <a:solidFill>
            <a:srgbClr val="2F3690"/>
          </a:solidFill>
          <a:ln w="12700">
            <a:solidFill>
              <a:srgbClr val="2F3690"/>
            </a:solidFill>
            <a:prstDash val="solid"/>
          </a:ln>
        </p:spPr>
      </p:sp>
      <p:sp>
        <p:nvSpPr>
          <p:cNvPr id="12" name="Text 10"/>
          <p:cNvSpPr txBox="1"/>
          <p:nvPr/>
        </p:nvSpPr>
        <p:spPr>
          <a:xfrm>
            <a:off x="11003432" y="2971800"/>
            <a:ext cx="502920" cy="502920"/>
          </a:xfrm>
          <a:prstGeom prst="rect">
            <a:avLst/>
          </a:prstGeom>
          <a:noFill/>
          <a:ln/>
        </p:spPr>
        <p:txBody>
          <a:bodyPr wrap="square" lIns="0" tIns="0" rIns="0" bIns="0" rtlCol="0" anchor="ctr"/>
          <a:lstStyle/>
          <a:p>
            <a:pPr rtl="1" algn="ctr" indent="0" marL="0">
              <a:lnSpc>
                <a:spcPct val="105000"/>
              </a:lnSpc>
              <a:buNone/>
            </a:pPr>
            <a:r>
              <a:rPr lang="fa-IR" altLang="en-US" sz="1700" b="1" dirty="0">
                <a:solidFill>
                  <a:srgbClr val="FFFFFF"/>
                </a:solidFill>
                <a:latin typeface="Vazirmatn" pitchFamily="34" charset="0"/>
                <a:ea typeface="Vazirmatn" pitchFamily="34" charset="-122"/>
                <a:cs typeface="Vazirmatn" pitchFamily="34" charset="-120"/>
              </a:rPr>
              <a:t>۲</a:t>
            </a:r>
            <a:endParaRPr lang="en-US" sz="1700" dirty="0"/>
          </a:p>
        </p:txBody>
      </p:sp>
      <p:sp>
        <p:nvSpPr>
          <p:cNvPr id="13" name="Text 11"/>
          <p:cNvSpPr txBox="1"/>
          <p:nvPr/>
        </p:nvSpPr>
        <p:spPr>
          <a:xfrm>
            <a:off x="6416345" y="2788920"/>
            <a:ext cx="4404208" cy="86868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شبکه‌ی Besu و اجماع</a:t>
            </a:r>
            <a:endParaRPr lang="en-US" sz="1600" dirty="0"/>
          </a:p>
        </p:txBody>
      </p:sp>
      <p:sp>
        <p:nvSpPr>
          <p:cNvPr id="14" name="Shape 12"/>
          <p:cNvSpPr/>
          <p:nvPr/>
        </p:nvSpPr>
        <p:spPr>
          <a:xfrm>
            <a:off x="6233465" y="3886200"/>
            <a:ext cx="5410048" cy="868680"/>
          </a:xfrm>
          <a:prstGeom prst="roundRect">
            <a:avLst>
              <a:gd name="adj" fmla="val 12632"/>
            </a:avLst>
          </a:prstGeom>
          <a:solidFill>
            <a:srgbClr val="F7F9FC"/>
          </a:solidFill>
          <a:ln w="9525">
            <a:solidFill>
              <a:srgbClr val="DDE1EE"/>
            </a:solidFill>
            <a:prstDash val="solid"/>
          </a:ln>
        </p:spPr>
      </p:sp>
      <p:sp>
        <p:nvSpPr>
          <p:cNvPr id="15" name="Shape 13"/>
          <p:cNvSpPr/>
          <p:nvPr/>
        </p:nvSpPr>
        <p:spPr>
          <a:xfrm>
            <a:off x="11003432" y="4069080"/>
            <a:ext cx="502920" cy="502920"/>
          </a:xfrm>
          <a:prstGeom prst="ellipse">
            <a:avLst/>
          </a:prstGeom>
          <a:solidFill>
            <a:srgbClr val="2F3690"/>
          </a:solidFill>
          <a:ln w="12700">
            <a:solidFill>
              <a:srgbClr val="2F3690"/>
            </a:solidFill>
            <a:prstDash val="solid"/>
          </a:ln>
        </p:spPr>
      </p:sp>
      <p:sp>
        <p:nvSpPr>
          <p:cNvPr id="16" name="Text 14"/>
          <p:cNvSpPr txBox="1"/>
          <p:nvPr/>
        </p:nvSpPr>
        <p:spPr>
          <a:xfrm>
            <a:off x="11003432" y="4069080"/>
            <a:ext cx="502920" cy="502920"/>
          </a:xfrm>
          <a:prstGeom prst="rect">
            <a:avLst/>
          </a:prstGeom>
          <a:noFill/>
          <a:ln/>
        </p:spPr>
        <p:txBody>
          <a:bodyPr wrap="square" lIns="0" tIns="0" rIns="0" bIns="0" rtlCol="0" anchor="ctr"/>
          <a:lstStyle/>
          <a:p>
            <a:pPr rtl="1" algn="ctr" indent="0" marL="0">
              <a:lnSpc>
                <a:spcPct val="105000"/>
              </a:lnSpc>
              <a:buNone/>
            </a:pPr>
            <a:r>
              <a:rPr lang="fa-IR" altLang="en-US" sz="1700" b="1" dirty="0">
                <a:solidFill>
                  <a:srgbClr val="FFFFFF"/>
                </a:solidFill>
                <a:latin typeface="Vazirmatn" pitchFamily="34" charset="0"/>
                <a:ea typeface="Vazirmatn" pitchFamily="34" charset="-122"/>
                <a:cs typeface="Vazirmatn" pitchFamily="34" charset="-120"/>
              </a:rPr>
              <a:t>۳</a:t>
            </a:r>
            <a:endParaRPr lang="en-US" sz="1700" dirty="0"/>
          </a:p>
        </p:txBody>
      </p:sp>
      <p:sp>
        <p:nvSpPr>
          <p:cNvPr id="17" name="Text 15"/>
          <p:cNvSpPr txBox="1"/>
          <p:nvPr/>
        </p:nvSpPr>
        <p:spPr>
          <a:xfrm>
            <a:off x="6416345" y="3886200"/>
            <a:ext cx="4404208" cy="86868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قراردادهای ساختاری و روش استقرار در genesis</a:t>
            </a:r>
            <a:endParaRPr lang="en-US" sz="1600" dirty="0"/>
          </a:p>
        </p:txBody>
      </p:sp>
      <p:sp>
        <p:nvSpPr>
          <p:cNvPr id="18" name="Shape 16"/>
          <p:cNvSpPr/>
          <p:nvPr/>
        </p:nvSpPr>
        <p:spPr>
          <a:xfrm>
            <a:off x="6233465" y="4983480"/>
            <a:ext cx="5410048" cy="868680"/>
          </a:xfrm>
          <a:prstGeom prst="roundRect">
            <a:avLst>
              <a:gd name="adj" fmla="val 12632"/>
            </a:avLst>
          </a:prstGeom>
          <a:solidFill>
            <a:srgbClr val="F7F9FC"/>
          </a:solidFill>
          <a:ln w="9525">
            <a:solidFill>
              <a:srgbClr val="DDE1EE"/>
            </a:solidFill>
            <a:prstDash val="solid"/>
          </a:ln>
        </p:spPr>
      </p:sp>
      <p:sp>
        <p:nvSpPr>
          <p:cNvPr id="19" name="Shape 17"/>
          <p:cNvSpPr/>
          <p:nvPr/>
        </p:nvSpPr>
        <p:spPr>
          <a:xfrm>
            <a:off x="11003432" y="5166360"/>
            <a:ext cx="502920" cy="502920"/>
          </a:xfrm>
          <a:prstGeom prst="ellipse">
            <a:avLst/>
          </a:prstGeom>
          <a:solidFill>
            <a:srgbClr val="2F3690"/>
          </a:solidFill>
          <a:ln w="12700">
            <a:solidFill>
              <a:srgbClr val="2F3690"/>
            </a:solidFill>
            <a:prstDash val="solid"/>
          </a:ln>
        </p:spPr>
      </p:sp>
      <p:sp>
        <p:nvSpPr>
          <p:cNvPr id="20" name="Text 18"/>
          <p:cNvSpPr txBox="1"/>
          <p:nvPr/>
        </p:nvSpPr>
        <p:spPr>
          <a:xfrm>
            <a:off x="11003432" y="5166360"/>
            <a:ext cx="502920" cy="502920"/>
          </a:xfrm>
          <a:prstGeom prst="rect">
            <a:avLst/>
          </a:prstGeom>
          <a:noFill/>
          <a:ln/>
        </p:spPr>
        <p:txBody>
          <a:bodyPr wrap="square" lIns="0" tIns="0" rIns="0" bIns="0" rtlCol="0" anchor="ctr"/>
          <a:lstStyle/>
          <a:p>
            <a:pPr rtl="1" algn="ctr" indent="0" marL="0">
              <a:lnSpc>
                <a:spcPct val="105000"/>
              </a:lnSpc>
              <a:buNone/>
            </a:pPr>
            <a:r>
              <a:rPr lang="fa-IR" altLang="en-US" sz="1700" b="1" dirty="0">
                <a:solidFill>
                  <a:srgbClr val="FFFFFF"/>
                </a:solidFill>
                <a:latin typeface="Vazirmatn" pitchFamily="34" charset="0"/>
                <a:ea typeface="Vazirmatn" pitchFamily="34" charset="-122"/>
                <a:cs typeface="Vazirmatn" pitchFamily="34" charset="-120"/>
              </a:rPr>
              <a:t>۴</a:t>
            </a:r>
            <a:endParaRPr lang="en-US" sz="1700" dirty="0"/>
          </a:p>
        </p:txBody>
      </p:sp>
      <p:sp>
        <p:nvSpPr>
          <p:cNvPr id="21" name="Text 19"/>
          <p:cNvSpPr txBox="1"/>
          <p:nvPr/>
        </p:nvSpPr>
        <p:spPr>
          <a:xfrm>
            <a:off x="6416345" y="4983480"/>
            <a:ext cx="4404208" cy="86868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قراردادها یک‌به‌یک</a:t>
            </a:r>
            <a:endParaRPr lang="en-US" sz="1600" dirty="0"/>
          </a:p>
        </p:txBody>
      </p:sp>
      <p:sp>
        <p:nvSpPr>
          <p:cNvPr id="22" name="Shape 20"/>
          <p:cNvSpPr/>
          <p:nvPr/>
        </p:nvSpPr>
        <p:spPr>
          <a:xfrm>
            <a:off x="548640" y="1691640"/>
            <a:ext cx="5410048" cy="868680"/>
          </a:xfrm>
          <a:prstGeom prst="roundRect">
            <a:avLst>
              <a:gd name="adj" fmla="val 12632"/>
            </a:avLst>
          </a:prstGeom>
          <a:solidFill>
            <a:srgbClr val="F7F9FC"/>
          </a:solidFill>
          <a:ln w="9525">
            <a:solidFill>
              <a:srgbClr val="DDE1EE"/>
            </a:solidFill>
            <a:prstDash val="solid"/>
          </a:ln>
        </p:spPr>
      </p:sp>
      <p:sp>
        <p:nvSpPr>
          <p:cNvPr id="23" name="Shape 21"/>
          <p:cNvSpPr/>
          <p:nvPr/>
        </p:nvSpPr>
        <p:spPr>
          <a:xfrm>
            <a:off x="5318608" y="1874520"/>
            <a:ext cx="502920" cy="502920"/>
          </a:xfrm>
          <a:prstGeom prst="ellipse">
            <a:avLst/>
          </a:prstGeom>
          <a:solidFill>
            <a:srgbClr val="2F3690"/>
          </a:solidFill>
          <a:ln w="12700">
            <a:solidFill>
              <a:srgbClr val="2F3690"/>
            </a:solidFill>
            <a:prstDash val="solid"/>
          </a:ln>
        </p:spPr>
      </p:sp>
      <p:sp>
        <p:nvSpPr>
          <p:cNvPr id="24" name="Text 22"/>
          <p:cNvSpPr txBox="1"/>
          <p:nvPr/>
        </p:nvSpPr>
        <p:spPr>
          <a:xfrm>
            <a:off x="5318608" y="1874520"/>
            <a:ext cx="502920" cy="502920"/>
          </a:xfrm>
          <a:prstGeom prst="rect">
            <a:avLst/>
          </a:prstGeom>
          <a:noFill/>
          <a:ln/>
        </p:spPr>
        <p:txBody>
          <a:bodyPr wrap="square" lIns="0" tIns="0" rIns="0" bIns="0" rtlCol="0" anchor="ctr"/>
          <a:lstStyle/>
          <a:p>
            <a:pPr rtl="1" algn="ctr" indent="0" marL="0">
              <a:lnSpc>
                <a:spcPct val="105000"/>
              </a:lnSpc>
              <a:buNone/>
            </a:pPr>
            <a:r>
              <a:rPr lang="fa-IR" altLang="en-US" sz="1700" b="1" dirty="0">
                <a:solidFill>
                  <a:srgbClr val="FFFFFF"/>
                </a:solidFill>
                <a:latin typeface="Vazirmatn" pitchFamily="34" charset="0"/>
                <a:ea typeface="Vazirmatn" pitchFamily="34" charset="-122"/>
                <a:cs typeface="Vazirmatn" pitchFamily="34" charset="-120"/>
              </a:rPr>
              <a:t>۵</a:t>
            </a:r>
            <a:endParaRPr lang="en-US" sz="1700" dirty="0"/>
          </a:p>
        </p:txBody>
      </p:sp>
      <p:sp>
        <p:nvSpPr>
          <p:cNvPr id="25" name="Text 23"/>
          <p:cNvSpPr txBox="1"/>
          <p:nvPr/>
        </p:nvSpPr>
        <p:spPr>
          <a:xfrm>
            <a:off x="731520" y="1691640"/>
            <a:ext cx="4404208" cy="86868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توزیع پاداش، سقف و حکمرانی نرخ</a:t>
            </a:r>
            <a:endParaRPr lang="en-US" sz="1600" dirty="0"/>
          </a:p>
        </p:txBody>
      </p:sp>
      <p:sp>
        <p:nvSpPr>
          <p:cNvPr id="26" name="Shape 24"/>
          <p:cNvSpPr/>
          <p:nvPr/>
        </p:nvSpPr>
        <p:spPr>
          <a:xfrm>
            <a:off x="548640" y="2788920"/>
            <a:ext cx="5410048" cy="868680"/>
          </a:xfrm>
          <a:prstGeom prst="roundRect">
            <a:avLst>
              <a:gd name="adj" fmla="val 12632"/>
            </a:avLst>
          </a:prstGeom>
          <a:solidFill>
            <a:srgbClr val="F7F9FC"/>
          </a:solidFill>
          <a:ln w="9525">
            <a:solidFill>
              <a:srgbClr val="DDE1EE"/>
            </a:solidFill>
            <a:prstDash val="solid"/>
          </a:ln>
        </p:spPr>
      </p:sp>
      <p:sp>
        <p:nvSpPr>
          <p:cNvPr id="27" name="Shape 25"/>
          <p:cNvSpPr/>
          <p:nvPr/>
        </p:nvSpPr>
        <p:spPr>
          <a:xfrm>
            <a:off x="5318608" y="2971800"/>
            <a:ext cx="502920" cy="502920"/>
          </a:xfrm>
          <a:prstGeom prst="ellipse">
            <a:avLst/>
          </a:prstGeom>
          <a:solidFill>
            <a:srgbClr val="2F3690"/>
          </a:solidFill>
          <a:ln w="12700">
            <a:solidFill>
              <a:srgbClr val="2F3690"/>
            </a:solidFill>
            <a:prstDash val="solid"/>
          </a:ln>
        </p:spPr>
      </p:sp>
      <p:sp>
        <p:nvSpPr>
          <p:cNvPr id="28" name="Text 26"/>
          <p:cNvSpPr txBox="1"/>
          <p:nvPr/>
        </p:nvSpPr>
        <p:spPr>
          <a:xfrm>
            <a:off x="5318608" y="2971800"/>
            <a:ext cx="502920" cy="502920"/>
          </a:xfrm>
          <a:prstGeom prst="rect">
            <a:avLst/>
          </a:prstGeom>
          <a:noFill/>
          <a:ln/>
        </p:spPr>
        <p:txBody>
          <a:bodyPr wrap="square" lIns="0" tIns="0" rIns="0" bIns="0" rtlCol="0" anchor="ctr"/>
          <a:lstStyle/>
          <a:p>
            <a:pPr rtl="1" algn="ctr" indent="0" marL="0">
              <a:lnSpc>
                <a:spcPct val="105000"/>
              </a:lnSpc>
              <a:buNone/>
            </a:pPr>
            <a:r>
              <a:rPr lang="fa-IR" altLang="en-US" sz="1700" b="1" dirty="0">
                <a:solidFill>
                  <a:srgbClr val="FFFFFF"/>
                </a:solidFill>
                <a:latin typeface="Vazirmatn" pitchFamily="34" charset="0"/>
                <a:ea typeface="Vazirmatn" pitchFamily="34" charset="-122"/>
                <a:cs typeface="Vazirmatn" pitchFamily="34" charset="-120"/>
              </a:rPr>
              <a:t>۶</a:t>
            </a:r>
            <a:endParaRPr lang="en-US" sz="1700" dirty="0"/>
          </a:p>
        </p:txBody>
      </p:sp>
      <p:sp>
        <p:nvSpPr>
          <p:cNvPr id="29" name="Text 27"/>
          <p:cNvSpPr txBox="1"/>
          <p:nvPr/>
        </p:nvSpPr>
        <p:spPr>
          <a:xfrm>
            <a:off x="731520" y="2788920"/>
            <a:ext cx="4404208" cy="86868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کلیدها و سرویس‌های آف‌چین</a:t>
            </a:r>
            <a:endParaRPr lang="en-US" sz="1600" dirty="0"/>
          </a:p>
        </p:txBody>
      </p:sp>
      <p:sp>
        <p:nvSpPr>
          <p:cNvPr id="30" name="Shape 28"/>
          <p:cNvSpPr/>
          <p:nvPr/>
        </p:nvSpPr>
        <p:spPr>
          <a:xfrm>
            <a:off x="548640" y="3886200"/>
            <a:ext cx="5410048" cy="868680"/>
          </a:xfrm>
          <a:prstGeom prst="roundRect">
            <a:avLst>
              <a:gd name="adj" fmla="val 12632"/>
            </a:avLst>
          </a:prstGeom>
          <a:solidFill>
            <a:srgbClr val="F7F9FC"/>
          </a:solidFill>
          <a:ln w="9525">
            <a:solidFill>
              <a:srgbClr val="DDE1EE"/>
            </a:solidFill>
            <a:prstDash val="solid"/>
          </a:ln>
        </p:spPr>
      </p:sp>
      <p:sp>
        <p:nvSpPr>
          <p:cNvPr id="31" name="Shape 29"/>
          <p:cNvSpPr/>
          <p:nvPr/>
        </p:nvSpPr>
        <p:spPr>
          <a:xfrm>
            <a:off x="5318608" y="4069080"/>
            <a:ext cx="502920" cy="502920"/>
          </a:xfrm>
          <a:prstGeom prst="ellipse">
            <a:avLst/>
          </a:prstGeom>
          <a:solidFill>
            <a:srgbClr val="2F3690"/>
          </a:solidFill>
          <a:ln w="12700">
            <a:solidFill>
              <a:srgbClr val="2F3690"/>
            </a:solidFill>
            <a:prstDash val="solid"/>
          </a:ln>
        </p:spPr>
      </p:sp>
      <p:sp>
        <p:nvSpPr>
          <p:cNvPr id="32" name="Text 30"/>
          <p:cNvSpPr txBox="1"/>
          <p:nvPr/>
        </p:nvSpPr>
        <p:spPr>
          <a:xfrm>
            <a:off x="5318608" y="4069080"/>
            <a:ext cx="502920" cy="502920"/>
          </a:xfrm>
          <a:prstGeom prst="rect">
            <a:avLst/>
          </a:prstGeom>
          <a:noFill/>
          <a:ln/>
        </p:spPr>
        <p:txBody>
          <a:bodyPr wrap="square" lIns="0" tIns="0" rIns="0" bIns="0" rtlCol="0" anchor="ctr"/>
          <a:lstStyle/>
          <a:p>
            <a:pPr rtl="1" algn="ctr" indent="0" marL="0">
              <a:lnSpc>
                <a:spcPct val="105000"/>
              </a:lnSpc>
              <a:buNone/>
            </a:pPr>
            <a:r>
              <a:rPr lang="fa-IR" altLang="en-US" sz="1700" b="1" dirty="0">
                <a:solidFill>
                  <a:srgbClr val="FFFFFF"/>
                </a:solidFill>
                <a:latin typeface="Vazirmatn" pitchFamily="34" charset="0"/>
                <a:ea typeface="Vazirmatn" pitchFamily="34" charset="-122"/>
                <a:cs typeface="Vazirmatn" pitchFamily="34" charset="-120"/>
              </a:rPr>
              <a:t>۷</a:t>
            </a:r>
            <a:endParaRPr lang="en-US" sz="1700" dirty="0"/>
          </a:p>
        </p:txBody>
      </p:sp>
      <p:sp>
        <p:nvSpPr>
          <p:cNvPr id="33" name="Text 31"/>
          <p:cNvSpPr txBox="1"/>
          <p:nvPr/>
        </p:nvSpPr>
        <p:spPr>
          <a:xfrm>
            <a:off x="731520" y="3886200"/>
            <a:ext cx="4404208" cy="86868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زیرساخت، بازیابی اضطراری و امنیت</a:t>
            </a:r>
            <a:endParaRPr lang="en-US" sz="1600" dirty="0"/>
          </a:p>
        </p:txBody>
      </p:sp>
      <p:sp>
        <p:nvSpPr>
          <p:cNvPr id="34" name="Shape 32"/>
          <p:cNvSpPr/>
          <p:nvPr/>
        </p:nvSpPr>
        <p:spPr>
          <a:xfrm>
            <a:off x="548640" y="4983480"/>
            <a:ext cx="5410048" cy="868680"/>
          </a:xfrm>
          <a:prstGeom prst="roundRect">
            <a:avLst>
              <a:gd name="adj" fmla="val 12632"/>
            </a:avLst>
          </a:prstGeom>
          <a:solidFill>
            <a:srgbClr val="F7F9FC"/>
          </a:solidFill>
          <a:ln w="9525">
            <a:solidFill>
              <a:srgbClr val="DDE1EE"/>
            </a:solidFill>
            <a:prstDash val="solid"/>
          </a:ln>
        </p:spPr>
      </p:sp>
      <p:sp>
        <p:nvSpPr>
          <p:cNvPr id="35" name="Shape 33"/>
          <p:cNvSpPr/>
          <p:nvPr/>
        </p:nvSpPr>
        <p:spPr>
          <a:xfrm>
            <a:off x="5318608" y="5166360"/>
            <a:ext cx="502920" cy="502920"/>
          </a:xfrm>
          <a:prstGeom prst="ellipse">
            <a:avLst/>
          </a:prstGeom>
          <a:solidFill>
            <a:srgbClr val="2F3690"/>
          </a:solidFill>
          <a:ln w="12700">
            <a:solidFill>
              <a:srgbClr val="2F3690"/>
            </a:solidFill>
            <a:prstDash val="solid"/>
          </a:ln>
        </p:spPr>
      </p:sp>
      <p:sp>
        <p:nvSpPr>
          <p:cNvPr id="36" name="Text 34"/>
          <p:cNvSpPr txBox="1"/>
          <p:nvPr/>
        </p:nvSpPr>
        <p:spPr>
          <a:xfrm>
            <a:off x="5318608" y="5166360"/>
            <a:ext cx="502920" cy="502920"/>
          </a:xfrm>
          <a:prstGeom prst="rect">
            <a:avLst/>
          </a:prstGeom>
          <a:noFill/>
          <a:ln/>
        </p:spPr>
        <p:txBody>
          <a:bodyPr wrap="square" lIns="0" tIns="0" rIns="0" bIns="0" rtlCol="0" anchor="ctr"/>
          <a:lstStyle/>
          <a:p>
            <a:pPr rtl="1" algn="ctr" indent="0" marL="0">
              <a:lnSpc>
                <a:spcPct val="105000"/>
              </a:lnSpc>
              <a:buNone/>
            </a:pPr>
            <a:r>
              <a:rPr lang="fa-IR" altLang="en-US" sz="1700" b="1" dirty="0">
                <a:solidFill>
                  <a:srgbClr val="FFFFFF"/>
                </a:solidFill>
                <a:latin typeface="Vazirmatn" pitchFamily="34" charset="0"/>
                <a:ea typeface="Vazirmatn" pitchFamily="34" charset="-122"/>
                <a:cs typeface="Vazirmatn" pitchFamily="34" charset="-120"/>
              </a:rPr>
              <a:t>۸</a:t>
            </a:r>
            <a:endParaRPr lang="en-US" sz="1700" dirty="0"/>
          </a:p>
        </p:txBody>
      </p:sp>
      <p:sp>
        <p:nvSpPr>
          <p:cNvPr id="37" name="Text 35"/>
          <p:cNvSpPr txBox="1"/>
          <p:nvPr/>
        </p:nvSpPr>
        <p:spPr>
          <a:xfrm>
            <a:off x="731520" y="4983480"/>
            <a:ext cx="4404208" cy="86868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آزمون‌ها، یافته‌های عملیاتی و موارد باز</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سور و واژگان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سور چیست و واژگان این ارائه</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a:t>
            </a:r>
            <a:endParaRPr lang="en-US" sz="1000" dirty="0"/>
          </a:p>
        </p:txBody>
      </p:sp>
      <p:sp>
        <p:nvSpPr>
          <p:cNvPr id="6" name="Text 4"/>
          <p:cNvSpPr txBox="1"/>
          <p:nvPr/>
        </p:nvSpPr>
        <p:spPr>
          <a:xfrm>
            <a:off x="548640" y="1371600"/>
            <a:ext cx="11094415" cy="960120"/>
          </a:xfrm>
          <a:prstGeom prst="rect">
            <a:avLst/>
          </a:prstGeom>
          <a:noFill/>
          <a:ln/>
        </p:spPr>
        <p:txBody>
          <a:bodyPr wrap="square" lIns="0" tIns="0" rIns="0" bIns="0" rtlCol="0" anchor="t"/>
          <a:lstStyle/>
          <a:p>
            <a:pPr rtl="1" algn="r" indent="0" marL="0">
              <a:lnSpc>
                <a:spcPct val="105000"/>
              </a:lnSpc>
              <a:buNone/>
            </a:pPr>
            <a:r>
              <a:rPr lang="fa-IR" altLang="en-US" sz="1450" dirty="0">
                <a:solidFill>
                  <a:srgbClr val="565D7A"/>
                </a:solidFill>
                <a:latin typeface="Vazirmatn" pitchFamily="34" charset="0"/>
                <a:ea typeface="Vazirmatn" pitchFamily="34" charset="-122"/>
                <a:cs typeface="Vazirmatn" pitchFamily="34" charset="-120"/>
              </a:rPr>
              <a:t>سور یک بلاک‌چین عمومی و بدون‌مجوز برای توسعه‌دهندگان و کاربران ایرانی است. شبکه روی Hyperledger Besu رسمی (بدون فورک) با اجماع QBFT اجرا می‌شود و ارز بومی آن «سورن» است. تقسیم پاداش، حکمرانی و عضویت ولیدیتورها همگی در قراردادهای هوشمند پیاده شده‌اند، نه در نرم‌افزار زنجیره.</a:t>
            </a:r>
            <a:endParaRPr lang="en-US" sz="1450" dirty="0"/>
          </a:p>
        </p:txBody>
      </p:sp>
      <p:sp>
        <p:nvSpPr>
          <p:cNvPr id="7" name="Shape 5"/>
          <p:cNvSpPr/>
          <p:nvPr/>
        </p:nvSpPr>
        <p:spPr>
          <a:xfrm>
            <a:off x="8078724" y="2468880"/>
            <a:ext cx="3564026" cy="1783080"/>
          </a:xfrm>
          <a:prstGeom prst="roundRect">
            <a:avLst>
              <a:gd name="adj" fmla="val 6154"/>
            </a:avLst>
          </a:prstGeom>
          <a:solidFill>
            <a:srgbClr val="EEF0FB"/>
          </a:solidFill>
          <a:ln w="9525">
            <a:solidFill>
              <a:srgbClr val="EEF0FB"/>
            </a:solidFill>
            <a:prstDash val="solid"/>
          </a:ln>
        </p:spPr>
      </p:sp>
      <p:sp>
        <p:nvSpPr>
          <p:cNvPr id="8" name="Text 6"/>
          <p:cNvSpPr txBox="1"/>
          <p:nvPr/>
        </p:nvSpPr>
        <p:spPr>
          <a:xfrm>
            <a:off x="8243316" y="257860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ولیدیتور</a:t>
            </a:r>
            <a:endParaRPr lang="en-US" sz="1500" dirty="0"/>
          </a:p>
        </p:txBody>
      </p:sp>
      <p:sp>
        <p:nvSpPr>
          <p:cNvPr id="9" name="Text 7"/>
          <p:cNvSpPr txBox="1"/>
          <p:nvPr/>
        </p:nvSpPr>
        <p:spPr>
          <a:xfrm>
            <a:off x="8243316" y="3017520"/>
            <a:ext cx="3234842" cy="11887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گره‌ای که بلاک تولید و تأیید می‌کند؛ مجموعه‌ی آن از قرارداد ValidatorsRegistry خوانده می‌شود</a:t>
            </a:r>
            <a:endParaRPr lang="en-US" sz="1200" dirty="0"/>
          </a:p>
        </p:txBody>
      </p:sp>
      <p:sp>
        <p:nvSpPr>
          <p:cNvPr id="10" name="Shape 8"/>
          <p:cNvSpPr/>
          <p:nvPr/>
        </p:nvSpPr>
        <p:spPr>
          <a:xfrm>
            <a:off x="4314139" y="2468880"/>
            <a:ext cx="3564026" cy="1783080"/>
          </a:xfrm>
          <a:prstGeom prst="roundRect">
            <a:avLst>
              <a:gd name="adj" fmla="val 6154"/>
            </a:avLst>
          </a:prstGeom>
          <a:solidFill>
            <a:srgbClr val="EEF0FB"/>
          </a:solidFill>
          <a:ln w="9525">
            <a:solidFill>
              <a:srgbClr val="EEF0FB"/>
            </a:solidFill>
            <a:prstDash val="solid"/>
          </a:ln>
        </p:spPr>
      </p:sp>
      <p:sp>
        <p:nvSpPr>
          <p:cNvPr id="11" name="Text 9"/>
          <p:cNvSpPr txBox="1"/>
          <p:nvPr/>
        </p:nvSpPr>
        <p:spPr>
          <a:xfrm>
            <a:off x="4478731" y="257860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سورن</a:t>
            </a:r>
            <a:endParaRPr lang="en-US" sz="1500" dirty="0"/>
          </a:p>
        </p:txBody>
      </p:sp>
      <p:sp>
        <p:nvSpPr>
          <p:cNvPr id="12" name="Text 10"/>
          <p:cNvSpPr txBox="1"/>
          <p:nvPr/>
        </p:nvSpPr>
        <p:spPr>
          <a:xfrm>
            <a:off x="4478731" y="3017520"/>
            <a:ext cx="3234842" cy="11887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ارز بومی زنجیره (مثل ETH در اتریوم)، نه توکن ERC20؛ کوچک‌ترین واحد wei است و ۱۸ رقم اعشار دارد</a:t>
            </a:r>
            <a:endParaRPr lang="en-US" sz="1200" dirty="0"/>
          </a:p>
        </p:txBody>
      </p:sp>
      <p:sp>
        <p:nvSpPr>
          <p:cNvPr id="13" name="Shape 11"/>
          <p:cNvSpPr/>
          <p:nvPr/>
        </p:nvSpPr>
        <p:spPr>
          <a:xfrm>
            <a:off x="548640" y="2468880"/>
            <a:ext cx="3564026" cy="1783080"/>
          </a:xfrm>
          <a:prstGeom prst="roundRect">
            <a:avLst>
              <a:gd name="adj" fmla="val 6154"/>
            </a:avLst>
          </a:prstGeom>
          <a:solidFill>
            <a:srgbClr val="EEF0FB"/>
          </a:solidFill>
          <a:ln w="9525">
            <a:solidFill>
              <a:srgbClr val="EEF0FB"/>
            </a:solidFill>
            <a:prstDash val="solid"/>
          </a:ln>
        </p:spPr>
      </p:sp>
      <p:sp>
        <p:nvSpPr>
          <p:cNvPr id="14" name="Text 12"/>
          <p:cNvSpPr txBox="1"/>
          <p:nvPr/>
        </p:nvSpPr>
        <p:spPr>
          <a:xfrm>
            <a:off x="713232" y="257860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ریوارد و فی</a:t>
            </a:r>
            <a:endParaRPr lang="en-US" sz="1500" dirty="0"/>
          </a:p>
        </p:txBody>
      </p:sp>
      <p:sp>
        <p:nvSpPr>
          <p:cNvPr id="15" name="Text 13"/>
          <p:cNvSpPr txBox="1"/>
          <p:nvPr/>
        </p:nvSpPr>
        <p:spPr>
          <a:xfrm>
            <a:off x="713232" y="3017520"/>
            <a:ext cx="3234842" cy="11887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ریوارد: ۲ سورن ثابت برای هر بلاک؛ فی: کارمزد تراکنش‌ها. هر دو به آدرس ثابت BlockRewardDistributor می‌رسند</a:t>
            </a:r>
            <a:endParaRPr lang="en-US" sz="1200" dirty="0"/>
          </a:p>
        </p:txBody>
      </p:sp>
      <p:sp>
        <p:nvSpPr>
          <p:cNvPr id="16" name="Shape 14"/>
          <p:cNvSpPr/>
          <p:nvPr/>
        </p:nvSpPr>
        <p:spPr>
          <a:xfrm>
            <a:off x="8078724" y="4434840"/>
            <a:ext cx="3564026" cy="1783080"/>
          </a:xfrm>
          <a:prstGeom prst="roundRect">
            <a:avLst>
              <a:gd name="adj" fmla="val 6154"/>
            </a:avLst>
          </a:prstGeom>
          <a:solidFill>
            <a:srgbClr val="EEF0FB"/>
          </a:solidFill>
          <a:ln w="9525">
            <a:solidFill>
              <a:srgbClr val="EEF0FB"/>
            </a:solidFill>
            <a:prstDash val="solid"/>
          </a:ln>
        </p:spPr>
      </p:sp>
      <p:sp>
        <p:nvSpPr>
          <p:cNvPr id="17" name="Text 15"/>
          <p:cNvSpPr txBox="1"/>
          <p:nvPr/>
        </p:nvSpPr>
        <p:spPr>
          <a:xfrm>
            <a:off x="8243316" y="454456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genesis و alloc</a:t>
            </a:r>
            <a:endParaRPr lang="en-US" sz="1500" dirty="0"/>
          </a:p>
        </p:txBody>
      </p:sp>
      <p:sp>
        <p:nvSpPr>
          <p:cNvPr id="18" name="Text 16"/>
          <p:cNvSpPr txBox="1"/>
          <p:nvPr/>
        </p:nvSpPr>
        <p:spPr>
          <a:xfrm>
            <a:off x="8243316" y="4983480"/>
            <a:ext cx="3234842" cy="11887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بلاک نخست زنجیره؛ بخش alloc فایل genesis کد و storage قراردادها و موجودی‌های اولیه را مستقیم می‌نویسد</a:t>
            </a:r>
            <a:endParaRPr lang="en-US" sz="1200" dirty="0"/>
          </a:p>
        </p:txBody>
      </p:sp>
      <p:sp>
        <p:nvSpPr>
          <p:cNvPr id="19" name="Shape 17"/>
          <p:cNvSpPr/>
          <p:nvPr/>
        </p:nvSpPr>
        <p:spPr>
          <a:xfrm>
            <a:off x="4314139" y="4434840"/>
            <a:ext cx="3564026" cy="1783080"/>
          </a:xfrm>
          <a:prstGeom prst="roundRect">
            <a:avLst>
              <a:gd name="adj" fmla="val 6154"/>
            </a:avLst>
          </a:prstGeom>
          <a:solidFill>
            <a:srgbClr val="EEF0FB"/>
          </a:solidFill>
          <a:ln w="9525">
            <a:solidFill>
              <a:srgbClr val="EEF0FB"/>
            </a:solidFill>
            <a:prstDash val="solid"/>
          </a:ln>
        </p:spPr>
      </p:sp>
      <p:sp>
        <p:nvSpPr>
          <p:cNvPr id="20" name="Text 18"/>
          <p:cNvSpPr txBox="1"/>
          <p:nvPr/>
        </p:nvSpPr>
        <p:spPr>
          <a:xfrm>
            <a:off x="4478731" y="454456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اوراکل</a:t>
            </a:r>
            <a:endParaRPr lang="en-US" sz="1500" dirty="0"/>
          </a:p>
        </p:txBody>
      </p:sp>
      <p:sp>
        <p:nvSpPr>
          <p:cNvPr id="21" name="Text 19"/>
          <p:cNvSpPr txBox="1"/>
          <p:nvPr/>
        </p:nvSpPr>
        <p:spPr>
          <a:xfrm>
            <a:off x="4478731" y="4983480"/>
            <a:ext cx="3234842" cy="11887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کلید یک سرویس آف‌چین که یک نوع داده‌ی بیرونی (توزیع پاداش، وضعیت ولیدیتور، هویت، پرداخت) را روی زنجیره ثبت می‌کند</a:t>
            </a:r>
            <a:endParaRPr lang="en-US" sz="1200" dirty="0"/>
          </a:p>
        </p:txBody>
      </p:sp>
      <p:sp>
        <p:nvSpPr>
          <p:cNvPr id="22" name="Shape 20"/>
          <p:cNvSpPr/>
          <p:nvPr/>
        </p:nvSpPr>
        <p:spPr>
          <a:xfrm>
            <a:off x="548640" y="4434840"/>
            <a:ext cx="3564026" cy="1783080"/>
          </a:xfrm>
          <a:prstGeom prst="roundRect">
            <a:avLst>
              <a:gd name="adj" fmla="val 6154"/>
            </a:avLst>
          </a:prstGeom>
          <a:solidFill>
            <a:srgbClr val="EEF0FB"/>
          </a:solidFill>
          <a:ln w="9525">
            <a:solidFill>
              <a:srgbClr val="EEF0FB"/>
            </a:solidFill>
            <a:prstDash val="solid"/>
          </a:ln>
        </p:spPr>
      </p:sp>
      <p:sp>
        <p:nvSpPr>
          <p:cNvPr id="23" name="Text 21"/>
          <p:cNvSpPr txBox="1"/>
          <p:nvPr/>
        </p:nvSpPr>
        <p:spPr>
          <a:xfrm>
            <a:off x="713232" y="454456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epoch توزیع</a:t>
            </a:r>
            <a:endParaRPr lang="en-US" sz="1500" dirty="0"/>
          </a:p>
        </p:txBody>
      </p:sp>
      <p:sp>
        <p:nvSpPr>
          <p:cNvPr id="24" name="Text 22"/>
          <p:cNvSpPr txBox="1"/>
          <p:nvPr/>
        </p:nvSpPr>
        <p:spPr>
          <a:xfrm>
            <a:off x="713232" y="4983480"/>
            <a:ext cx="3234842" cy="11887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یک دور تسویه‌ی پاداش (حداقل هر ۲۳ ساعت) که بازه‌ای از بلاک‌ها را پرداخت می‌کند؛ «N−1» یعنی وضعیت قرارداد در انتهای بلاک قبل از N</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سور و واژگان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معماری کلی: زنجیره، شش قرارداد، چهار سرویس آف‌چین</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4</a:t>
            </a:r>
            <a:endParaRPr lang="en-US" sz="1000" dirty="0"/>
          </a:p>
        </p:txBody>
      </p:sp>
      <p:sp>
        <p:nvSpPr>
          <p:cNvPr id="6" name="Shape 4"/>
          <p:cNvSpPr/>
          <p:nvPr/>
        </p:nvSpPr>
        <p:spPr>
          <a:xfrm>
            <a:off x="548640" y="1417320"/>
            <a:ext cx="11094415" cy="1417320"/>
          </a:xfrm>
          <a:prstGeom prst="roundRect">
            <a:avLst>
              <a:gd name="adj" fmla="val 7742"/>
            </a:avLst>
          </a:prstGeom>
          <a:solidFill>
            <a:srgbClr val="EEF0FB"/>
          </a:solidFill>
          <a:ln w="9525">
            <a:solidFill>
              <a:srgbClr val="EEF0FB"/>
            </a:solidFill>
            <a:prstDash val="solid"/>
          </a:ln>
        </p:spPr>
      </p:sp>
      <p:sp>
        <p:nvSpPr>
          <p:cNvPr id="7" name="Text 5"/>
          <p:cNvSpPr txBox="1"/>
          <p:nvPr/>
        </p:nvSpPr>
        <p:spPr>
          <a:xfrm>
            <a:off x="8671255" y="1508760"/>
            <a:ext cx="2743200" cy="32004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لایه‌ی زنجیره</a:t>
            </a:r>
            <a:endParaRPr lang="en-US" sz="1500" dirty="0"/>
          </a:p>
        </p:txBody>
      </p:sp>
      <p:sp>
        <p:nvSpPr>
          <p:cNvPr id="8" name="Text 6"/>
          <p:cNvSpPr txBox="1"/>
          <p:nvPr/>
        </p:nvSpPr>
        <p:spPr>
          <a:xfrm>
            <a:off x="777240" y="1874520"/>
            <a:ext cx="10637215" cy="868680"/>
          </a:xfrm>
          <a:prstGeom prst="rect">
            <a:avLst/>
          </a:prstGeom>
          <a:noFill/>
          <a:ln/>
        </p:spPr>
        <p:txBody>
          <a:bodyPr wrap="square" lIns="0" tIns="0" rIns="0" bIns="0" rtlCol="0" anchor="t"/>
          <a:lstStyle/>
          <a:p>
            <a:pPr rtl="1" algn="r" indent="0" marL="0">
              <a:lnSpc>
                <a:spcPct val="105000"/>
              </a:lnSpc>
              <a:buNone/>
            </a:pPr>
            <a:r>
              <a:rPr lang="fa-IR" altLang="en-US" sz="1350" dirty="0">
                <a:solidFill>
                  <a:srgbClr val="1B1B2F"/>
                </a:solidFill>
                <a:latin typeface="Vazirmatn" pitchFamily="34" charset="0"/>
                <a:ea typeface="Vazirmatn" pitchFamily="34" charset="-122"/>
                <a:cs typeface="Vazirmatn" pitchFamily="34" charset="-120"/>
              </a:rPr>
              <a:t>Hyperledger Besu رسمی؛ QBFT با حالت انتخاب ولیدیتور از قرارداد (validatorselectionmode: contract)؛ بلاک ۳ ثانیه؛ نهایی‌شدن فوری؛ ریوارد و فی مستقیم به قرارداد توزیع می‌رسد.</a:t>
            </a:r>
            <a:endParaRPr lang="en-US" sz="1350" dirty="0"/>
          </a:p>
        </p:txBody>
      </p:sp>
      <p:sp>
        <p:nvSpPr>
          <p:cNvPr id="9" name="Shape 7"/>
          <p:cNvSpPr/>
          <p:nvPr/>
        </p:nvSpPr>
        <p:spPr>
          <a:xfrm>
            <a:off x="9908438" y="3063240"/>
            <a:ext cx="1734769" cy="1051560"/>
          </a:xfrm>
          <a:prstGeom prst="roundRect">
            <a:avLst>
              <a:gd name="adj" fmla="val 10435"/>
            </a:avLst>
          </a:prstGeom>
          <a:solidFill>
            <a:srgbClr val="F7F9FC"/>
          </a:solidFill>
          <a:ln w="9525">
            <a:solidFill>
              <a:srgbClr val="DDE1EE"/>
            </a:solidFill>
            <a:prstDash val="solid"/>
          </a:ln>
        </p:spPr>
      </p:sp>
      <p:sp>
        <p:nvSpPr>
          <p:cNvPr id="10" name="Text 8"/>
          <p:cNvSpPr txBox="1"/>
          <p:nvPr/>
        </p:nvSpPr>
        <p:spPr>
          <a:xfrm>
            <a:off x="9954158" y="3063240"/>
            <a:ext cx="1643329" cy="1051560"/>
          </a:xfrm>
          <a:prstGeom prst="rect">
            <a:avLst/>
          </a:prstGeom>
          <a:noFill/>
          <a:ln/>
        </p:spPr>
        <p:txBody>
          <a:bodyPr wrap="square" lIns="0" tIns="0" rIns="0" bIns="0" rtlCol="0" anchor="ctr"/>
          <a:lstStyle/>
          <a:p>
            <a:pPr rtl="1" algn="ctr" indent="0" marL="0">
              <a:lnSpc>
                <a:spcPct val="105000"/>
              </a:lnSpc>
              <a:buNone/>
            </a:pPr>
            <a:r>
              <a:rPr lang="fa-IR" altLang="en-US" sz="1100" b="1" dirty="0">
                <a:solidFill>
                  <a:srgbClr val="1B1B2F"/>
                </a:solidFill>
                <a:latin typeface="Vazirmatn" pitchFamily="34" charset="0"/>
                <a:ea typeface="Vazirmatn" pitchFamily="34" charset="-122"/>
                <a:cs typeface="Vazirmatn" pitchFamily="34" charset="-120"/>
              </a:rPr>
              <a:t>FoundationDAO</a:t>
            </a:r>
            <a:endParaRPr lang="en-US" sz="1100" dirty="0"/>
          </a:p>
          <a:p>
            <a:pPr rtl="1" algn="ctr" indent="0" marL="0">
              <a:lnSpc>
                <a:spcPct val="105000"/>
              </a:lnSpc>
              <a:buNone/>
            </a:pPr>
            <a:r>
              <a:rPr lang="fa-IR" altLang="en-US" sz="1100" dirty="0">
                <a:solidFill>
                  <a:srgbClr val="2F3690"/>
                </a:solidFill>
                <a:latin typeface="Vazirmatn" pitchFamily="34" charset="0"/>
                <a:ea typeface="Vazirmatn" pitchFamily="34" charset="-122"/>
                <a:cs typeface="Vazirmatn" pitchFamily="34" charset="-120"/>
              </a:rPr>
              <a:t>0x1111</a:t>
            </a:r>
            <a:endParaRPr lang="en-US" sz="1100" dirty="0"/>
          </a:p>
        </p:txBody>
      </p:sp>
      <p:sp>
        <p:nvSpPr>
          <p:cNvPr id="11" name="Shape 9"/>
          <p:cNvSpPr/>
          <p:nvPr/>
        </p:nvSpPr>
        <p:spPr>
          <a:xfrm>
            <a:off x="8036662" y="3063240"/>
            <a:ext cx="1734769" cy="1051560"/>
          </a:xfrm>
          <a:prstGeom prst="roundRect">
            <a:avLst>
              <a:gd name="adj" fmla="val 10435"/>
            </a:avLst>
          </a:prstGeom>
          <a:solidFill>
            <a:srgbClr val="F7F9FC"/>
          </a:solidFill>
          <a:ln w="9525">
            <a:solidFill>
              <a:srgbClr val="DDE1EE"/>
            </a:solidFill>
            <a:prstDash val="solid"/>
          </a:ln>
        </p:spPr>
      </p:sp>
      <p:sp>
        <p:nvSpPr>
          <p:cNvPr id="12" name="Text 10"/>
          <p:cNvSpPr txBox="1"/>
          <p:nvPr/>
        </p:nvSpPr>
        <p:spPr>
          <a:xfrm>
            <a:off x="8082382" y="3063240"/>
            <a:ext cx="1643329" cy="1051560"/>
          </a:xfrm>
          <a:prstGeom prst="rect">
            <a:avLst/>
          </a:prstGeom>
          <a:noFill/>
          <a:ln/>
        </p:spPr>
        <p:txBody>
          <a:bodyPr wrap="square" lIns="0" tIns="0" rIns="0" bIns="0" rtlCol="0" anchor="ctr"/>
          <a:lstStyle/>
          <a:p>
            <a:pPr rtl="1" algn="ctr" indent="0" marL="0">
              <a:lnSpc>
                <a:spcPct val="105000"/>
              </a:lnSpc>
              <a:buNone/>
            </a:pPr>
            <a:r>
              <a:rPr lang="fa-IR" altLang="en-US" sz="1100" b="1" dirty="0">
                <a:solidFill>
                  <a:srgbClr val="1B1B2F"/>
                </a:solidFill>
                <a:latin typeface="Vazirmatn" pitchFamily="34" charset="0"/>
                <a:ea typeface="Vazirmatn" pitchFamily="34" charset="-122"/>
                <a:cs typeface="Vazirmatn" pitchFamily="34" charset="-120"/>
              </a:rPr>
              <a:t>BlockRewardDistributor</a:t>
            </a:r>
            <a:endParaRPr lang="en-US" sz="1100" dirty="0"/>
          </a:p>
          <a:p>
            <a:pPr rtl="1" algn="ctr" indent="0" marL="0">
              <a:lnSpc>
                <a:spcPct val="105000"/>
              </a:lnSpc>
              <a:buNone/>
            </a:pPr>
            <a:r>
              <a:rPr lang="fa-IR" altLang="en-US" sz="1100" dirty="0">
                <a:solidFill>
                  <a:srgbClr val="2F3690"/>
                </a:solidFill>
                <a:latin typeface="Vazirmatn" pitchFamily="34" charset="0"/>
                <a:ea typeface="Vazirmatn" pitchFamily="34" charset="-122"/>
                <a:cs typeface="Vazirmatn" pitchFamily="34" charset="-120"/>
              </a:rPr>
              <a:t>0x2222</a:t>
            </a:r>
            <a:endParaRPr lang="en-US" sz="1100" dirty="0"/>
          </a:p>
        </p:txBody>
      </p:sp>
      <p:sp>
        <p:nvSpPr>
          <p:cNvPr id="13" name="Shape 11"/>
          <p:cNvSpPr/>
          <p:nvPr/>
        </p:nvSpPr>
        <p:spPr>
          <a:xfrm>
            <a:off x="6163970" y="3063240"/>
            <a:ext cx="1734769" cy="1051560"/>
          </a:xfrm>
          <a:prstGeom prst="roundRect">
            <a:avLst>
              <a:gd name="adj" fmla="val 10435"/>
            </a:avLst>
          </a:prstGeom>
          <a:solidFill>
            <a:srgbClr val="F7F9FC"/>
          </a:solidFill>
          <a:ln w="9525">
            <a:solidFill>
              <a:srgbClr val="DDE1EE"/>
            </a:solidFill>
            <a:prstDash val="solid"/>
          </a:ln>
        </p:spPr>
      </p:sp>
      <p:sp>
        <p:nvSpPr>
          <p:cNvPr id="14" name="Text 12"/>
          <p:cNvSpPr txBox="1"/>
          <p:nvPr/>
        </p:nvSpPr>
        <p:spPr>
          <a:xfrm>
            <a:off x="6209690" y="3063240"/>
            <a:ext cx="1643329" cy="1051560"/>
          </a:xfrm>
          <a:prstGeom prst="rect">
            <a:avLst/>
          </a:prstGeom>
          <a:noFill/>
          <a:ln/>
        </p:spPr>
        <p:txBody>
          <a:bodyPr wrap="square" lIns="0" tIns="0" rIns="0" bIns="0" rtlCol="0" anchor="ctr"/>
          <a:lstStyle/>
          <a:p>
            <a:pPr rtl="1" algn="ctr" indent="0" marL="0">
              <a:lnSpc>
                <a:spcPct val="105000"/>
              </a:lnSpc>
              <a:buNone/>
            </a:pPr>
            <a:r>
              <a:rPr lang="fa-IR" altLang="en-US" sz="1100" b="1" dirty="0">
                <a:solidFill>
                  <a:srgbClr val="1B1B2F"/>
                </a:solidFill>
                <a:latin typeface="Vazirmatn" pitchFamily="34" charset="0"/>
                <a:ea typeface="Vazirmatn" pitchFamily="34" charset="-122"/>
                <a:cs typeface="Vazirmatn" pitchFamily="34" charset="-120"/>
              </a:rPr>
              <a:t>ValidatorsRegistry</a:t>
            </a:r>
            <a:endParaRPr lang="en-US" sz="1100" dirty="0"/>
          </a:p>
          <a:p>
            <a:pPr rtl="1" algn="ctr" indent="0" marL="0">
              <a:lnSpc>
                <a:spcPct val="105000"/>
              </a:lnSpc>
              <a:buNone/>
            </a:pPr>
            <a:r>
              <a:rPr lang="fa-IR" altLang="en-US" sz="1100" dirty="0">
                <a:solidFill>
                  <a:srgbClr val="2F3690"/>
                </a:solidFill>
                <a:latin typeface="Vazirmatn" pitchFamily="34" charset="0"/>
                <a:ea typeface="Vazirmatn" pitchFamily="34" charset="-122"/>
                <a:cs typeface="Vazirmatn" pitchFamily="34" charset="-120"/>
              </a:rPr>
              <a:t>0x3333</a:t>
            </a:r>
            <a:endParaRPr lang="en-US" sz="1100" dirty="0"/>
          </a:p>
        </p:txBody>
      </p:sp>
      <p:sp>
        <p:nvSpPr>
          <p:cNvPr id="15" name="Shape 13"/>
          <p:cNvSpPr/>
          <p:nvPr/>
        </p:nvSpPr>
        <p:spPr>
          <a:xfrm>
            <a:off x="4292194" y="3063240"/>
            <a:ext cx="1734769" cy="1051560"/>
          </a:xfrm>
          <a:prstGeom prst="roundRect">
            <a:avLst>
              <a:gd name="adj" fmla="val 10435"/>
            </a:avLst>
          </a:prstGeom>
          <a:solidFill>
            <a:srgbClr val="F7F9FC"/>
          </a:solidFill>
          <a:ln w="9525">
            <a:solidFill>
              <a:srgbClr val="DDE1EE"/>
            </a:solidFill>
            <a:prstDash val="solid"/>
          </a:ln>
        </p:spPr>
      </p:sp>
      <p:sp>
        <p:nvSpPr>
          <p:cNvPr id="16" name="Text 14"/>
          <p:cNvSpPr txBox="1"/>
          <p:nvPr/>
        </p:nvSpPr>
        <p:spPr>
          <a:xfrm>
            <a:off x="4337914" y="3063240"/>
            <a:ext cx="1643329" cy="1051560"/>
          </a:xfrm>
          <a:prstGeom prst="rect">
            <a:avLst/>
          </a:prstGeom>
          <a:noFill/>
          <a:ln/>
        </p:spPr>
        <p:txBody>
          <a:bodyPr wrap="square" lIns="0" tIns="0" rIns="0" bIns="0" rtlCol="0" anchor="ctr"/>
          <a:lstStyle/>
          <a:p>
            <a:pPr rtl="1" algn="ctr" indent="0" marL="0">
              <a:lnSpc>
                <a:spcPct val="105000"/>
              </a:lnSpc>
              <a:buNone/>
            </a:pPr>
            <a:r>
              <a:rPr lang="fa-IR" altLang="en-US" sz="1100" b="1" dirty="0">
                <a:solidFill>
                  <a:srgbClr val="1B1B2F"/>
                </a:solidFill>
                <a:latin typeface="Vazirmatn" pitchFamily="34" charset="0"/>
                <a:ea typeface="Vazirmatn" pitchFamily="34" charset="-122"/>
                <a:cs typeface="Vazirmatn" pitchFamily="34" charset="-120"/>
              </a:rPr>
              <a:t>ValidatorsBoard</a:t>
            </a:r>
            <a:endParaRPr lang="en-US" sz="1100" dirty="0"/>
          </a:p>
          <a:p>
            <a:pPr rtl="1" algn="ctr" indent="0" marL="0">
              <a:lnSpc>
                <a:spcPct val="105000"/>
              </a:lnSpc>
              <a:buNone/>
            </a:pPr>
            <a:r>
              <a:rPr lang="fa-IR" altLang="en-US" sz="1100" dirty="0">
                <a:solidFill>
                  <a:srgbClr val="2F3690"/>
                </a:solidFill>
                <a:latin typeface="Vazirmatn" pitchFamily="34" charset="0"/>
                <a:ea typeface="Vazirmatn" pitchFamily="34" charset="-122"/>
                <a:cs typeface="Vazirmatn" pitchFamily="34" charset="-120"/>
              </a:rPr>
              <a:t>0x4444</a:t>
            </a:r>
            <a:endParaRPr lang="en-US" sz="1100" dirty="0"/>
          </a:p>
        </p:txBody>
      </p:sp>
      <p:sp>
        <p:nvSpPr>
          <p:cNvPr id="17" name="Shape 15"/>
          <p:cNvSpPr/>
          <p:nvPr/>
        </p:nvSpPr>
        <p:spPr>
          <a:xfrm>
            <a:off x="2420417" y="3063240"/>
            <a:ext cx="1734769" cy="1051560"/>
          </a:xfrm>
          <a:prstGeom prst="roundRect">
            <a:avLst>
              <a:gd name="adj" fmla="val 10435"/>
            </a:avLst>
          </a:prstGeom>
          <a:solidFill>
            <a:srgbClr val="F7F9FC"/>
          </a:solidFill>
          <a:ln w="9525">
            <a:solidFill>
              <a:srgbClr val="DDE1EE"/>
            </a:solidFill>
            <a:prstDash val="solid"/>
          </a:ln>
        </p:spPr>
      </p:sp>
      <p:sp>
        <p:nvSpPr>
          <p:cNvPr id="18" name="Text 16"/>
          <p:cNvSpPr txBox="1"/>
          <p:nvPr/>
        </p:nvSpPr>
        <p:spPr>
          <a:xfrm>
            <a:off x="2466137" y="3063240"/>
            <a:ext cx="1643329" cy="1051560"/>
          </a:xfrm>
          <a:prstGeom prst="rect">
            <a:avLst/>
          </a:prstGeom>
          <a:noFill/>
          <a:ln/>
        </p:spPr>
        <p:txBody>
          <a:bodyPr wrap="square" lIns="0" tIns="0" rIns="0" bIns="0" rtlCol="0" anchor="ctr"/>
          <a:lstStyle/>
          <a:p>
            <a:pPr rtl="1" algn="ctr" indent="0" marL="0">
              <a:lnSpc>
                <a:spcPct val="105000"/>
              </a:lnSpc>
              <a:buNone/>
            </a:pPr>
            <a:r>
              <a:rPr lang="fa-IR" altLang="en-US" sz="1100" b="1" dirty="0">
                <a:solidFill>
                  <a:srgbClr val="1B1B2F"/>
                </a:solidFill>
                <a:latin typeface="Vazirmatn" pitchFamily="34" charset="0"/>
                <a:ea typeface="Vazirmatn" pitchFamily="34" charset="-122"/>
                <a:cs typeface="Vazirmatn" pitchFamily="34" charset="-120"/>
              </a:rPr>
              <a:t>ValidatorsTreasury</a:t>
            </a:r>
            <a:endParaRPr lang="en-US" sz="1100" dirty="0"/>
          </a:p>
          <a:p>
            <a:pPr rtl="1" algn="ctr" indent="0" marL="0">
              <a:lnSpc>
                <a:spcPct val="105000"/>
              </a:lnSpc>
              <a:buNone/>
            </a:pPr>
            <a:r>
              <a:rPr lang="fa-IR" altLang="en-US" sz="1100" dirty="0">
                <a:solidFill>
                  <a:srgbClr val="2F3690"/>
                </a:solidFill>
                <a:latin typeface="Vazirmatn" pitchFamily="34" charset="0"/>
                <a:ea typeface="Vazirmatn" pitchFamily="34" charset="-122"/>
                <a:cs typeface="Vazirmatn" pitchFamily="34" charset="-120"/>
              </a:rPr>
              <a:t>0x5555</a:t>
            </a:r>
            <a:endParaRPr lang="en-US" sz="1100" dirty="0"/>
          </a:p>
        </p:txBody>
      </p:sp>
      <p:sp>
        <p:nvSpPr>
          <p:cNvPr id="19" name="Shape 17"/>
          <p:cNvSpPr/>
          <p:nvPr/>
        </p:nvSpPr>
        <p:spPr>
          <a:xfrm>
            <a:off x="548640" y="3063240"/>
            <a:ext cx="1734769" cy="1051560"/>
          </a:xfrm>
          <a:prstGeom prst="roundRect">
            <a:avLst>
              <a:gd name="adj" fmla="val 10435"/>
            </a:avLst>
          </a:prstGeom>
          <a:solidFill>
            <a:srgbClr val="F7F9FC"/>
          </a:solidFill>
          <a:ln w="9525">
            <a:solidFill>
              <a:srgbClr val="DDE1EE"/>
            </a:solidFill>
            <a:prstDash val="solid"/>
          </a:ln>
        </p:spPr>
      </p:sp>
      <p:sp>
        <p:nvSpPr>
          <p:cNvPr id="20" name="Text 18"/>
          <p:cNvSpPr txBox="1"/>
          <p:nvPr/>
        </p:nvSpPr>
        <p:spPr>
          <a:xfrm>
            <a:off x="594360" y="3063240"/>
            <a:ext cx="1643329" cy="1051560"/>
          </a:xfrm>
          <a:prstGeom prst="rect">
            <a:avLst/>
          </a:prstGeom>
          <a:noFill/>
          <a:ln/>
        </p:spPr>
        <p:txBody>
          <a:bodyPr wrap="square" lIns="0" tIns="0" rIns="0" bIns="0" rtlCol="0" anchor="ctr"/>
          <a:lstStyle/>
          <a:p>
            <a:pPr rtl="1" algn="ctr" indent="0" marL="0">
              <a:lnSpc>
                <a:spcPct val="105000"/>
              </a:lnSpc>
              <a:buNone/>
            </a:pPr>
            <a:r>
              <a:rPr lang="fa-IR" altLang="en-US" sz="1100" b="1" dirty="0">
                <a:solidFill>
                  <a:srgbClr val="1B1B2F"/>
                </a:solidFill>
                <a:latin typeface="Vazirmatn" pitchFamily="34" charset="0"/>
                <a:ea typeface="Vazirmatn" pitchFamily="34" charset="-122"/>
                <a:cs typeface="Vazirmatn" pitchFamily="34" charset="-120"/>
              </a:rPr>
              <a:t>IdentityRegistry</a:t>
            </a:r>
            <a:endParaRPr lang="en-US" sz="1100" dirty="0"/>
          </a:p>
          <a:p>
            <a:pPr rtl="1" algn="ctr" indent="0" marL="0">
              <a:lnSpc>
                <a:spcPct val="105000"/>
              </a:lnSpc>
              <a:buNone/>
            </a:pPr>
            <a:r>
              <a:rPr lang="fa-IR" altLang="en-US" sz="1100" dirty="0">
                <a:solidFill>
                  <a:srgbClr val="2F3690"/>
                </a:solidFill>
                <a:latin typeface="Vazirmatn" pitchFamily="34" charset="0"/>
                <a:ea typeface="Vazirmatn" pitchFamily="34" charset="-122"/>
                <a:cs typeface="Vazirmatn" pitchFamily="34" charset="-120"/>
              </a:rPr>
              <a:t>0x6666</a:t>
            </a:r>
            <a:endParaRPr lang="en-US" sz="1100" dirty="0"/>
          </a:p>
        </p:txBody>
      </p:sp>
      <p:sp>
        <p:nvSpPr>
          <p:cNvPr id="21" name="Text 19"/>
          <p:cNvSpPr txBox="1"/>
          <p:nvPr/>
        </p:nvSpPr>
        <p:spPr>
          <a:xfrm>
            <a:off x="5242255" y="4160520"/>
            <a:ext cx="6400800" cy="2743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قراردادهای ساختاری (در genesis، بدون constructor)</a:t>
            </a:r>
            <a:endParaRPr lang="en-US" sz="1200" dirty="0"/>
          </a:p>
        </p:txBody>
      </p:sp>
      <p:sp>
        <p:nvSpPr>
          <p:cNvPr id="22" name="Shape 20"/>
          <p:cNvSpPr/>
          <p:nvPr/>
        </p:nvSpPr>
        <p:spPr>
          <a:xfrm>
            <a:off x="9006840" y="4663440"/>
            <a:ext cx="2636444" cy="1234440"/>
          </a:xfrm>
          <a:prstGeom prst="roundRect">
            <a:avLst>
              <a:gd name="adj" fmla="val 8889"/>
            </a:avLst>
          </a:prstGeom>
          <a:solidFill>
            <a:srgbClr val="E3F4EC"/>
          </a:solidFill>
          <a:ln w="9525">
            <a:solidFill>
              <a:srgbClr val="E3F4EC"/>
            </a:solidFill>
            <a:prstDash val="solid"/>
          </a:ln>
        </p:spPr>
      </p:sp>
      <p:sp>
        <p:nvSpPr>
          <p:cNvPr id="23" name="Text 21"/>
          <p:cNvSpPr txBox="1"/>
          <p:nvPr/>
        </p:nvSpPr>
        <p:spPr>
          <a:xfrm>
            <a:off x="9006840" y="4663440"/>
            <a:ext cx="2636444" cy="1234440"/>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1F7A55"/>
                </a:solidFill>
                <a:latin typeface="Vazirmatn" pitchFamily="34" charset="0"/>
                <a:ea typeface="Vazirmatn" pitchFamily="34" charset="-122"/>
                <a:cs typeface="Vazirmatn" pitchFamily="34" charset="-120"/>
              </a:rPr>
              <a:t>RewardRouter</a:t>
            </a:r>
            <a:endParaRPr lang="en-US" sz="1500" dirty="0"/>
          </a:p>
          <a:p>
            <a:pPr rtl="1" algn="ctr" indent="0" marL="0">
              <a:lnSpc>
                <a:spcPct val="105000"/>
              </a:lnSpc>
              <a:buNone/>
            </a:pPr>
            <a:r>
              <a:rPr lang="fa-IR" altLang="en-US" sz="1200" dirty="0">
                <a:solidFill>
                  <a:srgbClr val="1F7A55"/>
                </a:solidFill>
                <a:latin typeface="Vazirmatn" pitchFamily="34" charset="0"/>
                <a:ea typeface="Vazirmatn" pitchFamily="34" charset="-122"/>
                <a:cs typeface="Vazirmatn" pitchFamily="34" charset="-120"/>
              </a:rPr>
              <a:t>کلید: distributionOracle</a:t>
            </a:r>
            <a:endParaRPr lang="en-US" sz="1500" dirty="0"/>
          </a:p>
        </p:txBody>
      </p:sp>
      <p:sp>
        <p:nvSpPr>
          <p:cNvPr id="24" name="Shape 22"/>
          <p:cNvSpPr/>
          <p:nvPr/>
        </p:nvSpPr>
        <p:spPr>
          <a:xfrm>
            <a:off x="6186830" y="4663440"/>
            <a:ext cx="2636444" cy="1234440"/>
          </a:xfrm>
          <a:prstGeom prst="roundRect">
            <a:avLst>
              <a:gd name="adj" fmla="val 8889"/>
            </a:avLst>
          </a:prstGeom>
          <a:solidFill>
            <a:srgbClr val="E3F4EC"/>
          </a:solidFill>
          <a:ln w="9525">
            <a:solidFill>
              <a:srgbClr val="E3F4EC"/>
            </a:solidFill>
            <a:prstDash val="solid"/>
          </a:ln>
        </p:spPr>
      </p:sp>
      <p:sp>
        <p:nvSpPr>
          <p:cNvPr id="25" name="Text 23"/>
          <p:cNvSpPr txBox="1"/>
          <p:nvPr/>
        </p:nvSpPr>
        <p:spPr>
          <a:xfrm>
            <a:off x="6186830" y="4663440"/>
            <a:ext cx="2636444" cy="1234440"/>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1F7A55"/>
                </a:solidFill>
                <a:latin typeface="Vazirmatn" pitchFamily="34" charset="0"/>
                <a:ea typeface="Vazirmatn" pitchFamily="34" charset="-122"/>
                <a:cs typeface="Vazirmatn" pitchFamily="34" charset="-120"/>
              </a:rPr>
              <a:t>Verifier</a:t>
            </a:r>
            <a:endParaRPr lang="en-US" sz="1500" dirty="0"/>
          </a:p>
          <a:p>
            <a:pPr rtl="1" algn="ctr" indent="0" marL="0">
              <a:lnSpc>
                <a:spcPct val="105000"/>
              </a:lnSpc>
              <a:buNone/>
            </a:pPr>
            <a:r>
              <a:rPr lang="fa-IR" altLang="en-US" sz="1200" dirty="0">
                <a:solidFill>
                  <a:srgbClr val="1F7A55"/>
                </a:solidFill>
                <a:latin typeface="Vazirmatn" pitchFamily="34" charset="0"/>
                <a:ea typeface="Vazirmatn" pitchFamily="34" charset="-122"/>
                <a:cs typeface="Vazirmatn" pitchFamily="34" charset="-120"/>
              </a:rPr>
              <a:t>کلید: verifier</a:t>
            </a:r>
            <a:endParaRPr lang="en-US" sz="1500" dirty="0"/>
          </a:p>
        </p:txBody>
      </p:sp>
      <p:sp>
        <p:nvSpPr>
          <p:cNvPr id="26" name="Shape 24"/>
          <p:cNvSpPr/>
          <p:nvPr/>
        </p:nvSpPr>
        <p:spPr>
          <a:xfrm>
            <a:off x="3367735" y="4663440"/>
            <a:ext cx="2636444" cy="1234440"/>
          </a:xfrm>
          <a:prstGeom prst="roundRect">
            <a:avLst>
              <a:gd name="adj" fmla="val 8889"/>
            </a:avLst>
          </a:prstGeom>
          <a:solidFill>
            <a:srgbClr val="E3F4EC"/>
          </a:solidFill>
          <a:ln w="9525">
            <a:solidFill>
              <a:srgbClr val="E3F4EC"/>
            </a:solidFill>
            <a:prstDash val="solid"/>
          </a:ln>
        </p:spPr>
      </p:sp>
      <p:sp>
        <p:nvSpPr>
          <p:cNvPr id="27" name="Text 25"/>
          <p:cNvSpPr txBox="1"/>
          <p:nvPr/>
        </p:nvSpPr>
        <p:spPr>
          <a:xfrm>
            <a:off x="3367735" y="4663440"/>
            <a:ext cx="2636444" cy="1234440"/>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1F7A55"/>
                </a:solidFill>
                <a:latin typeface="Vazirmatn" pitchFamily="34" charset="0"/>
                <a:ea typeface="Vazirmatn" pitchFamily="34" charset="-122"/>
                <a:cs typeface="Vazirmatn" pitchFamily="34" charset="-120"/>
              </a:rPr>
              <a:t>Identity Service</a:t>
            </a:r>
            <a:endParaRPr lang="en-US" sz="1500" dirty="0"/>
          </a:p>
          <a:p>
            <a:pPr rtl="1" algn="ctr" indent="0" marL="0">
              <a:lnSpc>
                <a:spcPct val="105000"/>
              </a:lnSpc>
              <a:buNone/>
            </a:pPr>
            <a:r>
              <a:rPr lang="fa-IR" altLang="en-US" sz="1200" dirty="0">
                <a:solidFill>
                  <a:srgbClr val="1F7A55"/>
                </a:solidFill>
                <a:latin typeface="Vazirmatn" pitchFamily="34" charset="0"/>
                <a:ea typeface="Vazirmatn" pitchFamily="34" charset="-122"/>
                <a:cs typeface="Vazirmatn" pitchFamily="34" charset="-120"/>
              </a:rPr>
              <a:t>کلید: identityOracle</a:t>
            </a:r>
            <a:endParaRPr lang="en-US" sz="1500" dirty="0"/>
          </a:p>
        </p:txBody>
      </p:sp>
      <p:sp>
        <p:nvSpPr>
          <p:cNvPr id="28" name="Shape 26"/>
          <p:cNvSpPr/>
          <p:nvPr/>
        </p:nvSpPr>
        <p:spPr>
          <a:xfrm>
            <a:off x="548640" y="4663440"/>
            <a:ext cx="2636444" cy="1234440"/>
          </a:xfrm>
          <a:prstGeom prst="roundRect">
            <a:avLst>
              <a:gd name="adj" fmla="val 8889"/>
            </a:avLst>
          </a:prstGeom>
          <a:solidFill>
            <a:srgbClr val="E3F4EC"/>
          </a:solidFill>
          <a:ln w="9525">
            <a:solidFill>
              <a:srgbClr val="E3F4EC"/>
            </a:solidFill>
            <a:prstDash val="solid"/>
          </a:ln>
        </p:spPr>
      </p:sp>
      <p:sp>
        <p:nvSpPr>
          <p:cNvPr id="29" name="Text 27"/>
          <p:cNvSpPr txBox="1"/>
          <p:nvPr/>
        </p:nvSpPr>
        <p:spPr>
          <a:xfrm>
            <a:off x="548640" y="4663440"/>
            <a:ext cx="2636444" cy="1234440"/>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1F7A55"/>
                </a:solidFill>
                <a:latin typeface="Vazirmatn" pitchFamily="34" charset="0"/>
                <a:ea typeface="Vazirmatn" pitchFamily="34" charset="-122"/>
                <a:cs typeface="Vazirmatn" pitchFamily="34" charset="-120"/>
              </a:rPr>
              <a:t>PaymentReporter</a:t>
            </a:r>
            <a:endParaRPr lang="en-US" sz="1500" dirty="0"/>
          </a:p>
          <a:p>
            <a:pPr rtl="1" algn="ctr" indent="0" marL="0">
              <a:lnSpc>
                <a:spcPct val="105000"/>
              </a:lnSpc>
              <a:buNone/>
            </a:pPr>
            <a:r>
              <a:rPr lang="fa-IR" altLang="en-US" sz="1200" dirty="0">
                <a:solidFill>
                  <a:srgbClr val="1F7A55"/>
                </a:solidFill>
                <a:latin typeface="Vazirmatn" pitchFamily="34" charset="0"/>
                <a:ea typeface="Vazirmatn" pitchFamily="34" charset="-122"/>
                <a:cs typeface="Vazirmatn" pitchFamily="34" charset="-120"/>
              </a:rPr>
              <a:t>کلید: paymentOracle</a:t>
            </a:r>
            <a:endParaRPr lang="en-US" sz="1500" dirty="0"/>
          </a:p>
        </p:txBody>
      </p:sp>
      <p:sp>
        <p:nvSpPr>
          <p:cNvPr id="30" name="Text 28"/>
          <p:cNvSpPr txBox="1"/>
          <p:nvPr/>
        </p:nvSpPr>
        <p:spPr>
          <a:xfrm>
            <a:off x="548640" y="5989320"/>
            <a:ext cx="11094415" cy="2743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سرویس‌های آف‌چین با چهار کلید مستقل؛ هرکدام فقط یک نوع تصمیم را روی زنجیره ثبت می‌کند</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شبکه‌ی Besu</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پیکربندی شبکه: genesis و نود</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5</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5242255"/>
                <a:gridCol w="3017520"/>
                <a:gridCol w="2834640"/>
              </a:tblGrid>
              <a:tr h="384048">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توضیح</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مقدار</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پارامتر</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30352">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بدون فورک؛ نسخه‌ی ۲۶٫۹٫۰ به Java 25 نیاز دارد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Besu رسمی (آزموده: ۲۶٫۷٫۱ و ۲۶٫۹٫۰)</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کلاینت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30352">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qbft.validatorselectionmode = contract و validatorcontractaddress = 0x3333…3333</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QBFT، حالت contract</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اجماع</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30352">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آهنگ مشاهده‌شده حدود ۲٫۹۵ ثانیه است؛ شمار بلاک را از زمان حدس نزنید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۳</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blockperiodseconds</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30352">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هر ولیدیتور بدون نود واقعی در هر نوبتش به‌اندازه‌ی requesttimeout تأخیر می‌سازد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۳۰۰۰۰ / ۱۰</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epochlength / requesttimeoutseconds</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6692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پیش‌فرض blockreward صفر است؛ اگر نوشته نشود هیچ ریواردی صادر نمی‌شود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۲×۱۰¹⁸ wei و 0x2222…2222</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blockreward و miningbeneficiary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min-gas-price تنظیم سطح نود است، نه فیلد genesis</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true و ۱۰¹⁴ wei</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zeroBaseFee و min-gas-price</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6692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اجباری؛ evmVersion کامپایل باید با فورک genesis هم‌خوان باشد (PUSH0 فقط از Shanghai)</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همه از بلاک ۰ تا london</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hard forkها</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30352">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در حالت contract، فهرست ولیدیتور فقط از قرارداد می‌آید، نه از extraData</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RLP با ۰ ولیدیتور</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extraData</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شبکه‌ی Besu</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انتخاب ولیدیتور از قرارداد و خطر ولیدیتور بدون نود</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6</a:t>
            </a:r>
            <a:endParaRPr lang="en-US" sz="1000" dirty="0"/>
          </a:p>
        </p:txBody>
      </p:sp>
      <p:sp>
        <p:nvSpPr>
          <p:cNvPr id="6" name="Shape 4"/>
          <p:cNvSpPr/>
          <p:nvPr/>
        </p:nvSpPr>
        <p:spPr>
          <a:xfrm>
            <a:off x="6233465" y="1417320"/>
            <a:ext cx="5410048" cy="2286000"/>
          </a:xfrm>
          <a:prstGeom prst="roundRect">
            <a:avLst>
              <a:gd name="adj" fmla="val 4800"/>
            </a:avLst>
          </a:prstGeom>
          <a:solidFill>
            <a:srgbClr val="F7F9FC"/>
          </a:solidFill>
          <a:ln w="9525">
            <a:solidFill>
              <a:srgbClr val="DDE1EE"/>
            </a:solidFill>
            <a:prstDash val="solid"/>
          </a:ln>
        </p:spPr>
      </p:sp>
      <p:sp>
        <p:nvSpPr>
          <p:cNvPr id="7" name="Shape 5"/>
          <p:cNvSpPr/>
          <p:nvPr/>
        </p:nvSpPr>
        <p:spPr>
          <a:xfrm>
            <a:off x="10957712"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3501" y="1735988"/>
            <a:ext cx="231343" cy="231343"/>
          </a:xfrm>
          <a:prstGeom prst="rect">
            <a:avLst/>
          </a:prstGeom>
        </p:spPr>
      </p:pic>
      <p:sp>
        <p:nvSpPr>
          <p:cNvPr id="9" name="Text 6"/>
          <p:cNvSpPr txBox="1"/>
          <p:nvPr/>
        </p:nvSpPr>
        <p:spPr>
          <a:xfrm>
            <a:off x="6416345"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رابط قرارداد</a:t>
            </a:r>
            <a:endParaRPr lang="en-US" sz="1550" dirty="0"/>
          </a:p>
        </p:txBody>
      </p:sp>
      <p:sp>
        <p:nvSpPr>
          <p:cNvPr id="10" name="Text 7"/>
          <p:cNvSpPr txBox="1"/>
          <p:nvPr/>
        </p:nvSpPr>
        <p:spPr>
          <a:xfrm>
            <a:off x="6416345" y="2286000"/>
            <a:ext cx="5044288" cy="137160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Besu هر بلاک تابع getValidators() را از ValidatorsRegistry می‌خواند؛ امضای آن در کد Besu ثابت است. خروجی: فهرست آدرس‌های وضعیت Active.</a:t>
            </a:r>
            <a:endParaRPr lang="en-US" sz="1250" dirty="0"/>
          </a:p>
        </p:txBody>
      </p:sp>
      <p:sp>
        <p:nvSpPr>
          <p:cNvPr id="11" name="Shape 8"/>
          <p:cNvSpPr/>
          <p:nvPr/>
        </p:nvSpPr>
        <p:spPr>
          <a:xfrm>
            <a:off x="548640" y="1417320"/>
            <a:ext cx="5410048" cy="2286000"/>
          </a:xfrm>
          <a:prstGeom prst="roundRect">
            <a:avLst>
              <a:gd name="adj" fmla="val 4800"/>
            </a:avLst>
          </a:prstGeom>
          <a:solidFill>
            <a:srgbClr val="F7F9FC"/>
          </a:solidFill>
          <a:ln w="9525">
            <a:solidFill>
              <a:srgbClr val="DDE1EE"/>
            </a:solidFill>
            <a:prstDash val="solid"/>
          </a:ln>
        </p:spPr>
      </p:sp>
      <p:sp>
        <p:nvSpPr>
          <p:cNvPr id="12" name="Shape 9"/>
          <p:cNvSpPr/>
          <p:nvPr/>
        </p:nvSpPr>
        <p:spPr>
          <a:xfrm>
            <a:off x="5272888" y="1600200"/>
            <a:ext cx="502920" cy="502920"/>
          </a:xfrm>
          <a:prstGeom prst="ellipse">
            <a:avLst/>
          </a:prstGeom>
          <a:solidFill>
            <a:srgbClr val="2F3690"/>
          </a:solidFill>
          <a:ln w="12700">
            <a:solidFill>
              <a:srgbClr val="2F3690"/>
            </a:solidFill>
            <a:prstDash val="solid"/>
          </a:ln>
        </p:spPr>
      </p:sp>
      <p:pic>
        <p:nvPicPr>
          <p:cNvPr id="13" name="Image 1" descr="preencoded.png">    </p:cNvPr>
          <p:cNvPicPr>
            <a:picLocks noChangeAspect="1"/>
          </p:cNvPicPr>
          <p:nvPr/>
        </p:nvPicPr>
        <p:blipFill>
          <a:blip r:embed="rId2"/>
          <a:stretch>
            <a:fillRect/>
          </a:stretch>
        </p:blipFill>
        <p:spPr>
          <a:xfrm>
            <a:off x="5408676" y="1735988"/>
            <a:ext cx="231343" cy="231343"/>
          </a:xfrm>
          <a:prstGeom prst="rect">
            <a:avLst/>
          </a:prstGeom>
        </p:spPr>
      </p:pic>
      <p:sp>
        <p:nvSpPr>
          <p:cNvPr id="14" name="Text 10"/>
          <p:cNvSpPr txBox="1"/>
          <p:nvPr/>
        </p:nvSpPr>
        <p:spPr>
          <a:xfrm>
            <a:off x="731520"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زمان اثر تغییر</a:t>
            </a:r>
            <a:endParaRPr lang="en-US" sz="1550" dirty="0"/>
          </a:p>
        </p:txBody>
      </p:sp>
      <p:sp>
        <p:nvSpPr>
          <p:cNvPr id="15" name="Text 11"/>
          <p:cNvSpPr txBox="1"/>
          <p:nvPr/>
        </p:nvSpPr>
        <p:spPr>
          <a:xfrm>
            <a:off x="731520" y="2286000"/>
            <a:ext cx="5044288" cy="137160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تغییر فهرست بدون تأخیر epoch و بدون کش اعمال می‌شود. دقیقاً از کدام بلاک اثر می‌کند را روی نسخه‌ی واقعی Besu اندازه بگیرید؛ سیاست پرداخت پاداش از وضعیت انتهای بلاک N−1 استفاده می‌کند.</a:t>
            </a:r>
            <a:endParaRPr lang="en-US" sz="1250" dirty="0"/>
          </a:p>
        </p:txBody>
      </p:sp>
      <p:sp>
        <p:nvSpPr>
          <p:cNvPr id="16" name="Shape 12"/>
          <p:cNvSpPr/>
          <p:nvPr/>
        </p:nvSpPr>
        <p:spPr>
          <a:xfrm>
            <a:off x="6233465" y="3886200"/>
            <a:ext cx="5410048" cy="2286000"/>
          </a:xfrm>
          <a:prstGeom prst="roundRect">
            <a:avLst>
              <a:gd name="adj" fmla="val 4800"/>
            </a:avLst>
          </a:prstGeom>
          <a:solidFill>
            <a:srgbClr val="FCEAE4"/>
          </a:solidFill>
          <a:ln w="9525">
            <a:solidFill>
              <a:srgbClr val="FCEAE4"/>
            </a:solidFill>
            <a:prstDash val="solid"/>
          </a:ln>
        </p:spPr>
      </p:sp>
      <p:sp>
        <p:nvSpPr>
          <p:cNvPr id="17" name="Shape 13"/>
          <p:cNvSpPr/>
          <p:nvPr/>
        </p:nvSpPr>
        <p:spPr>
          <a:xfrm>
            <a:off x="10957712" y="4069080"/>
            <a:ext cx="502920" cy="502920"/>
          </a:xfrm>
          <a:prstGeom prst="ellipse">
            <a:avLst/>
          </a:prstGeom>
          <a:solidFill>
            <a:srgbClr val="C8431F"/>
          </a:solidFill>
          <a:ln w="12700">
            <a:solidFill>
              <a:srgbClr val="C8431F"/>
            </a:solidFill>
            <a:prstDash val="solid"/>
          </a:ln>
        </p:spPr>
      </p:sp>
      <p:pic>
        <p:nvPicPr>
          <p:cNvPr id="18" name="Image 2" descr="preencoded.png">    </p:cNvPr>
          <p:cNvPicPr>
            <a:picLocks noChangeAspect="1"/>
          </p:cNvPicPr>
          <p:nvPr/>
        </p:nvPicPr>
        <p:blipFill>
          <a:blip r:embed="rId3"/>
          <a:stretch>
            <a:fillRect/>
          </a:stretch>
        </p:blipFill>
        <p:spPr>
          <a:xfrm>
            <a:off x="11093501" y="4204868"/>
            <a:ext cx="231343" cy="231343"/>
          </a:xfrm>
          <a:prstGeom prst="rect">
            <a:avLst/>
          </a:prstGeom>
        </p:spPr>
      </p:pic>
      <p:sp>
        <p:nvSpPr>
          <p:cNvPr id="19" name="Text 14"/>
          <p:cNvSpPr txBox="1"/>
          <p:nvPr/>
        </p:nvSpPr>
        <p:spPr>
          <a:xfrm>
            <a:off x="6416345"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ولیدیتور بدون نود</a:t>
            </a:r>
            <a:endParaRPr lang="en-US" sz="1550" dirty="0"/>
          </a:p>
        </p:txBody>
      </p:sp>
      <p:sp>
        <p:nvSpPr>
          <p:cNvPr id="20" name="Text 15"/>
          <p:cNvSpPr txBox="1"/>
          <p:nvPr/>
        </p:nvSpPr>
        <p:spPr>
          <a:xfrm>
            <a:off x="6416345" y="4754880"/>
            <a:ext cx="5044288" cy="137160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نصاب QBFT برابر دوسوم n (گرد به پایین) به‌علاوه یک است. فعال‌کردن ولیدیتوری که نود واقعی پشتش نیست، اگر نصاب از شمار نودهای روشن بیشتر شود، کل زنجیره را قفل می‌کند (در آزمون واقعی حدود ۵۴ دقیقه). پس شمار نود روشن همیشه ≥ ولیدیتور فعال.</a:t>
            </a:r>
            <a:endParaRPr lang="en-US" sz="1250" dirty="0"/>
          </a:p>
        </p:txBody>
      </p:sp>
      <p:sp>
        <p:nvSpPr>
          <p:cNvPr id="21" name="Shape 16"/>
          <p:cNvSpPr/>
          <p:nvPr/>
        </p:nvSpPr>
        <p:spPr>
          <a:xfrm>
            <a:off x="548640" y="3886200"/>
            <a:ext cx="5410048" cy="2286000"/>
          </a:xfrm>
          <a:prstGeom prst="roundRect">
            <a:avLst>
              <a:gd name="adj" fmla="val 4800"/>
            </a:avLst>
          </a:prstGeom>
          <a:solidFill>
            <a:srgbClr val="F7F9FC"/>
          </a:solidFill>
          <a:ln w="9525">
            <a:solidFill>
              <a:srgbClr val="DDE1EE"/>
            </a:solidFill>
            <a:prstDash val="solid"/>
          </a:ln>
        </p:spPr>
      </p:sp>
      <p:sp>
        <p:nvSpPr>
          <p:cNvPr id="22" name="Shape 17"/>
          <p:cNvSpPr/>
          <p:nvPr/>
        </p:nvSpPr>
        <p:spPr>
          <a:xfrm>
            <a:off x="5272888" y="4069080"/>
            <a:ext cx="502920" cy="502920"/>
          </a:xfrm>
          <a:prstGeom prst="ellipse">
            <a:avLst/>
          </a:prstGeom>
          <a:solidFill>
            <a:srgbClr val="2F3690"/>
          </a:solidFill>
          <a:ln w="12700">
            <a:solidFill>
              <a:srgbClr val="2F3690"/>
            </a:solidFill>
            <a:prstDash val="solid"/>
          </a:ln>
        </p:spPr>
      </p:sp>
      <p:pic>
        <p:nvPicPr>
          <p:cNvPr id="23" name="Image 3" descr="preencoded.png">    </p:cNvPr>
          <p:cNvPicPr>
            <a:picLocks noChangeAspect="1"/>
          </p:cNvPicPr>
          <p:nvPr/>
        </p:nvPicPr>
        <p:blipFill>
          <a:blip r:embed="rId4"/>
          <a:stretch>
            <a:fillRect/>
          </a:stretch>
        </p:blipFill>
        <p:spPr>
          <a:xfrm>
            <a:off x="5408676" y="4204868"/>
            <a:ext cx="231343" cy="231343"/>
          </a:xfrm>
          <a:prstGeom prst="rect">
            <a:avLst/>
          </a:prstGeom>
        </p:spPr>
      </p:pic>
      <p:sp>
        <p:nvSpPr>
          <p:cNvPr id="24" name="Text 18"/>
          <p:cNvSpPr txBox="1"/>
          <p:nvPr/>
        </p:nvSpPr>
        <p:spPr>
          <a:xfrm>
            <a:off x="731520"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بازگشت از قفل</a:t>
            </a:r>
            <a:endParaRPr lang="en-US" sz="1550" dirty="0"/>
          </a:p>
        </p:txBody>
      </p:sp>
      <p:sp>
        <p:nvSpPr>
          <p:cNvPr id="25" name="Text 19"/>
          <p:cNvSpPr txBox="1"/>
          <p:nvPr/>
        </p:nvSpPr>
        <p:spPr>
          <a:xfrm>
            <a:off x="731520" y="4754880"/>
            <a:ext cx="5044288" cy="137160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اگر زنجیره قفل شد، همه‌ی نودها را هم‌زمان ری‌استارت کنید؛ ری‌استارت جزئی معمولاً جواب نمی‌دهد چون تایمر دور نودهای زنده جلوتر رفته. آخرین راه، گذار blockheader است (اسلاید بازیابی اضطراری).</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قراردادها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شش قرارداد ساختاری: آدرس ثابت و وابستگی‌ها</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7</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47695"/>
                <a:gridCol w="4023360"/>
                <a:gridCol w="1645920"/>
                <a:gridCol w="2377440"/>
              </a:tblGrid>
              <a:tr h="384048">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قراردادهایی که می‌شناسد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نقش</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آدرس</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قرارداد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4864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هیچ‌کدام</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حکمرانی داخلی بنیاد (۱۵ عضو) و کنترل دو اوراکل</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0x1111…1111</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FoundationDAO</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4864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Registry، Treasury، Board</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دریافت ریوارد و فی؛ توزیع؛ سقف و حکمرانی نرخ</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0x2222…2222</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BlockRewardDistributor</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4864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Treasury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مرجع اجماع، وثیقه، چرخه‌ی عمر و جریمه</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0x3333…3333</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ValidatorsRegistry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4864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Registry، Distributor، Treasury، IdentityRegistry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هیأت ۵صندلی با اختیارات تفویضی</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0x4444…4444</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ValidatorsBoard</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4864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Registry، Board</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خزانه؛ خرج فقط با هیأت و زیر سقف‌ها</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0x5555…5555</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ValidatorsTreasury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4864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FoundationDAO</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هویت خوداظهاری و وریفای همه‌ی کاربران</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0x6666…6666</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IdentityRegistry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
        <p:nvSpPr>
          <p:cNvPr id="7" name="Text 4"/>
          <p:cNvSpPr txBox="1"/>
          <p:nvPr/>
        </p:nvSpPr>
        <p:spPr>
          <a:xfrm>
            <a:off x="548640" y="5486400"/>
            <a:ext cx="11094415" cy="73152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آدرس‌ها پیش از وجود هر قرارداد معلوم‌اند؛ پس هرکدام آدرس بقیه را constant می‌داند و مرحله‌ی سیم‌کشی پس از استقرار وجود ندارد. SurenSale و ServiceStaking قراردادهای مستقل‌اند و با تراکنش عادی مستقر می‌شوند.</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استقرار در genesis</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چرا قراردادها در alloc تزریق می‌شوند و نه با تراکنش</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8</a:t>
            </a:r>
            <a:endParaRPr lang="en-US" sz="1000" dirty="0"/>
          </a:p>
        </p:txBody>
      </p:sp>
      <p:sp>
        <p:nvSpPr>
          <p:cNvPr id="6" name="Shape 4"/>
          <p:cNvSpPr/>
          <p:nvPr/>
        </p:nvSpPr>
        <p:spPr>
          <a:xfrm>
            <a:off x="6233465" y="1417320"/>
            <a:ext cx="5410048" cy="2286000"/>
          </a:xfrm>
          <a:prstGeom prst="roundRect">
            <a:avLst>
              <a:gd name="adj" fmla="val 4800"/>
            </a:avLst>
          </a:prstGeom>
          <a:solidFill>
            <a:srgbClr val="F7F9FC"/>
          </a:solidFill>
          <a:ln w="9525">
            <a:solidFill>
              <a:srgbClr val="DDE1EE"/>
            </a:solidFill>
            <a:prstDash val="solid"/>
          </a:ln>
        </p:spPr>
      </p:sp>
      <p:sp>
        <p:nvSpPr>
          <p:cNvPr id="7" name="Shape 5"/>
          <p:cNvSpPr/>
          <p:nvPr/>
        </p:nvSpPr>
        <p:spPr>
          <a:xfrm>
            <a:off x="10957712"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3501" y="1735988"/>
            <a:ext cx="231343" cy="231343"/>
          </a:xfrm>
          <a:prstGeom prst="rect">
            <a:avLst/>
          </a:prstGeom>
        </p:spPr>
      </p:pic>
      <p:sp>
        <p:nvSpPr>
          <p:cNvPr id="9" name="Text 6"/>
          <p:cNvSpPr txBox="1"/>
          <p:nvPr/>
        </p:nvSpPr>
        <p:spPr>
          <a:xfrm>
            <a:off x="6416345"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بدون constructor</a:t>
            </a:r>
            <a:endParaRPr lang="en-US" sz="1550" dirty="0"/>
          </a:p>
        </p:txBody>
      </p:sp>
      <p:sp>
        <p:nvSpPr>
          <p:cNvPr id="10" name="Text 7"/>
          <p:cNvSpPr txBox="1"/>
          <p:nvPr/>
        </p:nvSpPr>
        <p:spPr>
          <a:xfrm>
            <a:off x="6416345" y="2286000"/>
            <a:ext cx="5044288" cy="137160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کد (runtime) و storage نهایی مستقیم در alloc نوشته می‌شود. هر شش قرارداد constructor ندارند، چون قراردادهای genesis با constructor روی اکسپلوررهایی مثل Blockscout وریفای نمی‌شوند.</a:t>
            </a:r>
            <a:endParaRPr lang="en-US" sz="1250" dirty="0"/>
          </a:p>
        </p:txBody>
      </p:sp>
      <p:sp>
        <p:nvSpPr>
          <p:cNvPr id="11" name="Shape 8"/>
          <p:cNvSpPr/>
          <p:nvPr/>
        </p:nvSpPr>
        <p:spPr>
          <a:xfrm>
            <a:off x="548640" y="1417320"/>
            <a:ext cx="5410048" cy="2286000"/>
          </a:xfrm>
          <a:prstGeom prst="roundRect">
            <a:avLst>
              <a:gd name="adj" fmla="val 4800"/>
            </a:avLst>
          </a:prstGeom>
          <a:solidFill>
            <a:srgbClr val="F7F9FC"/>
          </a:solidFill>
          <a:ln w="9525">
            <a:solidFill>
              <a:srgbClr val="DDE1EE"/>
            </a:solidFill>
            <a:prstDash val="solid"/>
          </a:ln>
        </p:spPr>
      </p:sp>
      <p:sp>
        <p:nvSpPr>
          <p:cNvPr id="12" name="Shape 9"/>
          <p:cNvSpPr/>
          <p:nvPr/>
        </p:nvSpPr>
        <p:spPr>
          <a:xfrm>
            <a:off x="5272888" y="1600200"/>
            <a:ext cx="502920" cy="502920"/>
          </a:xfrm>
          <a:prstGeom prst="ellipse">
            <a:avLst/>
          </a:prstGeom>
          <a:solidFill>
            <a:srgbClr val="2F3690"/>
          </a:solidFill>
          <a:ln w="12700">
            <a:solidFill>
              <a:srgbClr val="2F3690"/>
            </a:solidFill>
            <a:prstDash val="solid"/>
          </a:ln>
        </p:spPr>
      </p:sp>
      <p:pic>
        <p:nvPicPr>
          <p:cNvPr id="13" name="Image 1" descr="preencoded.png">    </p:cNvPr>
          <p:cNvPicPr>
            <a:picLocks noChangeAspect="1"/>
          </p:cNvPicPr>
          <p:nvPr/>
        </p:nvPicPr>
        <p:blipFill>
          <a:blip r:embed="rId2"/>
          <a:stretch>
            <a:fillRect/>
          </a:stretch>
        </p:blipFill>
        <p:spPr>
          <a:xfrm>
            <a:off x="5408676" y="1735988"/>
            <a:ext cx="231343" cy="231343"/>
          </a:xfrm>
          <a:prstGeom prst="rect">
            <a:avLst/>
          </a:prstGeom>
        </p:spPr>
      </p:pic>
      <p:sp>
        <p:nvSpPr>
          <p:cNvPr id="14" name="Text 10"/>
          <p:cNvSpPr txBox="1"/>
          <p:nvPr/>
        </p:nvSpPr>
        <p:spPr>
          <a:xfrm>
            <a:off x="731520"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مقدار اولیه اجرا نمی‌شود</a:t>
            </a:r>
            <a:endParaRPr lang="en-US" sz="1550" dirty="0"/>
          </a:p>
        </p:txBody>
      </p:sp>
      <p:sp>
        <p:nvSpPr>
          <p:cNvPr id="15" name="Text 11"/>
          <p:cNvSpPr txBox="1"/>
          <p:nvPr/>
        </p:nvSpPr>
        <p:spPr>
          <a:xfrm>
            <a:off x="731520" y="2286000"/>
            <a:ext cx="5044288" cy="137160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مقداردهی scalarها (آدرس اوراکل‌ها، سقف‌ها، پارامترهای زمانی، سهم‌ها) جزو runtime نیست. هر scalar غیرصفر باید با overlay صریح روی slot خودش نوشته شود، وگرنه صفر می‌ماند.</a:t>
            </a:r>
            <a:endParaRPr lang="en-US" sz="1250" dirty="0"/>
          </a:p>
        </p:txBody>
      </p:sp>
      <p:sp>
        <p:nvSpPr>
          <p:cNvPr id="16" name="Shape 12"/>
          <p:cNvSpPr/>
          <p:nvPr/>
        </p:nvSpPr>
        <p:spPr>
          <a:xfrm>
            <a:off x="6233465" y="3886200"/>
            <a:ext cx="5410048" cy="2286000"/>
          </a:xfrm>
          <a:prstGeom prst="roundRect">
            <a:avLst>
              <a:gd name="adj" fmla="val 4800"/>
            </a:avLst>
          </a:prstGeom>
          <a:solidFill>
            <a:srgbClr val="F7F9FC"/>
          </a:solidFill>
          <a:ln w="9525">
            <a:solidFill>
              <a:srgbClr val="DDE1EE"/>
            </a:solidFill>
            <a:prstDash val="solid"/>
          </a:ln>
        </p:spPr>
      </p:sp>
      <p:sp>
        <p:nvSpPr>
          <p:cNvPr id="17" name="Shape 13"/>
          <p:cNvSpPr/>
          <p:nvPr/>
        </p:nvSpPr>
        <p:spPr>
          <a:xfrm>
            <a:off x="10957712" y="4069080"/>
            <a:ext cx="502920" cy="502920"/>
          </a:xfrm>
          <a:prstGeom prst="ellipse">
            <a:avLst/>
          </a:prstGeom>
          <a:solidFill>
            <a:srgbClr val="2F3690"/>
          </a:solidFill>
          <a:ln w="12700">
            <a:solidFill>
              <a:srgbClr val="2F3690"/>
            </a:solidFill>
            <a:prstDash val="solid"/>
          </a:ln>
        </p:spPr>
      </p:sp>
      <p:pic>
        <p:nvPicPr>
          <p:cNvPr id="18" name="Image 2" descr="preencoded.png">    </p:cNvPr>
          <p:cNvPicPr>
            <a:picLocks noChangeAspect="1"/>
          </p:cNvPicPr>
          <p:nvPr/>
        </p:nvPicPr>
        <p:blipFill>
          <a:blip r:embed="rId3"/>
          <a:stretch>
            <a:fillRect/>
          </a:stretch>
        </p:blipFill>
        <p:spPr>
          <a:xfrm>
            <a:off x="11093501" y="4204868"/>
            <a:ext cx="231343" cy="231343"/>
          </a:xfrm>
          <a:prstGeom prst="rect">
            <a:avLst/>
          </a:prstGeom>
        </p:spPr>
      </p:pic>
      <p:sp>
        <p:nvSpPr>
          <p:cNvPr id="19" name="Text 14"/>
          <p:cNvSpPr txBox="1"/>
          <p:nvPr/>
        </p:nvSpPr>
        <p:spPr>
          <a:xfrm>
            <a:off x="6416345"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mapping و آرایه</a:t>
            </a:r>
            <a:endParaRPr lang="en-US" sz="1550" dirty="0"/>
          </a:p>
        </p:txBody>
      </p:sp>
      <p:sp>
        <p:nvSpPr>
          <p:cNvPr id="20" name="Text 15"/>
          <p:cNvSpPr txBox="1"/>
          <p:nvPr/>
        </p:nvSpPr>
        <p:spPr>
          <a:xfrm>
            <a:off x="6416345" y="4754880"/>
            <a:ext cx="5044288" cy="137160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slot این‌ها با keccak محاسبه می‌شود. سه قرارداد دارای عضو اولیه (FoundationDAO، Registry، Board) با یک قرارداد کمکی موقت روی زنجیره‌ی محلی اجرا و storage واقعی از state خوانده می‌شود، نه محاسبه‌ی دستی.</a:t>
            </a:r>
            <a:endParaRPr lang="en-US" sz="1250" dirty="0"/>
          </a:p>
        </p:txBody>
      </p:sp>
      <p:sp>
        <p:nvSpPr>
          <p:cNvPr id="21" name="Shape 16"/>
          <p:cNvSpPr/>
          <p:nvPr/>
        </p:nvSpPr>
        <p:spPr>
          <a:xfrm>
            <a:off x="548640" y="3886200"/>
            <a:ext cx="5410048" cy="2286000"/>
          </a:xfrm>
          <a:prstGeom prst="roundRect">
            <a:avLst>
              <a:gd name="adj" fmla="val 4800"/>
            </a:avLst>
          </a:prstGeom>
          <a:solidFill>
            <a:srgbClr val="F7F9FC"/>
          </a:solidFill>
          <a:ln w="9525">
            <a:solidFill>
              <a:srgbClr val="DDE1EE"/>
            </a:solidFill>
            <a:prstDash val="solid"/>
          </a:ln>
        </p:spPr>
      </p:sp>
      <p:sp>
        <p:nvSpPr>
          <p:cNvPr id="22" name="Shape 17"/>
          <p:cNvSpPr/>
          <p:nvPr/>
        </p:nvSpPr>
        <p:spPr>
          <a:xfrm>
            <a:off x="5272888" y="4069080"/>
            <a:ext cx="502920" cy="502920"/>
          </a:xfrm>
          <a:prstGeom prst="ellipse">
            <a:avLst/>
          </a:prstGeom>
          <a:solidFill>
            <a:srgbClr val="2F3690"/>
          </a:solidFill>
          <a:ln w="12700">
            <a:solidFill>
              <a:srgbClr val="2F3690"/>
            </a:solidFill>
            <a:prstDash val="solid"/>
          </a:ln>
        </p:spPr>
      </p:sp>
      <p:pic>
        <p:nvPicPr>
          <p:cNvPr id="23" name="Image 3" descr="preencoded.png">    </p:cNvPr>
          <p:cNvPicPr>
            <a:picLocks noChangeAspect="1"/>
          </p:cNvPicPr>
          <p:nvPr/>
        </p:nvPicPr>
        <p:blipFill>
          <a:blip r:embed="rId4"/>
          <a:stretch>
            <a:fillRect/>
          </a:stretch>
        </p:blipFill>
        <p:spPr>
          <a:xfrm>
            <a:off x="5408676" y="4204868"/>
            <a:ext cx="231343" cy="231343"/>
          </a:xfrm>
          <a:prstGeom prst="rect">
            <a:avLst/>
          </a:prstGeom>
        </p:spPr>
      </p:pic>
      <p:sp>
        <p:nvSpPr>
          <p:cNvPr id="24" name="Text 18"/>
          <p:cNvSpPr txBox="1"/>
          <p:nvPr/>
        </p:nvSpPr>
        <p:spPr>
          <a:xfrm>
            <a:off x="731520"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بدون viaIR، بدون immutable</a:t>
            </a:r>
            <a:endParaRPr lang="en-US" sz="1550" dirty="0"/>
          </a:p>
        </p:txBody>
      </p:sp>
      <p:sp>
        <p:nvSpPr>
          <p:cNvPr id="25" name="Text 19"/>
          <p:cNvSpPr txBox="1"/>
          <p:nvPr/>
        </p:nvSpPr>
        <p:spPr>
          <a:xfrm>
            <a:off x="731520" y="4754880"/>
            <a:ext cx="5044288" cy="137160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کامپایل با solc 0.8.24، optimizer فعال، بدون viaIR (برای وریفای روی اکسپلورر). هیچ قرارداد genesis متغیر immutable ندارد؛ پس برداشتن مستقیم deployedBytecode درست است.</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استقرار در genesis</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ابزار ساخت genesis.json: دو مسیر برای دو نوع قرارداد</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9</a:t>
            </a:r>
            <a:endParaRPr lang="en-US" sz="1000" dirty="0"/>
          </a:p>
        </p:txBody>
      </p:sp>
      <p:sp>
        <p:nvSpPr>
          <p:cNvPr id="6" name="Shape 4"/>
          <p:cNvSpPr/>
          <p:nvPr/>
        </p:nvSpPr>
        <p:spPr>
          <a:xfrm>
            <a:off x="6202375" y="1417320"/>
            <a:ext cx="5440680" cy="2377440"/>
          </a:xfrm>
          <a:prstGeom prst="roundRect">
            <a:avLst>
              <a:gd name="adj" fmla="val 4615"/>
            </a:avLst>
          </a:prstGeom>
          <a:solidFill>
            <a:srgbClr val="EEF0FB"/>
          </a:solidFill>
          <a:ln w="9525">
            <a:solidFill>
              <a:srgbClr val="EEF0FB"/>
            </a:solidFill>
            <a:prstDash val="solid"/>
          </a:ln>
        </p:spPr>
      </p:sp>
      <p:sp>
        <p:nvSpPr>
          <p:cNvPr id="7" name="Shape 5"/>
          <p:cNvSpPr/>
          <p:nvPr/>
        </p:nvSpPr>
        <p:spPr>
          <a:xfrm>
            <a:off x="548640" y="1417320"/>
            <a:ext cx="5440680" cy="2377440"/>
          </a:xfrm>
          <a:prstGeom prst="roundRect">
            <a:avLst>
              <a:gd name="adj" fmla="val 4615"/>
            </a:avLst>
          </a:prstGeom>
          <a:solidFill>
            <a:srgbClr val="F7F9FC"/>
          </a:solidFill>
          <a:ln w="9525">
            <a:solidFill>
              <a:srgbClr val="DDE1EE"/>
            </a:solidFill>
            <a:prstDash val="solid"/>
          </a:ln>
        </p:spPr>
      </p:sp>
      <p:sp>
        <p:nvSpPr>
          <p:cNvPr id="8" name="Text 6"/>
          <p:cNvSpPr txBox="1"/>
          <p:nvPr/>
        </p:nvSpPr>
        <p:spPr>
          <a:xfrm>
            <a:off x="6385255" y="1508760"/>
            <a:ext cx="5074920" cy="32004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2F3690"/>
                </a:solidFill>
                <a:latin typeface="Vazirmatn" pitchFamily="34" charset="0"/>
                <a:ea typeface="Vazirmatn" pitchFamily="34" charset="-122"/>
                <a:cs typeface="Vazirmatn" pitchFamily="34" charset="-120"/>
              </a:rPr>
              <a:t>مسیر ساده: Distributor، Treasury، IdentityRegistry</a:t>
            </a:r>
            <a:endParaRPr lang="en-US" sz="1450" dirty="0"/>
          </a:p>
        </p:txBody>
      </p:sp>
      <p:sp>
        <p:nvSpPr>
          <p:cNvPr id="9" name="Text 7"/>
          <p:cNvSpPr txBox="1"/>
          <p:nvPr/>
        </p:nvSpPr>
        <p:spPr>
          <a:xfrm>
            <a:off x="6385255" y="1920240"/>
            <a:ext cx="5074920" cy="1828800"/>
          </a:xfrm>
          <a:prstGeom prst="rect">
            <a:avLst/>
          </a:prstGeom>
          <a:noFill/>
          <a:ln/>
        </p:spPr>
        <p:txBody>
          <a:bodyPr wrap="square" lIns="0" tIns="0" rIns="0" bIns="0" rtlCol="0" anchor="t"/>
          <a:lstStyle/>
          <a:p>
            <a:pPr rtl="1" algn="r" indent="0" marL="0">
              <a:lnSpc>
                <a:spcPct val="105000"/>
              </a:lnSpc>
              <a:spcAft>
                <a:spcPts val="600"/>
              </a:spcAft>
              <a:buNone/>
            </a:pPr>
            <a:r>
              <a:rPr lang="fa-IR" altLang="en-US" sz="1250" dirty="0">
                <a:solidFill>
                  <a:srgbClr val="1B1B2F"/>
                </a:solidFill>
                <a:latin typeface="Vazirmatn" pitchFamily="34" charset="0"/>
                <a:ea typeface="Vazirmatn" pitchFamily="34" charset="-122"/>
                <a:cs typeface="Vazirmatn" pitchFamily="34" charset="-120"/>
              </a:rPr>
              <a:t>۱. کامپایل سورس با مقدارهای واقعی</a:t>
            </a:r>
            <a:endParaRPr lang="en-US" sz="1250" dirty="0"/>
          </a:p>
          <a:p>
            <a:pPr rtl="1" algn="r" indent="0" marL="0">
              <a:lnSpc>
                <a:spcPct val="105000"/>
              </a:lnSpc>
              <a:spcAft>
                <a:spcPts val="600"/>
              </a:spcAft>
              <a:buNone/>
            </a:pPr>
            <a:r>
              <a:rPr lang="fa-IR" altLang="en-US" sz="1250" dirty="0">
                <a:solidFill>
                  <a:srgbClr val="1B1B2F"/>
                </a:solidFill>
                <a:latin typeface="Vazirmatn" pitchFamily="34" charset="0"/>
                <a:ea typeface="Vazirmatn" pitchFamily="34" charset="-122"/>
                <a:cs typeface="Vazirmatn" pitchFamily="34" charset="-120"/>
              </a:rPr>
              <a:t>۲. اجرای creation code روی زنجیره‌ی موقت و خواندن کد با eth_getCode</a:t>
            </a:r>
            <a:endParaRPr lang="en-US" sz="1250" dirty="0"/>
          </a:p>
          <a:p>
            <a:pPr rtl="1" algn="r" indent="0" marL="0">
              <a:lnSpc>
                <a:spcPct val="105000"/>
              </a:lnSpc>
              <a:spcAft>
                <a:spcPts val="600"/>
              </a:spcAft>
              <a:buNone/>
            </a:pPr>
            <a:r>
              <a:rPr lang="fa-IR" altLang="en-US" sz="1250" dirty="0">
                <a:solidFill>
                  <a:srgbClr val="1B1B2F"/>
                </a:solidFill>
                <a:latin typeface="Vazirmatn" pitchFamily="34" charset="0"/>
                <a:ea typeface="Vazirmatn" pitchFamily="34" charset="-122"/>
                <a:cs typeface="Vazirmatn" pitchFamily="34" charset="-120"/>
              </a:rPr>
              <a:t>۳. خواندن شماره‌ی slot هر scalar از storageLayout</a:t>
            </a:r>
            <a:endParaRPr lang="en-US" sz="1250" dirty="0"/>
          </a:p>
          <a:p>
            <a:pPr rtl="1" algn="r" indent="0" marL="0">
              <a:lnSpc>
                <a:spcPct val="105000"/>
              </a:lnSpc>
              <a:spcAft>
                <a:spcPts val="600"/>
              </a:spcAft>
              <a:buNone/>
            </a:pPr>
            <a:r>
              <a:rPr lang="fa-IR" altLang="en-US" sz="1250" dirty="0">
                <a:solidFill>
                  <a:srgbClr val="1B1B2F"/>
                </a:solidFill>
                <a:latin typeface="Vazirmatn" pitchFamily="34" charset="0"/>
                <a:ea typeface="Vazirmatn" pitchFamily="34" charset="-122"/>
                <a:cs typeface="Vazirmatn" pitchFamily="34" charset="-120"/>
              </a:rPr>
              <a:t>۴. نوشتن مقدار واقعی در همان slot در alloc.storage</a:t>
            </a:r>
            <a:endParaRPr lang="en-US" sz="1250" dirty="0"/>
          </a:p>
        </p:txBody>
      </p:sp>
      <p:sp>
        <p:nvSpPr>
          <p:cNvPr id="10" name="Text 8"/>
          <p:cNvSpPr txBox="1"/>
          <p:nvPr/>
        </p:nvSpPr>
        <p:spPr>
          <a:xfrm>
            <a:off x="731520" y="1508760"/>
            <a:ext cx="5074920" cy="32004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3D46A8"/>
                </a:solidFill>
                <a:latin typeface="Vazirmatn" pitchFamily="34" charset="0"/>
                <a:ea typeface="Vazirmatn" pitchFamily="34" charset="-122"/>
                <a:cs typeface="Vazirmatn" pitchFamily="34" charset="-120"/>
              </a:rPr>
              <a:t>مسیر شبیه‌سازی: FoundationDAO، Registry، Board</a:t>
            </a:r>
            <a:endParaRPr lang="en-US" sz="1450" dirty="0"/>
          </a:p>
        </p:txBody>
      </p:sp>
      <p:sp>
        <p:nvSpPr>
          <p:cNvPr id="11" name="Text 9"/>
          <p:cNvSpPr txBox="1"/>
          <p:nvPr/>
        </p:nvSpPr>
        <p:spPr>
          <a:xfrm>
            <a:off x="731520" y="1920240"/>
            <a:ext cx="5074920" cy="1828800"/>
          </a:xfrm>
          <a:prstGeom prst="rect">
            <a:avLst/>
          </a:prstGeom>
          <a:noFill/>
          <a:ln/>
        </p:spPr>
        <p:txBody>
          <a:bodyPr wrap="square" lIns="0" tIns="0" rIns="0" bIns="0" rtlCol="0" anchor="t"/>
          <a:lstStyle/>
          <a:p>
            <a:pPr rtl="1" algn="r" indent="0" marL="0">
              <a:lnSpc>
                <a:spcPct val="105000"/>
              </a:lnSpc>
              <a:spcAft>
                <a:spcPts val="600"/>
              </a:spcAft>
              <a:buNone/>
            </a:pPr>
            <a:r>
              <a:rPr lang="fa-IR" altLang="en-US" sz="1250" dirty="0">
                <a:solidFill>
                  <a:srgbClr val="1B1B2F"/>
                </a:solidFill>
                <a:latin typeface="Vazirmatn" pitchFamily="34" charset="0"/>
                <a:ea typeface="Vazirmatn" pitchFamily="34" charset="-122"/>
                <a:cs typeface="Vazirmatn" pitchFamily="34" charset="-120"/>
              </a:rPr>
              <a:t>۱. جایگزینی آدرس‌های اولیه در قرارداد کمکی (بدون آرگومان constructor)</a:t>
            </a:r>
            <a:endParaRPr lang="en-US" sz="1250" dirty="0"/>
          </a:p>
          <a:p>
            <a:pPr rtl="1" algn="r" indent="0" marL="0">
              <a:lnSpc>
                <a:spcPct val="105000"/>
              </a:lnSpc>
              <a:spcAft>
                <a:spcPts val="600"/>
              </a:spcAft>
              <a:buNone/>
            </a:pPr>
            <a:r>
              <a:rPr lang="fa-IR" altLang="en-US" sz="1250" dirty="0">
                <a:solidFill>
                  <a:srgbClr val="1B1B2F"/>
                </a:solidFill>
                <a:latin typeface="Vazirmatn" pitchFamily="34" charset="0"/>
                <a:ea typeface="Vazirmatn" pitchFamily="34" charset="-122"/>
                <a:cs typeface="Vazirmatn" pitchFamily="34" charset="-120"/>
              </a:rPr>
              <a:t>۲. دیپلوی روی زنجیره‌ی محلی موقت (Anvil) و گرفتن state با anvil_dumpState</a:t>
            </a:r>
            <a:endParaRPr lang="en-US" sz="1250" dirty="0"/>
          </a:p>
          <a:p>
            <a:pPr rtl="1" algn="r" indent="0" marL="0">
              <a:lnSpc>
                <a:spcPct val="105000"/>
              </a:lnSpc>
              <a:spcAft>
                <a:spcPts val="600"/>
              </a:spcAft>
              <a:buNone/>
            </a:pPr>
            <a:r>
              <a:rPr lang="fa-IR" altLang="en-US" sz="1250" dirty="0">
                <a:solidFill>
                  <a:srgbClr val="1B1B2F"/>
                </a:solidFill>
                <a:latin typeface="Vazirmatn" pitchFamily="34" charset="0"/>
                <a:ea typeface="Vazirmatn" pitchFamily="34" charset="-122"/>
                <a:cs typeface="Vazirmatn" pitchFamily="34" charset="-120"/>
              </a:rPr>
              <a:t>۳. برداشتن storage؛ کد از قرارداد اصلی، نه کمکی</a:t>
            </a:r>
            <a:endParaRPr lang="en-US" sz="1250" dirty="0"/>
          </a:p>
          <a:p>
            <a:pPr rtl="1" algn="r" indent="0" marL="0">
              <a:lnSpc>
                <a:spcPct val="105000"/>
              </a:lnSpc>
              <a:spcAft>
                <a:spcPts val="600"/>
              </a:spcAft>
              <a:buNone/>
            </a:pPr>
            <a:r>
              <a:rPr lang="fa-IR" altLang="en-US" sz="1250" dirty="0">
                <a:solidFill>
                  <a:srgbClr val="1B1B2F"/>
                </a:solidFill>
                <a:latin typeface="Vazirmatn" pitchFamily="34" charset="0"/>
                <a:ea typeface="Vazirmatn" pitchFamily="34" charset="-122"/>
                <a:cs typeface="Vazirmatn" pitchFamily="34" charset="-120"/>
              </a:rPr>
              <a:t>۴. برای Registry علاوه بر آن overlay scalarها</a:t>
            </a:r>
            <a:endParaRPr lang="en-US" sz="1250" dirty="0"/>
          </a:p>
        </p:txBody>
      </p:sp>
      <p:sp>
        <p:nvSpPr>
          <p:cNvPr id="12" name="Text 10"/>
          <p:cNvSpPr txBox="1"/>
          <p:nvPr/>
        </p:nvSpPr>
        <p:spPr>
          <a:xfrm>
            <a:off x="548640" y="3977640"/>
            <a:ext cx="11094415" cy="320040"/>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1F7A55"/>
                </a:solidFill>
                <a:latin typeface="Vazirmatn" pitchFamily="34" charset="0"/>
                <a:ea typeface="Vazirmatn" pitchFamily="34" charset="-122"/>
                <a:cs typeface="Vazirmatn" pitchFamily="34" charset="-120"/>
              </a:rPr>
              <a:t>مقدارهایی که باید با overlay نوشته شوند (چون اجرای مقداردهی اولیه جزو runtime نیست)</a:t>
            </a:r>
            <a:endParaRPr lang="en-US" sz="13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4389120"/>
          <a:ext cx="11094415" cy="914400"/>
        </p:xfrm>
        <a:graphic>
          <a:graphicData uri="http://schemas.openxmlformats.org/drawingml/2006/table">
            <a:tbl>
              <a:tblPr/>
              <a:tblGrid>
                <a:gridCol w="8442655"/>
                <a:gridCol w="2651760"/>
              </a:tblGrid>
              <a:tr h="365760">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مقدارها</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قرارداد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6692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verifier؛ entryThresholdBase؛ growthFactorPerValidator؛ membershipFeeBps؛ شش پارامتر امنیتی و زمانی؛ windowStart (برابر timestamp genesis). paidValidatorCount را ننویسید.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ValidatorsRegistry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38404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perPaymentCap و periodCap</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ValidatorsTreasury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38404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distributionOracle و validatorDirectShareBps</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BlockRewardDistributor</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استقرار در genesis</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بررسی‌های اجباری پس از ساخت: همه از بلاک صفر</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10</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5425135"/>
                <a:gridCol w="5669280"/>
              </a:tblGrid>
              <a:tr h="384048">
                <a:tc>
                  <a:txBody>
                    <a:bodyPr/>
                    <a:lstStyle/>
                    <a:p>
                      <a:pPr rtl="1" algn="r" indent="0" marL="0">
                        <a:buNone/>
                      </a:pPr>
                      <a:r>
                        <a:rPr lang="fa-IR" altLang="en-US" sz="1100" b="1" dirty="0">
                          <a:solidFill>
                            <a:srgbClr val="FFFFFF"/>
                          </a:solidFill>
                          <a:latin typeface="Vazirmatn" pitchFamily="34" charset="0"/>
                          <a:ea typeface="Vazirmatn" pitchFamily="34" charset="-122"/>
                          <a:cs typeface="Vazirmatn" pitchFamily="34" charset="-120"/>
                        </a:rPr>
                        <a:t>مقدار مورد انتظار</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00" b="1" dirty="0">
                          <a:solidFill>
                            <a:srgbClr val="FFFFFF"/>
                          </a:solidFill>
                          <a:latin typeface="Vazirmatn" pitchFamily="34" charset="0"/>
                          <a:ea typeface="Vazirmatn" pitchFamily="34" charset="-122"/>
                          <a:cs typeface="Vazirmatn" pitchFamily="34" charset="-120"/>
                        </a:rPr>
                        <a:t>بررسی</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457200">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فهرست مؤسسان؛ true</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Registry: getValidators، isValidator(مؤسس)</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30352">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true؛ بدون آن اولین توزیع با «address was never a legitimate validator» revert می‌شود</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Registry: everActivated(مؤسس)</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57200">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true و ۰ (برای غیرمؤسس false)</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Registry: wasActiveAt(مؤسس, 0)، statusNonce</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۰ و false</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Registry: paidValidatorCount، isPaidEntrant(مؤسس)</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57200">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برابر پیکربندی؛ windowStart = timestamp genesis</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Registry: verifier، پارامترها، windowStart</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۵۰٬۰۰۰ و ۲۰۰٬۰۰۰ سورن (صفر یعنی هیچ پرداختی ممکن نیست)</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Treasury: perPaymentCap، periodCap</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30352">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هر سه ۰؛ maxRewardsForRange(1, 1000) = ۲۰۰۰ سورن؛ بدون immutable</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Distributor: lastSettledBlock، rewardRateChangeCount، rateProposalCount</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30352">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۵ عضو؛ مقدار overlay؛ timestamp genesis؛ ۰</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Board و DAO: getBoardMembers، boardVersion، lastBoardRefreshAt، membershipNonce</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
        <p:nvSpPr>
          <p:cNvPr id="7" name="Text 4"/>
          <p:cNvSpPr txBox="1"/>
          <p:nvPr/>
        </p:nvSpPr>
        <p:spPr>
          <a:xfrm>
            <a:off x="548640" y="5806440"/>
            <a:ext cx="11094415" cy="59436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565D7A"/>
                </a:solidFill>
                <a:latin typeface="Vazirmatn" pitchFamily="34" charset="0"/>
                <a:ea typeface="Vazirmatn" pitchFamily="34" charset="-122"/>
                <a:cs typeface="Vazirmatn" pitchFamily="34" charset="-120"/>
              </a:rPr>
              <a:t>حالت verify: یک نود Besu واقعی با همان genesis نهایی بالا می‌آید و مقدارهای بالا با eth_call خوانده می‌شود؛ هر ناهمخوانی خروجی غیرصفر و پیام دقیق می‌دهد. ورودی صفر یا تکراری، هیأتی غیر از ۵ عضو و timestamp نامعتبر پیش از ساخت رد می‌شوند.</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قراردادها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ValidatorsRegistry: توابع اصلی</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11</a:t>
            </a:r>
            <a:endParaRPr lang="en-US" sz="1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5882335"/>
                <a:gridCol w="1280160"/>
                <a:gridCol w="3931920"/>
              </a:tblGrid>
              <a:tr h="384048">
                <a:tc>
                  <a:txBody>
                    <a:bodyPr/>
                    <a:lstStyle/>
                    <a:p>
                      <a:pPr rtl="1" algn="r" indent="0" marL="0">
                        <a:buNone/>
                      </a:pPr>
                      <a:r>
                        <a:rPr lang="fa-IR" altLang="en-US" sz="1050" b="1" dirty="0">
                          <a:solidFill>
                            <a:srgbClr val="FFFFFF"/>
                          </a:solidFill>
                          <a:latin typeface="Vazirmatn" pitchFamily="34" charset="0"/>
                          <a:ea typeface="Vazirmatn" pitchFamily="34" charset="-122"/>
                          <a:cs typeface="Vazirmatn" pitchFamily="34" charset="-120"/>
                        </a:rPr>
                        <a:t>کار</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50" b="1" dirty="0">
                          <a:solidFill>
                            <a:srgbClr val="FFFFFF"/>
                          </a:solidFill>
                          <a:latin typeface="Vazirmatn" pitchFamily="34" charset="0"/>
                          <a:ea typeface="Vazirmatn" pitchFamily="34" charset="-122"/>
                          <a:cs typeface="Vazirmatn" pitchFamily="34" charset="-120"/>
                        </a:rPr>
                        <a:t>چه کسی</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50" b="1" dirty="0">
                          <a:solidFill>
                            <a:srgbClr val="FFFFFF"/>
                          </a:solidFill>
                          <a:latin typeface="Vazirmatn" pitchFamily="34" charset="0"/>
                          <a:ea typeface="Vazirmatn" pitchFamily="34" charset="-122"/>
                          <a:cs typeface="Vazirmatn" pitchFamily="34" charset="-120"/>
                        </a:rPr>
                        <a:t>تابع</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30352">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msg.value = وثیقه + کارمزد؛ سقف نرخ ورود؛ کارمزد به Distributor می‌رود؛ وضعیت Probation</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هر آدرس</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requestMembership() payable</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پس از probationPeriod و موفقیت آف‌چین ≥ ۹۵٪؛ آدرس وارد getValidators می‌شود</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verifier</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recordActivation(addr, evidenceHash)</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30352">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حذف فوری از مجموعه (Demoted)؛ مبلغ جریمه = slashBps از وثیقه در همان لحظه ثبت می‌شود</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verifier</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recordSuspension(addr, evidenceHash)</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66928">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بازگشت پس از recoveryPeriod بدون پرونده‌ی باز؛ یا ثبت تخلف پیش از خروج تا ۷۲ ساعت پس از درخواست خروج</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verifier</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recordRecovery، recordPreExitViolation</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66928">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خروج فوراً وظیفه را پایان می‌دهد؛ برداشت پس از exitCooldown؛ با پرونده‌ی باز فقط مبلغ درگیر نگه داشته می‌شود</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ولیدیتور</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requestExit() و withdrawStake()</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30352">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شش پارامتر امنیتی؛ نصاب اکثریت ساده‌ی Activeهای هنگام ساخت؛ اجرا در همان رأی نصاب</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ولیدیتور Active</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proposeParameterChange، voteParameterChange</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66928">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پس از رأی هیأت؛ سه پارامتر اقتصادی با حدود مجاز و قفل مشترک ۱۸۰ روزه</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فقط Board</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setEntryThresholdBase، setGrowthFactorPerValidator، setMembershipFeeBps، setVerifier</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66928">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receive() عمداً revert می‌کند تا موجودی قرارداد برابر جمع وثیقه‌های قفل‌شده بماند</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view</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getValidators، isValidator، everActivated، wasActiveAt، getValidatorInfo، currentEntryThreshold</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قراردادها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ValidatorsRegistry: منحنی وثیقه و پارامترها</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12</a:t>
            </a:r>
            <a:endParaRPr lang="en-US" sz="1000" dirty="0"/>
          </a:p>
        </p:txBody>
      </p:sp>
      <p:sp>
        <p:nvSpPr>
          <p:cNvPr id="6" name="Shape 4"/>
          <p:cNvSpPr/>
          <p:nvPr/>
        </p:nvSpPr>
        <p:spPr>
          <a:xfrm>
            <a:off x="6202375" y="1417320"/>
            <a:ext cx="5440680" cy="2194560"/>
          </a:xfrm>
          <a:prstGeom prst="roundRect">
            <a:avLst>
              <a:gd name="adj" fmla="val 5000"/>
            </a:avLst>
          </a:prstGeom>
          <a:solidFill>
            <a:srgbClr val="EEF0FB"/>
          </a:solidFill>
          <a:ln w="9525">
            <a:solidFill>
              <a:srgbClr val="EEF0FB"/>
            </a:solidFill>
            <a:prstDash val="solid"/>
          </a:ln>
        </p:spPr>
      </p:sp>
      <p:sp>
        <p:nvSpPr>
          <p:cNvPr id="7" name="Text 5"/>
          <p:cNvSpPr txBox="1"/>
          <p:nvPr/>
        </p:nvSpPr>
        <p:spPr>
          <a:xfrm>
            <a:off x="6385255" y="1508760"/>
            <a:ext cx="5074920" cy="32004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2F3690"/>
                </a:solidFill>
                <a:latin typeface="Vazirmatn" pitchFamily="34" charset="0"/>
                <a:ea typeface="Vazirmatn" pitchFamily="34" charset="-122"/>
                <a:cs typeface="Vazirmatn" pitchFamily="34" charset="-120"/>
              </a:rPr>
              <a:t>فرمول وثیقه (fixed-point ۱۸ رقمی)</a:t>
            </a:r>
            <a:endParaRPr lang="en-US" sz="1450" dirty="0"/>
          </a:p>
        </p:txBody>
      </p:sp>
      <p:sp>
        <p:nvSpPr>
          <p:cNvPr id="8" name="Text 6"/>
          <p:cNvSpPr txBox="1"/>
          <p:nvPr/>
        </p:nvSpPr>
        <p:spPr>
          <a:xfrm>
            <a:off x="6385255" y="1874520"/>
            <a:ext cx="5074920" cy="1691640"/>
          </a:xfrm>
          <a:prstGeom prst="rect">
            <a:avLst/>
          </a:prstGeom>
          <a:noFill/>
          <a:ln/>
        </p:spPr>
        <p:txBody>
          <a:bodyPr wrap="square" lIns="0" tIns="0" rIns="0" bIns="0" rtlCol="0" anchor="t"/>
          <a:lstStyle/>
          <a:p>
            <a:pPr rtl="1" algn="r" indent="0" marL="0">
              <a:lnSpc>
                <a:spcPct val="105000"/>
              </a:lnSpc>
              <a:spcAft>
                <a:spcPts val="500"/>
              </a:spcAft>
              <a:buNone/>
            </a:pPr>
            <a:r>
              <a:rPr lang="fa-IR" altLang="en-US" sz="1200" dirty="0">
                <a:solidFill>
                  <a:srgbClr val="1B1B2F"/>
                </a:solidFill>
                <a:latin typeface="Vazirmatn" pitchFamily="34" charset="0"/>
                <a:ea typeface="Vazirmatn" pitchFamily="34" charset="-122"/>
                <a:cs typeface="Vazirmatn" pitchFamily="34" charset="-120"/>
              </a:rPr>
              <a:t>threshold(p) = entryThresholdBase × g^p</a:t>
            </a:r>
            <a:endParaRPr lang="en-US" sz="1200" dirty="0"/>
          </a:p>
          <a:p>
            <a:pPr rtl="1" algn="r" indent="0" marL="0">
              <a:lnSpc>
                <a:spcPct val="105000"/>
              </a:lnSpc>
              <a:spcAft>
                <a:spcPts val="500"/>
              </a:spcAft>
              <a:buNone/>
            </a:pPr>
            <a:r>
              <a:rPr lang="fa-IR" altLang="en-US" sz="1200" dirty="0">
                <a:solidFill>
                  <a:srgbClr val="1B1B2F"/>
                </a:solidFill>
                <a:latin typeface="Vazirmatn" pitchFamily="34" charset="0"/>
                <a:ea typeface="Vazirmatn" pitchFamily="34" charset="-122"/>
                <a:cs typeface="Vazirmatn" pitchFamily="34" charset="-120"/>
              </a:rPr>
              <a:t>p = paidValidatorCount؛ مؤسسان رایگان شمرده نمی‌شوند</a:t>
            </a:r>
            <a:endParaRPr lang="en-US" sz="1200" dirty="0"/>
          </a:p>
          <a:p>
            <a:pPr rtl="1" algn="r" indent="0" marL="0">
              <a:lnSpc>
                <a:spcPct val="105000"/>
              </a:lnSpc>
              <a:spcAft>
                <a:spcPts val="500"/>
              </a:spcAft>
              <a:buNone/>
            </a:pPr>
            <a:r>
              <a:rPr lang="fa-IR" altLang="en-US" sz="1200" dirty="0">
                <a:solidFill>
                  <a:srgbClr val="1B1B2F"/>
                </a:solidFill>
                <a:latin typeface="Vazirmatn" pitchFamily="34" charset="0"/>
                <a:ea typeface="Vazirmatn" pitchFamily="34" charset="-122"/>
                <a:cs typeface="Vazirmatn" pitchFamily="34" charset="-120"/>
              </a:rPr>
              <a:t>g = ۱٫۰۱۷۴۷۹۶۹۲۱۰۲۶۸۶۳۳۶ (دوبرابر در هر ۴۰ نفر)؛ توان با exponentiation-by-squaring</a:t>
            </a:r>
            <a:endParaRPr lang="en-US" sz="1200" dirty="0"/>
          </a:p>
          <a:p>
            <a:pPr rtl="1" algn="r" indent="0" marL="0">
              <a:lnSpc>
                <a:spcPct val="105000"/>
              </a:lnSpc>
              <a:spcAft>
                <a:spcPts val="500"/>
              </a:spcAft>
              <a:buNone/>
            </a:pPr>
            <a:r>
              <a:rPr lang="fa-IR" altLang="en-US" sz="1200" dirty="0">
                <a:solidFill>
                  <a:srgbClr val="1B1B2F"/>
                </a:solidFill>
                <a:latin typeface="Vazirmatn" pitchFamily="34" charset="0"/>
                <a:ea typeface="Vazirmatn" pitchFamily="34" charset="-122"/>
                <a:cs typeface="Vazirmatn" pitchFamily="34" charset="-120"/>
              </a:rPr>
              <a:t>کارمزد عضویت = threshold × membershipFeeBps ÷ ۱۰٬۰۰۰ (۴۰۰ یعنی ۴٪)</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5440680" cy="914400"/>
        </p:xfrm>
        <a:graphic>
          <a:graphicData uri="http://schemas.openxmlformats.org/drawingml/2006/table">
            <a:tbl>
              <a:tblPr/>
              <a:tblGrid>
                <a:gridCol w="1325880"/>
                <a:gridCol w="1645920"/>
                <a:gridCol w="2468880"/>
              </a:tblGrid>
              <a:tr h="384048">
                <a:tc>
                  <a:txBody>
                    <a:bodyPr/>
                    <a:lstStyle/>
                    <a:p>
                      <a:pPr rtl="1" algn="r" indent="0" marL="0">
                        <a:buNone/>
                      </a:pPr>
                      <a:r>
                        <a:rPr lang="fa-IR" altLang="en-US" sz="1050" b="1" dirty="0">
                          <a:solidFill>
                            <a:srgbClr val="FFFFFF"/>
                          </a:solidFill>
                          <a:latin typeface="Vazirmatn" pitchFamily="34" charset="0"/>
                          <a:ea typeface="Vazirmatn" pitchFamily="34" charset="-122"/>
                          <a:cs typeface="Vazirmatn" pitchFamily="34" charset="-120"/>
                        </a:rPr>
                        <a:t>قید</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50" b="1" dirty="0">
                          <a:solidFill>
                            <a:srgbClr val="FFFFFF"/>
                          </a:solidFill>
                          <a:latin typeface="Vazirmatn" pitchFamily="34" charset="0"/>
                          <a:ea typeface="Vazirmatn" pitchFamily="34" charset="-122"/>
                          <a:cs typeface="Vazirmatn" pitchFamily="34" charset="-120"/>
                        </a:rPr>
                        <a:t>مقدار</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50" b="1" dirty="0">
                          <a:solidFill>
                            <a:srgbClr val="FFFFFF"/>
                          </a:solidFill>
                          <a:latin typeface="Vazirmatn" pitchFamily="34" charset="0"/>
                          <a:ea typeface="Vazirmatn" pitchFamily="34" charset="-122"/>
                          <a:cs typeface="Vazirmatn" pitchFamily="34" charset="-120"/>
                        </a:rPr>
                        <a:t>پارامتر امنیتی (ParamKey)</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0292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۱ / ۸۶۴۰۰ ث</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MaxEntriesPerWindow / EntryWindowSeconds</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1148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۶۰۴۸۰۰ ث (۱ هفته)</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ProbationPeriod</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1148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بیش از ۳۶۰۰ ث</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۱۷۲۸۰۰ ث (۴۸ ساعت)</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RecoveryPeriod</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1148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 ۱۰٬۰۰۰</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۱۰۰ (۱٪)</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SlashBps</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1148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بیش از ۷۲ ساعت</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۶۰۴۸۰۰ ث (۱ هفته)</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ExitCooldown</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6202375" y="3840480"/>
          <a:ext cx="5440680" cy="914400"/>
        </p:xfrm>
        <a:graphic>
          <a:graphicData uri="http://schemas.openxmlformats.org/drawingml/2006/table">
            <a:tbl>
              <a:tblPr/>
              <a:tblGrid>
                <a:gridCol w="1920240"/>
                <a:gridCol w="1417320"/>
                <a:gridCol w="2103120"/>
              </a:tblGrid>
              <a:tr h="384048">
                <a:tc>
                  <a:txBody>
                    <a:bodyPr/>
                    <a:lstStyle/>
                    <a:p>
                      <a:pPr rtl="1" algn="r" indent="0" marL="0">
                        <a:buNone/>
                      </a:pPr>
                      <a:r>
                        <a:rPr lang="fa-IR" altLang="en-US" sz="1050" b="1" dirty="0">
                          <a:solidFill>
                            <a:srgbClr val="FFFFFF"/>
                          </a:solidFill>
                          <a:latin typeface="Vazirmatn" pitchFamily="34" charset="0"/>
                          <a:ea typeface="Vazirmatn" pitchFamily="34" charset="-122"/>
                          <a:cs typeface="Vazirmatn" pitchFamily="34" charset="-120"/>
                        </a:rPr>
                        <a:t>حد مجاز</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50" b="1" dirty="0">
                          <a:solidFill>
                            <a:srgbClr val="FFFFFF"/>
                          </a:solidFill>
                          <a:latin typeface="Vazirmatn" pitchFamily="34" charset="0"/>
                          <a:ea typeface="Vazirmatn" pitchFamily="34" charset="-122"/>
                          <a:cs typeface="Vazirmatn" pitchFamily="34" charset="-120"/>
                        </a:rPr>
                        <a:t>مقدار اولیه</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50" b="1" dirty="0">
                          <a:solidFill>
                            <a:srgbClr val="FFFFFF"/>
                          </a:solidFill>
                          <a:latin typeface="Vazirmatn" pitchFamily="34" charset="0"/>
                          <a:ea typeface="Vazirmatn" pitchFamily="34" charset="-122"/>
                          <a:cs typeface="Vazirmatn" pitchFamily="34" charset="-120"/>
                        </a:rPr>
                        <a:t>پارامتر اقتصادی (فقط با هیأت)</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41148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۱۰۰٬۰۰۰ تا ۲٬۰۰۰٬۰۰۰</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۵۰۰٬۰۰۰ سورن</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entryThresholdBase</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1148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دوبرابر هر ۲۰ تا ۸۰ نفر</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دوبرابر هر ۴۰ نفر</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growthFactorPerValidator</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1148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۱۰۰ تا ۱۰۰۰</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۴۰۰</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membershipFeeBps</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
        <p:nvSpPr>
          <p:cNvPr id="11" name="Text 7"/>
          <p:cNvSpPr txBox="1"/>
          <p:nvPr/>
        </p:nvSpPr>
        <p:spPr>
          <a:xfrm>
            <a:off x="6202375" y="5440680"/>
            <a:ext cx="5440680" cy="54864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565D7A"/>
                </a:solidFill>
                <a:latin typeface="Vazirmatn" pitchFamily="34" charset="0"/>
                <a:ea typeface="Vazirmatn" pitchFamily="34" charset="-122"/>
                <a:cs typeface="Vazirmatn" pitchFamily="34" charset="-120"/>
              </a:rPr>
              <a:t>پس از هر تغییر موفق در هرکدام از این سه پارامتر، تا ۱۸۰ روز هیچ‌کدام از سه پارامتر قابل‌تغییر نیست (قفل مشترک).</a:t>
            </a:r>
            <a:endParaRPr lang="en-US" sz="1150" dirty="0"/>
          </a:p>
        </p:txBody>
      </p:sp>
      <p:sp>
        <p:nvSpPr>
          <p:cNvPr id="12" name="Text 8"/>
          <p:cNvSpPr txBox="1"/>
          <p:nvPr/>
        </p:nvSpPr>
        <p:spPr>
          <a:xfrm>
            <a:off x="548640" y="4526280"/>
            <a:ext cx="5440680" cy="91440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565D7A"/>
                </a:solidFill>
                <a:latin typeface="Vazirmatn" pitchFamily="34" charset="0"/>
                <a:ea typeface="Vazirmatn" pitchFamily="34" charset="-122"/>
                <a:cs typeface="Vazirmatn" pitchFamily="34" charset="-120"/>
              </a:rPr>
              <a:t>منحنی عمداً برای ۵۰ تا ۱۰۰ ولیدیتور طراحی شده است (وثیقه حدود ۱٫۱۹ تا ۲٫۸۳ میلیون سورن)؛ بیرون از این بازه سریع گران می‌شود.</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قراردادها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Registry: ماشین حالت و مسیر پرونده‌ی تعلیق</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13</a:t>
            </a:r>
            <a:endParaRPr lang="en-US" sz="1000" dirty="0"/>
          </a:p>
        </p:txBody>
      </p:sp>
      <p:sp>
        <p:nvSpPr>
          <p:cNvPr id="6" name="Shape 4"/>
          <p:cNvSpPr/>
          <p:nvPr/>
        </p:nvSpPr>
        <p:spPr>
          <a:xfrm>
            <a:off x="9722815" y="1463040"/>
            <a:ext cx="1920240" cy="731520"/>
          </a:xfrm>
          <a:prstGeom prst="roundRect">
            <a:avLst>
              <a:gd name="adj" fmla="val 15000"/>
            </a:avLst>
          </a:prstGeom>
          <a:solidFill>
            <a:srgbClr val="5F6472"/>
          </a:solidFill>
          <a:ln w="9525">
            <a:solidFill>
              <a:srgbClr val="5F6472"/>
            </a:solidFill>
            <a:prstDash val="solid"/>
          </a:ln>
        </p:spPr>
      </p:sp>
      <p:sp>
        <p:nvSpPr>
          <p:cNvPr id="7" name="Text 5"/>
          <p:cNvSpPr txBox="1"/>
          <p:nvPr/>
        </p:nvSpPr>
        <p:spPr>
          <a:xfrm>
            <a:off x="9722815" y="1463040"/>
            <a:ext cx="1920240" cy="731520"/>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FFFFFF"/>
                </a:solidFill>
                <a:latin typeface="Vazirmatn" pitchFamily="34" charset="0"/>
                <a:ea typeface="Vazirmatn" pitchFamily="34" charset="-122"/>
                <a:cs typeface="Vazirmatn" pitchFamily="34" charset="-120"/>
              </a:rPr>
              <a:t>None</a:t>
            </a:r>
            <a:endParaRPr lang="en-US" sz="1500" dirty="0"/>
          </a:p>
        </p:txBody>
      </p:sp>
      <p:sp>
        <p:nvSpPr>
          <p:cNvPr id="8" name="Shape 6"/>
          <p:cNvSpPr/>
          <p:nvPr/>
        </p:nvSpPr>
        <p:spPr>
          <a:xfrm flipH="1">
            <a:off x="8991295" y="1828800"/>
            <a:ext cx="685800" cy="0"/>
          </a:xfrm>
          <a:prstGeom prst="line">
            <a:avLst/>
          </a:prstGeom>
          <a:noFill/>
          <a:ln w="31750">
            <a:solidFill>
              <a:srgbClr val="2F3690"/>
            </a:solidFill>
            <a:prstDash val="solid"/>
            <a:tailEnd type="triangle"/>
          </a:ln>
        </p:spPr>
      </p:sp>
      <p:sp>
        <p:nvSpPr>
          <p:cNvPr id="9" name="Shape 7"/>
          <p:cNvSpPr/>
          <p:nvPr/>
        </p:nvSpPr>
        <p:spPr>
          <a:xfrm>
            <a:off x="7025335" y="1463040"/>
            <a:ext cx="1920240" cy="731520"/>
          </a:xfrm>
          <a:prstGeom prst="roundRect">
            <a:avLst>
              <a:gd name="adj" fmla="val 15000"/>
            </a:avLst>
          </a:prstGeom>
          <a:solidFill>
            <a:srgbClr val="3D46A8"/>
          </a:solidFill>
          <a:ln w="9525">
            <a:solidFill>
              <a:srgbClr val="3D46A8"/>
            </a:solidFill>
            <a:prstDash val="solid"/>
          </a:ln>
        </p:spPr>
      </p:sp>
      <p:sp>
        <p:nvSpPr>
          <p:cNvPr id="10" name="Text 8"/>
          <p:cNvSpPr txBox="1"/>
          <p:nvPr/>
        </p:nvSpPr>
        <p:spPr>
          <a:xfrm>
            <a:off x="7025335" y="1463040"/>
            <a:ext cx="1920240" cy="731520"/>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FFFFFF"/>
                </a:solidFill>
                <a:latin typeface="Vazirmatn" pitchFamily="34" charset="0"/>
                <a:ea typeface="Vazirmatn" pitchFamily="34" charset="-122"/>
                <a:cs typeface="Vazirmatn" pitchFamily="34" charset="-120"/>
              </a:rPr>
              <a:t>Probation</a:t>
            </a:r>
            <a:endParaRPr lang="en-US" sz="1500" dirty="0"/>
          </a:p>
        </p:txBody>
      </p:sp>
      <p:sp>
        <p:nvSpPr>
          <p:cNvPr id="11" name="Shape 9"/>
          <p:cNvSpPr/>
          <p:nvPr/>
        </p:nvSpPr>
        <p:spPr>
          <a:xfrm flipH="1">
            <a:off x="6293815" y="1828800"/>
            <a:ext cx="685800" cy="0"/>
          </a:xfrm>
          <a:prstGeom prst="line">
            <a:avLst/>
          </a:prstGeom>
          <a:noFill/>
          <a:ln w="31750">
            <a:solidFill>
              <a:srgbClr val="2F3690"/>
            </a:solidFill>
            <a:prstDash val="solid"/>
            <a:tailEnd type="triangle"/>
          </a:ln>
        </p:spPr>
      </p:sp>
      <p:sp>
        <p:nvSpPr>
          <p:cNvPr id="12" name="Shape 10"/>
          <p:cNvSpPr/>
          <p:nvPr/>
        </p:nvSpPr>
        <p:spPr>
          <a:xfrm>
            <a:off x="4327855" y="1463040"/>
            <a:ext cx="1920240" cy="731520"/>
          </a:xfrm>
          <a:prstGeom prst="roundRect">
            <a:avLst>
              <a:gd name="adj" fmla="val 15000"/>
            </a:avLst>
          </a:prstGeom>
          <a:solidFill>
            <a:srgbClr val="2F3690"/>
          </a:solidFill>
          <a:ln w="9525">
            <a:solidFill>
              <a:srgbClr val="2F3690"/>
            </a:solidFill>
            <a:prstDash val="solid"/>
          </a:ln>
        </p:spPr>
      </p:sp>
      <p:sp>
        <p:nvSpPr>
          <p:cNvPr id="13" name="Text 11"/>
          <p:cNvSpPr txBox="1"/>
          <p:nvPr/>
        </p:nvSpPr>
        <p:spPr>
          <a:xfrm>
            <a:off x="4327855" y="1463040"/>
            <a:ext cx="1920240" cy="731520"/>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FFFFFF"/>
                </a:solidFill>
                <a:latin typeface="Vazirmatn" pitchFamily="34" charset="0"/>
                <a:ea typeface="Vazirmatn" pitchFamily="34" charset="-122"/>
                <a:cs typeface="Vazirmatn" pitchFamily="34" charset="-120"/>
              </a:rPr>
              <a:t>Active</a:t>
            </a:r>
            <a:endParaRPr lang="en-US" sz="1500" dirty="0"/>
          </a:p>
        </p:txBody>
      </p:sp>
      <p:sp>
        <p:nvSpPr>
          <p:cNvPr id="14" name="Shape 12"/>
          <p:cNvSpPr/>
          <p:nvPr/>
        </p:nvSpPr>
        <p:spPr>
          <a:xfrm flipH="1">
            <a:off x="3596335" y="1828800"/>
            <a:ext cx="685800" cy="0"/>
          </a:xfrm>
          <a:prstGeom prst="line">
            <a:avLst/>
          </a:prstGeom>
          <a:noFill/>
          <a:ln w="31750">
            <a:solidFill>
              <a:srgbClr val="2F3690"/>
            </a:solidFill>
            <a:prstDash val="solid"/>
            <a:tailEnd type="triangle"/>
          </a:ln>
        </p:spPr>
      </p:sp>
      <p:sp>
        <p:nvSpPr>
          <p:cNvPr id="15" name="Shape 13"/>
          <p:cNvSpPr/>
          <p:nvPr/>
        </p:nvSpPr>
        <p:spPr>
          <a:xfrm>
            <a:off x="1630375" y="1463040"/>
            <a:ext cx="1920240" cy="731520"/>
          </a:xfrm>
          <a:prstGeom prst="roundRect">
            <a:avLst>
              <a:gd name="adj" fmla="val 15000"/>
            </a:avLst>
          </a:prstGeom>
          <a:solidFill>
            <a:srgbClr val="C8431F"/>
          </a:solidFill>
          <a:ln w="9525">
            <a:solidFill>
              <a:srgbClr val="C8431F"/>
            </a:solidFill>
            <a:prstDash val="solid"/>
          </a:ln>
        </p:spPr>
      </p:sp>
      <p:sp>
        <p:nvSpPr>
          <p:cNvPr id="16" name="Text 14"/>
          <p:cNvSpPr txBox="1"/>
          <p:nvPr/>
        </p:nvSpPr>
        <p:spPr>
          <a:xfrm>
            <a:off x="1630375" y="1463040"/>
            <a:ext cx="1920240" cy="731520"/>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FFFFFF"/>
                </a:solidFill>
                <a:latin typeface="Vazirmatn" pitchFamily="34" charset="0"/>
                <a:ea typeface="Vazirmatn" pitchFamily="34" charset="-122"/>
                <a:cs typeface="Vazirmatn" pitchFamily="34" charset="-120"/>
              </a:rPr>
              <a:t>Demoted</a:t>
            </a:r>
            <a:endParaRPr lang="en-US" sz="1500" dirty="0"/>
          </a:p>
        </p:txBody>
      </p:sp>
      <p:sp>
        <p:nvSpPr>
          <p:cNvPr id="17" name="Text 15"/>
          <p:cNvSpPr txBox="1"/>
          <p:nvPr/>
        </p:nvSpPr>
        <p:spPr>
          <a:xfrm>
            <a:off x="548640" y="2286000"/>
            <a:ext cx="11094415" cy="2743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Exiting از Active، Probation یا Demoted؛ بازگشت Demoted → Active با recordRecovery</a:t>
            </a:r>
            <a:endParaRPr lang="en-US" sz="1200" dirty="0"/>
          </a:p>
        </p:txBody>
      </p:sp>
      <p:sp>
        <p:nvSpPr>
          <p:cNvPr id="18" name="Shape 16"/>
          <p:cNvSpPr/>
          <p:nvPr/>
        </p:nvSpPr>
        <p:spPr>
          <a:xfrm>
            <a:off x="548640" y="2743200"/>
            <a:ext cx="11094415" cy="621792"/>
          </a:xfrm>
          <a:prstGeom prst="roundRect">
            <a:avLst>
              <a:gd name="adj" fmla="val 17647"/>
            </a:avLst>
          </a:prstGeom>
          <a:solidFill>
            <a:srgbClr val="F7F9FC"/>
          </a:solidFill>
          <a:ln w="9525">
            <a:solidFill>
              <a:srgbClr val="DDE1EE"/>
            </a:solidFill>
            <a:prstDash val="solid"/>
          </a:ln>
        </p:spPr>
      </p:sp>
      <p:sp>
        <p:nvSpPr>
          <p:cNvPr id="19" name="Shape 17"/>
          <p:cNvSpPr/>
          <p:nvPr/>
        </p:nvSpPr>
        <p:spPr>
          <a:xfrm>
            <a:off x="11094415" y="2848356"/>
            <a:ext cx="411480" cy="411480"/>
          </a:xfrm>
          <a:prstGeom prst="ellipse">
            <a:avLst/>
          </a:prstGeom>
          <a:solidFill>
            <a:srgbClr val="2F3690"/>
          </a:solidFill>
          <a:ln w="12700">
            <a:solidFill>
              <a:srgbClr val="2F3690"/>
            </a:solidFill>
            <a:prstDash val="solid"/>
          </a:ln>
        </p:spPr>
      </p:sp>
      <p:sp>
        <p:nvSpPr>
          <p:cNvPr id="20" name="Text 18"/>
          <p:cNvSpPr txBox="1"/>
          <p:nvPr/>
        </p:nvSpPr>
        <p:spPr>
          <a:xfrm>
            <a:off x="11094415" y="2848356"/>
            <a:ext cx="411480" cy="41148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۱</a:t>
            </a:r>
            <a:endParaRPr lang="en-US" sz="1400" dirty="0"/>
          </a:p>
        </p:txBody>
      </p:sp>
      <p:sp>
        <p:nvSpPr>
          <p:cNvPr id="21" name="Text 19"/>
          <p:cNvSpPr txBox="1"/>
          <p:nvPr/>
        </p:nvSpPr>
        <p:spPr>
          <a:xfrm>
            <a:off x="8808415" y="2743200"/>
            <a:ext cx="2103120" cy="621792"/>
          </a:xfrm>
          <a:prstGeom prst="rect">
            <a:avLst/>
          </a:prstGeom>
          <a:noFill/>
          <a:ln/>
        </p:spPr>
        <p:txBody>
          <a:bodyPr wrap="square" lIns="0" tIns="0" rIns="0" bIns="0" rtlCol="0" anchor="ctr"/>
          <a:lstStyle/>
          <a:p>
            <a:pPr rtl="1" algn="r" indent="0" marL="0">
              <a:lnSpc>
                <a:spcPct val="105000"/>
              </a:lnSpc>
              <a:buNone/>
            </a:pPr>
            <a:r>
              <a:rPr lang="fa-IR" altLang="en-US" sz="1350" b="1" dirty="0">
                <a:solidFill>
                  <a:srgbClr val="1B1B2F"/>
                </a:solidFill>
                <a:latin typeface="Vazirmatn" pitchFamily="34" charset="0"/>
                <a:ea typeface="Vazirmatn" pitchFamily="34" charset="-122"/>
                <a:cs typeface="Vazirmatn" pitchFamily="34" charset="-120"/>
              </a:rPr>
              <a:t>حذف فوری</a:t>
            </a:r>
            <a:endParaRPr lang="en-US" sz="1350" dirty="0"/>
          </a:p>
        </p:txBody>
      </p:sp>
      <p:sp>
        <p:nvSpPr>
          <p:cNvPr id="22" name="Text 20"/>
          <p:cNvSpPr txBox="1"/>
          <p:nvPr/>
        </p:nvSpPr>
        <p:spPr>
          <a:xfrm>
            <a:off x="731520" y="2743200"/>
            <a:ext cx="7939735" cy="621792"/>
          </a:xfrm>
          <a:prstGeom prst="rect">
            <a:avLst/>
          </a:prstGeom>
          <a:noFill/>
          <a:ln/>
        </p:spPr>
        <p:txBody>
          <a:bodyPr wrap="square" lIns="0" tIns="0" rIns="0" bIns="0" rtlCol="0" anchor="ctr"/>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recordSuspension ولیدیتور را بی‌قید از getValidators خارج می‌کند؛ این مرحله هرگز معطل نمی‌ماند.</a:t>
            </a:r>
            <a:endParaRPr lang="en-US" sz="1150" dirty="0"/>
          </a:p>
        </p:txBody>
      </p:sp>
      <p:sp>
        <p:nvSpPr>
          <p:cNvPr id="23" name="Shape 21"/>
          <p:cNvSpPr/>
          <p:nvPr/>
        </p:nvSpPr>
        <p:spPr>
          <a:xfrm>
            <a:off x="548640" y="3447288"/>
            <a:ext cx="11094415" cy="621792"/>
          </a:xfrm>
          <a:prstGeom prst="roundRect">
            <a:avLst>
              <a:gd name="adj" fmla="val 17647"/>
            </a:avLst>
          </a:prstGeom>
          <a:solidFill>
            <a:srgbClr val="F7F9FC"/>
          </a:solidFill>
          <a:ln w="9525">
            <a:solidFill>
              <a:srgbClr val="DDE1EE"/>
            </a:solidFill>
            <a:prstDash val="solid"/>
          </a:ln>
        </p:spPr>
      </p:sp>
      <p:sp>
        <p:nvSpPr>
          <p:cNvPr id="24" name="Shape 22"/>
          <p:cNvSpPr/>
          <p:nvPr/>
        </p:nvSpPr>
        <p:spPr>
          <a:xfrm>
            <a:off x="11094415" y="3552444"/>
            <a:ext cx="411480" cy="411480"/>
          </a:xfrm>
          <a:prstGeom prst="ellipse">
            <a:avLst/>
          </a:prstGeom>
          <a:solidFill>
            <a:srgbClr val="2F3690"/>
          </a:solidFill>
          <a:ln w="12700">
            <a:solidFill>
              <a:srgbClr val="2F3690"/>
            </a:solidFill>
            <a:prstDash val="solid"/>
          </a:ln>
        </p:spPr>
      </p:sp>
      <p:sp>
        <p:nvSpPr>
          <p:cNvPr id="25" name="Text 23"/>
          <p:cNvSpPr txBox="1"/>
          <p:nvPr/>
        </p:nvSpPr>
        <p:spPr>
          <a:xfrm>
            <a:off x="11094415" y="3552444"/>
            <a:ext cx="411480" cy="41148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۲</a:t>
            </a:r>
            <a:endParaRPr lang="en-US" sz="1400" dirty="0"/>
          </a:p>
        </p:txBody>
      </p:sp>
      <p:sp>
        <p:nvSpPr>
          <p:cNvPr id="26" name="Text 24"/>
          <p:cNvSpPr txBox="1"/>
          <p:nvPr/>
        </p:nvSpPr>
        <p:spPr>
          <a:xfrm>
            <a:off x="8808415" y="3447288"/>
            <a:ext cx="2103120" cy="621792"/>
          </a:xfrm>
          <a:prstGeom prst="rect">
            <a:avLst/>
          </a:prstGeom>
          <a:noFill/>
          <a:ln/>
        </p:spPr>
        <p:txBody>
          <a:bodyPr wrap="square" lIns="0" tIns="0" rIns="0" bIns="0" rtlCol="0" anchor="ctr"/>
          <a:lstStyle/>
          <a:p>
            <a:pPr rtl="1" algn="r" indent="0" marL="0">
              <a:lnSpc>
                <a:spcPct val="105000"/>
              </a:lnSpc>
              <a:buNone/>
            </a:pPr>
            <a:r>
              <a:rPr lang="fa-IR" altLang="en-US" sz="1350" b="1" dirty="0">
                <a:solidFill>
                  <a:srgbClr val="1B1B2F"/>
                </a:solidFill>
                <a:latin typeface="Vazirmatn" pitchFamily="34" charset="0"/>
                <a:ea typeface="Vazirmatn" pitchFamily="34" charset="-122"/>
                <a:cs typeface="Vazirmatn" pitchFamily="34" charset="-120"/>
              </a:rPr>
              <a:t>رخداد جمعی</a:t>
            </a:r>
            <a:endParaRPr lang="en-US" sz="1350" dirty="0"/>
          </a:p>
        </p:txBody>
      </p:sp>
      <p:sp>
        <p:nvSpPr>
          <p:cNvPr id="27" name="Text 25"/>
          <p:cNvSpPr txBox="1"/>
          <p:nvPr/>
        </p:nvSpPr>
        <p:spPr>
          <a:xfrm>
            <a:off x="731520" y="3447288"/>
            <a:ext cx="7939735" cy="621792"/>
          </a:xfrm>
          <a:prstGeom prst="rect">
            <a:avLst/>
          </a:prstGeom>
          <a:noFill/>
          <a:ln/>
        </p:spPr>
        <p:txBody>
          <a:bodyPr wrap="square" lIns="0" tIns="0" rIns="0" bIns="0" rtlCol="0" anchor="ctr"/>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اگر در پنجره‌ی ثابت ۱ ساعته بیش از ۲۰٪ مجموعه معلق شوند، همه معاف می‌شوند؛ resolveMassFailureCheck برای هر پرونده جدا.</a:t>
            </a:r>
            <a:endParaRPr lang="en-US" sz="1150" dirty="0"/>
          </a:p>
        </p:txBody>
      </p:sp>
      <p:sp>
        <p:nvSpPr>
          <p:cNvPr id="28" name="Shape 26"/>
          <p:cNvSpPr/>
          <p:nvPr/>
        </p:nvSpPr>
        <p:spPr>
          <a:xfrm>
            <a:off x="548640" y="4151376"/>
            <a:ext cx="11094415" cy="621792"/>
          </a:xfrm>
          <a:prstGeom prst="roundRect">
            <a:avLst>
              <a:gd name="adj" fmla="val 17647"/>
            </a:avLst>
          </a:prstGeom>
          <a:solidFill>
            <a:srgbClr val="F7F9FC"/>
          </a:solidFill>
          <a:ln w="9525">
            <a:solidFill>
              <a:srgbClr val="DDE1EE"/>
            </a:solidFill>
            <a:prstDash val="solid"/>
          </a:ln>
        </p:spPr>
      </p:sp>
      <p:sp>
        <p:nvSpPr>
          <p:cNvPr id="29" name="Shape 27"/>
          <p:cNvSpPr/>
          <p:nvPr/>
        </p:nvSpPr>
        <p:spPr>
          <a:xfrm>
            <a:off x="11094415" y="4256532"/>
            <a:ext cx="411480" cy="411480"/>
          </a:xfrm>
          <a:prstGeom prst="ellipse">
            <a:avLst/>
          </a:prstGeom>
          <a:solidFill>
            <a:srgbClr val="2F3690"/>
          </a:solidFill>
          <a:ln w="12700">
            <a:solidFill>
              <a:srgbClr val="2F3690"/>
            </a:solidFill>
            <a:prstDash val="solid"/>
          </a:ln>
        </p:spPr>
      </p:sp>
      <p:sp>
        <p:nvSpPr>
          <p:cNvPr id="30" name="Text 28"/>
          <p:cNvSpPr txBox="1"/>
          <p:nvPr/>
        </p:nvSpPr>
        <p:spPr>
          <a:xfrm>
            <a:off x="11094415" y="4256532"/>
            <a:ext cx="411480" cy="41148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۳</a:t>
            </a:r>
            <a:endParaRPr lang="en-US" sz="1400" dirty="0"/>
          </a:p>
        </p:txBody>
      </p:sp>
      <p:sp>
        <p:nvSpPr>
          <p:cNvPr id="31" name="Text 29"/>
          <p:cNvSpPr txBox="1"/>
          <p:nvPr/>
        </p:nvSpPr>
        <p:spPr>
          <a:xfrm>
            <a:off x="8808415" y="4151376"/>
            <a:ext cx="2103120" cy="621792"/>
          </a:xfrm>
          <a:prstGeom prst="rect">
            <a:avLst/>
          </a:prstGeom>
          <a:noFill/>
          <a:ln/>
        </p:spPr>
        <p:txBody>
          <a:bodyPr wrap="square" lIns="0" tIns="0" rIns="0" bIns="0" rtlCol="0" anchor="ctr"/>
          <a:lstStyle/>
          <a:p>
            <a:pPr rtl="1" algn="r" indent="0" marL="0">
              <a:lnSpc>
                <a:spcPct val="105000"/>
              </a:lnSpc>
              <a:buNone/>
            </a:pPr>
            <a:r>
              <a:rPr lang="fa-IR" altLang="en-US" sz="1350" b="1" dirty="0">
                <a:solidFill>
                  <a:srgbClr val="1B1B2F"/>
                </a:solidFill>
                <a:latin typeface="Vazirmatn" pitchFamily="34" charset="0"/>
                <a:ea typeface="Vazirmatn" pitchFamily="34" charset="-122"/>
                <a:cs typeface="Vazirmatn" pitchFamily="34" charset="-120"/>
              </a:rPr>
              <a:t>تحویل شواهد</a:t>
            </a:r>
            <a:endParaRPr lang="en-US" sz="1350" dirty="0"/>
          </a:p>
        </p:txBody>
      </p:sp>
      <p:sp>
        <p:nvSpPr>
          <p:cNvPr id="32" name="Text 30"/>
          <p:cNvSpPr txBox="1"/>
          <p:nvPr/>
        </p:nvSpPr>
        <p:spPr>
          <a:xfrm>
            <a:off x="731520" y="4151376"/>
            <a:ext cx="7939735" cy="621792"/>
          </a:xfrm>
          <a:prstGeom prst="rect">
            <a:avLst/>
          </a:prstGeom>
          <a:noFill/>
          <a:ln/>
        </p:spPr>
        <p:txBody>
          <a:bodyPr wrap="square" lIns="0" tIns="0" rIns="0" bIns="0" rtlCol="0" anchor="ctr"/>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confirmDelivery فقط دریافت را تأیید می‌کند. اگر تأیید نشد، مجمع روی «آیا تحویل شد» رأی می‌دهد.</a:t>
            </a:r>
            <a:endParaRPr lang="en-US" sz="1150" dirty="0"/>
          </a:p>
        </p:txBody>
      </p:sp>
      <p:sp>
        <p:nvSpPr>
          <p:cNvPr id="33" name="Shape 31"/>
          <p:cNvSpPr/>
          <p:nvPr/>
        </p:nvSpPr>
        <p:spPr>
          <a:xfrm>
            <a:off x="548640" y="4855464"/>
            <a:ext cx="11094415" cy="621792"/>
          </a:xfrm>
          <a:prstGeom prst="roundRect">
            <a:avLst>
              <a:gd name="adj" fmla="val 17647"/>
            </a:avLst>
          </a:prstGeom>
          <a:solidFill>
            <a:srgbClr val="F7F9FC"/>
          </a:solidFill>
          <a:ln w="9525">
            <a:solidFill>
              <a:srgbClr val="DDE1EE"/>
            </a:solidFill>
            <a:prstDash val="solid"/>
          </a:ln>
        </p:spPr>
      </p:sp>
      <p:sp>
        <p:nvSpPr>
          <p:cNvPr id="34" name="Shape 32"/>
          <p:cNvSpPr/>
          <p:nvPr/>
        </p:nvSpPr>
        <p:spPr>
          <a:xfrm>
            <a:off x="11094415" y="4960620"/>
            <a:ext cx="411480" cy="411480"/>
          </a:xfrm>
          <a:prstGeom prst="ellipse">
            <a:avLst/>
          </a:prstGeom>
          <a:solidFill>
            <a:srgbClr val="2F3690"/>
          </a:solidFill>
          <a:ln w="12700">
            <a:solidFill>
              <a:srgbClr val="2F3690"/>
            </a:solidFill>
            <a:prstDash val="solid"/>
          </a:ln>
        </p:spPr>
      </p:sp>
      <p:sp>
        <p:nvSpPr>
          <p:cNvPr id="35" name="Text 33"/>
          <p:cNvSpPr txBox="1"/>
          <p:nvPr/>
        </p:nvSpPr>
        <p:spPr>
          <a:xfrm>
            <a:off x="11094415" y="4960620"/>
            <a:ext cx="411480" cy="41148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۴</a:t>
            </a:r>
            <a:endParaRPr lang="en-US" sz="1400" dirty="0"/>
          </a:p>
        </p:txBody>
      </p:sp>
      <p:sp>
        <p:nvSpPr>
          <p:cNvPr id="36" name="Text 34"/>
          <p:cNvSpPr txBox="1"/>
          <p:nvPr/>
        </p:nvSpPr>
        <p:spPr>
          <a:xfrm>
            <a:off x="8808415" y="4855464"/>
            <a:ext cx="2103120" cy="621792"/>
          </a:xfrm>
          <a:prstGeom prst="rect">
            <a:avLst/>
          </a:prstGeom>
          <a:noFill/>
          <a:ln/>
        </p:spPr>
        <p:txBody>
          <a:bodyPr wrap="square" lIns="0" tIns="0" rIns="0" bIns="0" rtlCol="0" anchor="ctr"/>
          <a:lstStyle/>
          <a:p>
            <a:pPr rtl="1" algn="r" indent="0" marL="0">
              <a:lnSpc>
                <a:spcPct val="105000"/>
              </a:lnSpc>
              <a:buNone/>
            </a:pPr>
            <a:r>
              <a:rPr lang="fa-IR" altLang="en-US" sz="1350" b="1" dirty="0">
                <a:solidFill>
                  <a:srgbClr val="1B1B2F"/>
                </a:solidFill>
                <a:latin typeface="Vazirmatn" pitchFamily="34" charset="0"/>
                <a:ea typeface="Vazirmatn" pitchFamily="34" charset="-122"/>
                <a:cs typeface="Vazirmatn" pitchFamily="34" charset="-120"/>
              </a:rPr>
              <a:t>اعتراض</a:t>
            </a:r>
            <a:endParaRPr lang="en-US" sz="1350" dirty="0"/>
          </a:p>
        </p:txBody>
      </p:sp>
      <p:sp>
        <p:nvSpPr>
          <p:cNvPr id="37" name="Text 35"/>
          <p:cNvSpPr txBox="1"/>
          <p:nvPr/>
        </p:nvSpPr>
        <p:spPr>
          <a:xfrm>
            <a:off x="731520" y="4855464"/>
            <a:ext cx="7939735" cy="621792"/>
          </a:xfrm>
          <a:prstGeom prst="rect">
            <a:avLst/>
          </a:prstGeom>
          <a:noFill/>
          <a:ln/>
        </p:spPr>
        <p:txBody>
          <a:bodyPr wrap="square" lIns="0" tIns="0" rIns="0" bIns="0" rtlCol="0" anchor="ctr"/>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ظرف ۷۲ ساعت از تحویل (فقط خود ولیدیتور)؛ مجمع با اکثریت ساده، مهلت ۷ روز؛ نبود نصاب یعنی رد جریمه.</a:t>
            </a:r>
            <a:endParaRPr lang="en-US" sz="1150" dirty="0"/>
          </a:p>
        </p:txBody>
      </p:sp>
      <p:sp>
        <p:nvSpPr>
          <p:cNvPr id="38" name="Shape 36"/>
          <p:cNvSpPr/>
          <p:nvPr/>
        </p:nvSpPr>
        <p:spPr>
          <a:xfrm>
            <a:off x="548640" y="5559552"/>
            <a:ext cx="11094415" cy="621792"/>
          </a:xfrm>
          <a:prstGeom prst="roundRect">
            <a:avLst>
              <a:gd name="adj" fmla="val 17647"/>
            </a:avLst>
          </a:prstGeom>
          <a:solidFill>
            <a:srgbClr val="F7F9FC"/>
          </a:solidFill>
          <a:ln w="9525">
            <a:solidFill>
              <a:srgbClr val="DDE1EE"/>
            </a:solidFill>
            <a:prstDash val="solid"/>
          </a:ln>
        </p:spPr>
      </p:sp>
      <p:sp>
        <p:nvSpPr>
          <p:cNvPr id="39" name="Shape 37"/>
          <p:cNvSpPr/>
          <p:nvPr/>
        </p:nvSpPr>
        <p:spPr>
          <a:xfrm>
            <a:off x="11094415" y="5664708"/>
            <a:ext cx="411480" cy="411480"/>
          </a:xfrm>
          <a:prstGeom prst="ellipse">
            <a:avLst/>
          </a:prstGeom>
          <a:solidFill>
            <a:srgbClr val="2F3690"/>
          </a:solidFill>
          <a:ln w="12700">
            <a:solidFill>
              <a:srgbClr val="2F3690"/>
            </a:solidFill>
            <a:prstDash val="solid"/>
          </a:ln>
        </p:spPr>
      </p:sp>
      <p:sp>
        <p:nvSpPr>
          <p:cNvPr id="40" name="Text 38"/>
          <p:cNvSpPr txBox="1"/>
          <p:nvPr/>
        </p:nvSpPr>
        <p:spPr>
          <a:xfrm>
            <a:off x="11094415" y="5664708"/>
            <a:ext cx="411480" cy="41148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۵</a:t>
            </a:r>
            <a:endParaRPr lang="en-US" sz="1400" dirty="0"/>
          </a:p>
        </p:txBody>
      </p:sp>
      <p:sp>
        <p:nvSpPr>
          <p:cNvPr id="41" name="Text 39"/>
          <p:cNvSpPr txBox="1"/>
          <p:nvPr/>
        </p:nvSpPr>
        <p:spPr>
          <a:xfrm>
            <a:off x="8808415" y="5559552"/>
            <a:ext cx="2103120" cy="621792"/>
          </a:xfrm>
          <a:prstGeom prst="rect">
            <a:avLst/>
          </a:prstGeom>
          <a:noFill/>
          <a:ln/>
        </p:spPr>
        <p:txBody>
          <a:bodyPr wrap="square" lIns="0" tIns="0" rIns="0" bIns="0" rtlCol="0" anchor="ctr"/>
          <a:lstStyle/>
          <a:p>
            <a:pPr rtl="1" algn="r" indent="0" marL="0">
              <a:lnSpc>
                <a:spcPct val="105000"/>
              </a:lnSpc>
              <a:buNone/>
            </a:pPr>
            <a:r>
              <a:rPr lang="fa-IR" altLang="en-US" sz="1350" b="1" dirty="0">
                <a:solidFill>
                  <a:srgbClr val="1B1B2F"/>
                </a:solidFill>
                <a:latin typeface="Vazirmatn" pitchFamily="34" charset="0"/>
                <a:ea typeface="Vazirmatn" pitchFamily="34" charset="-122"/>
                <a:cs typeface="Vazirmatn" pitchFamily="34" charset="-120"/>
              </a:rPr>
              <a:t>جریمه‌ی بی‌اعتراض</a:t>
            </a:r>
            <a:endParaRPr lang="en-US" sz="1350" dirty="0"/>
          </a:p>
        </p:txBody>
      </p:sp>
      <p:sp>
        <p:nvSpPr>
          <p:cNvPr id="42" name="Text 40"/>
          <p:cNvSpPr txBox="1"/>
          <p:nvPr/>
        </p:nvSpPr>
        <p:spPr>
          <a:xfrm>
            <a:off x="731520" y="5559552"/>
            <a:ext cx="7939735" cy="621792"/>
          </a:xfrm>
          <a:prstGeom prst="rect">
            <a:avLst/>
          </a:prstGeom>
          <a:noFill/>
          <a:ln/>
        </p:spPr>
        <p:txBody>
          <a:bodyPr wrap="square" lIns="0" tIns="0" rIns="0" bIns="0" rtlCol="0" anchor="ctr"/>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executeUncontestedSlash پس از ۷۲ ساعت؛ مبلغ همان مبلغ ثبت‌شده در لحظه‌ی پرونده (decisionSlashAmount) و به Treasury می‌رود.</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قراردادها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ValidatorsBoard و ValidatorsTreasury</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14</a:t>
            </a:r>
            <a:endParaRPr lang="en-US" sz="1000" dirty="0"/>
          </a:p>
        </p:txBody>
      </p:sp>
      <p:sp>
        <p:nvSpPr>
          <p:cNvPr id="6" name="Shape 4"/>
          <p:cNvSpPr/>
          <p:nvPr/>
        </p:nvSpPr>
        <p:spPr>
          <a:xfrm>
            <a:off x="6202375" y="1417320"/>
            <a:ext cx="5440680" cy="4754880"/>
          </a:xfrm>
          <a:prstGeom prst="roundRect">
            <a:avLst>
              <a:gd name="adj" fmla="val 2308"/>
            </a:avLst>
          </a:prstGeom>
          <a:solidFill>
            <a:srgbClr val="EEF0FB"/>
          </a:solidFill>
          <a:ln w="9525">
            <a:solidFill>
              <a:srgbClr val="EEF0FB"/>
            </a:solidFill>
            <a:prstDash val="solid"/>
          </a:ln>
        </p:spPr>
      </p:sp>
      <p:sp>
        <p:nvSpPr>
          <p:cNvPr id="7" name="Text 5"/>
          <p:cNvSpPr txBox="1"/>
          <p:nvPr/>
        </p:nvSpPr>
        <p:spPr>
          <a:xfrm>
            <a:off x="6385255" y="1508760"/>
            <a:ext cx="5074920" cy="365760"/>
          </a:xfrm>
          <a:prstGeom prst="rect">
            <a:avLst/>
          </a:prstGeom>
          <a:noFill/>
          <a:ln/>
        </p:spPr>
        <p:txBody>
          <a:bodyPr wrap="square" lIns="0" tIns="0" rIns="0" bIns="0" rtlCol="0" anchor="t"/>
          <a:lstStyle/>
          <a:p>
            <a:pPr rtl="1" algn="r" indent="0" marL="0">
              <a:lnSpc>
                <a:spcPct val="105000"/>
              </a:lnSpc>
              <a:buNone/>
            </a:pPr>
            <a:r>
              <a:rPr lang="fa-IR" altLang="en-US" sz="1550" b="1" dirty="0">
                <a:solidFill>
                  <a:srgbClr val="2F3690"/>
                </a:solidFill>
                <a:latin typeface="Vazirmatn" pitchFamily="34" charset="0"/>
                <a:ea typeface="Vazirmatn" pitchFamily="34" charset="-122"/>
                <a:cs typeface="Vazirmatn" pitchFamily="34" charset="-120"/>
              </a:rPr>
              <a:t>ValidatorsBoard — ۵ صندلی</a:t>
            </a:r>
            <a:endParaRPr lang="en-US" sz="1550" dirty="0"/>
          </a:p>
        </p:txBody>
      </p:sp>
      <p:sp>
        <p:nvSpPr>
          <p:cNvPr id="8" name="Text 6"/>
          <p:cNvSpPr txBox="1"/>
          <p:nvPr/>
        </p:nvSpPr>
        <p:spPr>
          <a:xfrm>
            <a:off x="6385255" y="1965960"/>
            <a:ext cx="5074920" cy="4114800"/>
          </a:xfrm>
          <a:prstGeom prst="rect">
            <a:avLst/>
          </a:prstGeom>
          <a:noFill/>
          <a:ln/>
        </p:spPr>
        <p:txBody>
          <a:bodyPr wrap="square" lIns="0" tIns="0" rIns="0" bIns="0" rtlCol="0" anchor="t"/>
          <a:lstStyle/>
          <a:p>
            <a:pPr rtl="1" algn="r" indent="0" marL="0">
              <a:lnSpc>
                <a:spcPct val="105000"/>
              </a:lnSpc>
              <a:spcAft>
                <a:spcPts val="700"/>
              </a:spcAft>
              <a:buNone/>
            </a:pPr>
            <a:r>
              <a:rPr lang="fa-IR" altLang="en-US" sz="1230" dirty="0">
                <a:solidFill>
                  <a:srgbClr val="1B1B2F"/>
                </a:solidFill>
                <a:latin typeface="Vazirmatn" pitchFamily="34" charset="0"/>
                <a:ea typeface="Vazirmatn" pitchFamily="34" charset="-122"/>
                <a:cs typeface="Vazirmatn" pitchFamily="34" charset="-120"/>
              </a:rPr>
              <a:t>voteFor(candidate) / unvoteFor: هر ولیدیتور Active با هویت ثبت‌شده تا ۵ کاندیدای هم‌زمان؛ کاندیدا باید Active باشد؛ خودرأیی مجاز.</a:t>
            </a:r>
            <a:endParaRPr lang="en-US" sz="1230" dirty="0"/>
          </a:p>
          <a:p>
            <a:pPr rtl="1" algn="r" indent="0" marL="0">
              <a:lnSpc>
                <a:spcPct val="105000"/>
              </a:lnSpc>
              <a:spcAft>
                <a:spcPts val="700"/>
              </a:spcAft>
              <a:buNone/>
            </a:pPr>
            <a:r>
              <a:rPr lang="fa-IR" altLang="en-US" sz="1230" dirty="0">
                <a:solidFill>
                  <a:srgbClr val="1B1B2F"/>
                </a:solidFill>
                <a:latin typeface="Vazirmatn" pitchFamily="34" charset="0"/>
                <a:ea typeface="Vazirmatn" pitchFamily="34" charset="-122"/>
                <a:cs typeface="Vazirmatn" pitchFamily="34" charset="-120"/>
              </a:rPr>
              <a:t>refreshBoard(): بدون مجوز، حداکثر هر ۳۰ روز. عضو Active فعلی کرسی‌اش را حفظ می‌کند؛ کرسی خالی با پررأی‌ترین واجد پر می‌شود؛ جای عضو فعلی را فقط نامزدی با رأی اکیداً بیشتر از ضعیف‌ترین عضو می‌گیرد.</a:t>
            </a:r>
            <a:endParaRPr lang="en-US" sz="1230" dirty="0"/>
          </a:p>
          <a:p>
            <a:pPr rtl="1" algn="r" indent="0" marL="0">
              <a:lnSpc>
                <a:spcPct val="105000"/>
              </a:lnSpc>
              <a:spcAft>
                <a:spcPts val="700"/>
              </a:spcAft>
              <a:buNone/>
            </a:pPr>
            <a:r>
              <a:rPr lang="fa-IR" altLang="en-US" sz="1230" dirty="0">
                <a:solidFill>
                  <a:srgbClr val="1B1B2F"/>
                </a:solidFill>
                <a:latin typeface="Vazirmatn" pitchFamily="34" charset="0"/>
                <a:ea typeface="Vazirmatn" pitchFamily="34" charset="-122"/>
                <a:cs typeface="Vazirmatn" pitchFamily="34" charset="-120"/>
              </a:rPr>
              <a:t>hasBoardAuthority: کرسی دارد و درخواست خروج نداده؛ تعلیق اختیار را قطع نمی‌کند. syncBoard() و fillVacancies() بدون مجوزند.</a:t>
            </a:r>
            <a:endParaRPr lang="en-US" sz="1230" dirty="0"/>
          </a:p>
          <a:p>
            <a:pPr rtl="1" algn="r" indent="0" marL="0">
              <a:lnSpc>
                <a:spcPct val="105000"/>
              </a:lnSpc>
              <a:spcAft>
                <a:spcPts val="700"/>
              </a:spcAft>
              <a:buNone/>
            </a:pPr>
            <a:r>
              <a:rPr lang="fa-IR" altLang="en-US" sz="1230" dirty="0">
                <a:solidFill>
                  <a:srgbClr val="1B1B2F"/>
                </a:solidFill>
                <a:latin typeface="Vazirmatn" pitchFamily="34" charset="0"/>
                <a:ea typeface="Vazirmatn" pitchFamily="34" charset="-122"/>
                <a:cs typeface="Vazirmatn" pitchFamily="34" charset="-120"/>
              </a:rPr>
              <a:t>اکشن‌ها (چرخش اوراکل و verifier، تأیید پرداخت، سه پارامتر اقتصادی) با voteAction؛ نصاب اکثریت (تأیید پرداخت: ≥ ۳ رأی). اکشنی که با boardVersion قدیمی ساخته شده revert می‌شود.</a:t>
            </a:r>
            <a:endParaRPr lang="en-US" sz="1230" dirty="0"/>
          </a:p>
          <a:p>
            <a:pPr rtl="1" algn="r" indent="0" marL="0">
              <a:lnSpc>
                <a:spcPct val="105000"/>
              </a:lnSpc>
              <a:spcAft>
                <a:spcPts val="700"/>
              </a:spcAft>
              <a:buNone/>
            </a:pPr>
            <a:r>
              <a:rPr lang="fa-IR" altLang="en-US" sz="1230" dirty="0">
                <a:solidFill>
                  <a:srgbClr val="1B1B2F"/>
                </a:solidFill>
                <a:latin typeface="Vazirmatn" pitchFamily="34" charset="0"/>
                <a:ea typeface="Vazirmatn" pitchFamily="34" charset="-122"/>
                <a:cs typeface="Vazirmatn" pitchFamily="34" charset="-120"/>
              </a:rPr>
              <a:t>اگر دارنده‌ی کرسی درخواست خروج داده، همه‌ی اکشن‌ها تا syncBoard() revert می‌کنند.</a:t>
            </a:r>
            <a:endParaRPr lang="en-US" sz="1230" dirty="0"/>
          </a:p>
        </p:txBody>
      </p:sp>
      <p:sp>
        <p:nvSpPr>
          <p:cNvPr id="9" name="Shape 7"/>
          <p:cNvSpPr/>
          <p:nvPr/>
        </p:nvSpPr>
        <p:spPr>
          <a:xfrm>
            <a:off x="548640" y="1417320"/>
            <a:ext cx="5440680" cy="4754880"/>
          </a:xfrm>
          <a:prstGeom prst="roundRect">
            <a:avLst>
              <a:gd name="adj" fmla="val 2308"/>
            </a:avLst>
          </a:prstGeom>
          <a:solidFill>
            <a:srgbClr val="F7F9FC"/>
          </a:solidFill>
          <a:ln w="9525">
            <a:solidFill>
              <a:srgbClr val="DDE1EE"/>
            </a:solidFill>
            <a:prstDash val="solid"/>
          </a:ln>
        </p:spPr>
      </p:sp>
      <p:sp>
        <p:nvSpPr>
          <p:cNvPr id="10" name="Text 8"/>
          <p:cNvSpPr txBox="1"/>
          <p:nvPr/>
        </p:nvSpPr>
        <p:spPr>
          <a:xfrm>
            <a:off x="731520" y="1508760"/>
            <a:ext cx="5074920" cy="365760"/>
          </a:xfrm>
          <a:prstGeom prst="rect">
            <a:avLst/>
          </a:prstGeom>
          <a:noFill/>
          <a:ln/>
        </p:spPr>
        <p:txBody>
          <a:bodyPr wrap="square" lIns="0" tIns="0" rIns="0" bIns="0" rtlCol="0" anchor="t"/>
          <a:lstStyle/>
          <a:p>
            <a:pPr rtl="1" algn="r" indent="0" marL="0">
              <a:lnSpc>
                <a:spcPct val="105000"/>
              </a:lnSpc>
              <a:buNone/>
            </a:pPr>
            <a:r>
              <a:rPr lang="fa-IR" altLang="en-US" sz="1550" b="1" dirty="0">
                <a:solidFill>
                  <a:srgbClr val="3D46A8"/>
                </a:solidFill>
                <a:latin typeface="Vazirmatn" pitchFamily="34" charset="0"/>
                <a:ea typeface="Vazirmatn" pitchFamily="34" charset="-122"/>
                <a:cs typeface="Vazirmatn" pitchFamily="34" charset="-120"/>
              </a:rPr>
              <a:t>ValidatorsTreasury</a:t>
            </a:r>
            <a:endParaRPr lang="en-US" sz="1550" dirty="0"/>
          </a:p>
        </p:txBody>
      </p:sp>
      <p:sp>
        <p:nvSpPr>
          <p:cNvPr id="11" name="Text 9"/>
          <p:cNvSpPr txBox="1"/>
          <p:nvPr/>
        </p:nvSpPr>
        <p:spPr>
          <a:xfrm>
            <a:off x="731520" y="1965960"/>
            <a:ext cx="5074920" cy="4114800"/>
          </a:xfrm>
          <a:prstGeom prst="rect">
            <a:avLst/>
          </a:prstGeom>
          <a:noFill/>
          <a:ln/>
        </p:spPr>
        <p:txBody>
          <a:bodyPr wrap="square" lIns="0" tIns="0" rIns="0" bIns="0" rtlCol="0" anchor="t"/>
          <a:lstStyle/>
          <a:p>
            <a:pPr rtl="1" algn="r" indent="0" marL="0">
              <a:lnSpc>
                <a:spcPct val="105000"/>
              </a:lnSpc>
              <a:spcAft>
                <a:spcPts val="700"/>
              </a:spcAft>
              <a:buNone/>
            </a:pPr>
            <a:r>
              <a:rPr lang="fa-IR" altLang="en-US" sz="1230" dirty="0">
                <a:solidFill>
                  <a:srgbClr val="1B1B2F"/>
                </a:solidFill>
                <a:latin typeface="Vazirmatn" pitchFamily="34" charset="0"/>
                <a:ea typeface="Vazirmatn" pitchFamily="34" charset="-122"/>
                <a:cs typeface="Vazirmatn" pitchFamily="34" charset="-120"/>
              </a:rPr>
              <a:t>boardApproveExpenditure(to, amount, description): فقط قرارداد Board (پس از ≥ ۳ رأی). شرط: amount ≤ perPaymentCap (۵۰٬۰۰۰ سورن، مقدار مرزی مجاز) و مجموع پنجره‌ی حدود ۳۰روزه (سطل‌های روزانه) ≤ periodCap (۲۰۰٬۰۰۰).</a:t>
            </a:r>
            <a:endParaRPr lang="en-US" sz="1230" dirty="0"/>
          </a:p>
          <a:p>
            <a:pPr rtl="1" algn="r" indent="0" marL="0">
              <a:lnSpc>
                <a:spcPct val="105000"/>
              </a:lnSpc>
              <a:spcAft>
                <a:spcPts val="700"/>
              </a:spcAft>
              <a:buNone/>
            </a:pPr>
            <a:r>
              <a:rPr lang="fa-IR" altLang="en-US" sz="1230" dirty="0">
                <a:solidFill>
                  <a:srgbClr val="1B1B2F"/>
                </a:solidFill>
                <a:latin typeface="Vazirmatn" pitchFamily="34" charset="0"/>
                <a:ea typeface="Vazirmatn" pitchFamily="34" charset="-122"/>
                <a:cs typeface="Vazirmatn" pitchFamily="34" charset="-120"/>
              </a:rPr>
              <a:t>هر پرداخت، با هر مقصد و توضیح، در یک شمارنده‌ی مشترک حساب می‌شود (خردکردن راه دورزدن نیست).</a:t>
            </a:r>
            <a:endParaRPr lang="en-US" sz="1230" dirty="0"/>
          </a:p>
          <a:p>
            <a:pPr rtl="1" algn="r" indent="0" marL="0">
              <a:lnSpc>
                <a:spcPct val="105000"/>
              </a:lnSpc>
              <a:spcAft>
                <a:spcPts val="700"/>
              </a:spcAft>
              <a:buNone/>
            </a:pPr>
            <a:r>
              <a:rPr lang="fa-IR" altLang="en-US" sz="1230" dirty="0">
                <a:solidFill>
                  <a:srgbClr val="1B1B2F"/>
                </a:solidFill>
                <a:latin typeface="Vazirmatn" pitchFamily="34" charset="0"/>
                <a:ea typeface="Vazirmatn" pitchFamily="34" charset="-122"/>
                <a:cs typeface="Vazirmatn" pitchFamily="34" charset="-120"/>
              </a:rPr>
              <a:t>proposeCapChange(kind, value) و voteCapChange(id): ولیدیتور Active؛ با رسیدن به نصاب، تغییر در صف تأخیر ۷روزه می‌رود.</a:t>
            </a:r>
            <a:endParaRPr lang="en-US" sz="1230" dirty="0"/>
          </a:p>
          <a:p>
            <a:pPr rtl="1" algn="r" indent="0" marL="0">
              <a:lnSpc>
                <a:spcPct val="105000"/>
              </a:lnSpc>
              <a:spcAft>
                <a:spcPts val="700"/>
              </a:spcAft>
              <a:buNone/>
            </a:pPr>
            <a:r>
              <a:rPr lang="fa-IR" altLang="en-US" sz="1230" dirty="0">
                <a:solidFill>
                  <a:srgbClr val="1B1B2F"/>
                </a:solidFill>
                <a:latin typeface="Vazirmatn" pitchFamily="34" charset="0"/>
                <a:ea typeface="Vazirmatn" pitchFamily="34" charset="-122"/>
                <a:cs typeface="Vazirmatn" pitchFamily="34" charset="-120"/>
              </a:rPr>
              <a:t>applyPendingCapChange(kind): هرکس، پس از ۷ روز؛ قبل از آن revert با timelock not elapsed.</a:t>
            </a:r>
            <a:endParaRPr lang="en-US" sz="1230" dirty="0"/>
          </a:p>
          <a:p>
            <a:pPr rtl="1" algn="r" indent="0" marL="0">
              <a:lnSpc>
                <a:spcPct val="105000"/>
              </a:lnSpc>
              <a:spcAft>
                <a:spcPts val="700"/>
              </a:spcAft>
              <a:buNone/>
            </a:pPr>
            <a:r>
              <a:rPr lang="fa-IR" altLang="en-US" sz="1230" dirty="0">
                <a:solidFill>
                  <a:srgbClr val="1B1B2F"/>
                </a:solidFill>
                <a:latin typeface="Vazirmatn" pitchFamily="34" charset="0"/>
                <a:ea typeface="Vazirmatn" pitchFamily="34" charset="-122"/>
                <a:cs typeface="Vazirmatn" pitchFamily="34" charset="-120"/>
              </a:rPr>
              <a:t>receive(): از Distributor (سهم باقی‌مانده‌ی ریوارد) و Registry (جریمه). موجودی در genesis ندارد؛ سقف‌ها overlay می‌شوند.</a:t>
            </a:r>
            <a:endParaRPr lang="en-US" sz="123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توزیع پاداش</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500" b="1" dirty="0">
                <a:solidFill>
                  <a:srgbClr val="1B1B2F"/>
                </a:solidFill>
                <a:latin typeface="Vazirmatn" pitchFamily="34" charset="0"/>
                <a:ea typeface="Vazirmatn" pitchFamily="34" charset="-122"/>
                <a:cs typeface="Vazirmatn" pitchFamily="34" charset="-120"/>
              </a:rPr>
              <a:t>BlockRewardDistributor.distributeRewards: ترتیب کنترل‌ها و پرداخت</a:t>
            </a:r>
            <a:endParaRPr lang="en-US" sz="25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15</a:t>
            </a:r>
            <a:endParaRPr lang="en-US" sz="1000" dirty="0"/>
          </a:p>
        </p:txBody>
      </p:sp>
      <p:sp>
        <p:nvSpPr>
          <p:cNvPr id="6" name="Shape 4"/>
          <p:cNvSpPr/>
          <p:nvPr/>
        </p:nvSpPr>
        <p:spPr>
          <a:xfrm>
            <a:off x="548640" y="1371600"/>
            <a:ext cx="11094415" cy="868680"/>
          </a:xfrm>
          <a:prstGeom prst="roundRect">
            <a:avLst>
              <a:gd name="adj" fmla="val 12632"/>
            </a:avLst>
          </a:prstGeom>
          <a:solidFill>
            <a:srgbClr val="EEF0FB"/>
          </a:solidFill>
          <a:ln w="9525">
            <a:solidFill>
              <a:srgbClr val="EEF0FB"/>
            </a:solidFill>
            <a:prstDash val="solid"/>
          </a:ln>
        </p:spPr>
      </p:sp>
      <p:sp>
        <p:nvSpPr>
          <p:cNvPr id="7" name="Text 5"/>
          <p:cNvSpPr txBox="1"/>
          <p:nvPr/>
        </p:nvSpPr>
        <p:spPr>
          <a:xfrm>
            <a:off x="731520" y="1444752"/>
            <a:ext cx="10728655" cy="365760"/>
          </a:xfrm>
          <a:prstGeom prst="rect">
            <a:avLst/>
          </a:prstGeom>
          <a:noFill/>
          <a:ln/>
        </p:spPr>
        <p:txBody>
          <a:bodyPr wrap="square" lIns="0" tIns="0" rIns="0" bIns="0" rtlCol="0" anchor="ctr"/>
          <a:lstStyle/>
          <a:p>
            <a:pPr rtl="1" algn="l"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distributeRewards(BlockRange{fromBlock, toBlock}, address[] validators, uint256[] blocksMined, uint256 totalRewards, uint256 totalFees)</a:t>
            </a:r>
            <a:endParaRPr lang="en-US" sz="1200" dirty="0"/>
          </a:p>
        </p:txBody>
      </p:sp>
      <p:sp>
        <p:nvSpPr>
          <p:cNvPr id="8" name="Text 6"/>
          <p:cNvSpPr txBox="1"/>
          <p:nvPr/>
        </p:nvSpPr>
        <p:spPr>
          <a:xfrm>
            <a:off x="731520" y="1828800"/>
            <a:ext cx="10728655" cy="320040"/>
          </a:xfrm>
          <a:prstGeom prst="rect">
            <a:avLst/>
          </a:prstGeom>
          <a:noFill/>
          <a:ln/>
        </p:spPr>
        <p:txBody>
          <a:bodyPr wrap="square" lIns="0" tIns="0" rIns="0" bIns="0" rtlCol="0" anchor="ctr"/>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فقط distributionOracle می‌تواند آن را صدا بزند و تابع nonReentrant است</a:t>
            </a:r>
            <a:endParaRPr lang="en-US" sz="1200" dirty="0"/>
          </a:p>
        </p:txBody>
      </p:sp>
      <p:sp>
        <p:nvSpPr>
          <p:cNvPr id="9" name="Shape 7"/>
          <p:cNvSpPr/>
          <p:nvPr/>
        </p:nvSpPr>
        <p:spPr>
          <a:xfrm>
            <a:off x="548640" y="2377440"/>
            <a:ext cx="11094415" cy="484632"/>
          </a:xfrm>
          <a:prstGeom prst="roundRect">
            <a:avLst>
              <a:gd name="adj" fmla="val 22642"/>
            </a:avLst>
          </a:prstGeom>
          <a:solidFill>
            <a:srgbClr val="F7F9FC"/>
          </a:solidFill>
          <a:ln w="9525">
            <a:solidFill>
              <a:srgbClr val="DDE1EE"/>
            </a:solidFill>
            <a:prstDash val="solid"/>
          </a:ln>
        </p:spPr>
      </p:sp>
      <p:sp>
        <p:nvSpPr>
          <p:cNvPr id="10" name="Shape 8"/>
          <p:cNvSpPr/>
          <p:nvPr/>
        </p:nvSpPr>
        <p:spPr>
          <a:xfrm>
            <a:off x="11204143" y="2446020"/>
            <a:ext cx="347472" cy="347472"/>
          </a:xfrm>
          <a:prstGeom prst="ellipse">
            <a:avLst/>
          </a:prstGeom>
          <a:solidFill>
            <a:srgbClr val="2F3690"/>
          </a:solidFill>
          <a:ln w="12700">
            <a:solidFill>
              <a:srgbClr val="2F3690"/>
            </a:solidFill>
            <a:prstDash val="solid"/>
          </a:ln>
        </p:spPr>
      </p:sp>
      <p:sp>
        <p:nvSpPr>
          <p:cNvPr id="11" name="Text 9"/>
          <p:cNvSpPr txBox="1"/>
          <p:nvPr/>
        </p:nvSpPr>
        <p:spPr>
          <a:xfrm>
            <a:off x="11204143" y="2446020"/>
            <a:ext cx="347472" cy="347472"/>
          </a:xfrm>
          <a:prstGeom prst="rect">
            <a:avLst/>
          </a:prstGeom>
          <a:noFill/>
          <a:ln/>
        </p:spPr>
        <p:txBody>
          <a:bodyPr wrap="square" lIns="0" tIns="0" rIns="0" bIns="0" rtlCol="0" anchor="ctr"/>
          <a:lstStyle/>
          <a:p>
            <a:pPr rtl="1" algn="ctr" indent="0" marL="0">
              <a:lnSpc>
                <a:spcPct val="105000"/>
              </a:lnSpc>
              <a:buNone/>
            </a:pPr>
            <a:r>
              <a:rPr lang="fa-IR" altLang="en-US" sz="1200" b="1" dirty="0">
                <a:solidFill>
                  <a:srgbClr val="FFFFFF"/>
                </a:solidFill>
                <a:latin typeface="Vazirmatn" pitchFamily="34" charset="0"/>
                <a:ea typeface="Vazirmatn" pitchFamily="34" charset="-122"/>
                <a:cs typeface="Vazirmatn" pitchFamily="34" charset="-120"/>
              </a:rPr>
              <a:t>۱</a:t>
            </a:r>
            <a:endParaRPr lang="en-US" sz="1200" dirty="0"/>
          </a:p>
        </p:txBody>
      </p:sp>
      <p:sp>
        <p:nvSpPr>
          <p:cNvPr id="12" name="Text 10"/>
          <p:cNvSpPr txBox="1"/>
          <p:nvPr/>
        </p:nvSpPr>
        <p:spPr>
          <a:xfrm>
            <a:off x="8899855" y="2377440"/>
            <a:ext cx="2194560" cy="484632"/>
          </a:xfrm>
          <a:prstGeom prst="rect">
            <a:avLst/>
          </a:prstGeom>
          <a:noFill/>
          <a:ln/>
        </p:spPr>
        <p:txBody>
          <a:bodyPr wrap="square" lIns="0" tIns="0" rIns="0" bIns="0" rtlCol="0" anchor="ctr"/>
          <a:lstStyle/>
          <a:p>
            <a:pPr rtl="1" algn="r" indent="0" marL="0">
              <a:lnSpc>
                <a:spcPct val="105000"/>
              </a:lnSpc>
              <a:buNone/>
            </a:pPr>
            <a:r>
              <a:rPr lang="fa-IR" altLang="en-US" sz="1200" b="1" dirty="0">
                <a:solidFill>
                  <a:srgbClr val="1B1B2F"/>
                </a:solidFill>
                <a:latin typeface="Vazirmatn" pitchFamily="34" charset="0"/>
                <a:ea typeface="Vazirmatn" pitchFamily="34" charset="-122"/>
                <a:cs typeface="Vazirmatn" pitchFamily="34" charset="-120"/>
              </a:rPr>
              <a:t>فهرست غیرخالی و هم‌طول</a:t>
            </a:r>
            <a:endParaRPr lang="en-US" sz="1200" dirty="0"/>
          </a:p>
        </p:txBody>
      </p:sp>
      <p:sp>
        <p:nvSpPr>
          <p:cNvPr id="13" name="Text 11"/>
          <p:cNvSpPr txBox="1"/>
          <p:nvPr/>
        </p:nvSpPr>
        <p:spPr>
          <a:xfrm>
            <a:off x="685800" y="2377440"/>
            <a:ext cx="8122615" cy="484632"/>
          </a:xfrm>
          <a:prstGeom prst="rect">
            <a:avLst/>
          </a:prstGeom>
          <a:noFill/>
          <a:ln/>
        </p:spPr>
        <p:txBody>
          <a:bodyPr wrap="square" lIns="0" tIns="0" rIns="0" bIns="0" rtlCol="0" anchor="ctr"/>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validators و blocksMined باید هم‌طول و غیرخالی باشند.</a:t>
            </a:r>
            <a:endParaRPr lang="en-US" sz="1100" dirty="0"/>
          </a:p>
        </p:txBody>
      </p:sp>
      <p:sp>
        <p:nvSpPr>
          <p:cNvPr id="14" name="Shape 12"/>
          <p:cNvSpPr/>
          <p:nvPr/>
        </p:nvSpPr>
        <p:spPr>
          <a:xfrm>
            <a:off x="548640" y="2926080"/>
            <a:ext cx="11094415" cy="484632"/>
          </a:xfrm>
          <a:prstGeom prst="roundRect">
            <a:avLst>
              <a:gd name="adj" fmla="val 22642"/>
            </a:avLst>
          </a:prstGeom>
          <a:solidFill>
            <a:srgbClr val="FFFFFF"/>
          </a:solidFill>
          <a:ln w="9525">
            <a:solidFill>
              <a:srgbClr val="DDE1EE"/>
            </a:solidFill>
            <a:prstDash val="solid"/>
          </a:ln>
        </p:spPr>
      </p:sp>
      <p:sp>
        <p:nvSpPr>
          <p:cNvPr id="15" name="Shape 13"/>
          <p:cNvSpPr/>
          <p:nvPr/>
        </p:nvSpPr>
        <p:spPr>
          <a:xfrm>
            <a:off x="11204143" y="2994660"/>
            <a:ext cx="347472" cy="347472"/>
          </a:xfrm>
          <a:prstGeom prst="ellipse">
            <a:avLst/>
          </a:prstGeom>
          <a:solidFill>
            <a:srgbClr val="2F3690"/>
          </a:solidFill>
          <a:ln w="12700">
            <a:solidFill>
              <a:srgbClr val="2F3690"/>
            </a:solidFill>
            <a:prstDash val="solid"/>
          </a:ln>
        </p:spPr>
      </p:sp>
      <p:sp>
        <p:nvSpPr>
          <p:cNvPr id="16" name="Text 14"/>
          <p:cNvSpPr txBox="1"/>
          <p:nvPr/>
        </p:nvSpPr>
        <p:spPr>
          <a:xfrm>
            <a:off x="11204143" y="2994660"/>
            <a:ext cx="347472" cy="347472"/>
          </a:xfrm>
          <a:prstGeom prst="rect">
            <a:avLst/>
          </a:prstGeom>
          <a:noFill/>
          <a:ln/>
        </p:spPr>
        <p:txBody>
          <a:bodyPr wrap="square" lIns="0" tIns="0" rIns="0" bIns="0" rtlCol="0" anchor="ctr"/>
          <a:lstStyle/>
          <a:p>
            <a:pPr rtl="1" algn="ctr" indent="0" marL="0">
              <a:lnSpc>
                <a:spcPct val="105000"/>
              </a:lnSpc>
              <a:buNone/>
            </a:pPr>
            <a:r>
              <a:rPr lang="fa-IR" altLang="en-US" sz="1200" b="1" dirty="0">
                <a:solidFill>
                  <a:srgbClr val="FFFFFF"/>
                </a:solidFill>
                <a:latin typeface="Vazirmatn" pitchFamily="34" charset="0"/>
                <a:ea typeface="Vazirmatn" pitchFamily="34" charset="-122"/>
                <a:cs typeface="Vazirmatn" pitchFamily="34" charset="-120"/>
              </a:rPr>
              <a:t>۲</a:t>
            </a:r>
            <a:endParaRPr lang="en-US" sz="1200" dirty="0"/>
          </a:p>
        </p:txBody>
      </p:sp>
      <p:sp>
        <p:nvSpPr>
          <p:cNvPr id="17" name="Text 15"/>
          <p:cNvSpPr txBox="1"/>
          <p:nvPr/>
        </p:nvSpPr>
        <p:spPr>
          <a:xfrm>
            <a:off x="8899855" y="2926080"/>
            <a:ext cx="2194560" cy="484632"/>
          </a:xfrm>
          <a:prstGeom prst="rect">
            <a:avLst/>
          </a:prstGeom>
          <a:noFill/>
          <a:ln/>
        </p:spPr>
        <p:txBody>
          <a:bodyPr wrap="square" lIns="0" tIns="0" rIns="0" bIns="0" rtlCol="0" anchor="ctr"/>
          <a:lstStyle/>
          <a:p>
            <a:pPr rtl="1" algn="r" indent="0" marL="0">
              <a:lnSpc>
                <a:spcPct val="105000"/>
              </a:lnSpc>
              <a:buNone/>
            </a:pPr>
            <a:r>
              <a:rPr lang="fa-IR" altLang="en-US" sz="1200" b="1" dirty="0">
                <a:solidFill>
                  <a:srgbClr val="1B1B2F"/>
                </a:solidFill>
                <a:latin typeface="Vazirmatn" pitchFamily="34" charset="0"/>
                <a:ea typeface="Vazirmatn" pitchFamily="34" charset="-122"/>
                <a:cs typeface="Vazirmatn" pitchFamily="34" charset="-120"/>
              </a:rPr>
              <a:t>فاصله‌ی ۲۳ ساعت</a:t>
            </a:r>
            <a:endParaRPr lang="en-US" sz="1200" dirty="0"/>
          </a:p>
        </p:txBody>
      </p:sp>
      <p:sp>
        <p:nvSpPr>
          <p:cNvPr id="18" name="Text 16"/>
          <p:cNvSpPr txBox="1"/>
          <p:nvPr/>
        </p:nvSpPr>
        <p:spPr>
          <a:xfrm>
            <a:off x="685800" y="2926080"/>
            <a:ext cx="8122615" cy="484632"/>
          </a:xfrm>
          <a:prstGeom prst="rect">
            <a:avLst/>
          </a:prstGeom>
          <a:noFill/>
          <a:ln/>
        </p:spPr>
        <p:txBody>
          <a:bodyPr wrap="square" lIns="0" tIns="0" rIns="0" bIns="0" rtlCol="0" anchor="ctr"/>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پس از اولین توزیع، حداقل ۲۳ ساعت از توزیع قبلی.</a:t>
            </a:r>
            <a:endParaRPr lang="en-US" sz="1100" dirty="0"/>
          </a:p>
        </p:txBody>
      </p:sp>
      <p:sp>
        <p:nvSpPr>
          <p:cNvPr id="19" name="Shape 17"/>
          <p:cNvSpPr/>
          <p:nvPr/>
        </p:nvSpPr>
        <p:spPr>
          <a:xfrm>
            <a:off x="548640" y="3474720"/>
            <a:ext cx="11094415" cy="484632"/>
          </a:xfrm>
          <a:prstGeom prst="roundRect">
            <a:avLst>
              <a:gd name="adj" fmla="val 22642"/>
            </a:avLst>
          </a:prstGeom>
          <a:solidFill>
            <a:srgbClr val="F7F9FC"/>
          </a:solidFill>
          <a:ln w="9525">
            <a:solidFill>
              <a:srgbClr val="DDE1EE"/>
            </a:solidFill>
            <a:prstDash val="solid"/>
          </a:ln>
        </p:spPr>
      </p:sp>
      <p:sp>
        <p:nvSpPr>
          <p:cNvPr id="20" name="Shape 18"/>
          <p:cNvSpPr/>
          <p:nvPr/>
        </p:nvSpPr>
        <p:spPr>
          <a:xfrm>
            <a:off x="11204143" y="3543300"/>
            <a:ext cx="347472" cy="347472"/>
          </a:xfrm>
          <a:prstGeom prst="ellipse">
            <a:avLst/>
          </a:prstGeom>
          <a:solidFill>
            <a:srgbClr val="2F3690"/>
          </a:solidFill>
          <a:ln w="12700">
            <a:solidFill>
              <a:srgbClr val="2F3690"/>
            </a:solidFill>
            <a:prstDash val="solid"/>
          </a:ln>
        </p:spPr>
      </p:sp>
      <p:sp>
        <p:nvSpPr>
          <p:cNvPr id="21" name="Text 19"/>
          <p:cNvSpPr txBox="1"/>
          <p:nvPr/>
        </p:nvSpPr>
        <p:spPr>
          <a:xfrm>
            <a:off x="11204143" y="3543300"/>
            <a:ext cx="347472" cy="347472"/>
          </a:xfrm>
          <a:prstGeom prst="rect">
            <a:avLst/>
          </a:prstGeom>
          <a:noFill/>
          <a:ln/>
        </p:spPr>
        <p:txBody>
          <a:bodyPr wrap="square" lIns="0" tIns="0" rIns="0" bIns="0" rtlCol="0" anchor="ctr"/>
          <a:lstStyle/>
          <a:p>
            <a:pPr rtl="1" algn="ctr" indent="0" marL="0">
              <a:lnSpc>
                <a:spcPct val="105000"/>
              </a:lnSpc>
              <a:buNone/>
            </a:pPr>
            <a:r>
              <a:rPr lang="fa-IR" altLang="en-US" sz="1200" b="1" dirty="0">
                <a:solidFill>
                  <a:srgbClr val="FFFFFF"/>
                </a:solidFill>
                <a:latin typeface="Vazirmatn" pitchFamily="34" charset="0"/>
                <a:ea typeface="Vazirmatn" pitchFamily="34" charset="-122"/>
                <a:cs typeface="Vazirmatn" pitchFamily="34" charset="-120"/>
              </a:rPr>
              <a:t>۳</a:t>
            </a:r>
            <a:endParaRPr lang="en-US" sz="1200" dirty="0"/>
          </a:p>
        </p:txBody>
      </p:sp>
      <p:sp>
        <p:nvSpPr>
          <p:cNvPr id="22" name="Text 20"/>
          <p:cNvSpPr txBox="1"/>
          <p:nvPr/>
        </p:nvSpPr>
        <p:spPr>
          <a:xfrm>
            <a:off x="8899855" y="3474720"/>
            <a:ext cx="2194560" cy="484632"/>
          </a:xfrm>
          <a:prstGeom prst="rect">
            <a:avLst/>
          </a:prstGeom>
          <a:noFill/>
          <a:ln/>
        </p:spPr>
        <p:txBody>
          <a:bodyPr wrap="square" lIns="0" tIns="0" rIns="0" bIns="0" rtlCol="0" anchor="ctr"/>
          <a:lstStyle/>
          <a:p>
            <a:pPr rtl="1" algn="r" indent="0" marL="0">
              <a:lnSpc>
                <a:spcPct val="105000"/>
              </a:lnSpc>
              <a:buNone/>
            </a:pPr>
            <a:r>
              <a:rPr lang="fa-IR" altLang="en-US" sz="1200" b="1" dirty="0">
                <a:solidFill>
                  <a:srgbClr val="1B1B2F"/>
                </a:solidFill>
                <a:latin typeface="Vazirmatn" pitchFamily="34" charset="0"/>
                <a:ea typeface="Vazirmatn" pitchFamily="34" charset="-122"/>
                <a:cs typeface="Vazirmatn" pitchFamily="34" charset="-120"/>
              </a:rPr>
              <a:t>پیش‌محاسبه</a:t>
            </a:r>
            <a:endParaRPr lang="en-US" sz="1200" dirty="0"/>
          </a:p>
        </p:txBody>
      </p:sp>
      <p:sp>
        <p:nvSpPr>
          <p:cNvPr id="23" name="Text 21"/>
          <p:cNvSpPr txBox="1"/>
          <p:nvPr/>
        </p:nvSpPr>
        <p:spPr>
          <a:xfrm>
            <a:off x="685800" y="3474720"/>
            <a:ext cx="8122615" cy="484632"/>
          </a:xfrm>
          <a:prstGeom prst="rect">
            <a:avLst/>
          </a:prstGeom>
          <a:noFill/>
          <a:ln/>
        </p:spPr>
        <p:txBody>
          <a:bodyPr wrap="square" lIns="0" tIns="0" rIns="0" bIns="0" rtlCol="0" anchor="ctr"/>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جمع بلاک‌ها؛ کارمزد عضویت انباشته به استخر کارمزد افزوده می‌شود؛ ۳۰٪ کارمزد معمولی برای سوزاندن؛ موجودی کافی؛ مجموع بلاک‌ها صفر نباشد.</a:t>
            </a:r>
            <a:endParaRPr lang="en-US" sz="1100" dirty="0"/>
          </a:p>
        </p:txBody>
      </p:sp>
      <p:sp>
        <p:nvSpPr>
          <p:cNvPr id="24" name="Shape 22"/>
          <p:cNvSpPr/>
          <p:nvPr/>
        </p:nvSpPr>
        <p:spPr>
          <a:xfrm>
            <a:off x="548640" y="4023360"/>
            <a:ext cx="11094415" cy="484632"/>
          </a:xfrm>
          <a:prstGeom prst="roundRect">
            <a:avLst>
              <a:gd name="adj" fmla="val 22642"/>
            </a:avLst>
          </a:prstGeom>
          <a:solidFill>
            <a:srgbClr val="FFFFFF"/>
          </a:solidFill>
          <a:ln w="9525">
            <a:solidFill>
              <a:srgbClr val="DDE1EE"/>
            </a:solidFill>
            <a:prstDash val="solid"/>
          </a:ln>
        </p:spPr>
      </p:sp>
      <p:sp>
        <p:nvSpPr>
          <p:cNvPr id="25" name="Shape 23"/>
          <p:cNvSpPr/>
          <p:nvPr/>
        </p:nvSpPr>
        <p:spPr>
          <a:xfrm>
            <a:off x="11204143" y="4091940"/>
            <a:ext cx="347472" cy="347472"/>
          </a:xfrm>
          <a:prstGeom prst="ellipse">
            <a:avLst/>
          </a:prstGeom>
          <a:solidFill>
            <a:srgbClr val="2F3690"/>
          </a:solidFill>
          <a:ln w="12700">
            <a:solidFill>
              <a:srgbClr val="2F3690"/>
            </a:solidFill>
            <a:prstDash val="solid"/>
          </a:ln>
        </p:spPr>
      </p:sp>
      <p:sp>
        <p:nvSpPr>
          <p:cNvPr id="26" name="Text 24"/>
          <p:cNvSpPr txBox="1"/>
          <p:nvPr/>
        </p:nvSpPr>
        <p:spPr>
          <a:xfrm>
            <a:off x="11204143" y="4091940"/>
            <a:ext cx="347472" cy="347472"/>
          </a:xfrm>
          <a:prstGeom prst="rect">
            <a:avLst/>
          </a:prstGeom>
          <a:noFill/>
          <a:ln/>
        </p:spPr>
        <p:txBody>
          <a:bodyPr wrap="square" lIns="0" tIns="0" rIns="0" bIns="0" rtlCol="0" anchor="ctr"/>
          <a:lstStyle/>
          <a:p>
            <a:pPr rtl="1" algn="ctr" indent="0" marL="0">
              <a:lnSpc>
                <a:spcPct val="105000"/>
              </a:lnSpc>
              <a:buNone/>
            </a:pPr>
            <a:r>
              <a:rPr lang="fa-IR" altLang="en-US" sz="1200" b="1" dirty="0">
                <a:solidFill>
                  <a:srgbClr val="FFFFFF"/>
                </a:solidFill>
                <a:latin typeface="Vazirmatn" pitchFamily="34" charset="0"/>
                <a:ea typeface="Vazirmatn" pitchFamily="34" charset="-122"/>
                <a:cs typeface="Vazirmatn" pitchFamily="34" charset="-120"/>
              </a:rPr>
              <a:t>۴</a:t>
            </a:r>
            <a:endParaRPr lang="en-US" sz="1200" dirty="0"/>
          </a:p>
        </p:txBody>
      </p:sp>
      <p:sp>
        <p:nvSpPr>
          <p:cNvPr id="27" name="Text 25"/>
          <p:cNvSpPr txBox="1"/>
          <p:nvPr/>
        </p:nvSpPr>
        <p:spPr>
          <a:xfrm>
            <a:off x="8899855" y="4023360"/>
            <a:ext cx="2194560" cy="484632"/>
          </a:xfrm>
          <a:prstGeom prst="rect">
            <a:avLst/>
          </a:prstGeom>
          <a:noFill/>
          <a:ln/>
        </p:spPr>
        <p:txBody>
          <a:bodyPr wrap="square" lIns="0" tIns="0" rIns="0" bIns="0" rtlCol="0" anchor="ctr"/>
          <a:lstStyle/>
          <a:p>
            <a:pPr rtl="1" algn="r" indent="0" marL="0">
              <a:lnSpc>
                <a:spcPct val="105000"/>
              </a:lnSpc>
              <a:buNone/>
            </a:pPr>
            <a:r>
              <a:rPr lang="fa-IR" altLang="en-US" sz="1200" b="1" dirty="0">
                <a:solidFill>
                  <a:srgbClr val="1B1B2F"/>
                </a:solidFill>
                <a:latin typeface="Vazirmatn" pitchFamily="34" charset="0"/>
                <a:ea typeface="Vazirmatn" pitchFamily="34" charset="-122"/>
                <a:cs typeface="Vazirmatn" pitchFamily="34" charset="-120"/>
              </a:rPr>
              <a:t>پیوستگی بازه</a:t>
            </a:r>
            <a:endParaRPr lang="en-US" sz="1200" dirty="0"/>
          </a:p>
        </p:txBody>
      </p:sp>
      <p:sp>
        <p:nvSpPr>
          <p:cNvPr id="28" name="Text 26"/>
          <p:cNvSpPr txBox="1"/>
          <p:nvPr/>
        </p:nvSpPr>
        <p:spPr>
          <a:xfrm>
            <a:off x="685800" y="4023360"/>
            <a:ext cx="8122615" cy="484632"/>
          </a:xfrm>
          <a:prstGeom prst="rect">
            <a:avLst/>
          </a:prstGeom>
          <a:noFill/>
          <a:ln/>
        </p:spPr>
        <p:txBody>
          <a:bodyPr wrap="square" lIns="0" tIns="0" rIns="0" bIns="0" rtlCol="0" anchor="ctr"/>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fromBlock = lastSettledBlock + ۱؛ toBlock ≥ fromBlock و &lt; block.number؛ جمع blocksMined ≤ اندازه‌ی بازه.</a:t>
            </a:r>
            <a:endParaRPr lang="en-US" sz="1100" dirty="0"/>
          </a:p>
        </p:txBody>
      </p:sp>
      <p:sp>
        <p:nvSpPr>
          <p:cNvPr id="29" name="Shape 27"/>
          <p:cNvSpPr/>
          <p:nvPr/>
        </p:nvSpPr>
        <p:spPr>
          <a:xfrm>
            <a:off x="548640" y="4572000"/>
            <a:ext cx="11094415" cy="484632"/>
          </a:xfrm>
          <a:prstGeom prst="roundRect">
            <a:avLst>
              <a:gd name="adj" fmla="val 22642"/>
            </a:avLst>
          </a:prstGeom>
          <a:solidFill>
            <a:srgbClr val="F7F9FC"/>
          </a:solidFill>
          <a:ln w="9525">
            <a:solidFill>
              <a:srgbClr val="DDE1EE"/>
            </a:solidFill>
            <a:prstDash val="solid"/>
          </a:ln>
        </p:spPr>
      </p:sp>
      <p:sp>
        <p:nvSpPr>
          <p:cNvPr id="30" name="Shape 28"/>
          <p:cNvSpPr/>
          <p:nvPr/>
        </p:nvSpPr>
        <p:spPr>
          <a:xfrm>
            <a:off x="11204143" y="4640580"/>
            <a:ext cx="347472" cy="347472"/>
          </a:xfrm>
          <a:prstGeom prst="ellipse">
            <a:avLst/>
          </a:prstGeom>
          <a:solidFill>
            <a:srgbClr val="2F3690"/>
          </a:solidFill>
          <a:ln w="12700">
            <a:solidFill>
              <a:srgbClr val="2F3690"/>
            </a:solidFill>
            <a:prstDash val="solid"/>
          </a:ln>
        </p:spPr>
      </p:sp>
      <p:sp>
        <p:nvSpPr>
          <p:cNvPr id="31" name="Text 29"/>
          <p:cNvSpPr txBox="1"/>
          <p:nvPr/>
        </p:nvSpPr>
        <p:spPr>
          <a:xfrm>
            <a:off x="11204143" y="4640580"/>
            <a:ext cx="347472" cy="347472"/>
          </a:xfrm>
          <a:prstGeom prst="rect">
            <a:avLst/>
          </a:prstGeom>
          <a:noFill/>
          <a:ln/>
        </p:spPr>
        <p:txBody>
          <a:bodyPr wrap="square" lIns="0" tIns="0" rIns="0" bIns="0" rtlCol="0" anchor="ctr"/>
          <a:lstStyle/>
          <a:p>
            <a:pPr rtl="1" algn="ctr" indent="0" marL="0">
              <a:lnSpc>
                <a:spcPct val="105000"/>
              </a:lnSpc>
              <a:buNone/>
            </a:pPr>
            <a:r>
              <a:rPr lang="fa-IR" altLang="en-US" sz="1200" b="1" dirty="0">
                <a:solidFill>
                  <a:srgbClr val="FFFFFF"/>
                </a:solidFill>
                <a:latin typeface="Vazirmatn" pitchFamily="34" charset="0"/>
                <a:ea typeface="Vazirmatn" pitchFamily="34" charset="-122"/>
                <a:cs typeface="Vazirmatn" pitchFamily="34" charset="-120"/>
              </a:rPr>
              <a:t>۵</a:t>
            </a:r>
            <a:endParaRPr lang="en-US" sz="1200" dirty="0"/>
          </a:p>
        </p:txBody>
      </p:sp>
      <p:sp>
        <p:nvSpPr>
          <p:cNvPr id="32" name="Text 30"/>
          <p:cNvSpPr txBox="1"/>
          <p:nvPr/>
        </p:nvSpPr>
        <p:spPr>
          <a:xfrm>
            <a:off x="8899855" y="4572000"/>
            <a:ext cx="2194560" cy="484632"/>
          </a:xfrm>
          <a:prstGeom prst="rect">
            <a:avLst/>
          </a:prstGeom>
          <a:noFill/>
          <a:ln/>
        </p:spPr>
        <p:txBody>
          <a:bodyPr wrap="square" lIns="0" tIns="0" rIns="0" bIns="0" rtlCol="0" anchor="ctr"/>
          <a:lstStyle/>
          <a:p>
            <a:pPr rtl="1" algn="r" indent="0" marL="0">
              <a:lnSpc>
                <a:spcPct val="105000"/>
              </a:lnSpc>
              <a:buNone/>
            </a:pPr>
            <a:r>
              <a:rPr lang="fa-IR" altLang="en-US" sz="1200" b="1" dirty="0">
                <a:solidFill>
                  <a:srgbClr val="1B1B2F"/>
                </a:solidFill>
                <a:latin typeface="Vazirmatn" pitchFamily="34" charset="0"/>
                <a:ea typeface="Vazirmatn" pitchFamily="34" charset="-122"/>
                <a:cs typeface="Vazirmatn" pitchFamily="34" charset="-120"/>
              </a:rPr>
              <a:t>سقف پاداش</a:t>
            </a:r>
            <a:endParaRPr lang="en-US" sz="1200" dirty="0"/>
          </a:p>
        </p:txBody>
      </p:sp>
      <p:sp>
        <p:nvSpPr>
          <p:cNvPr id="33" name="Text 31"/>
          <p:cNvSpPr txBox="1"/>
          <p:nvPr/>
        </p:nvSpPr>
        <p:spPr>
          <a:xfrm>
            <a:off x="685800" y="4572000"/>
            <a:ext cx="8122615" cy="484632"/>
          </a:xfrm>
          <a:prstGeom prst="rect">
            <a:avLst/>
          </a:prstGeom>
          <a:noFill/>
          <a:ln/>
        </p:spPr>
        <p:txBody>
          <a:bodyPr wrap="square" lIns="0" tIns="0" rIns="0" bIns="0" rtlCol="0" anchor="ctr"/>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totalRewards ≤ maxRewardsForRange(from, to)؛ در غیر این صورت «totalRewards exceed approved reward for range».</a:t>
            </a:r>
            <a:endParaRPr lang="en-US" sz="1100" dirty="0"/>
          </a:p>
        </p:txBody>
      </p:sp>
      <p:sp>
        <p:nvSpPr>
          <p:cNvPr id="34" name="Shape 32"/>
          <p:cNvSpPr/>
          <p:nvPr/>
        </p:nvSpPr>
        <p:spPr>
          <a:xfrm>
            <a:off x="548640" y="5120640"/>
            <a:ext cx="11094415" cy="484632"/>
          </a:xfrm>
          <a:prstGeom prst="roundRect">
            <a:avLst>
              <a:gd name="adj" fmla="val 22642"/>
            </a:avLst>
          </a:prstGeom>
          <a:solidFill>
            <a:srgbClr val="FFFFFF"/>
          </a:solidFill>
          <a:ln w="9525">
            <a:solidFill>
              <a:srgbClr val="DDE1EE"/>
            </a:solidFill>
            <a:prstDash val="solid"/>
          </a:ln>
        </p:spPr>
      </p:sp>
      <p:sp>
        <p:nvSpPr>
          <p:cNvPr id="35" name="Shape 33"/>
          <p:cNvSpPr/>
          <p:nvPr/>
        </p:nvSpPr>
        <p:spPr>
          <a:xfrm>
            <a:off x="11204143" y="5189220"/>
            <a:ext cx="347472" cy="347472"/>
          </a:xfrm>
          <a:prstGeom prst="ellipse">
            <a:avLst/>
          </a:prstGeom>
          <a:solidFill>
            <a:srgbClr val="2F3690"/>
          </a:solidFill>
          <a:ln w="12700">
            <a:solidFill>
              <a:srgbClr val="2F3690"/>
            </a:solidFill>
            <a:prstDash val="solid"/>
          </a:ln>
        </p:spPr>
      </p:sp>
      <p:sp>
        <p:nvSpPr>
          <p:cNvPr id="36" name="Text 34"/>
          <p:cNvSpPr txBox="1"/>
          <p:nvPr/>
        </p:nvSpPr>
        <p:spPr>
          <a:xfrm>
            <a:off x="11204143" y="5189220"/>
            <a:ext cx="347472" cy="347472"/>
          </a:xfrm>
          <a:prstGeom prst="rect">
            <a:avLst/>
          </a:prstGeom>
          <a:noFill/>
          <a:ln/>
        </p:spPr>
        <p:txBody>
          <a:bodyPr wrap="square" lIns="0" tIns="0" rIns="0" bIns="0" rtlCol="0" anchor="ctr"/>
          <a:lstStyle/>
          <a:p>
            <a:pPr rtl="1" algn="ctr" indent="0" marL="0">
              <a:lnSpc>
                <a:spcPct val="105000"/>
              </a:lnSpc>
              <a:buNone/>
            </a:pPr>
            <a:r>
              <a:rPr lang="fa-IR" altLang="en-US" sz="1200" b="1" dirty="0">
                <a:solidFill>
                  <a:srgbClr val="FFFFFF"/>
                </a:solidFill>
                <a:latin typeface="Vazirmatn" pitchFamily="34" charset="0"/>
                <a:ea typeface="Vazirmatn" pitchFamily="34" charset="-122"/>
                <a:cs typeface="Vazirmatn" pitchFamily="34" charset="-120"/>
              </a:rPr>
              <a:t>۶</a:t>
            </a:r>
            <a:endParaRPr lang="en-US" sz="1200" dirty="0"/>
          </a:p>
        </p:txBody>
      </p:sp>
      <p:sp>
        <p:nvSpPr>
          <p:cNvPr id="37" name="Text 35"/>
          <p:cNvSpPr txBox="1"/>
          <p:nvPr/>
        </p:nvSpPr>
        <p:spPr>
          <a:xfrm>
            <a:off x="8899855" y="5120640"/>
            <a:ext cx="2194560" cy="484632"/>
          </a:xfrm>
          <a:prstGeom prst="rect">
            <a:avLst/>
          </a:prstGeom>
          <a:noFill/>
          <a:ln/>
        </p:spPr>
        <p:txBody>
          <a:bodyPr wrap="square" lIns="0" tIns="0" rIns="0" bIns="0" rtlCol="0" anchor="ctr"/>
          <a:lstStyle/>
          <a:p>
            <a:pPr rtl="1" algn="r" indent="0" marL="0">
              <a:lnSpc>
                <a:spcPct val="105000"/>
              </a:lnSpc>
              <a:buNone/>
            </a:pPr>
            <a:r>
              <a:rPr lang="fa-IR" altLang="en-US" sz="1200" b="1" dirty="0">
                <a:solidFill>
                  <a:srgbClr val="1B1B2F"/>
                </a:solidFill>
                <a:latin typeface="Vazirmatn" pitchFamily="34" charset="0"/>
                <a:ea typeface="Vazirmatn" pitchFamily="34" charset="-122"/>
                <a:cs typeface="Vazirmatn" pitchFamily="34" charset="-120"/>
              </a:rPr>
              <a:t>پرداخت هر ولیدیتور</a:t>
            </a:r>
            <a:endParaRPr lang="en-US" sz="1200" dirty="0"/>
          </a:p>
        </p:txBody>
      </p:sp>
      <p:sp>
        <p:nvSpPr>
          <p:cNvPr id="38" name="Text 36"/>
          <p:cNvSpPr txBox="1"/>
          <p:nvPr/>
        </p:nvSpPr>
        <p:spPr>
          <a:xfrm>
            <a:off x="685800" y="5120640"/>
            <a:ext cx="8122615" cy="484632"/>
          </a:xfrm>
          <a:prstGeom prst="rect">
            <a:avLst/>
          </a:prstGeom>
          <a:noFill/>
          <a:ln/>
        </p:spPr>
        <p:txBody>
          <a:bodyPr wrap="square" lIns="0" tIns="0" rIns="0" bIns="0" rtlCol="0" anchor="ctr"/>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آدرس‌ها اکیداً صعودی و غیرصفر، everActivated=true؛ سهم پاداش و سهم کارمزد در یک انتقال: ⌊مبلغ × blocks ÷ totalBlocks⌋.</a:t>
            </a:r>
            <a:endParaRPr lang="en-US" sz="1100" dirty="0"/>
          </a:p>
        </p:txBody>
      </p:sp>
      <p:sp>
        <p:nvSpPr>
          <p:cNvPr id="39" name="Shape 37"/>
          <p:cNvSpPr/>
          <p:nvPr/>
        </p:nvSpPr>
        <p:spPr>
          <a:xfrm>
            <a:off x="548640" y="5669280"/>
            <a:ext cx="11094415" cy="484632"/>
          </a:xfrm>
          <a:prstGeom prst="roundRect">
            <a:avLst>
              <a:gd name="adj" fmla="val 22642"/>
            </a:avLst>
          </a:prstGeom>
          <a:solidFill>
            <a:srgbClr val="F7F9FC"/>
          </a:solidFill>
          <a:ln w="9525">
            <a:solidFill>
              <a:srgbClr val="DDE1EE"/>
            </a:solidFill>
            <a:prstDash val="solid"/>
          </a:ln>
        </p:spPr>
      </p:sp>
      <p:sp>
        <p:nvSpPr>
          <p:cNvPr id="40" name="Shape 38"/>
          <p:cNvSpPr/>
          <p:nvPr/>
        </p:nvSpPr>
        <p:spPr>
          <a:xfrm>
            <a:off x="11204143" y="5737860"/>
            <a:ext cx="347472" cy="347472"/>
          </a:xfrm>
          <a:prstGeom prst="ellipse">
            <a:avLst/>
          </a:prstGeom>
          <a:solidFill>
            <a:srgbClr val="2F3690"/>
          </a:solidFill>
          <a:ln w="12700">
            <a:solidFill>
              <a:srgbClr val="2F3690"/>
            </a:solidFill>
            <a:prstDash val="solid"/>
          </a:ln>
        </p:spPr>
      </p:sp>
      <p:sp>
        <p:nvSpPr>
          <p:cNvPr id="41" name="Text 39"/>
          <p:cNvSpPr txBox="1"/>
          <p:nvPr/>
        </p:nvSpPr>
        <p:spPr>
          <a:xfrm>
            <a:off x="11204143" y="5737860"/>
            <a:ext cx="347472" cy="347472"/>
          </a:xfrm>
          <a:prstGeom prst="rect">
            <a:avLst/>
          </a:prstGeom>
          <a:noFill/>
          <a:ln/>
        </p:spPr>
        <p:txBody>
          <a:bodyPr wrap="square" lIns="0" tIns="0" rIns="0" bIns="0" rtlCol="0" anchor="ctr"/>
          <a:lstStyle/>
          <a:p>
            <a:pPr rtl="1" algn="ctr" indent="0" marL="0">
              <a:lnSpc>
                <a:spcPct val="105000"/>
              </a:lnSpc>
              <a:buNone/>
            </a:pPr>
            <a:r>
              <a:rPr lang="fa-IR" altLang="en-US" sz="1200" b="1" dirty="0">
                <a:solidFill>
                  <a:srgbClr val="FFFFFF"/>
                </a:solidFill>
                <a:latin typeface="Vazirmatn" pitchFamily="34" charset="0"/>
                <a:ea typeface="Vazirmatn" pitchFamily="34" charset="-122"/>
                <a:cs typeface="Vazirmatn" pitchFamily="34" charset="-120"/>
              </a:rPr>
              <a:t>۷</a:t>
            </a:r>
            <a:endParaRPr lang="en-US" sz="1200" dirty="0"/>
          </a:p>
        </p:txBody>
      </p:sp>
      <p:sp>
        <p:nvSpPr>
          <p:cNvPr id="42" name="Text 40"/>
          <p:cNvSpPr txBox="1"/>
          <p:nvPr/>
        </p:nvSpPr>
        <p:spPr>
          <a:xfrm>
            <a:off x="8899855" y="5669280"/>
            <a:ext cx="2194560" cy="484632"/>
          </a:xfrm>
          <a:prstGeom prst="rect">
            <a:avLst/>
          </a:prstGeom>
          <a:noFill/>
          <a:ln/>
        </p:spPr>
        <p:txBody>
          <a:bodyPr wrap="square" lIns="0" tIns="0" rIns="0" bIns="0" rtlCol="0" anchor="ctr"/>
          <a:lstStyle/>
          <a:p>
            <a:pPr rtl="1" algn="r" indent="0" marL="0">
              <a:lnSpc>
                <a:spcPct val="105000"/>
              </a:lnSpc>
              <a:buNone/>
            </a:pPr>
            <a:r>
              <a:rPr lang="fa-IR" altLang="en-US" sz="1200" b="1" dirty="0">
                <a:solidFill>
                  <a:srgbClr val="1B1B2F"/>
                </a:solidFill>
                <a:latin typeface="Vazirmatn" pitchFamily="34" charset="0"/>
                <a:ea typeface="Vazirmatn" pitchFamily="34" charset="-122"/>
                <a:cs typeface="Vazirmatn" pitchFamily="34" charset="-120"/>
              </a:rPr>
              <a:t>بنیاد، خزانه، سوزاندن</a:t>
            </a:r>
            <a:endParaRPr lang="en-US" sz="1200" dirty="0"/>
          </a:p>
        </p:txBody>
      </p:sp>
      <p:sp>
        <p:nvSpPr>
          <p:cNvPr id="43" name="Text 41"/>
          <p:cNvSpPr txBox="1"/>
          <p:nvPr/>
        </p:nvSpPr>
        <p:spPr>
          <a:xfrm>
            <a:off x="685800" y="5669280"/>
            <a:ext cx="8122615" cy="484632"/>
          </a:xfrm>
          <a:prstGeom prst="rect">
            <a:avLst/>
          </a:prstGeom>
          <a:noFill/>
          <a:ln/>
        </p:spPr>
        <p:txBody>
          <a:bodyPr wrap="square" lIns="0" tIns="0" rIns="0" bIns="0" rtlCol="0" anchor="ctr"/>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۱۵٪ ریوارد به FoundationDAO؛ باقی‌مانده و خرده‌ی گردکردن به Treasury؛ ۳۰٪ کارمزد معمولی به address(0)؛ سپس ثبت epoch و lastSettledBlock = toBlock.</a:t>
            </a:r>
            <a:endParaRPr lang="en-US" sz="1100" dirty="0"/>
          </a:p>
        </p:txBody>
      </p:sp>
      <p:sp>
        <p:nvSpPr>
          <p:cNvPr id="44" name="Text 42"/>
          <p:cNvSpPr txBox="1"/>
          <p:nvPr/>
        </p:nvSpPr>
        <p:spPr>
          <a:xfrm>
            <a:off x="548640" y="6263640"/>
            <a:ext cx="11094415"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ساختار داخلی: _prepareEpoch (نتیجه در struct EpochPrep)، _settleRange، شرط سقف، _payValidators + _payOneValidator (پارامترها در struct EpochContext) و _finalizeEpoch؛ کامپایل بدون viaIR.</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توزیع پاداش</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حکمرانی سهم ولیدیتورها و نرخ پاداش در Distributor</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16</a:t>
            </a:r>
            <a:endParaRPr lang="en-US" sz="1000" dirty="0"/>
          </a:p>
        </p:txBody>
      </p:sp>
      <p:sp>
        <p:nvSpPr>
          <p:cNvPr id="6" name="Shape 4"/>
          <p:cNvSpPr/>
          <p:nvPr/>
        </p:nvSpPr>
        <p:spPr>
          <a:xfrm>
            <a:off x="6202375" y="1417320"/>
            <a:ext cx="5440680" cy="4754880"/>
          </a:xfrm>
          <a:prstGeom prst="roundRect">
            <a:avLst>
              <a:gd name="adj" fmla="val 2308"/>
            </a:avLst>
          </a:prstGeom>
          <a:solidFill>
            <a:srgbClr val="EEF0FB"/>
          </a:solidFill>
          <a:ln w="9525">
            <a:solidFill>
              <a:srgbClr val="EEF0FB"/>
            </a:solidFill>
            <a:prstDash val="solid"/>
          </a:ln>
        </p:spPr>
      </p:sp>
      <p:sp>
        <p:nvSpPr>
          <p:cNvPr id="7" name="Text 5"/>
          <p:cNvSpPr txBox="1"/>
          <p:nvPr/>
        </p:nvSpPr>
        <p:spPr>
          <a:xfrm>
            <a:off x="6385255" y="1508760"/>
            <a:ext cx="5074920" cy="36576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2F3690"/>
                </a:solidFill>
                <a:latin typeface="Vazirmatn" pitchFamily="34" charset="0"/>
                <a:ea typeface="Vazirmatn" pitchFamily="34" charset="-122"/>
                <a:cs typeface="Vazirmatn" pitchFamily="34" charset="-120"/>
              </a:rPr>
              <a:t>سهم مستقیم ولیدیتورها (validatorDirectShareBps)</a:t>
            </a:r>
            <a:endParaRPr lang="en-US" sz="1450" dirty="0"/>
          </a:p>
        </p:txBody>
      </p:sp>
      <p:sp>
        <p:nvSpPr>
          <p:cNvPr id="8" name="Text 6"/>
          <p:cNvSpPr txBox="1"/>
          <p:nvPr/>
        </p:nvSpPr>
        <p:spPr>
          <a:xfrm>
            <a:off x="6385255" y="1965960"/>
            <a:ext cx="5074920" cy="4480560"/>
          </a:xfrm>
          <a:prstGeom prst="rect">
            <a:avLst/>
          </a:prstGeom>
          <a:noFill/>
          <a:ln/>
        </p:spPr>
        <p:txBody>
          <a:bodyPr wrap="square" lIns="0" tIns="0" rIns="0" bIns="0" rtlCol="0" anchor="t"/>
          <a:lstStyle/>
          <a:p>
            <a:pPr rtl="1" algn="r" indent="0" marL="0">
              <a:lnSpc>
                <a:spcPct val="105000"/>
              </a:lnSpc>
              <a:spcAft>
                <a:spcPts val="700"/>
              </a:spcAft>
              <a:buNone/>
            </a:pPr>
            <a:r>
              <a:rPr lang="fa-IR" altLang="en-US" sz="1150" dirty="0">
                <a:solidFill>
                  <a:srgbClr val="1B1B2F"/>
                </a:solidFill>
                <a:latin typeface="Vazirmatn" pitchFamily="34" charset="0"/>
                <a:ea typeface="Vazirmatn" pitchFamily="34" charset="-122"/>
                <a:cs typeface="Vazirmatn" pitchFamily="34" charset="-120"/>
              </a:rPr>
              <a:t>proposeShareChange(bps): فقط ولیدیتور Active؛ بازه‌ی مجاز ۴۰۰۰ تا ۶۵۰۰ (شروع ۵۰۰۰).</a:t>
            </a:r>
            <a:endParaRPr lang="en-US" sz="1150" dirty="0"/>
          </a:p>
          <a:p>
            <a:pPr rtl="1" algn="r" indent="0" marL="0">
              <a:lnSpc>
                <a:spcPct val="105000"/>
              </a:lnSpc>
              <a:spcAft>
                <a:spcPts val="700"/>
              </a:spcAft>
              <a:buNone/>
            </a:pPr>
            <a:r>
              <a:rPr lang="fa-IR" altLang="en-US" sz="1150" dirty="0">
                <a:solidFill>
                  <a:srgbClr val="1B1B2F"/>
                </a:solidFill>
                <a:latin typeface="Vazirmatn" pitchFamily="34" charset="0"/>
                <a:ea typeface="Vazirmatn" pitchFamily="34" charset="-122"/>
                <a:cs typeface="Vazirmatn" pitchFamily="34" charset="-120"/>
              </a:rPr>
              <a:t>boardVoteShareChange(id): hasBoardAuthority زنده + boardVersion هنگام ساخت؛ نصاب ۳ از ۵.</a:t>
            </a:r>
            <a:endParaRPr lang="en-US" sz="1150" dirty="0"/>
          </a:p>
          <a:p>
            <a:pPr rtl="1" algn="r" indent="0" marL="0">
              <a:lnSpc>
                <a:spcPct val="105000"/>
              </a:lnSpc>
              <a:spcAft>
                <a:spcPts val="700"/>
              </a:spcAft>
              <a:buNone/>
            </a:pPr>
            <a:r>
              <a:rPr lang="fa-IR" altLang="en-US" sz="1150" dirty="0">
                <a:solidFill>
                  <a:srgbClr val="1B1B2F"/>
                </a:solidFill>
                <a:latin typeface="Vazirmatn" pitchFamily="34" charset="0"/>
                <a:ea typeface="Vazirmatn" pitchFamily="34" charset="-122"/>
                <a:cs typeface="Vazirmatn" pitchFamily="34" charset="-120"/>
              </a:rPr>
              <a:t>validatorVoteShareChange(id): نصاب (۲n+۲)÷۳ با n = شمار Active هنگام ساخت (منجمد)؛ واجد بودن هنگام ساخت.</a:t>
            </a:r>
            <a:endParaRPr lang="en-US" sz="1150" dirty="0"/>
          </a:p>
          <a:p>
            <a:pPr rtl="1" algn="r" indent="0" marL="0">
              <a:lnSpc>
                <a:spcPct val="105000"/>
              </a:lnSpc>
              <a:spcAft>
                <a:spcPts val="700"/>
              </a:spcAft>
              <a:buNone/>
            </a:pPr>
            <a:r>
              <a:rPr lang="fa-IR" altLang="en-US" sz="1150" dirty="0">
                <a:solidFill>
                  <a:srgbClr val="1B1B2F"/>
                </a:solidFill>
                <a:latin typeface="Vazirmatn" pitchFamily="34" charset="0"/>
                <a:ea typeface="Vazirmatn" pitchFamily="34" charset="-122"/>
                <a:cs typeface="Vazirmatn" pitchFamily="34" charset="-120"/>
              </a:rPr>
              <a:t>رأیی که هر دو مجلس را کامل کند، همان‌جا اجرا می‌کند. فاصله‌ی ۱۸۰ روز بین دو تغییر موفق هم هنگام ساخت و هم هنگام اجرا چک می‌شود؛ رأی کامل‌کننده‌ی زودهنگام revert می‌شود (حالت state رأی برمی‌گردد). انقضا ۳۰ روز.</a:t>
            </a:r>
            <a:endParaRPr lang="en-US" sz="1150" dirty="0"/>
          </a:p>
          <a:p>
            <a:pPr rtl="1" algn="r" indent="0" marL="0">
              <a:lnSpc>
                <a:spcPct val="105000"/>
              </a:lnSpc>
              <a:spcAft>
                <a:spcPts val="700"/>
              </a:spcAft>
              <a:buNone/>
            </a:pPr>
            <a:r>
              <a:rPr lang="fa-IR" altLang="en-US" sz="1150" dirty="0">
                <a:solidFill>
                  <a:srgbClr val="1B1B2F"/>
                </a:solidFill>
                <a:latin typeface="Vazirmatn" pitchFamily="34" charset="0"/>
                <a:ea typeface="Vazirmatn" pitchFamily="34" charset="-122"/>
                <a:cs typeface="Vazirmatn" pitchFamily="34" charset="-120"/>
              </a:rPr>
              <a:t>نسخه‌ی ترکیب هیأت در رأی هیأت و در اجرا دوباره بررسی می‌شود.</a:t>
            </a:r>
            <a:endParaRPr lang="en-US" sz="1150" dirty="0"/>
          </a:p>
        </p:txBody>
      </p:sp>
      <p:sp>
        <p:nvSpPr>
          <p:cNvPr id="9" name="Shape 7"/>
          <p:cNvSpPr/>
          <p:nvPr/>
        </p:nvSpPr>
        <p:spPr>
          <a:xfrm>
            <a:off x="548640" y="1417320"/>
            <a:ext cx="5440680" cy="4754880"/>
          </a:xfrm>
          <a:prstGeom prst="roundRect">
            <a:avLst>
              <a:gd name="adj" fmla="val 2308"/>
            </a:avLst>
          </a:prstGeom>
          <a:solidFill>
            <a:srgbClr val="F7F9FC"/>
          </a:solidFill>
          <a:ln w="9525">
            <a:solidFill>
              <a:srgbClr val="DDE1EE"/>
            </a:solidFill>
            <a:prstDash val="solid"/>
          </a:ln>
        </p:spPr>
      </p:sp>
      <p:sp>
        <p:nvSpPr>
          <p:cNvPr id="10" name="Text 8"/>
          <p:cNvSpPr txBox="1"/>
          <p:nvPr/>
        </p:nvSpPr>
        <p:spPr>
          <a:xfrm>
            <a:off x="731520" y="1508760"/>
            <a:ext cx="5074920" cy="36576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3D46A8"/>
                </a:solidFill>
                <a:latin typeface="Vazirmatn" pitchFamily="34" charset="0"/>
                <a:ea typeface="Vazirmatn" pitchFamily="34" charset="-122"/>
                <a:cs typeface="Vazirmatn" pitchFamily="34" charset="-120"/>
              </a:rPr>
              <a:t>نرخ پاداش هر بلاک</a:t>
            </a:r>
            <a:endParaRPr lang="en-US" sz="1450" dirty="0"/>
          </a:p>
        </p:txBody>
      </p:sp>
      <p:sp>
        <p:nvSpPr>
          <p:cNvPr id="11" name="Text 9"/>
          <p:cNvSpPr txBox="1"/>
          <p:nvPr/>
        </p:nvSpPr>
        <p:spPr>
          <a:xfrm>
            <a:off x="731520" y="1965960"/>
            <a:ext cx="5074920" cy="4480560"/>
          </a:xfrm>
          <a:prstGeom prst="rect">
            <a:avLst/>
          </a:prstGeom>
          <a:noFill/>
          <a:ln/>
        </p:spPr>
        <p:txBody>
          <a:bodyPr wrap="square" lIns="0" tIns="0" rIns="0" bIns="0" rtlCol="0" anchor="t"/>
          <a:lstStyle/>
          <a:p>
            <a:pPr rtl="1" algn="r" indent="0" marL="0">
              <a:lnSpc>
                <a:spcPct val="105000"/>
              </a:lnSpc>
              <a:spcAft>
                <a:spcPts val="700"/>
              </a:spcAft>
              <a:buNone/>
            </a:pPr>
            <a:r>
              <a:rPr lang="fa-IR" altLang="en-US" sz="1100" dirty="0">
                <a:solidFill>
                  <a:srgbClr val="1B1B2F"/>
                </a:solidFill>
                <a:latin typeface="Vazirmatn" pitchFamily="34" charset="0"/>
                <a:ea typeface="Vazirmatn" pitchFamily="34" charset="-122"/>
                <a:cs typeface="Vazirmatn" pitchFamily="34" charset="-120"/>
              </a:rPr>
              <a:t>proposeRateChange(startBlock, ratePerBlock): ولیدیتور Active؛ startBlock باید آینده، حداقل ۲۰۱٬۶۰۰ بلاک بعد از بلاک اجرا، و بعد از آخرین نرخ مصوب باشد (در ساخت و در اجرا).</a:t>
            </a:r>
            <a:endParaRPr lang="en-US" sz="1100" dirty="0"/>
          </a:p>
          <a:p>
            <a:pPr rtl="1" algn="r" indent="0" marL="0">
              <a:lnSpc>
                <a:spcPct val="105000"/>
              </a:lnSpc>
              <a:spcAft>
                <a:spcPts val="700"/>
              </a:spcAft>
              <a:buNone/>
            </a:pPr>
            <a:r>
              <a:rPr lang="fa-IR" altLang="en-US" sz="1100" dirty="0">
                <a:solidFill>
                  <a:srgbClr val="1B1B2F"/>
                </a:solidFill>
                <a:latin typeface="Vazirmatn" pitchFamily="34" charset="0"/>
                <a:ea typeface="Vazirmatn" pitchFamily="34" charset="-122"/>
                <a:cs typeface="Vazirmatn" pitchFamily="34" charset="-120"/>
              </a:rPr>
              <a:t>boardVoteRateChange و validatorVoteRateChange؛ مهلت رأی ۳۰ روز؛ هنگام تکمیل هر دو مجلس نسخه‌ی هیأت دوباره چک می‌شود.</a:t>
            </a:r>
            <a:endParaRPr lang="en-US" sz="1100" dirty="0"/>
          </a:p>
          <a:p>
            <a:pPr rtl="1" algn="r" indent="0" marL="0">
              <a:lnSpc>
                <a:spcPct val="105000"/>
              </a:lnSpc>
              <a:spcAft>
                <a:spcPts val="700"/>
              </a:spcAft>
              <a:buNone/>
            </a:pPr>
            <a:r>
              <a:rPr lang="fa-IR" altLang="en-US" sz="1100" dirty="0">
                <a:solidFill>
                  <a:srgbClr val="1B1B2F"/>
                </a:solidFill>
                <a:latin typeface="Vazirmatn" pitchFamily="34" charset="0"/>
                <a:ea typeface="Vazirmatn" pitchFamily="34" charset="-122"/>
                <a:cs typeface="Vazirmatn" pitchFamily="34" charset="-120"/>
              </a:rPr>
              <a:t>executeRateChange(id): هرکس، ≥ ۷ روز پس از تکمیل (قبل از آن: execution delay has not elapsed).</a:t>
            </a:r>
            <a:endParaRPr lang="en-US" sz="1100" dirty="0"/>
          </a:p>
          <a:p>
            <a:pPr rtl="1" algn="r" indent="0" marL="0">
              <a:lnSpc>
                <a:spcPct val="105000"/>
              </a:lnSpc>
              <a:spcAft>
                <a:spcPts val="700"/>
              </a:spcAft>
              <a:buNone/>
            </a:pPr>
            <a:r>
              <a:rPr lang="fa-IR" altLang="en-US" sz="1100" dirty="0">
                <a:solidFill>
                  <a:srgbClr val="1B1B2F"/>
                </a:solidFill>
                <a:latin typeface="Vazirmatn" pitchFamily="34" charset="0"/>
                <a:ea typeface="Vazirmatn" pitchFamily="34" charset="-122"/>
                <a:cs typeface="Vazirmatn" pitchFamily="34" charset="-120"/>
              </a:rPr>
              <a:t>rateChangeStatus(id) → (status, problem): ۰ یافت نشد، ۱ رأی‌گیری، ۲ منقضی، ۳ اجراشده، ۴ منتظر تأخیر، ۵ قابل‌اجرا، ۶ تصویب‌شده ولی غیرقابل‌اجرا، ۷ تصویب‌نشده و غیرقابل‌ادامه. problem: ۱ ترکیب هیأت، ۲ ارتفاع آینده نیست، ۳ فاصله &lt; ۲۰۱٬۶۰۰، ۴ ترتیب صعودی.</a:t>
            </a:r>
            <a:endParaRPr lang="en-US" sz="1100" dirty="0"/>
          </a:p>
          <a:p>
            <a:pPr rtl="1" algn="r" indent="0" marL="0">
              <a:lnSpc>
                <a:spcPct val="105000"/>
              </a:lnSpc>
              <a:spcAft>
                <a:spcPts val="700"/>
              </a:spcAft>
              <a:buNone/>
            </a:pPr>
            <a:r>
              <a:rPr lang="fa-IR" altLang="en-US" sz="1100" dirty="0">
                <a:solidFill>
                  <a:srgbClr val="1B1B2F"/>
                </a:solidFill>
                <a:latin typeface="Vazirmatn" pitchFamily="34" charset="0"/>
                <a:ea typeface="Vazirmatn" pitchFamily="34" charset="-122"/>
                <a:cs typeface="Vazirmatn" pitchFamily="34" charset="-120"/>
              </a:rPr>
              <a:t>تاریخچه‌ی rewardRateChanges (storage slot ۲۴ تا ۲۸) فقط‌افزودنی؛ rateProposals(id) یازده خروجی دارد.</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توزیع پاداش</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محاسبه‌ی سقف پاداش: هزینه‌ی گس</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17</a:t>
            </a:r>
            <a:endParaRPr lang="en-US" sz="1000" dirty="0"/>
          </a:p>
        </p:txBody>
      </p:sp>
      <p:graphicFrame>
        <p:nvGraphicFramePr>
          <p:cNvPr id="6" name="Chart 0" descr=""/>
          <p:cNvGraphicFramePr/>
          <p:nvPr/>
        </p:nvGraphicFramePr>
        <p:xfrm>
          <a:off x="548640" y="1417320"/>
          <a:ext cx="6583680" cy="429768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548640" y="5760720"/>
            <a:ext cx="6583680" cy="274320"/>
          </a:xfrm>
          <a:prstGeom prst="rect">
            <a:avLst/>
          </a:prstGeom>
          <a:noFill/>
          <a:ln/>
        </p:spPr>
        <p:txBody>
          <a:bodyPr wrap="square" lIns="0" tIns="0" rIns="0" bIns="0" rtlCol="0" anchor="t"/>
          <a:lstStyle/>
          <a:p>
            <a:pPr rtl="1" algn="ct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گس maxRewardsForRange؛ تاریخچه‌ی ۴۰۰ ورودی؛ k = شمار تغییر نرخ داخل بازه</a:t>
            </a:r>
            <a:endParaRPr lang="en-US" sz="1200" dirty="0"/>
          </a:p>
        </p:txBody>
      </p:sp>
      <p:sp>
        <p:nvSpPr>
          <p:cNvPr id="8" name="Shape 5"/>
          <p:cNvSpPr/>
          <p:nvPr/>
        </p:nvSpPr>
        <p:spPr>
          <a:xfrm>
            <a:off x="7345375" y="1417320"/>
            <a:ext cx="4297680" cy="1463040"/>
          </a:xfrm>
          <a:prstGeom prst="roundRect">
            <a:avLst>
              <a:gd name="adj" fmla="val 7500"/>
            </a:avLst>
          </a:prstGeom>
          <a:solidFill>
            <a:srgbClr val="F7F9FC"/>
          </a:solidFill>
          <a:ln w="9525">
            <a:solidFill>
              <a:srgbClr val="DDE1EE"/>
            </a:solidFill>
            <a:prstDash val="solid"/>
          </a:ln>
        </p:spPr>
      </p:sp>
      <p:sp>
        <p:nvSpPr>
          <p:cNvPr id="9" name="Text 6"/>
          <p:cNvSpPr txBox="1"/>
          <p:nvPr/>
        </p:nvSpPr>
        <p:spPr>
          <a:xfrm>
            <a:off x="8396935" y="1508760"/>
            <a:ext cx="3108960" cy="320040"/>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2F3690"/>
                </a:solidFill>
                <a:latin typeface="Vazirmatn" pitchFamily="34" charset="0"/>
                <a:ea typeface="Vazirmatn" pitchFamily="34" charset="-122"/>
                <a:cs typeface="Vazirmatn" pitchFamily="34" charset="-120"/>
              </a:rPr>
              <a:t>جست‌وجوی دودویی</a:t>
            </a:r>
            <a:endParaRPr lang="en-US" sz="1350" dirty="0"/>
          </a:p>
        </p:txBody>
      </p:sp>
      <p:sp>
        <p:nvSpPr>
          <p:cNvPr id="10" name="Text 7"/>
          <p:cNvSpPr txBox="1"/>
          <p:nvPr/>
        </p:nvSpPr>
        <p:spPr>
          <a:xfrm>
            <a:off x="7482535" y="1874520"/>
            <a:ext cx="4023360" cy="96012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تاریخچه‌ی نرخ فقط‌افزودنی و صعودی است؛ نرخ لازم برای fromBlock با جست‌وجوی دودویی پیدا می‌شود (O(log n)) و سپس k تغییر داخل بازه جمع می‌شود (O(k)).</a:t>
            </a:r>
            <a:endParaRPr lang="en-US" sz="1100" dirty="0"/>
          </a:p>
        </p:txBody>
      </p:sp>
      <p:sp>
        <p:nvSpPr>
          <p:cNvPr id="11" name="Shape 8"/>
          <p:cNvSpPr/>
          <p:nvPr/>
        </p:nvSpPr>
        <p:spPr>
          <a:xfrm>
            <a:off x="7345375" y="2990088"/>
            <a:ext cx="4297680" cy="1463040"/>
          </a:xfrm>
          <a:prstGeom prst="roundRect">
            <a:avLst>
              <a:gd name="adj" fmla="val 7500"/>
            </a:avLst>
          </a:prstGeom>
          <a:solidFill>
            <a:srgbClr val="F7F9FC"/>
          </a:solidFill>
          <a:ln w="9525">
            <a:solidFill>
              <a:srgbClr val="DDE1EE"/>
            </a:solidFill>
            <a:prstDash val="solid"/>
          </a:ln>
        </p:spPr>
      </p:sp>
      <p:sp>
        <p:nvSpPr>
          <p:cNvPr id="12" name="Text 9"/>
          <p:cNvSpPr txBox="1"/>
          <p:nvPr/>
        </p:nvSpPr>
        <p:spPr>
          <a:xfrm>
            <a:off x="8396935" y="3081528"/>
            <a:ext cx="3108960" cy="320040"/>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2F3690"/>
                </a:solidFill>
                <a:latin typeface="Vazirmatn" pitchFamily="34" charset="0"/>
                <a:ea typeface="Vazirmatn" pitchFamily="34" charset="-122"/>
                <a:cs typeface="Vazirmatn" pitchFamily="34" charset="-120"/>
              </a:rPr>
              <a:t>اثر بر هزینه</a:t>
            </a:r>
            <a:endParaRPr lang="en-US" sz="1350" dirty="0"/>
          </a:p>
        </p:txBody>
      </p:sp>
      <p:sp>
        <p:nvSpPr>
          <p:cNvPr id="13" name="Text 10"/>
          <p:cNvSpPr txBox="1"/>
          <p:nvPr/>
        </p:nvSpPr>
        <p:spPr>
          <a:xfrm>
            <a:off x="7482535" y="3447288"/>
            <a:ext cx="4023360" cy="96012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بازه‌ی بدون تغییر با تاریخچه‌ی ۴۰۰ ورودی ۴۵٬۶۸۹ گس است؛ پیمایش خطی همین حالت ۱٬۰۷۲٬۷۷۷ گس می‌شد. برای k ≥ ۲۰ حدود ۲٬۸۰۰ گس به‌ازای هر تغییر.</a:t>
            </a:r>
            <a:endParaRPr lang="en-US" sz="1100" dirty="0"/>
          </a:p>
        </p:txBody>
      </p:sp>
      <p:sp>
        <p:nvSpPr>
          <p:cNvPr id="14" name="Shape 11"/>
          <p:cNvSpPr/>
          <p:nvPr/>
        </p:nvSpPr>
        <p:spPr>
          <a:xfrm>
            <a:off x="7345375" y="4562856"/>
            <a:ext cx="4297680" cy="1463040"/>
          </a:xfrm>
          <a:prstGeom prst="roundRect">
            <a:avLst>
              <a:gd name="adj" fmla="val 7500"/>
            </a:avLst>
          </a:prstGeom>
          <a:solidFill>
            <a:srgbClr val="FCEAE4"/>
          </a:solidFill>
          <a:ln w="9525">
            <a:solidFill>
              <a:srgbClr val="FCEAE4"/>
            </a:solidFill>
            <a:prstDash val="solid"/>
          </a:ln>
        </p:spPr>
      </p:sp>
      <p:sp>
        <p:nvSpPr>
          <p:cNvPr id="15" name="Text 12"/>
          <p:cNvSpPr txBox="1"/>
          <p:nvPr/>
        </p:nvSpPr>
        <p:spPr>
          <a:xfrm>
            <a:off x="8396935" y="4654296"/>
            <a:ext cx="3108960" cy="320040"/>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C8431F"/>
                </a:solidFill>
                <a:latin typeface="Vazirmatn" pitchFamily="34" charset="0"/>
                <a:ea typeface="Vazirmatn" pitchFamily="34" charset="-122"/>
                <a:cs typeface="Vazirmatn" pitchFamily="34" charset="-120"/>
              </a:rPr>
              <a:t>حد باز</a:t>
            </a:r>
            <a:endParaRPr lang="en-US" sz="1350" dirty="0"/>
          </a:p>
        </p:txBody>
      </p:sp>
      <p:sp>
        <p:nvSpPr>
          <p:cNvPr id="16" name="Text 13"/>
          <p:cNvSpPr txBox="1"/>
          <p:nvPr/>
        </p:nvSpPr>
        <p:spPr>
          <a:xfrm>
            <a:off x="7482535" y="5020056"/>
            <a:ext cx="4023360" cy="96012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قرارداد k را محدود نمی‌کند و بازه‌ی عقب‌افتاده‌ی طولانی با k زیاد هزینه‌ی تقریباً خطی دارد (k=۳۹۹ حدود ۱٫۱۶ میلیون گس). تطبیق با gasLimit تولیدی هنوز انجام نشده است.</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قراردادها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واجدان رأی: وضعیت در لحظه‌ی ساخت پیشنهاد</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18</a:t>
            </a:r>
            <a:endParaRPr lang="en-US" sz="1000" dirty="0"/>
          </a:p>
        </p:txBody>
      </p:sp>
      <p:sp>
        <p:nvSpPr>
          <p:cNvPr id="6" name="Shape 4"/>
          <p:cNvSpPr/>
          <p:nvPr/>
        </p:nvSpPr>
        <p:spPr>
          <a:xfrm>
            <a:off x="6233465" y="1417320"/>
            <a:ext cx="5410048" cy="1965960"/>
          </a:xfrm>
          <a:prstGeom prst="roundRect">
            <a:avLst>
              <a:gd name="adj" fmla="val 5581"/>
            </a:avLst>
          </a:prstGeom>
          <a:solidFill>
            <a:srgbClr val="F7F9FC"/>
          </a:solidFill>
          <a:ln w="9525">
            <a:solidFill>
              <a:srgbClr val="DDE1EE"/>
            </a:solidFill>
            <a:prstDash val="solid"/>
          </a:ln>
        </p:spPr>
      </p:sp>
      <p:sp>
        <p:nvSpPr>
          <p:cNvPr id="7" name="Shape 5"/>
          <p:cNvSpPr/>
          <p:nvPr/>
        </p:nvSpPr>
        <p:spPr>
          <a:xfrm>
            <a:off x="10957712"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3501" y="1735988"/>
            <a:ext cx="231343" cy="231343"/>
          </a:xfrm>
          <a:prstGeom prst="rect">
            <a:avLst/>
          </a:prstGeom>
        </p:spPr>
      </p:pic>
      <p:sp>
        <p:nvSpPr>
          <p:cNvPr id="9" name="Text 6"/>
          <p:cNvSpPr txBox="1"/>
          <p:nvPr/>
        </p:nvSpPr>
        <p:spPr>
          <a:xfrm>
            <a:off x="6416345"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مشکل و اصل راه‌حل</a:t>
            </a:r>
            <a:endParaRPr lang="en-US" sz="1550" dirty="0"/>
          </a:p>
        </p:txBody>
      </p:sp>
      <p:sp>
        <p:nvSpPr>
          <p:cNvPr id="10" name="Text 7"/>
          <p:cNvSpPr txBox="1"/>
          <p:nvPr/>
        </p:nvSpPr>
        <p:spPr>
          <a:xfrm>
            <a:off x="6416345" y="2286000"/>
            <a:ext cx="5044288" cy="100584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رأی‌دهنده‌ی یک پیشنهاد باید هنگام ساخت همان پیشنهاد واجد بوده باشد؛ وگرنه کسی می‌تواند بعد از ساخت پیشنهاد وارد شود و ترکیب مجلس را عوض کند. وضعیت در لحظه‌ی ساخت پیشنهاد ثبت می‌شود و رأی با آن سنجیده می‌شود.</a:t>
            </a:r>
            <a:endParaRPr lang="en-US" sz="1200" dirty="0"/>
          </a:p>
        </p:txBody>
      </p:sp>
      <p:sp>
        <p:nvSpPr>
          <p:cNvPr id="11" name="Shape 8"/>
          <p:cNvSpPr/>
          <p:nvPr/>
        </p:nvSpPr>
        <p:spPr>
          <a:xfrm>
            <a:off x="548640" y="1417320"/>
            <a:ext cx="5410048" cy="1965960"/>
          </a:xfrm>
          <a:prstGeom prst="roundRect">
            <a:avLst>
              <a:gd name="adj" fmla="val 5581"/>
            </a:avLst>
          </a:prstGeom>
          <a:solidFill>
            <a:srgbClr val="F7F9FC"/>
          </a:solidFill>
          <a:ln w="9525">
            <a:solidFill>
              <a:srgbClr val="DDE1EE"/>
            </a:solidFill>
            <a:prstDash val="solid"/>
          </a:ln>
        </p:spPr>
      </p:sp>
      <p:sp>
        <p:nvSpPr>
          <p:cNvPr id="12" name="Shape 9"/>
          <p:cNvSpPr/>
          <p:nvPr/>
        </p:nvSpPr>
        <p:spPr>
          <a:xfrm>
            <a:off x="5272888" y="1600200"/>
            <a:ext cx="502920" cy="502920"/>
          </a:xfrm>
          <a:prstGeom prst="ellipse">
            <a:avLst/>
          </a:prstGeom>
          <a:solidFill>
            <a:srgbClr val="2F3690"/>
          </a:solidFill>
          <a:ln w="12700">
            <a:solidFill>
              <a:srgbClr val="2F3690"/>
            </a:solidFill>
            <a:prstDash val="solid"/>
          </a:ln>
        </p:spPr>
      </p:sp>
      <p:pic>
        <p:nvPicPr>
          <p:cNvPr id="13" name="Image 1" descr="preencoded.png">    </p:cNvPr>
          <p:cNvPicPr>
            <a:picLocks noChangeAspect="1"/>
          </p:cNvPicPr>
          <p:nvPr/>
        </p:nvPicPr>
        <p:blipFill>
          <a:blip r:embed="rId2"/>
          <a:stretch>
            <a:fillRect/>
          </a:stretch>
        </p:blipFill>
        <p:spPr>
          <a:xfrm>
            <a:off x="5408676" y="1735988"/>
            <a:ext cx="231343" cy="231343"/>
          </a:xfrm>
          <a:prstGeom prst="rect">
            <a:avLst/>
          </a:prstGeom>
        </p:spPr>
      </p:pic>
      <p:sp>
        <p:nvSpPr>
          <p:cNvPr id="14" name="Text 10"/>
          <p:cNvSpPr txBox="1"/>
          <p:nvPr/>
        </p:nvSpPr>
        <p:spPr>
          <a:xfrm>
            <a:off x="731520"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ثبت در Registry</a:t>
            </a:r>
            <a:endParaRPr lang="en-US" sz="1550" dirty="0"/>
          </a:p>
        </p:txBody>
      </p:sp>
      <p:sp>
        <p:nvSpPr>
          <p:cNvPr id="15" name="Text 11"/>
          <p:cNvSpPr txBox="1"/>
          <p:nvPr/>
        </p:nvSpPr>
        <p:spPr>
          <a:xfrm>
            <a:off x="731520" y="2286000"/>
            <a:ext cx="5044288" cy="100584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statusNonce با هر تغییر وضعیت یک واحد زیاد می‌شود. activeCheckpoints[آدرس] آرایه‌ی فقط‌افزودنی {nonce, active} است؛ wasActiveAt(addr, nonce) با جست‌وجوی دودویی جواب می‌دهد. هر مؤسس با {۰, true} شروع می‌کند.</a:t>
            </a:r>
            <a:endParaRPr lang="en-US" sz="1200" dirty="0"/>
          </a:p>
        </p:txBody>
      </p:sp>
      <p:sp>
        <p:nvSpPr>
          <p:cNvPr id="16" name="Shape 12"/>
          <p:cNvSpPr/>
          <p:nvPr/>
        </p:nvSpPr>
        <p:spPr>
          <a:xfrm>
            <a:off x="6233465" y="3566160"/>
            <a:ext cx="5410048" cy="1965960"/>
          </a:xfrm>
          <a:prstGeom prst="roundRect">
            <a:avLst>
              <a:gd name="adj" fmla="val 5581"/>
            </a:avLst>
          </a:prstGeom>
          <a:solidFill>
            <a:srgbClr val="F7F9FC"/>
          </a:solidFill>
          <a:ln w="9525">
            <a:solidFill>
              <a:srgbClr val="DDE1EE"/>
            </a:solidFill>
            <a:prstDash val="solid"/>
          </a:ln>
        </p:spPr>
      </p:sp>
      <p:sp>
        <p:nvSpPr>
          <p:cNvPr id="17" name="Shape 13"/>
          <p:cNvSpPr/>
          <p:nvPr/>
        </p:nvSpPr>
        <p:spPr>
          <a:xfrm>
            <a:off x="10957712" y="3749040"/>
            <a:ext cx="502920" cy="502920"/>
          </a:xfrm>
          <a:prstGeom prst="ellipse">
            <a:avLst/>
          </a:prstGeom>
          <a:solidFill>
            <a:srgbClr val="2F3690"/>
          </a:solidFill>
          <a:ln w="12700">
            <a:solidFill>
              <a:srgbClr val="2F3690"/>
            </a:solidFill>
            <a:prstDash val="solid"/>
          </a:ln>
        </p:spPr>
      </p:sp>
      <p:pic>
        <p:nvPicPr>
          <p:cNvPr id="18" name="Image 2" descr="preencoded.png">    </p:cNvPr>
          <p:cNvPicPr>
            <a:picLocks noChangeAspect="1"/>
          </p:cNvPicPr>
          <p:nvPr/>
        </p:nvPicPr>
        <p:blipFill>
          <a:blip r:embed="rId3"/>
          <a:stretch>
            <a:fillRect/>
          </a:stretch>
        </p:blipFill>
        <p:spPr>
          <a:xfrm>
            <a:off x="11093501" y="3884828"/>
            <a:ext cx="231343" cy="231343"/>
          </a:xfrm>
          <a:prstGeom prst="rect">
            <a:avLst/>
          </a:prstGeom>
        </p:spPr>
      </p:pic>
      <p:sp>
        <p:nvSpPr>
          <p:cNvPr id="19" name="Text 14"/>
          <p:cNvSpPr txBox="1"/>
          <p:nvPr/>
        </p:nvSpPr>
        <p:spPr>
          <a:xfrm>
            <a:off x="6416345" y="382219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قاعده‌ی رأی</a:t>
            </a:r>
            <a:endParaRPr lang="en-US" sz="1550" dirty="0"/>
          </a:p>
        </p:txBody>
      </p:sp>
      <p:sp>
        <p:nvSpPr>
          <p:cNvPr id="20" name="Text 15"/>
          <p:cNvSpPr txBox="1"/>
          <p:nvPr/>
        </p:nvSpPr>
        <p:spPr>
          <a:xfrm>
            <a:off x="6416345" y="4434840"/>
            <a:ext cx="5044288" cy="100584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پیشنهادهای Registry، Treasury و Distributor شمارنده را در createdAtNonce نگه می‌دارند. رأی معتبر یعنی wasActiveAt(voter, createdAtNonce) و همین حالا هم isValidator(voter) درست باشد.</a:t>
            </a:r>
            <a:endParaRPr lang="en-US" sz="1200" dirty="0"/>
          </a:p>
        </p:txBody>
      </p:sp>
      <p:sp>
        <p:nvSpPr>
          <p:cNvPr id="21" name="Shape 16"/>
          <p:cNvSpPr/>
          <p:nvPr/>
        </p:nvSpPr>
        <p:spPr>
          <a:xfrm>
            <a:off x="548640" y="3566160"/>
            <a:ext cx="5410048" cy="1965960"/>
          </a:xfrm>
          <a:prstGeom prst="roundRect">
            <a:avLst>
              <a:gd name="adj" fmla="val 5581"/>
            </a:avLst>
          </a:prstGeom>
          <a:solidFill>
            <a:srgbClr val="F7F9FC"/>
          </a:solidFill>
          <a:ln w="9525">
            <a:solidFill>
              <a:srgbClr val="DDE1EE"/>
            </a:solidFill>
            <a:prstDash val="solid"/>
          </a:ln>
        </p:spPr>
      </p:sp>
      <p:sp>
        <p:nvSpPr>
          <p:cNvPr id="22" name="Shape 17"/>
          <p:cNvSpPr/>
          <p:nvPr/>
        </p:nvSpPr>
        <p:spPr>
          <a:xfrm>
            <a:off x="5272888" y="3749040"/>
            <a:ext cx="502920" cy="502920"/>
          </a:xfrm>
          <a:prstGeom prst="ellipse">
            <a:avLst/>
          </a:prstGeom>
          <a:solidFill>
            <a:srgbClr val="2F3690"/>
          </a:solidFill>
          <a:ln w="12700">
            <a:solidFill>
              <a:srgbClr val="2F3690"/>
            </a:solidFill>
            <a:prstDash val="solid"/>
          </a:ln>
        </p:spPr>
      </p:sp>
      <p:pic>
        <p:nvPicPr>
          <p:cNvPr id="23" name="Image 3" descr="preencoded.png">    </p:cNvPr>
          <p:cNvPicPr>
            <a:picLocks noChangeAspect="1"/>
          </p:cNvPicPr>
          <p:nvPr/>
        </p:nvPicPr>
        <p:blipFill>
          <a:blip r:embed="rId4"/>
          <a:stretch>
            <a:fillRect/>
          </a:stretch>
        </p:blipFill>
        <p:spPr>
          <a:xfrm>
            <a:off x="5408676" y="3884828"/>
            <a:ext cx="231343" cy="231343"/>
          </a:xfrm>
          <a:prstGeom prst="rect">
            <a:avLst/>
          </a:prstGeom>
        </p:spPr>
      </p:pic>
      <p:sp>
        <p:nvSpPr>
          <p:cNvPr id="24" name="Text 18"/>
          <p:cNvSpPr txBox="1"/>
          <p:nvPr/>
        </p:nvSpPr>
        <p:spPr>
          <a:xfrm>
            <a:off x="731520" y="382219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بنیاد و هیأت</a:t>
            </a:r>
            <a:endParaRPr lang="en-US" sz="1550" dirty="0"/>
          </a:p>
        </p:txBody>
      </p:sp>
      <p:sp>
        <p:nvSpPr>
          <p:cNvPr id="25" name="Text 19"/>
          <p:cNvSpPr txBox="1"/>
          <p:nvPr/>
        </p:nvSpPr>
        <p:spPr>
          <a:xfrm>
            <a:off x="731520" y="4434840"/>
            <a:ext cx="5044288" cy="100584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FoundationDAO: membershipNonce و memberSinceNonce (عضوی که پس از ساخت پیشنهاد افزوده شده رأی نمی‌دهد). هیأت: boardVersion در رأی و اجرا چک می‌شود.</a:t>
            </a:r>
            <a:endParaRPr lang="en-US" sz="1200" dirty="0"/>
          </a:p>
        </p:txBody>
      </p:sp>
      <p:sp>
        <p:nvSpPr>
          <p:cNvPr id="26" name="Text 20"/>
          <p:cNvSpPr txBox="1"/>
          <p:nvPr/>
        </p:nvSpPr>
        <p:spPr>
          <a:xfrm>
            <a:off x="548640" y="5760720"/>
            <a:ext cx="11094415" cy="685800"/>
          </a:xfrm>
          <a:prstGeom prst="rect">
            <a:avLst/>
          </a:prstGeom>
          <a:noFill/>
          <a:ln/>
        </p:spPr>
        <p:txBody>
          <a:bodyPr wrap="square" lIns="0" tIns="0" rIns="0" bIns="0" rtlCol="0" anchor="t"/>
          <a:lstStyle/>
          <a:p>
            <a:pPr rtl="1" algn="r" indent="0" marL="0">
              <a:lnSpc>
                <a:spcPct val="105000"/>
              </a:lnSpc>
              <a:buNone/>
            </a:pPr>
            <a:r>
              <a:rPr lang="fa-IR" altLang="en-US" sz="1050" b="1" dirty="0">
                <a:solidFill>
                  <a:srgbClr val="565D7A"/>
                </a:solidFill>
                <a:latin typeface="Vazirmatn" pitchFamily="34" charset="0"/>
                <a:ea typeface="Vazirmatn" pitchFamily="34" charset="-122"/>
                <a:cs typeface="Vazirmatn" pitchFamily="34" charset="-120"/>
              </a:rPr>
              <a:t>شماره‌ی slot برای بررسی‌های genesis</a:t>
            </a:r>
            <a:endParaRPr lang="en-US" sz="1050" dirty="0"/>
          </a:p>
          <a:p>
            <a:pPr rtl="1" algn="r" indent="0" marL="0">
              <a:lnSpc>
                <a:spcPct val="105000"/>
              </a:lnSpc>
              <a:buNone/>
            </a:pPr>
            <a:r>
              <a:rPr lang="fa-IR" altLang="en-US" sz="1050" dirty="0">
                <a:solidFill>
                  <a:srgbClr val="565D7A"/>
                </a:solidFill>
                <a:latin typeface="Vazirmatn" pitchFamily="34" charset="0"/>
                <a:ea typeface="Vazirmatn" pitchFamily="34" charset="-122"/>
                <a:cs typeface="Vazirmatn" pitchFamily="34" charset="-120"/>
              </a:rPr>
              <a:t>Registry: everActivated در slot ۲۰، statusNonce در ۳۶ و activeCheckpoints در ۳۷</a:t>
            </a:r>
            <a:endParaRPr lang="en-US" sz="1050" dirty="0"/>
          </a:p>
          <a:p>
            <a:pPr rtl="1" algn="r" indent="0" marL="0">
              <a:lnSpc>
                <a:spcPct val="105000"/>
              </a:lnSpc>
              <a:buNone/>
            </a:pPr>
            <a:r>
              <a:rPr lang="fa-IR" altLang="en-US" sz="1050" dirty="0">
                <a:solidFill>
                  <a:srgbClr val="565D7A"/>
                </a:solidFill>
                <a:latin typeface="Vazirmatn" pitchFamily="34" charset="0"/>
                <a:ea typeface="Vazirmatn" pitchFamily="34" charset="-122"/>
                <a:cs typeface="Vazirmatn" pitchFamily="34" charset="-120"/>
              </a:rPr>
              <a:t>FoundationDAO: membershipNonce در slot ۵ و memberSinceNonce در ۶</a:t>
            </a:r>
            <a:endParaRPr lang="en-US" sz="1050" dirty="0"/>
          </a:p>
          <a:p>
            <a:pPr rtl="1" algn="r" indent="0" marL="0">
              <a:lnSpc>
                <a:spcPct val="105000"/>
              </a:lnSpc>
              <a:buNone/>
            </a:pPr>
            <a:r>
              <a:rPr lang="fa-IR" altLang="en-US" sz="1050" dirty="0">
                <a:solidFill>
                  <a:srgbClr val="565D7A"/>
                </a:solidFill>
                <a:latin typeface="Vazirmatn" pitchFamily="34" charset="0"/>
                <a:ea typeface="Vazirmatn" pitchFamily="34" charset="-122"/>
                <a:cs typeface="Vazirmatn" pitchFamily="34" charset="-120"/>
              </a:rPr>
              <a:t>Distributor: تاریخچه و پیشنهادهای نرخ در slotهای ۲۴ تا ۲۸ (همه صفر)</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قراردادها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FoundationDAO: حکمرانی داخلی بنیاد</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19</a:t>
            </a:r>
            <a:endParaRPr lang="en-US" sz="1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4236415"/>
                <a:gridCol w="2011680"/>
                <a:gridCol w="4846320"/>
              </a:tblGrid>
              <a:tr h="384048">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کار</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نصاب</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تابع</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66928">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افزودن یا حذف عضو</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دوسوم (۱۰ از ۱۵)</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proposeAddMember(description, name, account) و proposeRemoveMember</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انتقال سورن از موجودی بنیاد</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اکثریت ساده (۸)</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proposeSendETH(description, to, amount)</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02920">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انتقال توکن</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اکثریت ساده (۸)</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proposeSendERC20(description, token, to, amount)</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640080">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فراخوانی دلخواه؛ value باید صفر باشد و انتقال سورن فقط با SendETH ممکن است</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اکثریت ساده (۸)</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proposeExecute(description, target, value, data)</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66928">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رأی پیشنهاددهنده خودکار شمرده می‌شود</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عضو / view</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vote(id)؛ getProposal، getProposalMeta، requiredVotesNow، hasVoted</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
        <p:nvSpPr>
          <p:cNvPr id="7" name="Shape 4"/>
          <p:cNvSpPr/>
          <p:nvPr/>
        </p:nvSpPr>
        <p:spPr>
          <a:xfrm>
            <a:off x="8078724" y="4754880"/>
            <a:ext cx="3564026" cy="1508760"/>
          </a:xfrm>
          <a:prstGeom prst="roundRect">
            <a:avLst>
              <a:gd name="adj" fmla="val 7273"/>
            </a:avLst>
          </a:prstGeom>
          <a:solidFill>
            <a:srgbClr val="EEF0FB"/>
          </a:solidFill>
          <a:ln w="9525">
            <a:solidFill>
              <a:srgbClr val="EEF0FB"/>
            </a:solidFill>
            <a:prstDash val="solid"/>
          </a:ln>
        </p:spPr>
      </p:sp>
      <p:sp>
        <p:nvSpPr>
          <p:cNvPr id="8" name="Text 5"/>
          <p:cNvSpPr txBox="1"/>
          <p:nvPr/>
        </p:nvSpPr>
        <p:spPr>
          <a:xfrm>
            <a:off x="8243316" y="486460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ایزوله</a:t>
            </a:r>
            <a:endParaRPr lang="en-US" sz="1500" dirty="0"/>
          </a:p>
        </p:txBody>
      </p:sp>
      <p:sp>
        <p:nvSpPr>
          <p:cNvPr id="9" name="Text 6"/>
          <p:cNvSpPr txBox="1"/>
          <p:nvPr/>
        </p:nvSpPr>
        <p:spPr>
          <a:xfrm>
            <a:off x="8243316" y="5303520"/>
            <a:ext cx="3234842" cy="91440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هیچ قرارداد دیگری را نمی‌شناسد و به خزانه‌ی ولیدیتورها وصل نیست.</a:t>
            </a:r>
            <a:endParaRPr lang="en-US" sz="1200" dirty="0"/>
          </a:p>
        </p:txBody>
      </p:sp>
      <p:sp>
        <p:nvSpPr>
          <p:cNvPr id="10" name="Shape 7"/>
          <p:cNvSpPr/>
          <p:nvPr/>
        </p:nvSpPr>
        <p:spPr>
          <a:xfrm>
            <a:off x="4314139" y="4754880"/>
            <a:ext cx="3564026" cy="1508760"/>
          </a:xfrm>
          <a:prstGeom prst="roundRect">
            <a:avLst>
              <a:gd name="adj" fmla="val 7273"/>
            </a:avLst>
          </a:prstGeom>
          <a:solidFill>
            <a:srgbClr val="EEF0FB"/>
          </a:solidFill>
          <a:ln w="9525">
            <a:solidFill>
              <a:srgbClr val="EEF0FB"/>
            </a:solidFill>
            <a:prstDash val="solid"/>
          </a:ln>
        </p:spPr>
      </p:sp>
      <p:sp>
        <p:nvSpPr>
          <p:cNvPr id="11" name="Text 8"/>
          <p:cNvSpPr txBox="1"/>
          <p:nvPr/>
        </p:nvSpPr>
        <p:spPr>
          <a:xfrm>
            <a:off x="4478731" y="486460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موجودی</a:t>
            </a:r>
            <a:endParaRPr lang="en-US" sz="1500" dirty="0"/>
          </a:p>
        </p:txBody>
      </p:sp>
      <p:sp>
        <p:nvSpPr>
          <p:cNvPr id="12" name="Text 9"/>
          <p:cNvSpPr txBox="1"/>
          <p:nvPr/>
        </p:nvSpPr>
        <p:spPr>
          <a:xfrm>
            <a:off x="4478731" y="5303520"/>
            <a:ext cx="3234842" cy="91440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موجودی اولیه‌ی ۲۰ میلیون سورن در alloc نوشته می‌شود.</a:t>
            </a:r>
            <a:endParaRPr lang="en-US" sz="1200" dirty="0"/>
          </a:p>
        </p:txBody>
      </p:sp>
      <p:sp>
        <p:nvSpPr>
          <p:cNvPr id="13" name="Shape 10"/>
          <p:cNvSpPr/>
          <p:nvPr/>
        </p:nvSpPr>
        <p:spPr>
          <a:xfrm>
            <a:off x="548640" y="4754880"/>
            <a:ext cx="3564026" cy="1508760"/>
          </a:xfrm>
          <a:prstGeom prst="roundRect">
            <a:avLst>
              <a:gd name="adj" fmla="val 7273"/>
            </a:avLst>
          </a:prstGeom>
          <a:solidFill>
            <a:srgbClr val="EEF0FB"/>
          </a:solidFill>
          <a:ln w="9525">
            <a:solidFill>
              <a:srgbClr val="EEF0FB"/>
            </a:solidFill>
            <a:prstDash val="solid"/>
          </a:ln>
        </p:spPr>
      </p:sp>
      <p:sp>
        <p:nvSpPr>
          <p:cNvPr id="14" name="Text 11"/>
          <p:cNvSpPr txBox="1"/>
          <p:nvPr/>
        </p:nvSpPr>
        <p:spPr>
          <a:xfrm>
            <a:off x="713232" y="486460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اعضا</a:t>
            </a:r>
            <a:endParaRPr lang="en-US" sz="1500" dirty="0"/>
          </a:p>
        </p:txBody>
      </p:sp>
      <p:sp>
        <p:nvSpPr>
          <p:cNvPr id="15" name="Text 12"/>
          <p:cNvSpPr txBox="1"/>
          <p:nvPr/>
        </p:nvSpPr>
        <p:spPr>
          <a:xfrm>
            <a:off x="713232" y="5303520"/>
            <a:ext cx="3234842" cy="91440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اعضای اولیه (۱۵ نفر) در genesis seed می‌شوند؛ عضو افزوده‌شده بعد از ساخت یک پیشنهاد در آن رأی نمی‌دهد.</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قراردادها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IdentityRegistry: هویت کاربران</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20</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4053535"/>
                <a:gridCol w="2194560"/>
                <a:gridCol w="4846320"/>
              </a:tblGrid>
              <a:tr h="384048">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کار</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چه کسی</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تابع</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02920">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خوداظهاری: شخص حقیقی یا حقوقی و نام</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هر آدرس</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registerIdentity(personType, name)</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نتیجه‌ی وریفای موبایل و تلگرام</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identityOracle</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setPhoneVerified، setTelegramVerified</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02920">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KYC اختیاری؛ فقط commitment هش‌شده با salt</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identityOracle</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setKycVerified(addr, verified, commitment)</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انتقال هویت پس از تغییر آدرس</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identityOracle</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migrateIdentity(oldAddr, newAddr)</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57200">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خواندن وضعیت هویت</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view</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hasIdentity، getVerificationStatus</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چرخش کلید identityOracle</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فقط FoundationDAO</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setIdentityOracle(newOracle)</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
        <p:nvSpPr>
          <p:cNvPr id="7" name="Shape 4"/>
          <p:cNvSpPr/>
          <p:nvPr/>
        </p:nvSpPr>
        <p:spPr>
          <a:xfrm>
            <a:off x="8078724" y="5029200"/>
            <a:ext cx="3564026" cy="1280160"/>
          </a:xfrm>
          <a:prstGeom prst="roundRect">
            <a:avLst>
              <a:gd name="adj" fmla="val 8571"/>
            </a:avLst>
          </a:prstGeom>
          <a:solidFill>
            <a:srgbClr val="EEF0FB"/>
          </a:solidFill>
          <a:ln w="9525">
            <a:solidFill>
              <a:srgbClr val="EEF0FB"/>
            </a:solidFill>
            <a:prstDash val="solid"/>
          </a:ln>
        </p:spPr>
      </p:sp>
      <p:sp>
        <p:nvSpPr>
          <p:cNvPr id="8" name="Text 5"/>
          <p:cNvSpPr txBox="1"/>
          <p:nvPr/>
        </p:nvSpPr>
        <p:spPr>
          <a:xfrm>
            <a:off x="8243316" y="513892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حریم خصوصی</a:t>
            </a:r>
            <a:endParaRPr lang="en-US" sz="1500" dirty="0"/>
          </a:p>
        </p:txBody>
      </p:sp>
      <p:sp>
        <p:nvSpPr>
          <p:cNvPr id="9" name="Text 6"/>
          <p:cNvSpPr txBox="1"/>
          <p:nvPr/>
        </p:nvSpPr>
        <p:spPr>
          <a:xfrm>
            <a:off x="8243316" y="5532120"/>
            <a:ext cx="3234842" cy="73152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شماره‌ی موبایل، آیدی تلگرام و مدارک KYC هرگز روی زنجیره نمی‌روند؛ فقط وضعیت وریفای و commitment.</a:t>
            </a:r>
            <a:endParaRPr lang="en-US" sz="1100" dirty="0"/>
          </a:p>
        </p:txBody>
      </p:sp>
      <p:sp>
        <p:nvSpPr>
          <p:cNvPr id="10" name="Shape 7"/>
          <p:cNvSpPr/>
          <p:nvPr/>
        </p:nvSpPr>
        <p:spPr>
          <a:xfrm>
            <a:off x="4314139" y="5029200"/>
            <a:ext cx="3564026" cy="1280160"/>
          </a:xfrm>
          <a:prstGeom prst="roundRect">
            <a:avLst>
              <a:gd name="adj" fmla="val 8571"/>
            </a:avLst>
          </a:prstGeom>
          <a:solidFill>
            <a:srgbClr val="EEF0FB"/>
          </a:solidFill>
          <a:ln w="9525">
            <a:solidFill>
              <a:srgbClr val="EEF0FB"/>
            </a:solidFill>
            <a:prstDash val="solid"/>
          </a:ln>
        </p:spPr>
      </p:sp>
      <p:sp>
        <p:nvSpPr>
          <p:cNvPr id="11" name="Text 8"/>
          <p:cNvSpPr txBox="1"/>
          <p:nvPr/>
        </p:nvSpPr>
        <p:spPr>
          <a:xfrm>
            <a:off x="4478731" y="513892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پیش‌نیاز رأی</a:t>
            </a:r>
            <a:endParaRPr lang="en-US" sz="1500" dirty="0"/>
          </a:p>
        </p:txBody>
      </p:sp>
      <p:sp>
        <p:nvSpPr>
          <p:cNvPr id="12" name="Text 9"/>
          <p:cNvSpPr txBox="1"/>
          <p:nvPr/>
        </p:nvSpPr>
        <p:spPr>
          <a:xfrm>
            <a:off x="4478731" y="5532120"/>
            <a:ext cx="3234842" cy="73152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ثبت هویت (hasIdentity) برای رأی‌دادن در انتخاب هیأت لازم است.</a:t>
            </a:r>
            <a:endParaRPr lang="en-US" sz="1100" dirty="0"/>
          </a:p>
        </p:txBody>
      </p:sp>
      <p:sp>
        <p:nvSpPr>
          <p:cNvPr id="13" name="Shape 10"/>
          <p:cNvSpPr/>
          <p:nvPr/>
        </p:nvSpPr>
        <p:spPr>
          <a:xfrm>
            <a:off x="548640" y="5029200"/>
            <a:ext cx="3564026" cy="1280160"/>
          </a:xfrm>
          <a:prstGeom prst="roundRect">
            <a:avLst>
              <a:gd name="adj" fmla="val 8571"/>
            </a:avLst>
          </a:prstGeom>
          <a:solidFill>
            <a:srgbClr val="EEF0FB"/>
          </a:solidFill>
          <a:ln w="9525">
            <a:solidFill>
              <a:srgbClr val="EEF0FB"/>
            </a:solidFill>
            <a:prstDash val="solid"/>
          </a:ln>
        </p:spPr>
      </p:sp>
      <p:sp>
        <p:nvSpPr>
          <p:cNvPr id="14" name="Text 11"/>
          <p:cNvSpPr txBox="1"/>
          <p:nvPr/>
        </p:nvSpPr>
        <p:spPr>
          <a:xfrm>
            <a:off x="713232" y="513892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تطبیق آف‌چین</a:t>
            </a:r>
            <a:endParaRPr lang="en-US" sz="1500" dirty="0"/>
          </a:p>
        </p:txBody>
      </p:sp>
      <p:sp>
        <p:nvSpPr>
          <p:cNvPr id="15" name="Text 12"/>
          <p:cNvSpPr txBox="1"/>
          <p:nvPr/>
        </p:nvSpPr>
        <p:spPr>
          <a:xfrm>
            <a:off x="713232" y="5532120"/>
            <a:ext cx="3234842" cy="73152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کوئری «آیا این مشخصات با آدرسی ثبت شده» یک API آف‌چین است، نه تراکنش.</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قراردادها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SurenSale: فروش ۶ ماهه و پنجره‌ی گذار</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21</a:t>
            </a:r>
            <a:endParaRPr lang="en-US" sz="1000" dirty="0"/>
          </a:p>
        </p:txBody>
      </p:sp>
      <p:sp>
        <p:nvSpPr>
          <p:cNvPr id="6" name="Shape 4"/>
          <p:cNvSpPr/>
          <p:nvPr/>
        </p:nvSpPr>
        <p:spPr>
          <a:xfrm>
            <a:off x="6233465" y="1417320"/>
            <a:ext cx="5410048" cy="2194560"/>
          </a:xfrm>
          <a:prstGeom prst="roundRect">
            <a:avLst>
              <a:gd name="adj" fmla="val 5000"/>
            </a:avLst>
          </a:prstGeom>
          <a:solidFill>
            <a:srgbClr val="F7F9FC"/>
          </a:solidFill>
          <a:ln w="9525">
            <a:solidFill>
              <a:srgbClr val="DDE1EE"/>
            </a:solidFill>
            <a:prstDash val="solid"/>
          </a:ln>
        </p:spPr>
      </p:sp>
      <p:sp>
        <p:nvSpPr>
          <p:cNvPr id="7" name="Shape 5"/>
          <p:cNvSpPr/>
          <p:nvPr/>
        </p:nvSpPr>
        <p:spPr>
          <a:xfrm>
            <a:off x="10957712"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3501" y="1735988"/>
            <a:ext cx="231343" cy="231343"/>
          </a:xfrm>
          <a:prstGeom prst="rect">
            <a:avLst/>
          </a:prstGeom>
        </p:spPr>
      </p:pic>
      <p:sp>
        <p:nvSpPr>
          <p:cNvPr id="9" name="Text 6"/>
          <p:cNvSpPr txBox="1"/>
          <p:nvPr/>
        </p:nvSpPr>
        <p:spPr>
          <a:xfrm>
            <a:off x="6416345"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قیمت از block.timestamp</a:t>
            </a:r>
            <a:endParaRPr lang="en-US" sz="1550" dirty="0"/>
          </a:p>
        </p:txBody>
      </p:sp>
      <p:sp>
        <p:nvSpPr>
          <p:cNvPr id="10" name="Text 7"/>
          <p:cNvSpPr txBox="1"/>
          <p:nvPr/>
        </p:nvSpPr>
        <p:spPr>
          <a:xfrm>
            <a:off x="6416345" y="2286000"/>
            <a:ext cx="5044288" cy="123444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قیمت هر سورن فقط از زمان بلاک محاسبه می‌شود: ماه ۱ تا ۶ = ۱۰۰، ۱۰۳، ۱۰۶، ۱۰۹، ۱۱۳ و ۱۱۶ تومان (جدول ثابت)؛ سورن‌ها از همان موجودی قرارداد منتقل می‌شوند. saleStartTime تنها immutable است و قرارداد در genesis نیست.</a:t>
            </a:r>
            <a:endParaRPr lang="en-US" sz="1150" dirty="0"/>
          </a:p>
        </p:txBody>
      </p:sp>
      <p:sp>
        <p:nvSpPr>
          <p:cNvPr id="11" name="Shape 8"/>
          <p:cNvSpPr/>
          <p:nvPr/>
        </p:nvSpPr>
        <p:spPr>
          <a:xfrm>
            <a:off x="548640" y="1417320"/>
            <a:ext cx="5410048" cy="2194560"/>
          </a:xfrm>
          <a:prstGeom prst="roundRect">
            <a:avLst>
              <a:gd name="adj" fmla="val 5000"/>
            </a:avLst>
          </a:prstGeom>
          <a:solidFill>
            <a:srgbClr val="F7F9FC"/>
          </a:solidFill>
          <a:ln w="9525">
            <a:solidFill>
              <a:srgbClr val="DDE1EE"/>
            </a:solidFill>
            <a:prstDash val="solid"/>
          </a:ln>
        </p:spPr>
      </p:sp>
      <p:sp>
        <p:nvSpPr>
          <p:cNvPr id="12" name="Shape 9"/>
          <p:cNvSpPr/>
          <p:nvPr/>
        </p:nvSpPr>
        <p:spPr>
          <a:xfrm>
            <a:off x="5272888" y="1600200"/>
            <a:ext cx="502920" cy="502920"/>
          </a:xfrm>
          <a:prstGeom prst="ellipse">
            <a:avLst/>
          </a:prstGeom>
          <a:solidFill>
            <a:srgbClr val="2F3690"/>
          </a:solidFill>
          <a:ln w="12700">
            <a:solidFill>
              <a:srgbClr val="2F3690"/>
            </a:solidFill>
            <a:prstDash val="solid"/>
          </a:ln>
        </p:spPr>
      </p:sp>
      <p:pic>
        <p:nvPicPr>
          <p:cNvPr id="13" name="Image 1" descr="preencoded.png">    </p:cNvPr>
          <p:cNvPicPr>
            <a:picLocks noChangeAspect="1"/>
          </p:cNvPicPr>
          <p:nvPr/>
        </p:nvPicPr>
        <p:blipFill>
          <a:blip r:embed="rId2"/>
          <a:stretch>
            <a:fillRect/>
          </a:stretch>
        </p:blipFill>
        <p:spPr>
          <a:xfrm>
            <a:off x="5408676" y="1735988"/>
            <a:ext cx="231343" cy="231343"/>
          </a:xfrm>
          <a:prstGeom prst="rect">
            <a:avLst/>
          </a:prstGeom>
        </p:spPr>
      </p:pic>
      <p:sp>
        <p:nvSpPr>
          <p:cNvPr id="14" name="Text 10"/>
          <p:cNvSpPr txBox="1"/>
          <p:nvPr/>
        </p:nvSpPr>
        <p:spPr>
          <a:xfrm>
            <a:off x="731520"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reportPayment(buyer, tomanAmount, paymentReference)</a:t>
            </a:r>
            <a:endParaRPr lang="en-US" sz="1550" dirty="0"/>
          </a:p>
        </p:txBody>
      </p:sp>
      <p:sp>
        <p:nvSpPr>
          <p:cNvPr id="15" name="Text 11"/>
          <p:cNvSpPr txBox="1"/>
          <p:nvPr/>
        </p:nvSpPr>
        <p:spPr>
          <a:xfrm>
            <a:off x="731520" y="2286000"/>
            <a:ext cx="5044288" cy="123444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فقط paymentOracle؛ idempotent با processedPayments[paymentReference]. اگر کلید اوراکل لو برود، مهاجم فقط می‌تواند پرداخت ساختگی گزارش دهد، نه قیمت را عوض کند. موجودی را دوره‌ای و تکه‌تکه واریز کنید تا سقف زیان محدود بماند.</a:t>
            </a:r>
            <a:endParaRPr lang="en-US" sz="1150" dirty="0"/>
          </a:p>
        </p:txBody>
      </p:sp>
      <p:sp>
        <p:nvSpPr>
          <p:cNvPr id="16" name="Shape 12"/>
          <p:cNvSpPr/>
          <p:nvPr/>
        </p:nvSpPr>
        <p:spPr>
          <a:xfrm>
            <a:off x="6233465" y="3794760"/>
            <a:ext cx="5410048" cy="2194560"/>
          </a:xfrm>
          <a:prstGeom prst="roundRect">
            <a:avLst>
              <a:gd name="adj" fmla="val 5000"/>
            </a:avLst>
          </a:prstGeom>
          <a:solidFill>
            <a:srgbClr val="F7F9FC"/>
          </a:solidFill>
          <a:ln w="9525">
            <a:solidFill>
              <a:srgbClr val="DDE1EE"/>
            </a:solidFill>
            <a:prstDash val="solid"/>
          </a:ln>
        </p:spPr>
      </p:sp>
      <p:sp>
        <p:nvSpPr>
          <p:cNvPr id="17" name="Shape 13"/>
          <p:cNvSpPr/>
          <p:nvPr/>
        </p:nvSpPr>
        <p:spPr>
          <a:xfrm>
            <a:off x="10957712" y="3977640"/>
            <a:ext cx="502920" cy="502920"/>
          </a:xfrm>
          <a:prstGeom prst="ellipse">
            <a:avLst/>
          </a:prstGeom>
          <a:solidFill>
            <a:srgbClr val="2F3690"/>
          </a:solidFill>
          <a:ln w="12700">
            <a:solidFill>
              <a:srgbClr val="2F3690"/>
            </a:solidFill>
            <a:prstDash val="solid"/>
          </a:ln>
        </p:spPr>
      </p:sp>
      <p:pic>
        <p:nvPicPr>
          <p:cNvPr id="18" name="Image 2" descr="preencoded.png">    </p:cNvPr>
          <p:cNvPicPr>
            <a:picLocks noChangeAspect="1"/>
          </p:cNvPicPr>
          <p:nvPr/>
        </p:nvPicPr>
        <p:blipFill>
          <a:blip r:embed="rId3"/>
          <a:stretch>
            <a:fillRect/>
          </a:stretch>
        </p:blipFill>
        <p:spPr>
          <a:xfrm>
            <a:off x="11093501" y="4113428"/>
            <a:ext cx="231343" cy="231343"/>
          </a:xfrm>
          <a:prstGeom prst="rect">
            <a:avLst/>
          </a:prstGeom>
        </p:spPr>
      </p:pic>
      <p:sp>
        <p:nvSpPr>
          <p:cNvPr id="19" name="Text 14"/>
          <p:cNvSpPr txBox="1"/>
          <p:nvPr/>
        </p:nvSpPr>
        <p:spPr>
          <a:xfrm>
            <a:off x="6416345" y="405079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پنجره‌ی گذار ۴۵ روزه</a:t>
            </a:r>
            <a:endParaRPr lang="en-US" sz="1550" dirty="0"/>
          </a:p>
        </p:txBody>
      </p:sp>
      <p:sp>
        <p:nvSpPr>
          <p:cNvPr id="20" name="Text 15"/>
          <p:cNvSpPr txBox="1"/>
          <p:nvPr/>
        </p:nvSpPr>
        <p:spPr>
          <a:xfrm>
            <a:off x="6416345" y="4663440"/>
            <a:ext cx="5044288" cy="123444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پس از ۱۸۰ روز، قیمت روزانه ±۰٫۵٪ می‌شود: بالاتر از ۱۲۰٪ میانگین متحرک ۷روزه‌ی حجم فروش افزایش، پایین‌تر از ۸۰٪ کاهش؛ کف ۹۰ و سقف ۱۵۰ تومان؛ دقت میلی‌تومان.</a:t>
            </a:r>
            <a:endParaRPr lang="en-US" sz="1150" dirty="0"/>
          </a:p>
        </p:txBody>
      </p:sp>
      <p:sp>
        <p:nvSpPr>
          <p:cNvPr id="21" name="Shape 16"/>
          <p:cNvSpPr/>
          <p:nvPr/>
        </p:nvSpPr>
        <p:spPr>
          <a:xfrm>
            <a:off x="548640" y="3794760"/>
            <a:ext cx="5410048" cy="2194560"/>
          </a:xfrm>
          <a:prstGeom prst="roundRect">
            <a:avLst>
              <a:gd name="adj" fmla="val 5000"/>
            </a:avLst>
          </a:prstGeom>
          <a:solidFill>
            <a:srgbClr val="F7F9FC"/>
          </a:solidFill>
          <a:ln w="9525">
            <a:solidFill>
              <a:srgbClr val="DDE1EE"/>
            </a:solidFill>
            <a:prstDash val="solid"/>
          </a:ln>
        </p:spPr>
      </p:sp>
      <p:sp>
        <p:nvSpPr>
          <p:cNvPr id="22" name="Shape 17"/>
          <p:cNvSpPr/>
          <p:nvPr/>
        </p:nvSpPr>
        <p:spPr>
          <a:xfrm>
            <a:off x="5272888" y="3977640"/>
            <a:ext cx="502920" cy="502920"/>
          </a:xfrm>
          <a:prstGeom prst="ellipse">
            <a:avLst/>
          </a:prstGeom>
          <a:solidFill>
            <a:srgbClr val="2F3690"/>
          </a:solidFill>
          <a:ln w="12700">
            <a:solidFill>
              <a:srgbClr val="2F3690"/>
            </a:solidFill>
            <a:prstDash val="solid"/>
          </a:ln>
        </p:spPr>
      </p:sp>
      <p:pic>
        <p:nvPicPr>
          <p:cNvPr id="23" name="Image 3" descr="preencoded.png">    </p:cNvPr>
          <p:cNvPicPr>
            <a:picLocks noChangeAspect="1"/>
          </p:cNvPicPr>
          <p:nvPr/>
        </p:nvPicPr>
        <p:blipFill>
          <a:blip r:embed="rId4"/>
          <a:stretch>
            <a:fillRect/>
          </a:stretch>
        </p:blipFill>
        <p:spPr>
          <a:xfrm>
            <a:off x="5408676" y="4113428"/>
            <a:ext cx="231343" cy="231343"/>
          </a:xfrm>
          <a:prstGeom prst="rect">
            <a:avLst/>
          </a:prstGeom>
        </p:spPr>
      </p:pic>
      <p:sp>
        <p:nvSpPr>
          <p:cNvPr id="24" name="Text 18"/>
          <p:cNvSpPr txBox="1"/>
          <p:nvPr/>
        </p:nvSpPr>
        <p:spPr>
          <a:xfrm>
            <a:off x="731520" y="405079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advanceTransitionPrice()</a:t>
            </a:r>
            <a:endParaRPr lang="en-US" sz="1550" dirty="0"/>
          </a:p>
        </p:txBody>
      </p:sp>
      <p:sp>
        <p:nvSpPr>
          <p:cNvPr id="25" name="Text 19"/>
          <p:cNvSpPr txBox="1"/>
          <p:nvPr/>
        </p:nvSpPr>
        <p:spPr>
          <a:xfrm>
            <a:off x="731520" y="4663440"/>
            <a:ext cx="5044288" cy="123444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بدون مجوز؛ قیمت روزهای کامل‌شده را به‌ترتیب اعمال می‌کند (حداکثر ۴۵ تکرار در کل عمر). reportPayment در دوره‌ی گذار قبل از قیمت‌گذاری خودش آن را صدا می‌زند؛ پس قیمت همیشه به «امروز» رسیده است.</a:t>
            </a:r>
            <a:endParaRPr lang="en-US" sz="1150" dirty="0"/>
          </a:p>
        </p:txBody>
      </p:sp>
      <p:sp>
        <p:nvSpPr>
          <p:cNvPr id="26" name="Text 20"/>
          <p:cNvSpPr txBox="1"/>
          <p:nvPr/>
        </p:nvSpPr>
        <p:spPr>
          <a:xfrm>
            <a:off x="548640" y="6053328"/>
            <a:ext cx="11094415" cy="36576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565D7A"/>
                </a:solidFill>
                <a:latin typeface="Vazirmatn" pitchFamily="34" charset="0"/>
                <a:ea typeface="Vazirmatn" pitchFamily="34" charset="-122"/>
                <a:cs typeface="Vazirmatn" pitchFamily="34" charset="-120"/>
              </a:rPr>
              <a:t>setPaymentOracle و sweepUnsold(to) فقط FoundationDAO (از مسیر proposeExecute)؛ sweepUnsold پس از پایان فروش و گذار. getBalance، timeRemaining و transitionTimeRemaining فقط خواندنی‌اند.</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کلیدها و سرویس‌ها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چهار کلید عملیاتی مستقل</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22</a:t>
            </a:r>
            <a:endParaRPr lang="en-US" sz="1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33295"/>
                <a:gridCol w="4206240"/>
                <a:gridCol w="2651760"/>
                <a:gridCol w="2103120"/>
              </a:tblGrid>
              <a:tr h="384048">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چرخش توسط</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کار</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قرارداد میزبان</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کلید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0292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هیأت ولیدیتورها (۳ رأی)</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فراخوانی distributeRewards در هر epoch</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BlockRewardDistributor</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distributionOracle</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68580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هیأت ولیدیتورها (۳ رأی)</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ثبت تصمیم‌های وضعیت ولیدیتور (فعال‌سازی، تعلیق، بازگشت، تخلف پیش از خروج)</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ValidatorsRegistry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verifier</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0292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فقط FoundationDAO</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ثبت وریفای موبایل، تلگرام و KYC؛ انتقال هویت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IdentityRegistry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identityOracle</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فقط FoundationDAO (اکثریت ساده)</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گزارش پرداخت‌های تومانی تأییدشده</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SurenSale</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paymentOracle</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
        <p:nvSpPr>
          <p:cNvPr id="7" name="Shape 4"/>
          <p:cNvSpPr/>
          <p:nvPr/>
        </p:nvSpPr>
        <p:spPr>
          <a:xfrm>
            <a:off x="8078724" y="4526280"/>
            <a:ext cx="3564026" cy="1783080"/>
          </a:xfrm>
          <a:prstGeom prst="roundRect">
            <a:avLst>
              <a:gd name="adj" fmla="val 6154"/>
            </a:avLst>
          </a:prstGeom>
          <a:solidFill>
            <a:srgbClr val="EEF0FB"/>
          </a:solidFill>
          <a:ln w="9525">
            <a:solidFill>
              <a:srgbClr val="EEF0FB"/>
            </a:solidFill>
            <a:prstDash val="solid"/>
          </a:ln>
        </p:spPr>
      </p:sp>
      <p:sp>
        <p:nvSpPr>
          <p:cNvPr id="8" name="Text 5"/>
          <p:cNvSpPr txBox="1"/>
          <p:nvPr/>
        </p:nvSpPr>
        <p:spPr>
          <a:xfrm>
            <a:off x="8243316" y="463600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جداسازی</a:t>
            </a:r>
            <a:endParaRPr lang="en-US" sz="1500" dirty="0"/>
          </a:p>
        </p:txBody>
      </p:sp>
      <p:sp>
        <p:nvSpPr>
          <p:cNvPr id="9" name="Text 6"/>
          <p:cNvSpPr txBox="1"/>
          <p:nvPr/>
        </p:nvSpPr>
        <p:spPr>
          <a:xfrm>
            <a:off x="8243316" y="5029200"/>
            <a:ext cx="3234842" cy="123444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هر کلید فقط یک کار می‌کند و هیچ دو سرویسی کلید مشترک ندارند. دو کلید مربوط به اجماع زیر نظر هیأت ولیدیتورها و دو کلید عملیات بنیاد زیر نظر خود بنیاد است.</a:t>
            </a:r>
            <a:endParaRPr lang="en-US" sz="1150" dirty="0"/>
          </a:p>
        </p:txBody>
      </p:sp>
      <p:sp>
        <p:nvSpPr>
          <p:cNvPr id="10" name="Shape 7"/>
          <p:cNvSpPr/>
          <p:nvPr/>
        </p:nvSpPr>
        <p:spPr>
          <a:xfrm>
            <a:off x="4314139" y="4526280"/>
            <a:ext cx="3564026" cy="1783080"/>
          </a:xfrm>
          <a:prstGeom prst="roundRect">
            <a:avLst>
              <a:gd name="adj" fmla="val 6154"/>
            </a:avLst>
          </a:prstGeom>
          <a:solidFill>
            <a:srgbClr val="EEF0FB"/>
          </a:solidFill>
          <a:ln w="9525">
            <a:solidFill>
              <a:srgbClr val="EEF0FB"/>
            </a:solidFill>
            <a:prstDash val="solid"/>
          </a:ln>
        </p:spPr>
      </p:sp>
      <p:sp>
        <p:nvSpPr>
          <p:cNvPr id="11" name="Text 8"/>
          <p:cNvSpPr txBox="1"/>
          <p:nvPr/>
        </p:nvSpPr>
        <p:spPr>
          <a:xfrm>
            <a:off x="4478731" y="463600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نگهداری</a:t>
            </a:r>
            <a:endParaRPr lang="en-US" sz="1500" dirty="0"/>
          </a:p>
        </p:txBody>
      </p:sp>
      <p:sp>
        <p:nvSpPr>
          <p:cNvPr id="12" name="Text 9"/>
          <p:cNvSpPr txBox="1"/>
          <p:nvPr/>
        </p:nvSpPr>
        <p:spPr>
          <a:xfrm>
            <a:off x="4478731" y="5029200"/>
            <a:ext cx="3234842" cy="123444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همه‌ی کلیدها در HashiCorp Vault با policy و token جدا و کمترین دسترسی؛ نه فایل خام و نه متغیر محیطی. حساب هر سرویس باید سورن کافی برای گس داشته باشد.</a:t>
            </a:r>
            <a:endParaRPr lang="en-US" sz="1150" dirty="0"/>
          </a:p>
        </p:txBody>
      </p:sp>
      <p:sp>
        <p:nvSpPr>
          <p:cNvPr id="13" name="Shape 10"/>
          <p:cNvSpPr/>
          <p:nvPr/>
        </p:nvSpPr>
        <p:spPr>
          <a:xfrm>
            <a:off x="548640" y="4526280"/>
            <a:ext cx="3564026" cy="1783080"/>
          </a:xfrm>
          <a:prstGeom prst="roundRect">
            <a:avLst>
              <a:gd name="adj" fmla="val 6154"/>
            </a:avLst>
          </a:prstGeom>
          <a:solidFill>
            <a:srgbClr val="EEF0FB"/>
          </a:solidFill>
          <a:ln w="9525">
            <a:solidFill>
              <a:srgbClr val="EEF0FB"/>
            </a:solidFill>
            <a:prstDash val="solid"/>
          </a:ln>
        </p:spPr>
      </p:sp>
      <p:sp>
        <p:nvSpPr>
          <p:cNvPr id="14" name="Text 11"/>
          <p:cNvSpPr txBox="1"/>
          <p:nvPr/>
        </p:nvSpPr>
        <p:spPr>
          <a:xfrm>
            <a:off x="713232" y="4636008"/>
            <a:ext cx="3234842"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2F3690"/>
                </a:solidFill>
                <a:latin typeface="Vazirmatn" pitchFamily="34" charset="0"/>
                <a:ea typeface="Vazirmatn" pitchFamily="34" charset="-122"/>
                <a:cs typeface="Vazirmatn" pitchFamily="34" charset="-120"/>
              </a:rPr>
              <a:t>چرخش</a:t>
            </a:r>
            <a:endParaRPr lang="en-US" sz="1500" dirty="0"/>
          </a:p>
        </p:txBody>
      </p:sp>
      <p:sp>
        <p:nvSpPr>
          <p:cNvPr id="15" name="Text 12"/>
          <p:cNvSpPr txBox="1"/>
          <p:nvPr/>
        </p:nvSpPr>
        <p:spPr>
          <a:xfrm>
            <a:off x="713232" y="5029200"/>
            <a:ext cx="3234842" cy="123444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کلید جدید با تراکنش حکمرانی تعیین می‌شود؛ سرویس پیش از هر چرخه کلید فعلی قرارداد را می‌خواند و اگر کلیدش دیگر معتبر نیست متوقف می‌شود و هشدار می‌دهد.</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سرویس‌های آف‌چین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RewardRouter: چرا لازم است و هر چرخه چه می‌کند</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23</a:t>
            </a:r>
            <a:endParaRPr lang="en-US" sz="1000" dirty="0"/>
          </a:p>
        </p:txBody>
      </p:sp>
      <p:sp>
        <p:nvSpPr>
          <p:cNvPr id="6" name="Text 4"/>
          <p:cNvSpPr txBox="1"/>
          <p:nvPr/>
        </p:nvSpPr>
        <p:spPr>
          <a:xfrm>
            <a:off x="548640" y="1371600"/>
            <a:ext cx="11094415" cy="77724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ریوارد بلاک یک اعتبار مستقیم روی state است، بدون فراخوانی EVM و بدون رویداد؛ پس قرارداد خودش نمی‌فهمد چه دریافت کرده یا به چه کسی بدهد. RewardRouter یک daemon کاملاً خودکار (Node.js، TypeScript، viem، SQLite، pino) است که هر ۲۳ ساعت و ۱۰ دقیقه بازه‌ای از بلاک‌ها را از خود زنجیره محاسبه و با یک تراکنش تسویه می‌کند.</a:t>
            </a:r>
            <a:endParaRPr lang="en-US" sz="1250" dirty="0"/>
          </a:p>
        </p:txBody>
      </p:sp>
      <p:sp>
        <p:nvSpPr>
          <p:cNvPr id="7" name="Shape 5"/>
          <p:cNvSpPr/>
          <p:nvPr/>
        </p:nvSpPr>
        <p:spPr>
          <a:xfrm>
            <a:off x="548640" y="2286000"/>
            <a:ext cx="11094415" cy="621792"/>
          </a:xfrm>
          <a:prstGeom prst="roundRect">
            <a:avLst>
              <a:gd name="adj" fmla="val 17647"/>
            </a:avLst>
          </a:prstGeom>
          <a:solidFill>
            <a:srgbClr val="F7F9FC"/>
          </a:solidFill>
          <a:ln w="9525">
            <a:solidFill>
              <a:srgbClr val="DDE1EE"/>
            </a:solidFill>
            <a:prstDash val="solid"/>
          </a:ln>
        </p:spPr>
      </p:sp>
      <p:sp>
        <p:nvSpPr>
          <p:cNvPr id="8" name="Shape 6"/>
          <p:cNvSpPr/>
          <p:nvPr/>
        </p:nvSpPr>
        <p:spPr>
          <a:xfrm>
            <a:off x="11121847" y="2404872"/>
            <a:ext cx="384048" cy="384048"/>
          </a:xfrm>
          <a:prstGeom prst="ellipse">
            <a:avLst/>
          </a:prstGeom>
          <a:solidFill>
            <a:srgbClr val="2F3690"/>
          </a:solidFill>
          <a:ln w="12700">
            <a:solidFill>
              <a:srgbClr val="2F3690"/>
            </a:solidFill>
            <a:prstDash val="solid"/>
          </a:ln>
        </p:spPr>
      </p:sp>
      <p:sp>
        <p:nvSpPr>
          <p:cNvPr id="9" name="Text 7"/>
          <p:cNvSpPr txBox="1"/>
          <p:nvPr/>
        </p:nvSpPr>
        <p:spPr>
          <a:xfrm>
            <a:off x="11121847" y="2404872"/>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۱</a:t>
            </a:r>
            <a:endParaRPr lang="en-US" sz="1300" dirty="0"/>
          </a:p>
        </p:txBody>
      </p:sp>
      <p:sp>
        <p:nvSpPr>
          <p:cNvPr id="10" name="Text 8"/>
          <p:cNvSpPr txBox="1"/>
          <p:nvPr/>
        </p:nvSpPr>
        <p:spPr>
          <a:xfrm>
            <a:off x="8854135" y="2286000"/>
            <a:ext cx="2103120" cy="621792"/>
          </a:xfrm>
          <a:prstGeom prst="rect">
            <a:avLst/>
          </a:prstGeom>
          <a:noFill/>
          <a:ln/>
        </p:spPr>
        <p:txBody>
          <a:bodyPr wrap="square" lIns="0" tIns="0" rIns="0" bIns="0" rtlCol="0" anchor="ctr"/>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پیش‌شرط‌ها</a:t>
            </a:r>
            <a:endParaRPr lang="en-US" sz="1300" dirty="0"/>
          </a:p>
        </p:txBody>
      </p:sp>
      <p:sp>
        <p:nvSpPr>
          <p:cNvPr id="11" name="Text 9"/>
          <p:cNvSpPr txBox="1"/>
          <p:nvPr/>
        </p:nvSpPr>
        <p:spPr>
          <a:xfrm>
            <a:off x="685800" y="2286000"/>
            <a:ext cx="8031175" cy="621792"/>
          </a:xfrm>
          <a:prstGeom prst="rect">
            <a:avLst/>
          </a:prstGeom>
          <a:noFill/>
          <a:ln/>
        </p:spPr>
        <p:txBody>
          <a:bodyPr wrap="square" lIns="0" tIns="0" rIns="0" bIns="0" rtlCol="0" anchor="ctr"/>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کلید همین سرویس هنوز distributionOracle است (getDistributionOracle)؛ timeUntilNextDistribution. در غیر این صورت توقف و هشدار.</a:t>
            </a:r>
            <a:endParaRPr lang="en-US" sz="1150" dirty="0"/>
          </a:p>
        </p:txBody>
      </p:sp>
      <p:sp>
        <p:nvSpPr>
          <p:cNvPr id="12" name="Shape 10"/>
          <p:cNvSpPr/>
          <p:nvPr/>
        </p:nvSpPr>
        <p:spPr>
          <a:xfrm>
            <a:off x="548640" y="2980944"/>
            <a:ext cx="11094415" cy="621792"/>
          </a:xfrm>
          <a:prstGeom prst="roundRect">
            <a:avLst>
              <a:gd name="adj" fmla="val 17647"/>
            </a:avLst>
          </a:prstGeom>
          <a:solidFill>
            <a:srgbClr val="FFFFFF"/>
          </a:solidFill>
          <a:ln w="9525">
            <a:solidFill>
              <a:srgbClr val="DDE1EE"/>
            </a:solidFill>
            <a:prstDash val="solid"/>
          </a:ln>
        </p:spPr>
      </p:sp>
      <p:sp>
        <p:nvSpPr>
          <p:cNvPr id="13" name="Shape 11"/>
          <p:cNvSpPr/>
          <p:nvPr/>
        </p:nvSpPr>
        <p:spPr>
          <a:xfrm>
            <a:off x="11121847" y="3099816"/>
            <a:ext cx="384048" cy="384048"/>
          </a:xfrm>
          <a:prstGeom prst="ellipse">
            <a:avLst/>
          </a:prstGeom>
          <a:solidFill>
            <a:srgbClr val="2F3690"/>
          </a:solidFill>
          <a:ln w="12700">
            <a:solidFill>
              <a:srgbClr val="2F3690"/>
            </a:solidFill>
            <a:prstDash val="solid"/>
          </a:ln>
        </p:spPr>
      </p:sp>
      <p:sp>
        <p:nvSpPr>
          <p:cNvPr id="14" name="Text 12"/>
          <p:cNvSpPr txBox="1"/>
          <p:nvPr/>
        </p:nvSpPr>
        <p:spPr>
          <a:xfrm>
            <a:off x="11121847" y="3099816"/>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۲</a:t>
            </a:r>
            <a:endParaRPr lang="en-US" sz="1300" dirty="0"/>
          </a:p>
        </p:txBody>
      </p:sp>
      <p:sp>
        <p:nvSpPr>
          <p:cNvPr id="15" name="Text 13"/>
          <p:cNvSpPr txBox="1"/>
          <p:nvPr/>
        </p:nvSpPr>
        <p:spPr>
          <a:xfrm>
            <a:off x="8854135" y="2980944"/>
            <a:ext cx="2103120" cy="621792"/>
          </a:xfrm>
          <a:prstGeom prst="rect">
            <a:avLst/>
          </a:prstGeom>
          <a:noFill/>
          <a:ln/>
        </p:spPr>
        <p:txBody>
          <a:bodyPr wrap="square" lIns="0" tIns="0" rIns="0" bIns="0" rtlCol="0" anchor="ctr"/>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تعیین بازه</a:t>
            </a:r>
            <a:endParaRPr lang="en-US" sz="1300" dirty="0"/>
          </a:p>
        </p:txBody>
      </p:sp>
      <p:sp>
        <p:nvSpPr>
          <p:cNvPr id="16" name="Text 14"/>
          <p:cNvSpPr txBox="1"/>
          <p:nvPr/>
        </p:nvSpPr>
        <p:spPr>
          <a:xfrm>
            <a:off x="685800" y="2980944"/>
            <a:ext cx="8031175" cy="621792"/>
          </a:xfrm>
          <a:prstGeom prst="rect">
            <a:avLst/>
          </a:prstGeom>
          <a:noFill/>
          <a:ln/>
        </p:spPr>
        <p:txBody>
          <a:bodyPr wrap="square" lIns="0" tIns="0" rIns="0" bIns="0" rtlCol="0" anchor="ctr"/>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S = lastSettledBlock() و L = eth_blockNumber (آخرین بلاک مهرشده)؛ بازه [S+1, L]. اگر L &lt; S+1 کاری نیست. QBFT نهایی‌شدن فوری دارد، پس margin اضافه لازم نیست.</a:t>
            </a:r>
            <a:endParaRPr lang="en-US" sz="1150" dirty="0"/>
          </a:p>
        </p:txBody>
      </p:sp>
      <p:sp>
        <p:nvSpPr>
          <p:cNvPr id="17" name="Shape 15"/>
          <p:cNvSpPr/>
          <p:nvPr/>
        </p:nvSpPr>
        <p:spPr>
          <a:xfrm>
            <a:off x="548640" y="3675888"/>
            <a:ext cx="11094415" cy="621792"/>
          </a:xfrm>
          <a:prstGeom prst="roundRect">
            <a:avLst>
              <a:gd name="adj" fmla="val 17647"/>
            </a:avLst>
          </a:prstGeom>
          <a:solidFill>
            <a:srgbClr val="F7F9FC"/>
          </a:solidFill>
          <a:ln w="9525">
            <a:solidFill>
              <a:srgbClr val="DDE1EE"/>
            </a:solidFill>
            <a:prstDash val="solid"/>
          </a:ln>
        </p:spPr>
      </p:sp>
      <p:sp>
        <p:nvSpPr>
          <p:cNvPr id="18" name="Shape 16"/>
          <p:cNvSpPr/>
          <p:nvPr/>
        </p:nvSpPr>
        <p:spPr>
          <a:xfrm>
            <a:off x="11121847" y="3794760"/>
            <a:ext cx="384048" cy="384048"/>
          </a:xfrm>
          <a:prstGeom prst="ellipse">
            <a:avLst/>
          </a:prstGeom>
          <a:solidFill>
            <a:srgbClr val="2F3690"/>
          </a:solidFill>
          <a:ln w="12700">
            <a:solidFill>
              <a:srgbClr val="2F3690"/>
            </a:solidFill>
            <a:prstDash val="solid"/>
          </a:ln>
        </p:spPr>
      </p:sp>
      <p:sp>
        <p:nvSpPr>
          <p:cNvPr id="19" name="Text 17"/>
          <p:cNvSpPr txBox="1"/>
          <p:nvPr/>
        </p:nvSpPr>
        <p:spPr>
          <a:xfrm>
            <a:off x="11121847" y="3794760"/>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۳</a:t>
            </a:r>
            <a:endParaRPr lang="en-US" sz="1300" dirty="0"/>
          </a:p>
        </p:txBody>
      </p:sp>
      <p:sp>
        <p:nvSpPr>
          <p:cNvPr id="20" name="Text 18"/>
          <p:cNvSpPr txBox="1"/>
          <p:nvPr/>
        </p:nvSpPr>
        <p:spPr>
          <a:xfrm>
            <a:off x="8854135" y="3675888"/>
            <a:ext cx="2103120" cy="621792"/>
          </a:xfrm>
          <a:prstGeom prst="rect">
            <a:avLst/>
          </a:prstGeom>
          <a:noFill/>
          <a:ln/>
        </p:spPr>
        <p:txBody>
          <a:bodyPr wrap="square" lIns="0" tIns="0" rIns="0" bIns="0" rtlCol="0" anchor="ctr"/>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اسکن هر بلاک</a:t>
            </a:r>
            <a:endParaRPr lang="en-US" sz="1300" dirty="0"/>
          </a:p>
        </p:txBody>
      </p:sp>
      <p:sp>
        <p:nvSpPr>
          <p:cNvPr id="21" name="Text 19"/>
          <p:cNvSpPr txBox="1"/>
          <p:nvPr/>
        </p:nvSpPr>
        <p:spPr>
          <a:xfrm>
            <a:off x="685800" y="3675888"/>
            <a:ext cx="8031175" cy="621792"/>
          </a:xfrm>
          <a:prstGeom prst="rect">
            <a:avLst/>
          </a:prstGeom>
          <a:noFill/>
          <a:ln/>
        </p:spPr>
        <p:txBody>
          <a:bodyPr wrap="square" lIns="0" tIns="0" rIns="0" bIns="0" rtlCol="0" anchor="ctr"/>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miner از eth_getBlockByNumber؛ ریوارد از trace_block؛ کارمزد از رسید تراکنش‌ها؛ صلاحیت تولیدکننده در ارتفاع N−1.</a:t>
            </a:r>
            <a:endParaRPr lang="en-US" sz="1150" dirty="0"/>
          </a:p>
        </p:txBody>
      </p:sp>
      <p:sp>
        <p:nvSpPr>
          <p:cNvPr id="22" name="Shape 20"/>
          <p:cNvSpPr/>
          <p:nvPr/>
        </p:nvSpPr>
        <p:spPr>
          <a:xfrm>
            <a:off x="548640" y="4370832"/>
            <a:ext cx="11094415" cy="621792"/>
          </a:xfrm>
          <a:prstGeom prst="roundRect">
            <a:avLst>
              <a:gd name="adj" fmla="val 17647"/>
            </a:avLst>
          </a:prstGeom>
          <a:solidFill>
            <a:srgbClr val="FFFFFF"/>
          </a:solidFill>
          <a:ln w="9525">
            <a:solidFill>
              <a:srgbClr val="DDE1EE"/>
            </a:solidFill>
            <a:prstDash val="solid"/>
          </a:ln>
        </p:spPr>
      </p:sp>
      <p:sp>
        <p:nvSpPr>
          <p:cNvPr id="23" name="Shape 21"/>
          <p:cNvSpPr/>
          <p:nvPr/>
        </p:nvSpPr>
        <p:spPr>
          <a:xfrm>
            <a:off x="11121847" y="4489704"/>
            <a:ext cx="384048" cy="384048"/>
          </a:xfrm>
          <a:prstGeom prst="ellipse">
            <a:avLst/>
          </a:prstGeom>
          <a:solidFill>
            <a:srgbClr val="2F3690"/>
          </a:solidFill>
          <a:ln w="12700">
            <a:solidFill>
              <a:srgbClr val="2F3690"/>
            </a:solidFill>
            <a:prstDash val="solid"/>
          </a:ln>
        </p:spPr>
      </p:sp>
      <p:sp>
        <p:nvSpPr>
          <p:cNvPr id="24" name="Text 22"/>
          <p:cNvSpPr txBox="1"/>
          <p:nvPr/>
        </p:nvSpPr>
        <p:spPr>
          <a:xfrm>
            <a:off x="11121847" y="4489704"/>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۴</a:t>
            </a:r>
            <a:endParaRPr lang="en-US" sz="1300" dirty="0"/>
          </a:p>
        </p:txBody>
      </p:sp>
      <p:sp>
        <p:nvSpPr>
          <p:cNvPr id="25" name="Text 23"/>
          <p:cNvSpPr txBox="1"/>
          <p:nvPr/>
        </p:nvSpPr>
        <p:spPr>
          <a:xfrm>
            <a:off x="8854135" y="4370832"/>
            <a:ext cx="2103120" cy="621792"/>
          </a:xfrm>
          <a:prstGeom prst="rect">
            <a:avLst/>
          </a:prstGeom>
          <a:noFill/>
          <a:ln/>
        </p:spPr>
        <p:txBody>
          <a:bodyPr wrap="square" lIns="0" tIns="0" rIns="0" bIns="0" rtlCol="0" anchor="ctr"/>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تجمیع</a:t>
            </a:r>
            <a:endParaRPr lang="en-US" sz="1300" dirty="0"/>
          </a:p>
        </p:txBody>
      </p:sp>
      <p:sp>
        <p:nvSpPr>
          <p:cNvPr id="26" name="Text 24"/>
          <p:cNvSpPr txBox="1"/>
          <p:nvPr/>
        </p:nvSpPr>
        <p:spPr>
          <a:xfrm>
            <a:off x="685800" y="4370832"/>
            <a:ext cx="8031175" cy="621792"/>
          </a:xfrm>
          <a:prstGeom prst="rect">
            <a:avLst/>
          </a:prstGeom>
          <a:noFill/>
          <a:ln/>
        </p:spPr>
        <p:txBody>
          <a:bodyPr wrap="square" lIns="0" tIns="0" rIns="0" bIns="0" rtlCol="0" anchor="ctr"/>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تعداد بلاک و جمع ریوارد و کارمزد هر miner؛ آرایه‌ها بر اساس مقدار عددی آدرس صعودی و بدون تکرار.</a:t>
            </a:r>
            <a:endParaRPr lang="en-US" sz="1150" dirty="0"/>
          </a:p>
        </p:txBody>
      </p:sp>
      <p:sp>
        <p:nvSpPr>
          <p:cNvPr id="27" name="Shape 25"/>
          <p:cNvSpPr/>
          <p:nvPr/>
        </p:nvSpPr>
        <p:spPr>
          <a:xfrm>
            <a:off x="548640" y="5065776"/>
            <a:ext cx="11094415" cy="621792"/>
          </a:xfrm>
          <a:prstGeom prst="roundRect">
            <a:avLst>
              <a:gd name="adj" fmla="val 17647"/>
            </a:avLst>
          </a:prstGeom>
          <a:solidFill>
            <a:srgbClr val="F7F9FC"/>
          </a:solidFill>
          <a:ln w="9525">
            <a:solidFill>
              <a:srgbClr val="DDE1EE"/>
            </a:solidFill>
            <a:prstDash val="solid"/>
          </a:ln>
        </p:spPr>
      </p:sp>
      <p:sp>
        <p:nvSpPr>
          <p:cNvPr id="28" name="Shape 26"/>
          <p:cNvSpPr/>
          <p:nvPr/>
        </p:nvSpPr>
        <p:spPr>
          <a:xfrm>
            <a:off x="11121847" y="5184648"/>
            <a:ext cx="384048" cy="384048"/>
          </a:xfrm>
          <a:prstGeom prst="ellipse">
            <a:avLst/>
          </a:prstGeom>
          <a:solidFill>
            <a:srgbClr val="2F3690"/>
          </a:solidFill>
          <a:ln w="12700">
            <a:solidFill>
              <a:srgbClr val="2F3690"/>
            </a:solidFill>
            <a:prstDash val="solid"/>
          </a:ln>
        </p:spPr>
      </p:sp>
      <p:sp>
        <p:nvSpPr>
          <p:cNvPr id="29" name="Text 27"/>
          <p:cNvSpPr txBox="1"/>
          <p:nvPr/>
        </p:nvSpPr>
        <p:spPr>
          <a:xfrm>
            <a:off x="11121847" y="5184648"/>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۵</a:t>
            </a:r>
            <a:endParaRPr lang="en-US" sz="1300" dirty="0"/>
          </a:p>
        </p:txBody>
      </p:sp>
      <p:sp>
        <p:nvSpPr>
          <p:cNvPr id="30" name="Text 28"/>
          <p:cNvSpPr txBox="1"/>
          <p:nvPr/>
        </p:nvSpPr>
        <p:spPr>
          <a:xfrm>
            <a:off x="8854135" y="5065776"/>
            <a:ext cx="2103120" cy="621792"/>
          </a:xfrm>
          <a:prstGeom prst="rect">
            <a:avLst/>
          </a:prstGeom>
          <a:noFill/>
          <a:ln/>
        </p:spPr>
        <p:txBody>
          <a:bodyPr wrap="square" lIns="0" tIns="0" rIns="0" bIns="0" rtlCol="0" anchor="ctr"/>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کنترل پیش از ارسال</a:t>
            </a:r>
            <a:endParaRPr lang="en-US" sz="1300" dirty="0"/>
          </a:p>
        </p:txBody>
      </p:sp>
      <p:sp>
        <p:nvSpPr>
          <p:cNvPr id="31" name="Text 29"/>
          <p:cNvSpPr txBox="1"/>
          <p:nvPr/>
        </p:nvSpPr>
        <p:spPr>
          <a:xfrm>
            <a:off x="685800" y="5065776"/>
            <a:ext cx="8031175" cy="621792"/>
          </a:xfrm>
          <a:prstGeom prst="rect">
            <a:avLst/>
          </a:prstGeom>
          <a:noFill/>
          <a:ln/>
        </p:spPr>
        <p:txBody>
          <a:bodyPr wrap="square" lIns="0" tIns="0" rIns="0" bIns="0" rtlCol="0" anchor="ctr"/>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معادله‌ی موجودی، مقایسه با سقف پاداش، sum(blocksMined) ≤ اندازه‌ی بازه.</a:t>
            </a:r>
            <a:endParaRPr lang="en-US" sz="1150" dirty="0"/>
          </a:p>
        </p:txBody>
      </p:sp>
      <p:sp>
        <p:nvSpPr>
          <p:cNvPr id="32" name="Shape 30"/>
          <p:cNvSpPr/>
          <p:nvPr/>
        </p:nvSpPr>
        <p:spPr>
          <a:xfrm>
            <a:off x="548640" y="5760720"/>
            <a:ext cx="11094415" cy="621792"/>
          </a:xfrm>
          <a:prstGeom prst="roundRect">
            <a:avLst>
              <a:gd name="adj" fmla="val 17647"/>
            </a:avLst>
          </a:prstGeom>
          <a:solidFill>
            <a:srgbClr val="FFFFFF"/>
          </a:solidFill>
          <a:ln w="9525">
            <a:solidFill>
              <a:srgbClr val="DDE1EE"/>
            </a:solidFill>
            <a:prstDash val="solid"/>
          </a:ln>
        </p:spPr>
      </p:sp>
      <p:sp>
        <p:nvSpPr>
          <p:cNvPr id="33" name="Shape 31"/>
          <p:cNvSpPr/>
          <p:nvPr/>
        </p:nvSpPr>
        <p:spPr>
          <a:xfrm>
            <a:off x="11121847" y="5879592"/>
            <a:ext cx="384048" cy="384048"/>
          </a:xfrm>
          <a:prstGeom prst="ellipse">
            <a:avLst/>
          </a:prstGeom>
          <a:solidFill>
            <a:srgbClr val="2F3690"/>
          </a:solidFill>
          <a:ln w="12700">
            <a:solidFill>
              <a:srgbClr val="2F3690"/>
            </a:solidFill>
            <a:prstDash val="solid"/>
          </a:ln>
        </p:spPr>
      </p:sp>
      <p:sp>
        <p:nvSpPr>
          <p:cNvPr id="34" name="Text 32"/>
          <p:cNvSpPr txBox="1"/>
          <p:nvPr/>
        </p:nvSpPr>
        <p:spPr>
          <a:xfrm>
            <a:off x="11121847" y="5879592"/>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۶</a:t>
            </a:r>
            <a:endParaRPr lang="en-US" sz="1300" dirty="0"/>
          </a:p>
        </p:txBody>
      </p:sp>
      <p:sp>
        <p:nvSpPr>
          <p:cNvPr id="35" name="Text 33"/>
          <p:cNvSpPr txBox="1"/>
          <p:nvPr/>
        </p:nvSpPr>
        <p:spPr>
          <a:xfrm>
            <a:off x="8854135" y="5760720"/>
            <a:ext cx="2103120" cy="621792"/>
          </a:xfrm>
          <a:prstGeom prst="rect">
            <a:avLst/>
          </a:prstGeom>
          <a:noFill/>
          <a:ln/>
        </p:spPr>
        <p:txBody>
          <a:bodyPr wrap="square" lIns="0" tIns="0" rIns="0" bIns="0" rtlCol="0" anchor="ctr"/>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ارسال و تطبیق</a:t>
            </a:r>
            <a:endParaRPr lang="en-US" sz="1300" dirty="0"/>
          </a:p>
        </p:txBody>
      </p:sp>
      <p:sp>
        <p:nvSpPr>
          <p:cNvPr id="36" name="Text 34"/>
          <p:cNvSpPr txBox="1"/>
          <p:nvPr/>
        </p:nvSpPr>
        <p:spPr>
          <a:xfrm>
            <a:off x="685800" y="5760720"/>
            <a:ext cx="8031175" cy="621792"/>
          </a:xfrm>
          <a:prstGeom prst="rect">
            <a:avLst/>
          </a:prstGeom>
          <a:noFill/>
          <a:ln/>
        </p:spPr>
        <p:txBody>
          <a:bodyPr wrap="square" lIns="0" tIns="0" rIns="0" bIns="0" rtlCol="0" anchor="ctr"/>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ثبت پایدار، امضا، broadcast؛ سپس تطبیق رسید و lastSettledBlock (اسلاید ۲۵).</a:t>
            </a:r>
            <a:endParaRPr lang="en-US" sz="11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سرویس‌های آف‌چین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500" b="1" dirty="0">
                <a:solidFill>
                  <a:srgbClr val="1B1B2F"/>
                </a:solidFill>
                <a:latin typeface="Vazirmatn" pitchFamily="34" charset="0"/>
                <a:ea typeface="Vazirmatn" pitchFamily="34" charset="-122"/>
                <a:cs typeface="Vazirmatn" pitchFamily="34" charset="-120"/>
              </a:rPr>
              <a:t>RewardRouter: محاسبه‌ی مبالغ و کنترل‌های پیش از ارسال</a:t>
            </a:r>
            <a:endParaRPr lang="en-US" sz="25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24</a:t>
            </a:r>
            <a:endParaRPr lang="en-US" sz="1000" dirty="0"/>
          </a:p>
        </p:txBody>
      </p:sp>
      <p:sp>
        <p:nvSpPr>
          <p:cNvPr id="6" name="Shape 4"/>
          <p:cNvSpPr/>
          <p:nvPr/>
        </p:nvSpPr>
        <p:spPr>
          <a:xfrm>
            <a:off x="6233465" y="1417320"/>
            <a:ext cx="5410048" cy="2286000"/>
          </a:xfrm>
          <a:prstGeom prst="roundRect">
            <a:avLst>
              <a:gd name="adj" fmla="val 4800"/>
            </a:avLst>
          </a:prstGeom>
          <a:solidFill>
            <a:srgbClr val="F7F9FC"/>
          </a:solidFill>
          <a:ln w="9525">
            <a:solidFill>
              <a:srgbClr val="DDE1EE"/>
            </a:solidFill>
            <a:prstDash val="solid"/>
          </a:ln>
        </p:spPr>
      </p:sp>
      <p:sp>
        <p:nvSpPr>
          <p:cNvPr id="7" name="Shape 5"/>
          <p:cNvSpPr/>
          <p:nvPr/>
        </p:nvSpPr>
        <p:spPr>
          <a:xfrm>
            <a:off x="10957712"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3501" y="1735988"/>
            <a:ext cx="231343" cy="231343"/>
          </a:xfrm>
          <a:prstGeom prst="rect">
            <a:avLst/>
          </a:prstGeom>
        </p:spPr>
      </p:pic>
      <p:sp>
        <p:nvSpPr>
          <p:cNvPr id="9" name="Text 6"/>
          <p:cNvSpPr txBox="1"/>
          <p:nvPr/>
        </p:nvSpPr>
        <p:spPr>
          <a:xfrm>
            <a:off x="6416345"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ریوارد و کارمزد</a:t>
            </a:r>
            <a:endParaRPr lang="en-US" sz="1550" dirty="0"/>
          </a:p>
        </p:txBody>
      </p:sp>
      <p:sp>
        <p:nvSpPr>
          <p:cNvPr id="10" name="Text 7"/>
          <p:cNvSpPr txBox="1"/>
          <p:nvPr/>
        </p:nvSpPr>
        <p:spPr>
          <a:xfrm>
            <a:off x="6416345" y="2286000"/>
            <a:ext cx="5044288" cy="132588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ریوارد: فقط entry از نوع reward در trace_block. کارمزد هر تراکنش: gasUsed × (effectiveGasPrice − baseFeePerGas) با baseFeePerGas از هدر همان بلاک (اگر وجود ندارد یا صفر است: gasUsed × effectiveGasPrice). کارمزد هرگز از trace_block حساب نمی‌شود.</a:t>
            </a:r>
            <a:endParaRPr lang="en-US" sz="1150" dirty="0"/>
          </a:p>
        </p:txBody>
      </p:sp>
      <p:sp>
        <p:nvSpPr>
          <p:cNvPr id="11" name="Shape 8"/>
          <p:cNvSpPr/>
          <p:nvPr/>
        </p:nvSpPr>
        <p:spPr>
          <a:xfrm>
            <a:off x="548640" y="1417320"/>
            <a:ext cx="5410048" cy="2286000"/>
          </a:xfrm>
          <a:prstGeom prst="roundRect">
            <a:avLst>
              <a:gd name="adj" fmla="val 4800"/>
            </a:avLst>
          </a:prstGeom>
          <a:solidFill>
            <a:srgbClr val="F7F9FC"/>
          </a:solidFill>
          <a:ln w="9525">
            <a:solidFill>
              <a:srgbClr val="DDE1EE"/>
            </a:solidFill>
            <a:prstDash val="solid"/>
          </a:ln>
        </p:spPr>
      </p:sp>
      <p:sp>
        <p:nvSpPr>
          <p:cNvPr id="12" name="Shape 9"/>
          <p:cNvSpPr/>
          <p:nvPr/>
        </p:nvSpPr>
        <p:spPr>
          <a:xfrm>
            <a:off x="5272888" y="1600200"/>
            <a:ext cx="502920" cy="502920"/>
          </a:xfrm>
          <a:prstGeom prst="ellipse">
            <a:avLst/>
          </a:prstGeom>
          <a:solidFill>
            <a:srgbClr val="2F3690"/>
          </a:solidFill>
          <a:ln w="12700">
            <a:solidFill>
              <a:srgbClr val="2F3690"/>
            </a:solidFill>
            <a:prstDash val="solid"/>
          </a:ln>
        </p:spPr>
      </p:sp>
      <p:pic>
        <p:nvPicPr>
          <p:cNvPr id="13" name="Image 1" descr="preencoded.png">    </p:cNvPr>
          <p:cNvPicPr>
            <a:picLocks noChangeAspect="1"/>
          </p:cNvPicPr>
          <p:nvPr/>
        </p:nvPicPr>
        <p:blipFill>
          <a:blip r:embed="rId2"/>
          <a:stretch>
            <a:fillRect/>
          </a:stretch>
        </p:blipFill>
        <p:spPr>
          <a:xfrm>
            <a:off x="5408676" y="1735988"/>
            <a:ext cx="231343" cy="231343"/>
          </a:xfrm>
          <a:prstGeom prst="rect">
            <a:avLst/>
          </a:prstGeom>
        </p:spPr>
      </p:pic>
      <p:sp>
        <p:nvSpPr>
          <p:cNvPr id="14" name="Text 10"/>
          <p:cNvSpPr txBox="1"/>
          <p:nvPr/>
        </p:nvSpPr>
        <p:spPr>
          <a:xfrm>
            <a:off x="731520"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معادله‌ی موجودی</a:t>
            </a:r>
            <a:endParaRPr lang="en-US" sz="1550" dirty="0"/>
          </a:p>
        </p:txBody>
      </p:sp>
      <p:sp>
        <p:nvSpPr>
          <p:cNvPr id="15" name="Text 11"/>
          <p:cNvSpPr txBox="1"/>
          <p:nvPr/>
        </p:nvSpPr>
        <p:spPr>
          <a:xfrm>
            <a:off x="731520" y="2286000"/>
            <a:ext cx="5044288" cy="132588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برای بازه‌ی [f, t]: B(t) − B(f−1) = R + F + M + X − P (R ریوارد، F کارمزد، M کارمزد عضویت ورودی، X واریز دیگر، P خروجی توزیع‌های بازه). اگر نبست یا totalFees ≠ F، ارسال نمی‌شود و هشدار می‌دهد.</a:t>
            </a:r>
            <a:endParaRPr lang="en-US" sz="1150" dirty="0"/>
          </a:p>
        </p:txBody>
      </p:sp>
      <p:sp>
        <p:nvSpPr>
          <p:cNvPr id="16" name="Shape 12"/>
          <p:cNvSpPr/>
          <p:nvPr/>
        </p:nvSpPr>
        <p:spPr>
          <a:xfrm>
            <a:off x="6233465" y="3886200"/>
            <a:ext cx="5410048" cy="2286000"/>
          </a:xfrm>
          <a:prstGeom prst="roundRect">
            <a:avLst>
              <a:gd name="adj" fmla="val 4800"/>
            </a:avLst>
          </a:prstGeom>
          <a:solidFill>
            <a:srgbClr val="FCEAE4"/>
          </a:solidFill>
          <a:ln w="9525">
            <a:solidFill>
              <a:srgbClr val="FCEAE4"/>
            </a:solidFill>
            <a:prstDash val="solid"/>
          </a:ln>
        </p:spPr>
      </p:sp>
      <p:sp>
        <p:nvSpPr>
          <p:cNvPr id="17" name="Shape 13"/>
          <p:cNvSpPr/>
          <p:nvPr/>
        </p:nvSpPr>
        <p:spPr>
          <a:xfrm>
            <a:off x="10957712" y="4069080"/>
            <a:ext cx="502920" cy="502920"/>
          </a:xfrm>
          <a:prstGeom prst="ellipse">
            <a:avLst/>
          </a:prstGeom>
          <a:solidFill>
            <a:srgbClr val="C8431F"/>
          </a:solidFill>
          <a:ln w="12700">
            <a:solidFill>
              <a:srgbClr val="C8431F"/>
            </a:solidFill>
            <a:prstDash val="solid"/>
          </a:ln>
        </p:spPr>
      </p:sp>
      <p:pic>
        <p:nvPicPr>
          <p:cNvPr id="18" name="Image 2" descr="preencoded.png">    </p:cNvPr>
          <p:cNvPicPr>
            <a:picLocks noChangeAspect="1"/>
          </p:cNvPicPr>
          <p:nvPr/>
        </p:nvPicPr>
        <p:blipFill>
          <a:blip r:embed="rId3"/>
          <a:stretch>
            <a:fillRect/>
          </a:stretch>
        </p:blipFill>
        <p:spPr>
          <a:xfrm>
            <a:off x="11093501" y="4204868"/>
            <a:ext cx="231343" cy="231343"/>
          </a:xfrm>
          <a:prstGeom prst="rect">
            <a:avLst/>
          </a:prstGeom>
        </p:spPr>
      </p:pic>
      <p:sp>
        <p:nvSpPr>
          <p:cNvPr id="19" name="Text 14"/>
          <p:cNvSpPr txBox="1"/>
          <p:nvPr/>
        </p:nvSpPr>
        <p:spPr>
          <a:xfrm>
            <a:off x="6416345"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سقف پاداش</a:t>
            </a:r>
            <a:endParaRPr lang="en-US" sz="1550" dirty="0"/>
          </a:p>
        </p:txBody>
      </p:sp>
      <p:sp>
        <p:nvSpPr>
          <p:cNvPr id="20" name="Text 15"/>
          <p:cNvSpPr txBox="1"/>
          <p:nvPr/>
        </p:nvSpPr>
        <p:spPr>
          <a:xfrm>
            <a:off x="6416345" y="4754880"/>
            <a:ext cx="5044288" cy="132588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maxRewardsForRange(from, to) از قرارداد خوانده می‌شود. اگر پاداش واقعی بیشتر باشد، کل بازه متوقف می‌شود و totalRewards هرگز کم نمی‌شود؛ lastSettledBlock نمی‌گذرد. اگر کمتر باشد، ناهماهنگی نرخ ثبت و هشدار داده می‌شود.</a:t>
            </a:r>
            <a:endParaRPr lang="en-US" sz="1150" dirty="0"/>
          </a:p>
        </p:txBody>
      </p:sp>
      <p:sp>
        <p:nvSpPr>
          <p:cNvPr id="21" name="Shape 16"/>
          <p:cNvSpPr/>
          <p:nvPr/>
        </p:nvSpPr>
        <p:spPr>
          <a:xfrm>
            <a:off x="548640" y="3886200"/>
            <a:ext cx="5410048" cy="2286000"/>
          </a:xfrm>
          <a:prstGeom prst="roundRect">
            <a:avLst>
              <a:gd name="adj" fmla="val 4800"/>
            </a:avLst>
          </a:prstGeom>
          <a:solidFill>
            <a:srgbClr val="F7F9FC"/>
          </a:solidFill>
          <a:ln w="9525">
            <a:solidFill>
              <a:srgbClr val="DDE1EE"/>
            </a:solidFill>
            <a:prstDash val="solid"/>
          </a:ln>
        </p:spPr>
      </p:sp>
      <p:sp>
        <p:nvSpPr>
          <p:cNvPr id="22" name="Shape 17"/>
          <p:cNvSpPr/>
          <p:nvPr/>
        </p:nvSpPr>
        <p:spPr>
          <a:xfrm>
            <a:off x="5272888" y="4069080"/>
            <a:ext cx="502920" cy="502920"/>
          </a:xfrm>
          <a:prstGeom prst="ellipse">
            <a:avLst/>
          </a:prstGeom>
          <a:solidFill>
            <a:srgbClr val="2F3690"/>
          </a:solidFill>
          <a:ln w="12700">
            <a:solidFill>
              <a:srgbClr val="2F3690"/>
            </a:solidFill>
            <a:prstDash val="solid"/>
          </a:ln>
        </p:spPr>
      </p:sp>
      <p:pic>
        <p:nvPicPr>
          <p:cNvPr id="23" name="Image 3" descr="preencoded.png">    </p:cNvPr>
          <p:cNvPicPr>
            <a:picLocks noChangeAspect="1"/>
          </p:cNvPicPr>
          <p:nvPr/>
        </p:nvPicPr>
        <p:blipFill>
          <a:blip r:embed="rId4"/>
          <a:stretch>
            <a:fillRect/>
          </a:stretch>
        </p:blipFill>
        <p:spPr>
          <a:xfrm>
            <a:off x="5408676" y="4204868"/>
            <a:ext cx="231343" cy="231343"/>
          </a:xfrm>
          <a:prstGeom prst="rect">
            <a:avLst/>
          </a:prstGeom>
        </p:spPr>
      </p:pic>
      <p:sp>
        <p:nvSpPr>
          <p:cNvPr id="24" name="Text 18"/>
          <p:cNvSpPr txBox="1"/>
          <p:nvPr/>
        </p:nvSpPr>
        <p:spPr>
          <a:xfrm>
            <a:off x="731520"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صلاحیت تولیدکننده</a:t>
            </a:r>
            <a:endParaRPr lang="en-US" sz="1550" dirty="0"/>
          </a:p>
        </p:txBody>
      </p:sp>
      <p:sp>
        <p:nvSpPr>
          <p:cNvPr id="25" name="Text 19"/>
          <p:cNvSpPr txBox="1"/>
          <p:nvPr/>
        </p:nvSpPr>
        <p:spPr>
          <a:xfrm>
            <a:off x="731520" y="4754880"/>
            <a:ext cx="5044288" cy="132588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ولیدیتوری که هنگام تولید Active بوده، حتی بعد از خروج یا تعلیق پاداش بلاک‌هایش را می‌گیرد: isValidator روی ارتفاع N−1 (نود آرشیوی) یا بازسازی از StatusDecisionRecorded و ExitRequested با مؤسسان Active از بلاک صفر. شمارش ناقص یا صلاحیت نامعلوم یعنی ارسال نشدن همان بازه.</a:t>
            </a:r>
            <a:endParaRPr lang="en-US" sz="11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سرویس‌های آف‌چین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RewardRouter: ارسال ایمن، crash و جدول‌ها</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25</a:t>
            </a:r>
            <a:endParaRPr lang="en-US" sz="1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7345375" y="1417320"/>
          <a:ext cx="4297680" cy="914400"/>
        </p:xfrm>
        <a:graphic>
          <a:graphicData uri="http://schemas.openxmlformats.org/drawingml/2006/table">
            <a:tbl>
              <a:tblPr/>
              <a:tblGrid>
                <a:gridCol w="2560320"/>
                <a:gridCol w="1737360"/>
              </a:tblGrid>
              <a:tr h="365760">
                <a:tc>
                  <a:txBody>
                    <a:bodyPr/>
                    <a:lstStyle/>
                    <a:p>
                      <a:pPr rtl="1" algn="r" indent="0" marL="0">
                        <a:buNone/>
                      </a:pPr>
                      <a:r>
                        <a:rPr lang="fa-IR" altLang="en-US" sz="1100" b="1" dirty="0">
                          <a:solidFill>
                            <a:srgbClr val="FFFFFF"/>
                          </a:solidFill>
                          <a:latin typeface="Vazirmatn" pitchFamily="34" charset="0"/>
                          <a:ea typeface="Vazirmatn" pitchFamily="34" charset="-122"/>
                          <a:cs typeface="Vazirmatn" pitchFamily="34" charset="-120"/>
                        </a:rPr>
                        <a:t>معنا</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00" b="1" dirty="0">
                          <a:solidFill>
                            <a:srgbClr val="FFFFFF"/>
                          </a:solidFill>
                          <a:latin typeface="Vazirmatn" pitchFamily="34" charset="0"/>
                          <a:ea typeface="Vazirmatn" pitchFamily="34" charset="-122"/>
                          <a:cs typeface="Vazirmatn" pitchFamily="34" charset="-120"/>
                        </a:rPr>
                        <a:t>وضعیت epoch</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457200">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بازه، مبالغ، calldata و nonce رزرو شد؛ هنوز ارسال نشده</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prepared</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384048">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broadcast شد؛ رسید نیامده</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submitted</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57200">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timeout یا قطع ارتباط؛ هرگز شکست قطعی نیست</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unknown</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رسید با status ۱ یا ۰؛ هر دو نهایی‌اند</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confirmed / reverted</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graphicFrame>
        <p:nvGraphicFramePr>
          <p:cNvPr id="51" name="Table 1"/>
          <p:cNvGraphicFramePr>
            <a:graphicFrameLocks noGrp="1"/>
          </p:cNvGraphicFramePr>
          <p:nvPr>
            <p:extLst>
              <p:ext uri="{D42A27DB-BD31-4B8C-83A1-F6EECF244321}">
                <p14:modId xmlns:p14="http://schemas.microsoft.com/office/powerpoint/2010/main" val="1579011935"/>
              </p:ext>
            </p:extLst>
          </p:nvPr>
        </p:nvGraphicFramePr>
        <p:xfrm>
          <a:off x="548640" y="1417320"/>
          <a:ext cx="5486400" cy="914400"/>
        </p:xfrm>
        <a:graphic>
          <a:graphicData uri="http://schemas.openxmlformats.org/drawingml/2006/table">
            <a:tbl>
              <a:tblPr/>
              <a:tblGrid>
                <a:gridCol w="3566160"/>
                <a:gridCol w="1920240"/>
              </a:tblGrid>
              <a:tr h="365760">
                <a:tc>
                  <a:txBody>
                    <a:bodyPr/>
                    <a:lstStyle/>
                    <a:p>
                      <a:pPr rtl="1" algn="r" indent="0" marL="0">
                        <a:buNone/>
                      </a:pPr>
                      <a:r>
                        <a:rPr lang="fa-IR" altLang="en-US" sz="1050" b="1" dirty="0">
                          <a:solidFill>
                            <a:srgbClr val="FFFFFF"/>
                          </a:solidFill>
                          <a:latin typeface="Vazirmatn" pitchFamily="34" charset="0"/>
                          <a:ea typeface="Vazirmatn" pitchFamily="34" charset="-122"/>
                          <a:cs typeface="Vazirmatn" pitchFamily="34" charset="-120"/>
                        </a:rPr>
                        <a:t>ستون‌های کلیدی</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50" b="1" dirty="0">
                          <a:solidFill>
                            <a:srgbClr val="FFFFFF"/>
                          </a:solidFill>
                          <a:latin typeface="Vazirmatn" pitchFamily="34" charset="0"/>
                          <a:ea typeface="Vazirmatn" pitchFamily="34" charset="-122"/>
                          <a:cs typeface="Vazirmatn" pitchFamily="34" charset="-120"/>
                        </a:rPr>
                        <a:t>جدول</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45720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بازه، مبالغ، status، nonce، calldata، confirmed_tx_hash</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epochs</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هر تلاش ارسال: tx_hash، raw_signed_tx، fee_params، receipt_status</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epoch_txs</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5720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epoch_id، آدرس ولیدیتور، blocks_mined</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validator_epoch_shares</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1050" dirty="0">
                          <a:solidFill>
                            <a:srgbClr val="1B1B2F"/>
                          </a:solidFill>
                          <a:latin typeface="Vazirmatn" pitchFamily="34" charset="0"/>
                          <a:ea typeface="Vazirmatn" pitchFamily="34" charset="-122"/>
                          <a:cs typeface="Vazirmatn" pitchFamily="34" charset="-120"/>
                        </a:rPr>
                        <a:t>last_scanned_block؛ فقط بهینه‌ی خواندن</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50" b="1" dirty="0">
                          <a:solidFill>
                            <a:srgbClr val="1B1B2F"/>
                          </a:solidFill>
                          <a:latin typeface="Vazirmatn" pitchFamily="34" charset="0"/>
                          <a:ea typeface="Vazirmatn" pitchFamily="34" charset="-122"/>
                          <a:cs typeface="Vazirmatn" pitchFamily="34" charset="-120"/>
                        </a:rPr>
                        <a:t>scan_progress</a:t>
                      </a:r>
                      <a:endParaRPr lang="fa-IR" sz="10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
        <p:nvSpPr>
          <p:cNvPr id="8" name="Shape 4"/>
          <p:cNvSpPr/>
          <p:nvPr/>
        </p:nvSpPr>
        <p:spPr>
          <a:xfrm>
            <a:off x="548640" y="3931920"/>
            <a:ext cx="11094415" cy="2377440"/>
          </a:xfrm>
          <a:prstGeom prst="roundRect">
            <a:avLst>
              <a:gd name="adj" fmla="val 4615"/>
            </a:avLst>
          </a:prstGeom>
          <a:solidFill>
            <a:srgbClr val="EEF0FB"/>
          </a:solidFill>
          <a:ln w="9525">
            <a:solidFill>
              <a:srgbClr val="EEF0FB"/>
            </a:solidFill>
            <a:prstDash val="solid"/>
          </a:ln>
        </p:spPr>
      </p:sp>
      <p:sp>
        <p:nvSpPr>
          <p:cNvPr id="9" name="Text 5"/>
          <p:cNvSpPr txBox="1"/>
          <p:nvPr/>
        </p:nvSpPr>
        <p:spPr>
          <a:xfrm>
            <a:off x="731520" y="4005072"/>
            <a:ext cx="10728655" cy="320040"/>
          </a:xfrm>
          <a:prstGeom prst="rect">
            <a:avLst/>
          </a:prstGeom>
          <a:noFill/>
          <a:ln/>
        </p:spPr>
        <p:txBody>
          <a:bodyPr wrap="square" lIns="0" tIns="0" rIns="0" bIns="0" rtlCol="0" anchor="t"/>
          <a:lstStyle/>
          <a:p>
            <a:pPr rtl="1" algn="r" indent="0" marL="0">
              <a:lnSpc>
                <a:spcPct val="105000"/>
              </a:lnSpc>
              <a:buNone/>
            </a:pPr>
            <a:r>
              <a:rPr lang="fa-IR" altLang="en-US" sz="1400" b="1" dirty="0">
                <a:solidFill>
                  <a:srgbClr val="2F3690"/>
                </a:solidFill>
                <a:latin typeface="Vazirmatn" pitchFamily="34" charset="0"/>
                <a:ea typeface="Vazirmatn" pitchFamily="34" charset="-122"/>
                <a:cs typeface="Vazirmatn" pitchFamily="34" charset="-120"/>
              </a:rPr>
              <a:t>ترتیب اجباری ارسال و بازیابی</a:t>
            </a:r>
            <a:endParaRPr lang="en-US" sz="1400" dirty="0"/>
          </a:p>
        </p:txBody>
      </p:sp>
      <p:sp>
        <p:nvSpPr>
          <p:cNvPr id="10" name="Text 6"/>
          <p:cNvSpPr txBox="1"/>
          <p:nvPr/>
        </p:nvSpPr>
        <p:spPr>
          <a:xfrm>
            <a:off x="731520" y="4389120"/>
            <a:ext cx="10728655" cy="1874520"/>
          </a:xfrm>
          <a:prstGeom prst="rect">
            <a:avLst/>
          </a:prstGeom>
          <a:noFill/>
          <a:ln/>
        </p:spPr>
        <p:txBody>
          <a:bodyPr wrap="square" lIns="0" tIns="0" rIns="0" bIns="0" rtlCol="0" anchor="t"/>
          <a:lstStyle/>
          <a:p>
            <a:pPr rtl="1" algn="r" indent="0" marL="0">
              <a:lnSpc>
                <a:spcPct val="105000"/>
              </a:lnSpc>
              <a:spcAft>
                <a:spcPts val="400"/>
              </a:spcAft>
              <a:buNone/>
            </a:pPr>
            <a:r>
              <a:rPr lang="fa-IR" altLang="en-US" sz="1120" dirty="0">
                <a:solidFill>
                  <a:srgbClr val="1B1B2F"/>
                </a:solidFill>
                <a:latin typeface="Vazirmatn" pitchFamily="34" charset="0"/>
                <a:ea typeface="Vazirmatn" pitchFamily="34" charset="-122"/>
                <a:cs typeface="Vazirmatn" pitchFamily="34" charset="-120"/>
              </a:rPr>
              <a:t>۱. تراکنش را با nonce رزروشده امضا کن؛ ۲. raw_signed_tx و tx_hash را با commit پایدار در epoch_txs بنویس؛ ۳. فقط پس از آن eth_sendRawTransaction بزن. بدون ردیف پایدار هرگز broadcast نکن.</a:t>
            </a:r>
            <a:endParaRPr lang="en-US" sz="1120" dirty="0"/>
          </a:p>
          <a:p>
            <a:pPr rtl="1" algn="r" indent="0" marL="0">
              <a:lnSpc>
                <a:spcPct val="105000"/>
              </a:lnSpc>
              <a:spcAft>
                <a:spcPts val="400"/>
              </a:spcAft>
              <a:buNone/>
            </a:pPr>
            <a:r>
              <a:rPr lang="fa-IR" altLang="en-US" sz="1120" dirty="0">
                <a:solidFill>
                  <a:srgbClr val="1B1B2F"/>
                </a:solidFill>
                <a:latin typeface="Vazirmatn" pitchFamily="34" charset="0"/>
                <a:ea typeface="Vazirmatn" pitchFamily="34" charset="-122"/>
                <a:cs typeface="Vazirmatn" pitchFamily="34" charset="-120"/>
              </a:rPr>
              <a:t>پس از restart: رسید همه‌ی hashهای ثبت‌شده، lastSettledBlock و nonce تأییدشده را بخوان. بدون رسید و nonce هنوز مصرف‌نشده: همان بایت‌ها را بازپخش کن. ارسال با nonce دیگر ممنوع است؛ فقط جایگزینی با همان nonce و همان calldata و گس‌پرایس بالاتر (≥ ۱۰٪).</a:t>
            </a:r>
            <a:endParaRPr lang="en-US" sz="1120" dirty="0"/>
          </a:p>
          <a:p>
            <a:pPr rtl="1" algn="r" indent="0" marL="0">
              <a:lnSpc>
                <a:spcPct val="105000"/>
              </a:lnSpc>
              <a:spcAft>
                <a:spcPts val="400"/>
              </a:spcAft>
              <a:buNone/>
            </a:pPr>
            <a:r>
              <a:rPr lang="fa-IR" altLang="en-US" sz="1120" dirty="0">
                <a:solidFill>
                  <a:srgbClr val="1B1B2F"/>
                </a:solidFill>
                <a:latin typeface="Vazirmatn" pitchFamily="34" charset="0"/>
                <a:ea typeface="Vazirmatn" pitchFamily="34" charset="-122"/>
                <a:cs typeface="Vazirmatn" pitchFamily="34" charset="-120"/>
              </a:rPr>
              <a:t>اگر nonce مصرف شده و lastSettledBlock = toBlock، یکی از نسخه‌های جایگزین کار کرده (confirmed). حالت ناسازگار دیگر یعنی توقف و هشدار. پارامترهای جایگزینی (REPLACE_AFTER، MAX_REPLACEMENTS) پیشنهادی‌اند و باید روی txpool واقعی آزموده شوند.</a:t>
            </a:r>
            <a:endParaRPr lang="en-US" sz="112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سرویس‌های آف‌چین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Verifier: وظایف، ورودی‌ها و معماری</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26</a:t>
            </a:r>
            <a:endParaRPr lang="en-US" sz="1000" dirty="0"/>
          </a:p>
        </p:txBody>
      </p:sp>
      <p:sp>
        <p:nvSpPr>
          <p:cNvPr id="6" name="Shape 4"/>
          <p:cNvSpPr/>
          <p:nvPr/>
        </p:nvSpPr>
        <p:spPr>
          <a:xfrm>
            <a:off x="6233465" y="1417320"/>
            <a:ext cx="5410048" cy="2286000"/>
          </a:xfrm>
          <a:prstGeom prst="roundRect">
            <a:avLst>
              <a:gd name="adj" fmla="val 4800"/>
            </a:avLst>
          </a:prstGeom>
          <a:solidFill>
            <a:srgbClr val="F7F9FC"/>
          </a:solidFill>
          <a:ln w="9525">
            <a:solidFill>
              <a:srgbClr val="DDE1EE"/>
            </a:solidFill>
            <a:prstDash val="solid"/>
          </a:ln>
        </p:spPr>
      </p:sp>
      <p:sp>
        <p:nvSpPr>
          <p:cNvPr id="7" name="Shape 5"/>
          <p:cNvSpPr/>
          <p:nvPr/>
        </p:nvSpPr>
        <p:spPr>
          <a:xfrm>
            <a:off x="10957712"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3501" y="1735988"/>
            <a:ext cx="231343" cy="231343"/>
          </a:xfrm>
          <a:prstGeom prst="rect">
            <a:avLst/>
          </a:prstGeom>
        </p:spPr>
      </p:pic>
      <p:sp>
        <p:nvSpPr>
          <p:cNvPr id="9" name="Text 6"/>
          <p:cNvSpPr txBox="1"/>
          <p:nvPr/>
        </p:nvSpPr>
        <p:spPr>
          <a:xfrm>
            <a:off x="6416345"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وظایف</a:t>
            </a:r>
            <a:endParaRPr lang="en-US" sz="1550" dirty="0"/>
          </a:p>
        </p:txBody>
      </p:sp>
      <p:sp>
        <p:nvSpPr>
          <p:cNvPr id="10" name="Text 7"/>
          <p:cNvSpPr txBox="1"/>
          <p:nvPr/>
        </p:nvSpPr>
        <p:spPr>
          <a:xfrm>
            <a:off x="6416345" y="2286000"/>
            <a:ext cx="5044288" cy="1325880"/>
          </a:xfrm>
          <a:prstGeom prst="rect">
            <a:avLst/>
          </a:prstGeom>
          <a:noFill/>
          <a:ln/>
        </p:spPr>
        <p:txBody>
          <a:bodyPr wrap="square" lIns="0" tIns="0" rIns="0" bIns="0" rtlCol="0" anchor="t"/>
          <a:lstStyle/>
          <a:p>
            <a:pPr rtl="1" algn="r" indent="0" marL="0">
              <a:lnSpc>
                <a:spcPct val="105000"/>
              </a:lnSpc>
              <a:buNone/>
            </a:pPr>
            <a:r>
              <a:rPr lang="fa-IR" altLang="en-US" sz="1230" dirty="0">
                <a:solidFill>
                  <a:srgbClr val="1B1B2F"/>
                </a:solidFill>
                <a:latin typeface="Vazirmatn" pitchFamily="34" charset="0"/>
                <a:ea typeface="Vazirmatn" pitchFamily="34" charset="-122"/>
                <a:cs typeface="Vazirmatn" pitchFamily="34" charset="-120"/>
              </a:rPr>
              <a:t>احراز هویت (موبایل و تلگرام)، سنجش سلامت نود ولیدیتورها، نگهداری داده‌ی حساس آف‌چین (شماره، آیدی، nodeID) که هرگز روی زنجیره نمی‌رود، و احراز مداوم اینکه نود در ایران است.</a:t>
            </a:r>
            <a:endParaRPr lang="en-US" sz="1230" dirty="0"/>
          </a:p>
        </p:txBody>
      </p:sp>
      <p:sp>
        <p:nvSpPr>
          <p:cNvPr id="11" name="Shape 8"/>
          <p:cNvSpPr/>
          <p:nvPr/>
        </p:nvSpPr>
        <p:spPr>
          <a:xfrm>
            <a:off x="548640" y="1417320"/>
            <a:ext cx="5410048" cy="2286000"/>
          </a:xfrm>
          <a:prstGeom prst="roundRect">
            <a:avLst>
              <a:gd name="adj" fmla="val 4800"/>
            </a:avLst>
          </a:prstGeom>
          <a:solidFill>
            <a:srgbClr val="F7F9FC"/>
          </a:solidFill>
          <a:ln w="9525">
            <a:solidFill>
              <a:srgbClr val="DDE1EE"/>
            </a:solidFill>
            <a:prstDash val="solid"/>
          </a:ln>
        </p:spPr>
      </p:sp>
      <p:sp>
        <p:nvSpPr>
          <p:cNvPr id="12" name="Shape 9"/>
          <p:cNvSpPr/>
          <p:nvPr/>
        </p:nvSpPr>
        <p:spPr>
          <a:xfrm>
            <a:off x="5272888" y="1600200"/>
            <a:ext cx="502920" cy="502920"/>
          </a:xfrm>
          <a:prstGeom prst="ellipse">
            <a:avLst/>
          </a:prstGeom>
          <a:solidFill>
            <a:srgbClr val="2F3690"/>
          </a:solidFill>
          <a:ln w="12700">
            <a:solidFill>
              <a:srgbClr val="2F3690"/>
            </a:solidFill>
            <a:prstDash val="solid"/>
          </a:ln>
        </p:spPr>
      </p:sp>
      <p:pic>
        <p:nvPicPr>
          <p:cNvPr id="13" name="Image 1" descr="preencoded.png">    </p:cNvPr>
          <p:cNvPicPr>
            <a:picLocks noChangeAspect="1"/>
          </p:cNvPicPr>
          <p:nvPr/>
        </p:nvPicPr>
        <p:blipFill>
          <a:blip r:embed="rId2"/>
          <a:stretch>
            <a:fillRect/>
          </a:stretch>
        </p:blipFill>
        <p:spPr>
          <a:xfrm>
            <a:off x="5408676" y="1735988"/>
            <a:ext cx="231343" cy="231343"/>
          </a:xfrm>
          <a:prstGeom prst="rect">
            <a:avLst/>
          </a:prstGeom>
        </p:spPr>
      </p:pic>
      <p:sp>
        <p:nvSpPr>
          <p:cNvPr id="14" name="Text 10"/>
          <p:cNvSpPr txBox="1"/>
          <p:nvPr/>
        </p:nvSpPr>
        <p:spPr>
          <a:xfrm>
            <a:off x="731520"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ورودی‌ها</a:t>
            </a:r>
            <a:endParaRPr lang="en-US" sz="1550" dirty="0"/>
          </a:p>
        </p:txBody>
      </p:sp>
      <p:sp>
        <p:nvSpPr>
          <p:cNvPr id="15" name="Text 11"/>
          <p:cNvSpPr txBox="1"/>
          <p:nvPr/>
        </p:nvSpPr>
        <p:spPr>
          <a:xfrm>
            <a:off x="731520" y="2286000"/>
            <a:ext cx="5044288" cy="1325880"/>
          </a:xfrm>
          <a:prstGeom prst="rect">
            <a:avLst/>
          </a:prstGeom>
          <a:noFill/>
          <a:ln/>
        </p:spPr>
        <p:txBody>
          <a:bodyPr wrap="square" lIns="0" tIns="0" rIns="0" bIns="0" rtlCol="0" anchor="t"/>
          <a:lstStyle/>
          <a:p>
            <a:pPr rtl="1" algn="r" indent="0" marL="0">
              <a:lnSpc>
                <a:spcPct val="105000"/>
              </a:lnSpc>
              <a:buNone/>
            </a:pPr>
            <a:r>
              <a:rPr lang="fa-IR" altLang="en-US" sz="1230" dirty="0">
                <a:solidFill>
                  <a:srgbClr val="1B1B2F"/>
                </a:solidFill>
                <a:latin typeface="Vazirmatn" pitchFamily="34" charset="0"/>
                <a:ea typeface="Vazirmatn" pitchFamily="34" charset="-122"/>
                <a:cs typeface="Vazirmatn" pitchFamily="34" charset="-120"/>
              </a:rPr>
              <a:t>admin_peers از یک نود Besu اختصاصی که static peer همه‌ی ولیدیتورهاست (nodeID و remoteAddress)؛ IP-geolocation روی remoteAddress؛ از زنجیره: getValidators، getValidatorInfo، miner بلاک‌های اخیر و ارتفاع فعلی؛ اپ همراه: آدرس، شماره، آیدی تلگرام، nodeID (بخش کلید عمومی enode).</a:t>
            </a:r>
            <a:endParaRPr lang="en-US" sz="1230" dirty="0"/>
          </a:p>
        </p:txBody>
      </p:sp>
      <p:sp>
        <p:nvSpPr>
          <p:cNvPr id="16" name="Shape 12"/>
          <p:cNvSpPr/>
          <p:nvPr/>
        </p:nvSpPr>
        <p:spPr>
          <a:xfrm>
            <a:off x="6233465" y="3886200"/>
            <a:ext cx="5410048" cy="2286000"/>
          </a:xfrm>
          <a:prstGeom prst="roundRect">
            <a:avLst>
              <a:gd name="adj" fmla="val 4800"/>
            </a:avLst>
          </a:prstGeom>
          <a:solidFill>
            <a:srgbClr val="F7F9FC"/>
          </a:solidFill>
          <a:ln w="9525">
            <a:solidFill>
              <a:srgbClr val="DDE1EE"/>
            </a:solidFill>
            <a:prstDash val="solid"/>
          </a:ln>
        </p:spPr>
      </p:sp>
      <p:sp>
        <p:nvSpPr>
          <p:cNvPr id="17" name="Shape 13"/>
          <p:cNvSpPr/>
          <p:nvPr/>
        </p:nvSpPr>
        <p:spPr>
          <a:xfrm>
            <a:off x="10957712" y="4069080"/>
            <a:ext cx="502920" cy="502920"/>
          </a:xfrm>
          <a:prstGeom prst="ellipse">
            <a:avLst/>
          </a:prstGeom>
          <a:solidFill>
            <a:srgbClr val="2F3690"/>
          </a:solidFill>
          <a:ln w="12700">
            <a:solidFill>
              <a:srgbClr val="2F3690"/>
            </a:solidFill>
            <a:prstDash val="solid"/>
          </a:ln>
        </p:spPr>
      </p:sp>
      <p:pic>
        <p:nvPicPr>
          <p:cNvPr id="18" name="Image 2" descr="preencoded.png">    </p:cNvPr>
          <p:cNvPicPr>
            <a:picLocks noChangeAspect="1"/>
          </p:cNvPicPr>
          <p:nvPr/>
        </p:nvPicPr>
        <p:blipFill>
          <a:blip r:embed="rId3"/>
          <a:stretch>
            <a:fillRect/>
          </a:stretch>
        </p:blipFill>
        <p:spPr>
          <a:xfrm>
            <a:off x="11093501" y="4204868"/>
            <a:ext cx="231343" cy="231343"/>
          </a:xfrm>
          <a:prstGeom prst="rect">
            <a:avLst/>
          </a:prstGeom>
        </p:spPr>
      </p:pic>
      <p:sp>
        <p:nvSpPr>
          <p:cNvPr id="19" name="Text 14"/>
          <p:cNvSpPr txBox="1"/>
          <p:nvPr/>
        </p:nvSpPr>
        <p:spPr>
          <a:xfrm>
            <a:off x="6416345"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معماری</a:t>
            </a:r>
            <a:endParaRPr lang="en-US" sz="1550" dirty="0"/>
          </a:p>
        </p:txBody>
      </p:sp>
      <p:sp>
        <p:nvSpPr>
          <p:cNvPr id="20" name="Text 15"/>
          <p:cNvSpPr txBox="1"/>
          <p:nvPr/>
        </p:nvSpPr>
        <p:spPr>
          <a:xfrm>
            <a:off x="6416345" y="4754880"/>
            <a:ext cx="5044288" cy="1325880"/>
          </a:xfrm>
          <a:prstGeom prst="rect">
            <a:avLst/>
          </a:prstGeom>
          <a:noFill/>
          <a:ln/>
        </p:spPr>
        <p:txBody>
          <a:bodyPr wrap="square" lIns="0" tIns="0" rIns="0" bIns="0" rtlCol="0" anchor="t"/>
          <a:lstStyle/>
          <a:p>
            <a:pPr rtl="1" algn="r" indent="0" marL="0">
              <a:lnSpc>
                <a:spcPct val="105000"/>
              </a:lnSpc>
              <a:buNone/>
            </a:pPr>
            <a:r>
              <a:rPr lang="fa-IR" altLang="en-US" sz="1230" dirty="0">
                <a:solidFill>
                  <a:srgbClr val="1B1B2F"/>
                </a:solidFill>
                <a:latin typeface="Vazirmatn" pitchFamily="34" charset="0"/>
                <a:ea typeface="Vazirmatn" pitchFamily="34" charset="-122"/>
                <a:cs typeface="Vazirmatn" pitchFamily="34" charset="-120"/>
              </a:rPr>
              <a:t>Node.js، TypeScript، viem، better-sqlite3؛ scheduler داخلی (نه API عمومی)؛ جداسازی «چک‌کردن» از «امضاکردن»: چند نمونه‌ی polling جانشین برای دسترس‌پذیری، یک مرجع تصمیم و یک مرجع امضا؛ نمونه‌ی دوم هم‌زمان فقط revert می‌شود چون قرارداد شرط وضعیت را چک می‌کند.</a:t>
            </a:r>
            <a:endParaRPr lang="en-US" sz="1230" dirty="0"/>
          </a:p>
        </p:txBody>
      </p:sp>
      <p:sp>
        <p:nvSpPr>
          <p:cNvPr id="21" name="Shape 16"/>
          <p:cNvSpPr/>
          <p:nvPr/>
        </p:nvSpPr>
        <p:spPr>
          <a:xfrm>
            <a:off x="548640" y="3886200"/>
            <a:ext cx="5410048" cy="2286000"/>
          </a:xfrm>
          <a:prstGeom prst="roundRect">
            <a:avLst>
              <a:gd name="adj" fmla="val 4800"/>
            </a:avLst>
          </a:prstGeom>
          <a:solidFill>
            <a:srgbClr val="F7F9FC"/>
          </a:solidFill>
          <a:ln w="9525">
            <a:solidFill>
              <a:srgbClr val="DDE1EE"/>
            </a:solidFill>
            <a:prstDash val="solid"/>
          </a:ln>
        </p:spPr>
      </p:sp>
      <p:sp>
        <p:nvSpPr>
          <p:cNvPr id="22" name="Shape 17"/>
          <p:cNvSpPr/>
          <p:nvPr/>
        </p:nvSpPr>
        <p:spPr>
          <a:xfrm>
            <a:off x="5272888" y="4069080"/>
            <a:ext cx="502920" cy="502920"/>
          </a:xfrm>
          <a:prstGeom prst="ellipse">
            <a:avLst/>
          </a:prstGeom>
          <a:solidFill>
            <a:srgbClr val="2F3690"/>
          </a:solidFill>
          <a:ln w="12700">
            <a:solidFill>
              <a:srgbClr val="2F3690"/>
            </a:solidFill>
            <a:prstDash val="solid"/>
          </a:ln>
        </p:spPr>
      </p:sp>
      <p:pic>
        <p:nvPicPr>
          <p:cNvPr id="23" name="Image 3" descr="preencoded.png">    </p:cNvPr>
          <p:cNvPicPr>
            <a:picLocks noChangeAspect="1"/>
          </p:cNvPicPr>
          <p:nvPr/>
        </p:nvPicPr>
        <p:blipFill>
          <a:blip r:embed="rId4"/>
          <a:stretch>
            <a:fillRect/>
          </a:stretch>
        </p:blipFill>
        <p:spPr>
          <a:xfrm>
            <a:off x="5408676" y="4204868"/>
            <a:ext cx="231343" cy="231343"/>
          </a:xfrm>
          <a:prstGeom prst="rect">
            <a:avLst/>
          </a:prstGeom>
        </p:spPr>
      </p:pic>
      <p:sp>
        <p:nvSpPr>
          <p:cNvPr id="24" name="Text 18"/>
          <p:cNvSpPr txBox="1"/>
          <p:nvPr/>
        </p:nvSpPr>
        <p:spPr>
          <a:xfrm>
            <a:off x="731520"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خروجی‌ها</a:t>
            </a:r>
            <a:endParaRPr lang="en-US" sz="1550" dirty="0"/>
          </a:p>
        </p:txBody>
      </p:sp>
      <p:sp>
        <p:nvSpPr>
          <p:cNvPr id="25" name="Text 19"/>
          <p:cNvSpPr txBox="1"/>
          <p:nvPr/>
        </p:nvSpPr>
        <p:spPr>
          <a:xfrm>
            <a:off x="731520" y="4754880"/>
            <a:ext cx="5044288" cy="1325880"/>
          </a:xfrm>
          <a:prstGeom prst="rect">
            <a:avLst/>
          </a:prstGeom>
          <a:noFill/>
          <a:ln/>
        </p:spPr>
        <p:txBody>
          <a:bodyPr wrap="square" lIns="0" tIns="0" rIns="0" bIns="0" rtlCol="0" anchor="t"/>
          <a:lstStyle/>
          <a:p>
            <a:pPr rtl="1" algn="r" indent="0" marL="0">
              <a:lnSpc>
                <a:spcPct val="105000"/>
              </a:lnSpc>
              <a:buNone/>
            </a:pPr>
            <a:r>
              <a:rPr lang="fa-IR" altLang="en-US" sz="1230" dirty="0">
                <a:solidFill>
                  <a:srgbClr val="1B1B2F"/>
                </a:solidFill>
                <a:latin typeface="Vazirmatn" pitchFamily="34" charset="0"/>
                <a:ea typeface="Vazirmatn" pitchFamily="34" charset="-122"/>
                <a:cs typeface="Vazirmatn" pitchFamily="34" charset="-120"/>
              </a:rPr>
              <a:t>تراکنش فقط هنگام تغییر واقعی وضعیت و همراه evidenceHash = keccak256(بسته‌ی شواهد)؛ اعلان به ولیدیتور؛ لاگ کامل هر چک و تصمیم. هر هفت تابع کاری require صریح دارند و در صورت برقرارنبودن شرط revert می‌کنند، نه اینکه بی‌اثر موفق شوند.</a:t>
            </a:r>
            <a:endParaRPr lang="en-US" sz="123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سرویس‌های آف‌چین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Verifier: قواعد تصمیم هر بررسی ساعتی</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27</a:t>
            </a:r>
            <a:endParaRPr lang="en-US" sz="1000" dirty="0"/>
          </a:p>
        </p:txBody>
      </p:sp>
      <p:sp>
        <p:nvSpPr>
          <p:cNvPr id="6" name="Text 4"/>
          <p:cNvSpPr txBox="1"/>
          <p:nvPr/>
        </p:nvSpPr>
        <p:spPr>
          <a:xfrm>
            <a:off x="548640" y="1325880"/>
            <a:ext cx="11094415" cy="54864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هر بررسی برای هر ولیدیتور Active پنجره‌ی ۴ ساعته‌ی منتهی به «اکنون» را بر پایه‌ی زمان بلاک‌ها ارزیابی می‌کند و دقیقاً یکی از سه نتیجه می‌دهد: OK، INACTIVE_CONFIRMED یا UNKNOWN(کد). اولین قاعده‌ی برقرار تعیین‌کننده است.</a:t>
            </a:r>
            <a:endParaRPr lang="en-US" sz="12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11094415" cy="914400"/>
        </p:xfrm>
        <a:graphic>
          <a:graphicData uri="http://schemas.openxmlformats.org/drawingml/2006/table">
            <a:tbl>
              <a:tblPr/>
              <a:tblGrid>
                <a:gridCol w="6613855"/>
                <a:gridCol w="3566160"/>
                <a:gridCol w="914400"/>
              </a:tblGrid>
              <a:tr h="384048">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شرط</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نتیجه</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ترتیب</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0292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نود پایش همگام نیست، RPC لازم شکست خورده، یا داده‌ی پنجره ناقص است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UNKNOWN(MONITOR_UNHEALTHY)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۱</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فاصله‌ی دو بررسی متوالی از حد مجاز بیشتر یا سرویس در پنجره قطعی داشته</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UNKNOWN(OBSERVATION_GAP)</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۲</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5720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پنجره با بازه‌ی بازیابی اضطراری هم‌پوشان است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UNKNOWN(EMERGENCY_WINDOW)</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۳</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ولیدیتور در پنجره دست‌کم یک بلاک پیشنهاد داده است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OK</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۴</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0292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فاصله‌ی دو بلاک بیش از ۱۲۰ ثانیه یا سهم ارتفاع‌های با دور بیش از صفر بالای ۲۰٪</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UNKNOWN(NETWORK_UNHEALTHY)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۵</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دست‌کم ۲۰٪ ولیدیتورهای Active هم‌زمان ساکت‌اند؛ هیچ‌کدام تخلف فردی نیست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UNKNOWN(GENERAL_OUTAGE)</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۶</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5720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نوبت مورد انتظار ولیدیتور در پنجره کمتر از ۳ بوده</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UNKNOWN(NO_OPPORTUNITY)</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۷</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هیچ بلاکی، دست‌کم ۳ نوبت مورد انتظار همگی از دست رفته، و قواعد ۱ تا ۷ برقرار نیست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INACTIVE_CONFIRMED</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۸</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سرویس‌های آف‌چین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Verifier: آستانه‌ها، فعال‌سازی و کارهای بدون مجوز</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28</a:t>
            </a:r>
            <a:endParaRPr lang="en-US" sz="1000" dirty="0"/>
          </a:p>
        </p:txBody>
      </p:sp>
      <p:sp>
        <p:nvSpPr>
          <p:cNvPr id="6" name="Shape 4"/>
          <p:cNvSpPr/>
          <p:nvPr/>
        </p:nvSpPr>
        <p:spPr>
          <a:xfrm>
            <a:off x="6233465" y="1417320"/>
            <a:ext cx="5410048" cy="2286000"/>
          </a:xfrm>
          <a:prstGeom prst="roundRect">
            <a:avLst>
              <a:gd name="adj" fmla="val 4800"/>
            </a:avLst>
          </a:prstGeom>
          <a:solidFill>
            <a:srgbClr val="F7F9FC"/>
          </a:solidFill>
          <a:ln w="9525">
            <a:solidFill>
              <a:srgbClr val="DDE1EE"/>
            </a:solidFill>
            <a:prstDash val="solid"/>
          </a:ln>
        </p:spPr>
      </p:sp>
      <p:sp>
        <p:nvSpPr>
          <p:cNvPr id="7" name="Shape 5"/>
          <p:cNvSpPr/>
          <p:nvPr/>
        </p:nvSpPr>
        <p:spPr>
          <a:xfrm>
            <a:off x="10957712"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3501" y="1735988"/>
            <a:ext cx="231343" cy="231343"/>
          </a:xfrm>
          <a:prstGeom prst="rect">
            <a:avLst/>
          </a:prstGeom>
        </p:spPr>
      </p:pic>
      <p:sp>
        <p:nvSpPr>
          <p:cNvPr id="9" name="Text 6"/>
          <p:cNvSpPr txBox="1"/>
          <p:nvPr/>
        </p:nvSpPr>
        <p:spPr>
          <a:xfrm>
            <a:off x="6416345"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دوره و آستانه‌ها</a:t>
            </a:r>
            <a:endParaRPr lang="en-US" sz="1550" dirty="0"/>
          </a:p>
        </p:txBody>
      </p:sp>
      <p:sp>
        <p:nvSpPr>
          <p:cNvPr id="10" name="Text 7"/>
          <p:cNvSpPr txBox="1"/>
          <p:nvPr/>
        </p:nvSpPr>
        <p:spPr>
          <a:xfrm>
            <a:off x="6416345" y="2286000"/>
            <a:ext cx="5044288" cy="132588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بررسی هر ۶۰ دقیقه؛ هشدار اولیه ۱۵ دقیقه، هشدار جدی ۱ ساعت، تعلیق پس از ۴ ساعت غیرفعالیِ تأییدشده. هر آستانه در اولین بررسی پس از عبور دیده می‌شود؛ پس تعلیق ۴ تا ۵ ساعت پس از آخرین بلاک ثبت می‌شود.</a:t>
            </a:r>
            <a:endParaRPr lang="en-US" sz="1200" dirty="0"/>
          </a:p>
        </p:txBody>
      </p:sp>
      <p:sp>
        <p:nvSpPr>
          <p:cNvPr id="11" name="Shape 8"/>
          <p:cNvSpPr/>
          <p:nvPr/>
        </p:nvSpPr>
        <p:spPr>
          <a:xfrm>
            <a:off x="548640" y="1417320"/>
            <a:ext cx="5410048" cy="2286000"/>
          </a:xfrm>
          <a:prstGeom prst="roundRect">
            <a:avLst>
              <a:gd name="adj" fmla="val 4800"/>
            </a:avLst>
          </a:prstGeom>
          <a:solidFill>
            <a:srgbClr val="F7F9FC"/>
          </a:solidFill>
          <a:ln w="9525">
            <a:solidFill>
              <a:srgbClr val="DDE1EE"/>
            </a:solidFill>
            <a:prstDash val="solid"/>
          </a:ln>
        </p:spPr>
      </p:sp>
      <p:sp>
        <p:nvSpPr>
          <p:cNvPr id="12" name="Shape 9"/>
          <p:cNvSpPr/>
          <p:nvPr/>
        </p:nvSpPr>
        <p:spPr>
          <a:xfrm>
            <a:off x="5272888" y="1600200"/>
            <a:ext cx="502920" cy="502920"/>
          </a:xfrm>
          <a:prstGeom prst="ellipse">
            <a:avLst/>
          </a:prstGeom>
          <a:solidFill>
            <a:srgbClr val="2F3690"/>
          </a:solidFill>
          <a:ln w="12700">
            <a:solidFill>
              <a:srgbClr val="2F3690"/>
            </a:solidFill>
            <a:prstDash val="solid"/>
          </a:ln>
        </p:spPr>
      </p:sp>
      <p:pic>
        <p:nvPicPr>
          <p:cNvPr id="13" name="Image 1" descr="preencoded.png">    </p:cNvPr>
          <p:cNvPicPr>
            <a:picLocks noChangeAspect="1"/>
          </p:cNvPicPr>
          <p:nvPr/>
        </p:nvPicPr>
        <p:blipFill>
          <a:blip r:embed="rId2"/>
          <a:stretch>
            <a:fillRect/>
          </a:stretch>
        </p:blipFill>
        <p:spPr>
          <a:xfrm>
            <a:off x="5408676" y="1735988"/>
            <a:ext cx="231343" cy="231343"/>
          </a:xfrm>
          <a:prstGeom prst="rect">
            <a:avLst/>
          </a:prstGeom>
        </p:spPr>
      </p:pic>
      <p:sp>
        <p:nvSpPr>
          <p:cNvPr id="14" name="Text 10"/>
          <p:cNvSpPr txBox="1"/>
          <p:nvPr/>
        </p:nvSpPr>
        <p:spPr>
          <a:xfrm>
            <a:off x="731520"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فعال‌سازی و بازگشت</a:t>
            </a:r>
            <a:endParaRPr lang="en-US" sz="1550" dirty="0"/>
          </a:p>
        </p:txBody>
      </p:sp>
      <p:sp>
        <p:nvSpPr>
          <p:cNvPr id="15" name="Text 11"/>
          <p:cNvSpPr txBox="1"/>
          <p:nvPr/>
        </p:nvSpPr>
        <p:spPr>
          <a:xfrm>
            <a:off x="731520" y="2286000"/>
            <a:ext cx="5044288" cy="132588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فعال‌سازی پس از ۱ هفته probation، موفقیت ≥ ۹۵٪ و فقط اگر نود واقعی روشن و همگام باشد. بازگشت پس از ۴۸ ساعت و ≥ ۹۵٪. عددهای آستانه‌ی قواعد (۱۲۰ ثانیه، ۲۰٪، ۳ نوبت) پیشنهادی‌اند و پیش از راه‌اندازی باید نهایی شوند.</a:t>
            </a:r>
            <a:endParaRPr lang="en-US" sz="1200" dirty="0"/>
          </a:p>
        </p:txBody>
      </p:sp>
      <p:sp>
        <p:nvSpPr>
          <p:cNvPr id="16" name="Shape 12"/>
          <p:cNvSpPr/>
          <p:nvPr/>
        </p:nvSpPr>
        <p:spPr>
          <a:xfrm>
            <a:off x="6233465" y="3886200"/>
            <a:ext cx="5410048" cy="2286000"/>
          </a:xfrm>
          <a:prstGeom prst="roundRect">
            <a:avLst>
              <a:gd name="adj" fmla="val 4800"/>
            </a:avLst>
          </a:prstGeom>
          <a:solidFill>
            <a:srgbClr val="F7F9FC"/>
          </a:solidFill>
          <a:ln w="9525">
            <a:solidFill>
              <a:srgbClr val="DDE1EE"/>
            </a:solidFill>
            <a:prstDash val="solid"/>
          </a:ln>
        </p:spPr>
      </p:sp>
      <p:sp>
        <p:nvSpPr>
          <p:cNvPr id="17" name="Shape 13"/>
          <p:cNvSpPr/>
          <p:nvPr/>
        </p:nvSpPr>
        <p:spPr>
          <a:xfrm>
            <a:off x="10957712" y="4069080"/>
            <a:ext cx="502920" cy="502920"/>
          </a:xfrm>
          <a:prstGeom prst="ellipse">
            <a:avLst/>
          </a:prstGeom>
          <a:solidFill>
            <a:srgbClr val="2F3690"/>
          </a:solidFill>
          <a:ln w="12700">
            <a:solidFill>
              <a:srgbClr val="2F3690"/>
            </a:solidFill>
            <a:prstDash val="solid"/>
          </a:ln>
        </p:spPr>
      </p:sp>
      <p:pic>
        <p:nvPicPr>
          <p:cNvPr id="18" name="Image 2" descr="preencoded.png">    </p:cNvPr>
          <p:cNvPicPr>
            <a:picLocks noChangeAspect="1"/>
          </p:cNvPicPr>
          <p:nvPr/>
        </p:nvPicPr>
        <p:blipFill>
          <a:blip r:embed="rId3"/>
          <a:stretch>
            <a:fillRect/>
          </a:stretch>
        </p:blipFill>
        <p:spPr>
          <a:xfrm>
            <a:off x="11093501" y="4204868"/>
            <a:ext cx="231343" cy="231343"/>
          </a:xfrm>
          <a:prstGeom prst="rect">
            <a:avLst/>
          </a:prstGeom>
        </p:spPr>
      </p:pic>
      <p:sp>
        <p:nvSpPr>
          <p:cNvPr id="19" name="Text 14"/>
          <p:cNvSpPr txBox="1"/>
          <p:nvPr/>
        </p:nvSpPr>
        <p:spPr>
          <a:xfrm>
            <a:off x="6416345"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کارهای بدون مجوز</a:t>
            </a:r>
            <a:endParaRPr lang="en-US" sz="1550" dirty="0"/>
          </a:p>
        </p:txBody>
      </p:sp>
      <p:sp>
        <p:nvSpPr>
          <p:cNvPr id="20" name="Text 15"/>
          <p:cNvSpPr txBox="1"/>
          <p:nvPr/>
        </p:nvSpPr>
        <p:spPr>
          <a:xfrm>
            <a:off x="6416345" y="4754880"/>
            <a:ext cx="5044288" cy="132588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برای معطل‌نماندن پرونده‌ها سرویس این‌ها را صدا می‌زند: resolveMassFailureCheck، assertDeliveryDisputed، executeUncontestedSlash، resolveAppealIfExpired، resolveDeliveryDisputeIfExpired، syncBoard، fillVacancies و هر ۳۰ روز refreshBoard.</a:t>
            </a:r>
            <a:endParaRPr lang="en-US" sz="1200" dirty="0"/>
          </a:p>
        </p:txBody>
      </p:sp>
      <p:sp>
        <p:nvSpPr>
          <p:cNvPr id="21" name="Shape 16"/>
          <p:cNvSpPr/>
          <p:nvPr/>
        </p:nvSpPr>
        <p:spPr>
          <a:xfrm>
            <a:off x="548640" y="3886200"/>
            <a:ext cx="5410048" cy="2286000"/>
          </a:xfrm>
          <a:prstGeom prst="roundRect">
            <a:avLst>
              <a:gd name="adj" fmla="val 4800"/>
            </a:avLst>
          </a:prstGeom>
          <a:solidFill>
            <a:srgbClr val="FCEAE4"/>
          </a:solidFill>
          <a:ln w="9525">
            <a:solidFill>
              <a:srgbClr val="FCEAE4"/>
            </a:solidFill>
            <a:prstDash val="solid"/>
          </a:ln>
        </p:spPr>
      </p:sp>
      <p:sp>
        <p:nvSpPr>
          <p:cNvPr id="22" name="Shape 17"/>
          <p:cNvSpPr/>
          <p:nvPr/>
        </p:nvSpPr>
        <p:spPr>
          <a:xfrm>
            <a:off x="5272888" y="4069080"/>
            <a:ext cx="502920" cy="502920"/>
          </a:xfrm>
          <a:prstGeom prst="ellipse">
            <a:avLst/>
          </a:prstGeom>
          <a:solidFill>
            <a:srgbClr val="C8431F"/>
          </a:solidFill>
          <a:ln w="12700">
            <a:solidFill>
              <a:srgbClr val="C8431F"/>
            </a:solidFill>
            <a:prstDash val="solid"/>
          </a:ln>
        </p:spPr>
      </p:sp>
      <p:pic>
        <p:nvPicPr>
          <p:cNvPr id="23" name="Image 3" descr="preencoded.png">    </p:cNvPr>
          <p:cNvPicPr>
            <a:picLocks noChangeAspect="1"/>
          </p:cNvPicPr>
          <p:nvPr/>
        </p:nvPicPr>
        <p:blipFill>
          <a:blip r:embed="rId4"/>
          <a:stretch>
            <a:fillRect/>
          </a:stretch>
        </p:blipFill>
        <p:spPr>
          <a:xfrm>
            <a:off x="5408676" y="4204868"/>
            <a:ext cx="231343" cy="231343"/>
          </a:xfrm>
          <a:prstGeom prst="rect">
            <a:avLst/>
          </a:prstGeom>
        </p:spPr>
      </p:pic>
      <p:sp>
        <p:nvSpPr>
          <p:cNvPr id="24" name="Text 18"/>
          <p:cNvSpPr txBox="1"/>
          <p:nvPr/>
        </p:nvSpPr>
        <p:spPr>
          <a:xfrm>
            <a:off x="731520"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خرابی خود سرویس</a:t>
            </a:r>
            <a:endParaRPr lang="en-US" sz="1550" dirty="0"/>
          </a:p>
        </p:txBody>
      </p:sp>
      <p:sp>
        <p:nvSpPr>
          <p:cNvPr id="25" name="Text 19"/>
          <p:cNvSpPr txBox="1"/>
          <p:nvPr/>
        </p:nvSpPr>
        <p:spPr>
          <a:xfrm>
            <a:off x="731520" y="4754880"/>
            <a:ext cx="5044288" cy="132588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حفره‌ی مشاهده‌ی خودِ سرویس هرگز غیرفعالیِ ولیدیتور حساب نمی‌شود؛ شمارش ۴ ساعته از داده‌ی کامل پس از رفع خرابی دوباره شروع می‌شود. غیرفعالی پس از درخواست خروج هم تخلف نیست؛ فقط تا ۷۲ ساعت رفتار پیش از درخواست بررسی می‌شود.</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سرویس‌های آف‌چین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Identity Service و PaymentReporter</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29</a:t>
            </a:r>
            <a:endParaRPr lang="en-US" sz="1000" dirty="0"/>
          </a:p>
        </p:txBody>
      </p:sp>
      <p:sp>
        <p:nvSpPr>
          <p:cNvPr id="6" name="Shape 4"/>
          <p:cNvSpPr/>
          <p:nvPr/>
        </p:nvSpPr>
        <p:spPr>
          <a:xfrm>
            <a:off x="6202375" y="1417320"/>
            <a:ext cx="5440680" cy="4754880"/>
          </a:xfrm>
          <a:prstGeom prst="roundRect">
            <a:avLst>
              <a:gd name="adj" fmla="val 2308"/>
            </a:avLst>
          </a:prstGeom>
          <a:solidFill>
            <a:srgbClr val="EEF0FB"/>
          </a:solidFill>
          <a:ln w="9525">
            <a:solidFill>
              <a:srgbClr val="EEF0FB"/>
            </a:solidFill>
            <a:prstDash val="solid"/>
          </a:ln>
        </p:spPr>
      </p:sp>
      <p:sp>
        <p:nvSpPr>
          <p:cNvPr id="7" name="Shape 5"/>
          <p:cNvSpPr/>
          <p:nvPr/>
        </p:nvSpPr>
        <p:spPr>
          <a:xfrm>
            <a:off x="548640" y="1417320"/>
            <a:ext cx="5440680" cy="4754880"/>
          </a:xfrm>
          <a:prstGeom prst="roundRect">
            <a:avLst>
              <a:gd name="adj" fmla="val 2308"/>
            </a:avLst>
          </a:prstGeom>
          <a:solidFill>
            <a:srgbClr val="F7F9FC"/>
          </a:solidFill>
          <a:ln w="9525">
            <a:solidFill>
              <a:srgbClr val="DDE1EE"/>
            </a:solidFill>
            <a:prstDash val="solid"/>
          </a:ln>
        </p:spPr>
      </p:sp>
      <p:sp>
        <p:nvSpPr>
          <p:cNvPr id="8" name="Text 6"/>
          <p:cNvSpPr txBox="1"/>
          <p:nvPr/>
        </p:nvSpPr>
        <p:spPr>
          <a:xfrm>
            <a:off x="6385255" y="1508760"/>
            <a:ext cx="5074920" cy="36576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2F3690"/>
                </a:solidFill>
                <a:latin typeface="Vazirmatn" pitchFamily="34" charset="0"/>
                <a:ea typeface="Vazirmatn" pitchFamily="34" charset="-122"/>
                <a:cs typeface="Vazirmatn" pitchFamily="34" charset="-120"/>
              </a:rPr>
              <a:t>Identity Service (کلید identityOracle)</a:t>
            </a:r>
            <a:endParaRPr lang="en-US" sz="1450" dirty="0"/>
          </a:p>
        </p:txBody>
      </p:sp>
      <p:sp>
        <p:nvSpPr>
          <p:cNvPr id="9" name="Text 7"/>
          <p:cNvSpPr txBox="1"/>
          <p:nvPr/>
        </p:nvSpPr>
        <p:spPr>
          <a:xfrm>
            <a:off x="6385255" y="1965960"/>
            <a:ext cx="5074920" cy="4114800"/>
          </a:xfrm>
          <a:prstGeom prst="rect">
            <a:avLst/>
          </a:prstGeom>
          <a:noFill/>
          <a:ln/>
        </p:spPr>
        <p:txBody>
          <a:bodyPr wrap="square" lIns="0" tIns="0" rIns="0" bIns="0" rtlCol="0" anchor="t"/>
          <a:lstStyle/>
          <a:p>
            <a:pPr rtl="1" algn="r" indent="0" marL="0">
              <a:lnSpc>
                <a:spcPct val="105000"/>
              </a:lnSpc>
              <a:spcAft>
                <a:spcPts val="800"/>
              </a:spcAft>
              <a:buNone/>
            </a:pPr>
            <a:r>
              <a:rPr lang="fa-IR" altLang="en-US" sz="1200" dirty="0">
                <a:solidFill>
                  <a:srgbClr val="1B1B2F"/>
                </a:solidFill>
                <a:latin typeface="Vazirmatn" pitchFamily="34" charset="0"/>
                <a:ea typeface="Vazirmatn" pitchFamily="34" charset="-122"/>
                <a:cs typeface="Vazirmatn" pitchFamily="34" charset="-120"/>
              </a:rPr>
              <a:t>وریفای کد پیامکی و تلگرامی؛ نتیجه با setPhoneVerified و setTelegramVerified ثبت می‌شود. داده‌ی خام (شماره و آیدی) هرگز روی زنجیره نمی‌رود.</a:t>
            </a:r>
            <a:endParaRPr lang="en-US" sz="1200" dirty="0"/>
          </a:p>
          <a:p>
            <a:pPr rtl="1" algn="r" indent="0" marL="0">
              <a:lnSpc>
                <a:spcPct val="105000"/>
              </a:lnSpc>
              <a:spcAft>
                <a:spcPts val="800"/>
              </a:spcAft>
              <a:buNone/>
            </a:pPr>
            <a:r>
              <a:rPr lang="fa-IR" altLang="en-US" sz="1200" dirty="0">
                <a:solidFill>
                  <a:srgbClr val="1B1B2F"/>
                </a:solidFill>
                <a:latin typeface="Vazirmatn" pitchFamily="34" charset="0"/>
                <a:ea typeface="Vazirmatn" pitchFamily="34" charset="-122"/>
                <a:cs typeface="Vazirmatn" pitchFamily="34" charset="-120"/>
              </a:rPr>
              <a:t>KYC اختیاری از طریق ارائه‌دهنده‌ی eKYC؛ فقط commitment هش‌شده با salt (setKycVerified).</a:t>
            </a:r>
            <a:endParaRPr lang="en-US" sz="1200" dirty="0"/>
          </a:p>
          <a:p>
            <a:pPr rtl="1" algn="r" indent="0" marL="0">
              <a:lnSpc>
                <a:spcPct val="105000"/>
              </a:lnSpc>
              <a:spcAft>
                <a:spcPts val="800"/>
              </a:spcAft>
              <a:buNone/>
            </a:pPr>
            <a:r>
              <a:rPr lang="fa-IR" altLang="en-US" sz="1200" dirty="0">
                <a:solidFill>
                  <a:srgbClr val="1B1B2F"/>
                </a:solidFill>
                <a:latin typeface="Vazirmatn" pitchFamily="34" charset="0"/>
                <a:ea typeface="Vazirmatn" pitchFamily="34" charset="-122"/>
                <a:cs typeface="Vazirmatn" pitchFamily="34" charset="-120"/>
              </a:rPr>
              <a:t>کوئری «تطبیق» (آیا این مشخصات با یک آدرس ثبت‌شده می‌خواند) همیشه API آف‌چین است، نه تراکنش، چون خودِ ورودی کوئری حساس است.</a:t>
            </a:r>
            <a:endParaRPr lang="en-US" sz="1200" dirty="0"/>
          </a:p>
          <a:p>
            <a:pPr rtl="1" algn="r" indent="0" marL="0">
              <a:lnSpc>
                <a:spcPct val="105000"/>
              </a:lnSpc>
              <a:spcAft>
                <a:spcPts val="800"/>
              </a:spcAft>
              <a:buNone/>
            </a:pPr>
            <a:r>
              <a:rPr lang="fa-IR" altLang="en-US" sz="1200" dirty="0">
                <a:solidFill>
                  <a:srgbClr val="1B1B2F"/>
                </a:solidFill>
                <a:latin typeface="Vazirmatn" pitchFamily="34" charset="0"/>
                <a:ea typeface="Vazirmatn" pitchFamily="34" charset="-122"/>
                <a:cs typeface="Vazirmatn" pitchFamily="34" charset="-120"/>
              </a:rPr>
              <a:t>ثبت‌نام در IdentityRegistry با خود کاربر است؛ سرویس فقط وضعیت‌های وریفای را می‌نویسد.</a:t>
            </a:r>
            <a:endParaRPr lang="en-US" sz="1200" dirty="0"/>
          </a:p>
        </p:txBody>
      </p:sp>
      <p:sp>
        <p:nvSpPr>
          <p:cNvPr id="10" name="Text 8"/>
          <p:cNvSpPr txBox="1"/>
          <p:nvPr/>
        </p:nvSpPr>
        <p:spPr>
          <a:xfrm>
            <a:off x="731520" y="1508760"/>
            <a:ext cx="5074920" cy="36576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3D46A8"/>
                </a:solidFill>
                <a:latin typeface="Vazirmatn" pitchFamily="34" charset="0"/>
                <a:ea typeface="Vazirmatn" pitchFamily="34" charset="-122"/>
                <a:cs typeface="Vazirmatn" pitchFamily="34" charset="-120"/>
              </a:rPr>
              <a:t>PaymentReporter (کلید paymentOracle)</a:t>
            </a:r>
            <a:endParaRPr lang="en-US" sz="1450" dirty="0"/>
          </a:p>
        </p:txBody>
      </p:sp>
      <p:sp>
        <p:nvSpPr>
          <p:cNvPr id="11" name="Text 9"/>
          <p:cNvSpPr txBox="1"/>
          <p:nvPr/>
        </p:nvSpPr>
        <p:spPr>
          <a:xfrm>
            <a:off x="731520" y="1965960"/>
            <a:ext cx="5074920" cy="4114800"/>
          </a:xfrm>
          <a:prstGeom prst="rect">
            <a:avLst/>
          </a:prstGeom>
          <a:noFill/>
          <a:ln/>
        </p:spPr>
        <p:txBody>
          <a:bodyPr wrap="square" lIns="0" tIns="0" rIns="0" bIns="0" rtlCol="0" anchor="t"/>
          <a:lstStyle/>
          <a:p>
            <a:pPr rtl="1" algn="r" indent="0" marL="0">
              <a:lnSpc>
                <a:spcPct val="105000"/>
              </a:lnSpc>
              <a:spcAft>
                <a:spcPts val="800"/>
              </a:spcAft>
              <a:buNone/>
            </a:pPr>
            <a:r>
              <a:rPr lang="fa-IR" altLang="en-US" sz="1200" dirty="0">
                <a:solidFill>
                  <a:srgbClr val="1B1B2F"/>
                </a:solidFill>
                <a:latin typeface="Vazirmatn" pitchFamily="34" charset="0"/>
                <a:ea typeface="Vazirmatn" pitchFamily="34" charset="-122"/>
                <a:cs typeface="Vazirmatn" pitchFamily="34" charset="-120"/>
              </a:rPr>
              <a:t>واسط درگاه پرداخت و SurenSale: webhook درگاه را دریافت می‌کند، پرداخت را مستقل دوباره با درگاه راستی‌آزمایی می‌کند و سپس reportPayment را با paymentReference یکتا می‌فرستد.</a:t>
            </a:r>
            <a:endParaRPr lang="en-US" sz="1200" dirty="0"/>
          </a:p>
          <a:p>
            <a:pPr rtl="1" algn="r" indent="0" marL="0">
              <a:lnSpc>
                <a:spcPct val="105000"/>
              </a:lnSpc>
              <a:spcAft>
                <a:spcPts val="800"/>
              </a:spcAft>
              <a:buNone/>
            </a:pPr>
            <a:r>
              <a:rPr lang="fa-IR" altLang="en-US" sz="1200" dirty="0">
                <a:solidFill>
                  <a:srgbClr val="1B1B2F"/>
                </a:solidFill>
                <a:latin typeface="Vazirmatn" pitchFamily="34" charset="0"/>
                <a:ea typeface="Vazirmatn" pitchFamily="34" charset="-122"/>
                <a:cs typeface="Vazirmatn" pitchFamily="34" charset="-120"/>
              </a:rPr>
              <a:t>تکرار webhook بی‌خطر است چون قرارداد پرداخت تکراری را رد می‌کند.</a:t>
            </a:r>
            <a:endParaRPr lang="en-US" sz="1200" dirty="0"/>
          </a:p>
          <a:p>
            <a:pPr rtl="1" algn="r" indent="0" marL="0">
              <a:lnSpc>
                <a:spcPct val="105000"/>
              </a:lnSpc>
              <a:spcAft>
                <a:spcPts val="800"/>
              </a:spcAft>
              <a:buNone/>
            </a:pPr>
            <a:r>
              <a:rPr lang="fa-IR" altLang="en-US" sz="1200" dirty="0">
                <a:solidFill>
                  <a:srgbClr val="1B1B2F"/>
                </a:solidFill>
                <a:latin typeface="Vazirmatn" pitchFamily="34" charset="0"/>
                <a:ea typeface="Vazirmatn" pitchFamily="34" charset="-122"/>
                <a:cs typeface="Vazirmatn" pitchFamily="34" charset="-120"/>
              </a:rPr>
              <a:t>دو اندپوینت برای اپ خرید: POST /api/v1/purchase/initiate (شروع خرید، ساخت paymentReference و آدرس درگاه) و یک GET برای پیگیری وضعیت؛ یک مکانیزم رزرو موجودی از فروش مضاعف جلوگیری می‌کند.</a:t>
            </a:r>
            <a:endParaRPr lang="en-US" sz="1200" dirty="0"/>
          </a:p>
          <a:p>
            <a:pPr rtl="1" algn="r" indent="0" marL="0">
              <a:lnSpc>
                <a:spcPct val="105000"/>
              </a:lnSpc>
              <a:spcAft>
                <a:spcPts val="800"/>
              </a:spcAft>
              <a:buNone/>
            </a:pPr>
            <a:r>
              <a:rPr lang="fa-IR" altLang="en-US" sz="1200" dirty="0">
                <a:solidFill>
                  <a:srgbClr val="1B1B2F"/>
                </a:solidFill>
                <a:latin typeface="Vazirmatn" pitchFamily="34" charset="0"/>
                <a:ea typeface="Vazirmatn" pitchFamily="34" charset="-122"/>
                <a:cs typeface="Vazirmatn" pitchFamily="34" charset="-120"/>
              </a:rPr>
              <a:t>هر خطا یا اختلاف بین درگاه و زنجیره یعنی هشدار فوری و پیجینگ؛ هیچ پرداختی بدون راستی‌آزمایی مستقل گزارش نمی‌شود.</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زیرساخت</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500" b="1" dirty="0">
                <a:solidFill>
                  <a:srgbClr val="1B1B2F"/>
                </a:solidFill>
                <a:latin typeface="Vazirmatn" pitchFamily="34" charset="0"/>
                <a:ea typeface="Vazirmatn" pitchFamily="34" charset="-122"/>
                <a:cs typeface="Vazirmatn" pitchFamily="34" charset="-120"/>
              </a:rPr>
              <a:t>زیرساخت مشترک: Vault، Docker Compose، نودها و اکسپلورر</a:t>
            </a:r>
            <a:endParaRPr lang="en-US" sz="25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30</a:t>
            </a:r>
            <a:endParaRPr lang="en-US" sz="1000" dirty="0"/>
          </a:p>
        </p:txBody>
      </p:sp>
      <p:sp>
        <p:nvSpPr>
          <p:cNvPr id="6" name="Shape 4"/>
          <p:cNvSpPr/>
          <p:nvPr/>
        </p:nvSpPr>
        <p:spPr>
          <a:xfrm>
            <a:off x="6233465" y="1417320"/>
            <a:ext cx="5410048" cy="2286000"/>
          </a:xfrm>
          <a:prstGeom prst="roundRect">
            <a:avLst>
              <a:gd name="adj" fmla="val 4800"/>
            </a:avLst>
          </a:prstGeom>
          <a:solidFill>
            <a:srgbClr val="F7F9FC"/>
          </a:solidFill>
          <a:ln w="9525">
            <a:solidFill>
              <a:srgbClr val="DDE1EE"/>
            </a:solidFill>
            <a:prstDash val="solid"/>
          </a:ln>
        </p:spPr>
      </p:sp>
      <p:sp>
        <p:nvSpPr>
          <p:cNvPr id="7" name="Shape 5"/>
          <p:cNvSpPr/>
          <p:nvPr/>
        </p:nvSpPr>
        <p:spPr>
          <a:xfrm>
            <a:off x="10957712"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3501" y="1735988"/>
            <a:ext cx="231343" cy="231343"/>
          </a:xfrm>
          <a:prstGeom prst="rect">
            <a:avLst/>
          </a:prstGeom>
        </p:spPr>
      </p:pic>
      <p:sp>
        <p:nvSpPr>
          <p:cNvPr id="9" name="Text 6"/>
          <p:cNvSpPr txBox="1"/>
          <p:nvPr/>
        </p:nvSpPr>
        <p:spPr>
          <a:xfrm>
            <a:off x="6416345"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HashiCorp Vault</a:t>
            </a:r>
            <a:endParaRPr lang="en-US" sz="1550" dirty="0"/>
          </a:p>
        </p:txBody>
      </p:sp>
      <p:sp>
        <p:nvSpPr>
          <p:cNvPr id="10" name="Text 7"/>
          <p:cNvSpPr txBox="1"/>
          <p:nvPr/>
        </p:nvSpPr>
        <p:spPr>
          <a:xfrm>
            <a:off x="6416345" y="2286000"/>
            <a:ext cx="5044288" cy="132588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هر نرم‌افزاری که کلید خصوصی دارد از Vault استفاده می‌کند؛ به‌ازای هر سرویس token و policy مستقل با کمترین دسترسی. زیرساخت امضای ریموت برای جداسازی امضا از polling.</a:t>
            </a:r>
            <a:endParaRPr lang="en-US" sz="1150" dirty="0"/>
          </a:p>
        </p:txBody>
      </p:sp>
      <p:sp>
        <p:nvSpPr>
          <p:cNvPr id="11" name="Shape 8"/>
          <p:cNvSpPr/>
          <p:nvPr/>
        </p:nvSpPr>
        <p:spPr>
          <a:xfrm>
            <a:off x="548640" y="1417320"/>
            <a:ext cx="5410048" cy="2286000"/>
          </a:xfrm>
          <a:prstGeom prst="roundRect">
            <a:avLst>
              <a:gd name="adj" fmla="val 4800"/>
            </a:avLst>
          </a:prstGeom>
          <a:solidFill>
            <a:srgbClr val="F7F9FC"/>
          </a:solidFill>
          <a:ln w="9525">
            <a:solidFill>
              <a:srgbClr val="DDE1EE"/>
            </a:solidFill>
            <a:prstDash val="solid"/>
          </a:ln>
        </p:spPr>
      </p:sp>
      <p:sp>
        <p:nvSpPr>
          <p:cNvPr id="12" name="Shape 9"/>
          <p:cNvSpPr/>
          <p:nvPr/>
        </p:nvSpPr>
        <p:spPr>
          <a:xfrm>
            <a:off x="5272888" y="1600200"/>
            <a:ext cx="502920" cy="502920"/>
          </a:xfrm>
          <a:prstGeom prst="ellipse">
            <a:avLst/>
          </a:prstGeom>
          <a:solidFill>
            <a:srgbClr val="2F3690"/>
          </a:solidFill>
          <a:ln w="12700">
            <a:solidFill>
              <a:srgbClr val="2F3690"/>
            </a:solidFill>
            <a:prstDash val="solid"/>
          </a:ln>
        </p:spPr>
      </p:sp>
      <p:pic>
        <p:nvPicPr>
          <p:cNvPr id="13" name="Image 1" descr="preencoded.png">    </p:cNvPr>
          <p:cNvPicPr>
            <a:picLocks noChangeAspect="1"/>
          </p:cNvPicPr>
          <p:nvPr/>
        </p:nvPicPr>
        <p:blipFill>
          <a:blip r:embed="rId2"/>
          <a:stretch>
            <a:fillRect/>
          </a:stretch>
        </p:blipFill>
        <p:spPr>
          <a:xfrm>
            <a:off x="5408676" y="1735988"/>
            <a:ext cx="231343" cy="231343"/>
          </a:xfrm>
          <a:prstGeom prst="rect">
            <a:avLst/>
          </a:prstGeom>
        </p:spPr>
      </p:pic>
      <p:sp>
        <p:nvSpPr>
          <p:cNvPr id="14" name="Text 10"/>
          <p:cNvSpPr txBox="1"/>
          <p:nvPr/>
        </p:nvSpPr>
        <p:spPr>
          <a:xfrm>
            <a:off x="731520"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Docker Compose</a:t>
            </a:r>
            <a:endParaRPr lang="en-US" sz="1550" dirty="0"/>
          </a:p>
        </p:txBody>
      </p:sp>
      <p:sp>
        <p:nvSpPr>
          <p:cNvPr id="15" name="Text 11"/>
          <p:cNvSpPr txBox="1"/>
          <p:nvPr/>
        </p:nvSpPr>
        <p:spPr>
          <a:xfrm>
            <a:off x="731520" y="2286000"/>
            <a:ext cx="5044288" cy="132588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هر سرویس یک container؛ SQLite روی volume پایدار؛ لاگ ساخت‌یافته با pino؛ هشدار پیجینگ با چرخه‌ی on-call مشترک؛ هشدار اگر ۲۴ ساعت گذشت و epoch جدید confirmed نشد.</a:t>
            </a:r>
            <a:endParaRPr lang="en-US" sz="1150" dirty="0"/>
          </a:p>
        </p:txBody>
      </p:sp>
      <p:sp>
        <p:nvSpPr>
          <p:cNvPr id="16" name="Shape 12"/>
          <p:cNvSpPr/>
          <p:nvPr/>
        </p:nvSpPr>
        <p:spPr>
          <a:xfrm>
            <a:off x="6233465" y="3886200"/>
            <a:ext cx="5410048" cy="2286000"/>
          </a:xfrm>
          <a:prstGeom prst="roundRect">
            <a:avLst>
              <a:gd name="adj" fmla="val 4800"/>
            </a:avLst>
          </a:prstGeom>
          <a:solidFill>
            <a:srgbClr val="F7F9FC"/>
          </a:solidFill>
          <a:ln w="9525">
            <a:solidFill>
              <a:srgbClr val="DDE1EE"/>
            </a:solidFill>
            <a:prstDash val="solid"/>
          </a:ln>
        </p:spPr>
      </p:sp>
      <p:sp>
        <p:nvSpPr>
          <p:cNvPr id="17" name="Shape 13"/>
          <p:cNvSpPr/>
          <p:nvPr/>
        </p:nvSpPr>
        <p:spPr>
          <a:xfrm>
            <a:off x="10957712" y="4069080"/>
            <a:ext cx="502920" cy="502920"/>
          </a:xfrm>
          <a:prstGeom prst="ellipse">
            <a:avLst/>
          </a:prstGeom>
          <a:solidFill>
            <a:srgbClr val="2F3690"/>
          </a:solidFill>
          <a:ln w="12700">
            <a:solidFill>
              <a:srgbClr val="2F3690"/>
            </a:solidFill>
            <a:prstDash val="solid"/>
          </a:ln>
        </p:spPr>
      </p:sp>
      <p:pic>
        <p:nvPicPr>
          <p:cNvPr id="18" name="Image 2" descr="preencoded.png">    </p:cNvPr>
          <p:cNvPicPr>
            <a:picLocks noChangeAspect="1"/>
          </p:cNvPicPr>
          <p:nvPr/>
        </p:nvPicPr>
        <p:blipFill>
          <a:blip r:embed="rId3"/>
          <a:stretch>
            <a:fillRect/>
          </a:stretch>
        </p:blipFill>
        <p:spPr>
          <a:xfrm>
            <a:off x="11093501" y="4204868"/>
            <a:ext cx="231343" cy="231343"/>
          </a:xfrm>
          <a:prstGeom prst="rect">
            <a:avLst/>
          </a:prstGeom>
        </p:spPr>
      </p:pic>
      <p:sp>
        <p:nvSpPr>
          <p:cNvPr id="19" name="Text 14"/>
          <p:cNvSpPr txBox="1"/>
          <p:nvPr/>
        </p:nvSpPr>
        <p:spPr>
          <a:xfrm>
            <a:off x="6416345"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نودها</a:t>
            </a:r>
            <a:endParaRPr lang="en-US" sz="1550" dirty="0"/>
          </a:p>
        </p:txBody>
      </p:sp>
      <p:sp>
        <p:nvSpPr>
          <p:cNvPr id="20" name="Text 15"/>
          <p:cNvSpPr txBox="1"/>
          <p:nvPr/>
        </p:nvSpPr>
        <p:spPr>
          <a:xfrm>
            <a:off x="6416345" y="4754880"/>
            <a:ext cx="5044288" cy="132588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یک نود Besu با API های TRACE و ADMIN و RPC عمومی برای سرویس‌ها؛ یک نود پایش به‌عنوان static peer همه‌ی ولیدیتورها. از static-nodes.json استفاده کنید؛ --bootnodes روی Besu ویندوز با هر enode خطای «Illegal char &lt;:&gt;» می‌دهد.</a:t>
            </a:r>
            <a:endParaRPr lang="en-US" sz="1150" dirty="0"/>
          </a:p>
        </p:txBody>
      </p:sp>
      <p:sp>
        <p:nvSpPr>
          <p:cNvPr id="21" name="Shape 16"/>
          <p:cNvSpPr/>
          <p:nvPr/>
        </p:nvSpPr>
        <p:spPr>
          <a:xfrm>
            <a:off x="548640" y="3886200"/>
            <a:ext cx="5410048" cy="2286000"/>
          </a:xfrm>
          <a:prstGeom prst="roundRect">
            <a:avLst>
              <a:gd name="adj" fmla="val 4800"/>
            </a:avLst>
          </a:prstGeom>
          <a:solidFill>
            <a:srgbClr val="F7F9FC"/>
          </a:solidFill>
          <a:ln w="9525">
            <a:solidFill>
              <a:srgbClr val="DDE1EE"/>
            </a:solidFill>
            <a:prstDash val="solid"/>
          </a:ln>
        </p:spPr>
      </p:sp>
      <p:sp>
        <p:nvSpPr>
          <p:cNvPr id="22" name="Shape 17"/>
          <p:cNvSpPr/>
          <p:nvPr/>
        </p:nvSpPr>
        <p:spPr>
          <a:xfrm>
            <a:off x="5272888" y="4069080"/>
            <a:ext cx="502920" cy="502920"/>
          </a:xfrm>
          <a:prstGeom prst="ellipse">
            <a:avLst/>
          </a:prstGeom>
          <a:solidFill>
            <a:srgbClr val="2F3690"/>
          </a:solidFill>
          <a:ln w="12700">
            <a:solidFill>
              <a:srgbClr val="2F3690"/>
            </a:solidFill>
            <a:prstDash val="solid"/>
          </a:ln>
        </p:spPr>
      </p:sp>
      <p:pic>
        <p:nvPicPr>
          <p:cNvPr id="23" name="Image 3" descr="preencoded.png">    </p:cNvPr>
          <p:cNvPicPr>
            <a:picLocks noChangeAspect="1"/>
          </p:cNvPicPr>
          <p:nvPr/>
        </p:nvPicPr>
        <p:blipFill>
          <a:blip r:embed="rId4"/>
          <a:stretch>
            <a:fillRect/>
          </a:stretch>
        </p:blipFill>
        <p:spPr>
          <a:xfrm>
            <a:off x="5408676" y="4204868"/>
            <a:ext cx="231343" cy="231343"/>
          </a:xfrm>
          <a:prstGeom prst="rect">
            <a:avLst/>
          </a:prstGeom>
        </p:spPr>
      </p:pic>
      <p:sp>
        <p:nvSpPr>
          <p:cNvPr id="24" name="Text 18"/>
          <p:cNvSpPr txBox="1"/>
          <p:nvPr/>
        </p:nvSpPr>
        <p:spPr>
          <a:xfrm>
            <a:off x="731520"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Blockscout</a:t>
            </a:r>
            <a:endParaRPr lang="en-US" sz="1550" dirty="0"/>
          </a:p>
        </p:txBody>
      </p:sp>
      <p:sp>
        <p:nvSpPr>
          <p:cNvPr id="25" name="Text 19"/>
          <p:cNvSpPr txBox="1"/>
          <p:nvPr/>
        </p:nvSpPr>
        <p:spPr>
          <a:xfrm>
            <a:off x="731520" y="4754880"/>
            <a:ext cx="5044288" cy="132588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اکسپلورر عمومی. وریفای سورس قراردادها فقط وقتی ممکن است که با solc 0.8.24 بدون viaIR و بدون constructor برای قراردادهای genesis کامپایل شده باشند.</a:t>
            </a:r>
            <a:endParaRPr lang="en-US" sz="11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زیرساخت</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بازیابی اضطراری اجماع: گذار blockheader</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31</a:t>
            </a:r>
            <a:endParaRPr lang="en-US" sz="1000" dirty="0"/>
          </a:p>
        </p:txBody>
      </p:sp>
      <p:sp>
        <p:nvSpPr>
          <p:cNvPr id="6" name="Shape 4"/>
          <p:cNvSpPr/>
          <p:nvPr/>
        </p:nvSpPr>
        <p:spPr>
          <a:xfrm>
            <a:off x="548640" y="1463040"/>
            <a:ext cx="11094415" cy="896112"/>
          </a:xfrm>
          <a:prstGeom prst="roundRect">
            <a:avLst>
              <a:gd name="adj" fmla="val 12245"/>
            </a:avLst>
          </a:prstGeom>
          <a:solidFill>
            <a:srgbClr val="F7F9FC"/>
          </a:solidFill>
          <a:ln w="9525">
            <a:solidFill>
              <a:srgbClr val="DDE1EE"/>
            </a:solidFill>
            <a:prstDash val="solid"/>
          </a:ln>
        </p:spPr>
      </p:sp>
      <p:sp>
        <p:nvSpPr>
          <p:cNvPr id="7" name="Shape 5"/>
          <p:cNvSpPr/>
          <p:nvPr/>
        </p:nvSpPr>
        <p:spPr>
          <a:xfrm>
            <a:off x="11121847" y="1719072"/>
            <a:ext cx="384048" cy="384048"/>
          </a:xfrm>
          <a:prstGeom prst="ellipse">
            <a:avLst/>
          </a:prstGeom>
          <a:solidFill>
            <a:srgbClr val="2F3690"/>
          </a:solidFill>
          <a:ln w="12700">
            <a:solidFill>
              <a:srgbClr val="2F3690"/>
            </a:solidFill>
            <a:prstDash val="solid"/>
          </a:ln>
        </p:spPr>
      </p:sp>
      <p:sp>
        <p:nvSpPr>
          <p:cNvPr id="8" name="Text 6"/>
          <p:cNvSpPr txBox="1"/>
          <p:nvPr/>
        </p:nvSpPr>
        <p:spPr>
          <a:xfrm>
            <a:off x="11121847" y="1719072"/>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۱</a:t>
            </a:r>
            <a:endParaRPr lang="en-US" sz="1300" dirty="0"/>
          </a:p>
        </p:txBody>
      </p:sp>
      <p:sp>
        <p:nvSpPr>
          <p:cNvPr id="9" name="Text 7"/>
          <p:cNvSpPr txBox="1"/>
          <p:nvPr/>
        </p:nvSpPr>
        <p:spPr>
          <a:xfrm>
            <a:off x="8762695" y="1463040"/>
            <a:ext cx="2194560" cy="896112"/>
          </a:xfrm>
          <a:prstGeom prst="rect">
            <a:avLst/>
          </a:prstGeom>
          <a:noFill/>
          <a:ln/>
        </p:spPr>
        <p:txBody>
          <a:bodyPr wrap="square" lIns="0" tIns="0" rIns="0" bIns="0" rtlCol="0" anchor="ctr"/>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تشخیص</a:t>
            </a:r>
            <a:endParaRPr lang="en-US" sz="1300" dirty="0"/>
          </a:p>
        </p:txBody>
      </p:sp>
      <p:sp>
        <p:nvSpPr>
          <p:cNvPr id="10" name="Text 8"/>
          <p:cNvSpPr txBox="1"/>
          <p:nvPr/>
        </p:nvSpPr>
        <p:spPr>
          <a:xfrm>
            <a:off x="685800" y="1463040"/>
            <a:ext cx="7939735" cy="896112"/>
          </a:xfrm>
          <a:prstGeom prst="rect">
            <a:avLst/>
          </a:prstGeom>
          <a:noFill/>
          <a:ln/>
        </p:spPr>
        <p:txBody>
          <a:bodyPr wrap="square" lIns="0" tIns="0" rIns="0" bIns="0" rtlCol="0" anchor="ctr"/>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قفل شدن زنجیره (نصاب QBFT برآورده نمی‌شود) را از توقف تولید بلاک تشخیص دهید؛ شمارش نودهای روشن در برابر مجموعه‌ی فعال. بعضی ولیدیتورها ممکن است بدون نود واقعی فعال شده باشند.</a:t>
            </a:r>
            <a:endParaRPr lang="en-US" sz="1200" dirty="0"/>
          </a:p>
        </p:txBody>
      </p:sp>
      <p:sp>
        <p:nvSpPr>
          <p:cNvPr id="11" name="Shape 9"/>
          <p:cNvSpPr/>
          <p:nvPr/>
        </p:nvSpPr>
        <p:spPr>
          <a:xfrm>
            <a:off x="548640" y="2432304"/>
            <a:ext cx="11094415" cy="896112"/>
          </a:xfrm>
          <a:prstGeom prst="roundRect">
            <a:avLst>
              <a:gd name="adj" fmla="val 12245"/>
            </a:avLst>
          </a:prstGeom>
          <a:solidFill>
            <a:srgbClr val="FFFFFF"/>
          </a:solidFill>
          <a:ln w="9525">
            <a:solidFill>
              <a:srgbClr val="DDE1EE"/>
            </a:solidFill>
            <a:prstDash val="solid"/>
          </a:ln>
        </p:spPr>
      </p:sp>
      <p:sp>
        <p:nvSpPr>
          <p:cNvPr id="12" name="Shape 10"/>
          <p:cNvSpPr/>
          <p:nvPr/>
        </p:nvSpPr>
        <p:spPr>
          <a:xfrm>
            <a:off x="11121847" y="2688336"/>
            <a:ext cx="384048" cy="384048"/>
          </a:xfrm>
          <a:prstGeom prst="ellipse">
            <a:avLst/>
          </a:prstGeom>
          <a:solidFill>
            <a:srgbClr val="2F3690"/>
          </a:solidFill>
          <a:ln w="12700">
            <a:solidFill>
              <a:srgbClr val="2F3690"/>
            </a:solidFill>
            <a:prstDash val="solid"/>
          </a:ln>
        </p:spPr>
      </p:sp>
      <p:sp>
        <p:nvSpPr>
          <p:cNvPr id="13" name="Text 11"/>
          <p:cNvSpPr txBox="1"/>
          <p:nvPr/>
        </p:nvSpPr>
        <p:spPr>
          <a:xfrm>
            <a:off x="11121847" y="2688336"/>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۲</a:t>
            </a:r>
            <a:endParaRPr lang="en-US" sz="1300" dirty="0"/>
          </a:p>
        </p:txBody>
      </p:sp>
      <p:sp>
        <p:nvSpPr>
          <p:cNvPr id="14" name="Text 12"/>
          <p:cNvSpPr txBox="1"/>
          <p:nvPr/>
        </p:nvSpPr>
        <p:spPr>
          <a:xfrm>
            <a:off x="8762695" y="2432304"/>
            <a:ext cx="2194560" cy="896112"/>
          </a:xfrm>
          <a:prstGeom prst="rect">
            <a:avLst/>
          </a:prstGeom>
          <a:noFill/>
          <a:ln/>
        </p:spPr>
        <p:txBody>
          <a:bodyPr wrap="square" lIns="0" tIns="0" rIns="0" bIns="0" rtlCol="0" anchor="ctr"/>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احیای نودها</a:t>
            </a:r>
            <a:endParaRPr lang="en-US" sz="1300" dirty="0"/>
          </a:p>
        </p:txBody>
      </p:sp>
      <p:sp>
        <p:nvSpPr>
          <p:cNvPr id="15" name="Text 13"/>
          <p:cNvSpPr txBox="1"/>
          <p:nvPr/>
        </p:nvSpPr>
        <p:spPr>
          <a:xfrm>
            <a:off x="685800" y="2432304"/>
            <a:ext cx="7939735" cy="896112"/>
          </a:xfrm>
          <a:prstGeom prst="rect">
            <a:avLst/>
          </a:prstGeom>
          <a:noFill/>
          <a:ln/>
        </p:spPr>
        <p:txBody>
          <a:bodyPr wrap="square" lIns="0" tIns="0" rIns="0" bIns="0" rtlCol="0" anchor="ctr"/>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همه‌ی نودهای صادق را هم‌زمان ری‌استارت کنید؛ ری‌استارت جزئی معمولاً کافی نیست. نودهای مفقود را راه بیندازید و ببینید نصاب بازمی‌گردد یا نه.</a:t>
            </a:r>
            <a:endParaRPr lang="en-US" sz="1200" dirty="0"/>
          </a:p>
        </p:txBody>
      </p:sp>
      <p:sp>
        <p:nvSpPr>
          <p:cNvPr id="16" name="Shape 14"/>
          <p:cNvSpPr/>
          <p:nvPr/>
        </p:nvSpPr>
        <p:spPr>
          <a:xfrm>
            <a:off x="548640" y="3401568"/>
            <a:ext cx="11094415" cy="896112"/>
          </a:xfrm>
          <a:prstGeom prst="roundRect">
            <a:avLst>
              <a:gd name="adj" fmla="val 12245"/>
            </a:avLst>
          </a:prstGeom>
          <a:solidFill>
            <a:srgbClr val="F7F9FC"/>
          </a:solidFill>
          <a:ln w="9525">
            <a:solidFill>
              <a:srgbClr val="DDE1EE"/>
            </a:solidFill>
            <a:prstDash val="solid"/>
          </a:ln>
        </p:spPr>
      </p:sp>
      <p:sp>
        <p:nvSpPr>
          <p:cNvPr id="17" name="Shape 15"/>
          <p:cNvSpPr/>
          <p:nvPr/>
        </p:nvSpPr>
        <p:spPr>
          <a:xfrm>
            <a:off x="11121847" y="3657600"/>
            <a:ext cx="384048" cy="384048"/>
          </a:xfrm>
          <a:prstGeom prst="ellipse">
            <a:avLst/>
          </a:prstGeom>
          <a:solidFill>
            <a:srgbClr val="2F3690"/>
          </a:solidFill>
          <a:ln w="12700">
            <a:solidFill>
              <a:srgbClr val="2F3690"/>
            </a:solidFill>
            <a:prstDash val="solid"/>
          </a:ln>
        </p:spPr>
      </p:sp>
      <p:sp>
        <p:nvSpPr>
          <p:cNvPr id="18" name="Text 16"/>
          <p:cNvSpPr txBox="1"/>
          <p:nvPr/>
        </p:nvSpPr>
        <p:spPr>
          <a:xfrm>
            <a:off x="11121847" y="3657600"/>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۳</a:t>
            </a:r>
            <a:endParaRPr lang="en-US" sz="1300" dirty="0"/>
          </a:p>
        </p:txBody>
      </p:sp>
      <p:sp>
        <p:nvSpPr>
          <p:cNvPr id="19" name="Text 17"/>
          <p:cNvSpPr txBox="1"/>
          <p:nvPr/>
        </p:nvSpPr>
        <p:spPr>
          <a:xfrm>
            <a:off x="8762695" y="3401568"/>
            <a:ext cx="2194560" cy="896112"/>
          </a:xfrm>
          <a:prstGeom prst="rect">
            <a:avLst/>
          </a:prstGeom>
          <a:noFill/>
          <a:ln/>
        </p:spPr>
        <p:txBody>
          <a:bodyPr wrap="square" lIns="0" tIns="0" rIns="0" bIns="0" rtlCol="0" anchor="ctr"/>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گذار به blockheader</a:t>
            </a:r>
            <a:endParaRPr lang="en-US" sz="1300" dirty="0"/>
          </a:p>
        </p:txBody>
      </p:sp>
      <p:sp>
        <p:nvSpPr>
          <p:cNvPr id="20" name="Text 18"/>
          <p:cNvSpPr txBox="1"/>
          <p:nvPr/>
        </p:nvSpPr>
        <p:spPr>
          <a:xfrm>
            <a:off x="685800" y="3401568"/>
            <a:ext cx="7939735" cy="896112"/>
          </a:xfrm>
          <a:prstGeom prst="rect">
            <a:avLst/>
          </a:prstGeom>
          <a:noFill/>
          <a:ln/>
        </p:spPr>
        <p:txBody>
          <a:bodyPr wrap="square" lIns="0" tIns="0" rIns="0" bIns="0" rtlCol="0" anchor="ctr"/>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اگر هنوز قفل است، در یک ارتفاع آینده transitions.qbft موقتاً انتخاب ولیدیتور را به حالت blockheader با فهرست صریح می‌برد؛ این تغییر پیکربندی را باید همه‌ی نودها پیش از آن ارتفاع اعمال کنند.</a:t>
            </a:r>
            <a:endParaRPr lang="en-US" sz="1200" dirty="0"/>
          </a:p>
        </p:txBody>
      </p:sp>
      <p:sp>
        <p:nvSpPr>
          <p:cNvPr id="21" name="Shape 19"/>
          <p:cNvSpPr/>
          <p:nvPr/>
        </p:nvSpPr>
        <p:spPr>
          <a:xfrm>
            <a:off x="548640" y="4370832"/>
            <a:ext cx="11094415" cy="896112"/>
          </a:xfrm>
          <a:prstGeom prst="roundRect">
            <a:avLst>
              <a:gd name="adj" fmla="val 12245"/>
            </a:avLst>
          </a:prstGeom>
          <a:solidFill>
            <a:srgbClr val="FFFFFF"/>
          </a:solidFill>
          <a:ln w="9525">
            <a:solidFill>
              <a:srgbClr val="DDE1EE"/>
            </a:solidFill>
            <a:prstDash val="solid"/>
          </a:ln>
        </p:spPr>
      </p:sp>
      <p:sp>
        <p:nvSpPr>
          <p:cNvPr id="22" name="Shape 20"/>
          <p:cNvSpPr/>
          <p:nvPr/>
        </p:nvSpPr>
        <p:spPr>
          <a:xfrm>
            <a:off x="11121847" y="4626864"/>
            <a:ext cx="384048" cy="384048"/>
          </a:xfrm>
          <a:prstGeom prst="ellipse">
            <a:avLst/>
          </a:prstGeom>
          <a:solidFill>
            <a:srgbClr val="2F3690"/>
          </a:solidFill>
          <a:ln w="12700">
            <a:solidFill>
              <a:srgbClr val="2F3690"/>
            </a:solidFill>
            <a:prstDash val="solid"/>
          </a:ln>
        </p:spPr>
      </p:sp>
      <p:sp>
        <p:nvSpPr>
          <p:cNvPr id="23" name="Text 21"/>
          <p:cNvSpPr txBox="1"/>
          <p:nvPr/>
        </p:nvSpPr>
        <p:spPr>
          <a:xfrm>
            <a:off x="11121847" y="4626864"/>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۴</a:t>
            </a:r>
            <a:endParaRPr lang="en-US" sz="1300" dirty="0"/>
          </a:p>
        </p:txBody>
      </p:sp>
      <p:sp>
        <p:nvSpPr>
          <p:cNvPr id="24" name="Text 22"/>
          <p:cNvSpPr txBox="1"/>
          <p:nvPr/>
        </p:nvSpPr>
        <p:spPr>
          <a:xfrm>
            <a:off x="8762695" y="4370832"/>
            <a:ext cx="2194560" cy="896112"/>
          </a:xfrm>
          <a:prstGeom prst="rect">
            <a:avLst/>
          </a:prstGeom>
          <a:noFill/>
          <a:ln/>
        </p:spPr>
        <p:txBody>
          <a:bodyPr wrap="square" lIns="0" tIns="0" rIns="0" bIns="0" rtlCol="0" anchor="ctr"/>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بازگشت به قرارداد</a:t>
            </a:r>
            <a:endParaRPr lang="en-US" sz="1300" dirty="0"/>
          </a:p>
        </p:txBody>
      </p:sp>
      <p:sp>
        <p:nvSpPr>
          <p:cNvPr id="25" name="Text 23"/>
          <p:cNvSpPr txBox="1"/>
          <p:nvPr/>
        </p:nvSpPr>
        <p:spPr>
          <a:xfrm>
            <a:off x="685800" y="4370832"/>
            <a:ext cx="7939735" cy="896112"/>
          </a:xfrm>
          <a:prstGeom prst="rect">
            <a:avLst/>
          </a:prstGeom>
          <a:noFill/>
          <a:ln/>
        </p:spPr>
        <p:txBody>
          <a:bodyPr wrap="square" lIns="0" tIns="0" rIns="0" bIns="0" rtlCol="0" anchor="ctr"/>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پس از بازیابی، گذار دوم دوباره حالت contract با آدرس ValidatorsRegistry را برمی‌گرداند. فهرست صریح باید با وضعیت قرارداد هم‌خوان باشد.</a:t>
            </a:r>
            <a:endParaRPr lang="en-US" sz="1200" dirty="0"/>
          </a:p>
        </p:txBody>
      </p:sp>
      <p:sp>
        <p:nvSpPr>
          <p:cNvPr id="26" name="Shape 24"/>
          <p:cNvSpPr/>
          <p:nvPr/>
        </p:nvSpPr>
        <p:spPr>
          <a:xfrm>
            <a:off x="548640" y="5340096"/>
            <a:ext cx="11094415" cy="896112"/>
          </a:xfrm>
          <a:prstGeom prst="roundRect">
            <a:avLst>
              <a:gd name="adj" fmla="val 12245"/>
            </a:avLst>
          </a:prstGeom>
          <a:solidFill>
            <a:srgbClr val="F7F9FC"/>
          </a:solidFill>
          <a:ln w="9525">
            <a:solidFill>
              <a:srgbClr val="DDE1EE"/>
            </a:solidFill>
            <a:prstDash val="solid"/>
          </a:ln>
        </p:spPr>
      </p:sp>
      <p:sp>
        <p:nvSpPr>
          <p:cNvPr id="27" name="Shape 25"/>
          <p:cNvSpPr/>
          <p:nvPr/>
        </p:nvSpPr>
        <p:spPr>
          <a:xfrm>
            <a:off x="11121847" y="5596128"/>
            <a:ext cx="384048" cy="384048"/>
          </a:xfrm>
          <a:prstGeom prst="ellipse">
            <a:avLst/>
          </a:prstGeom>
          <a:solidFill>
            <a:srgbClr val="2F3690"/>
          </a:solidFill>
          <a:ln w="12700">
            <a:solidFill>
              <a:srgbClr val="2F3690"/>
            </a:solidFill>
            <a:prstDash val="solid"/>
          </a:ln>
        </p:spPr>
      </p:sp>
      <p:sp>
        <p:nvSpPr>
          <p:cNvPr id="28" name="Text 26"/>
          <p:cNvSpPr txBox="1"/>
          <p:nvPr/>
        </p:nvSpPr>
        <p:spPr>
          <a:xfrm>
            <a:off x="11121847" y="5596128"/>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۵</a:t>
            </a:r>
            <a:endParaRPr lang="en-US" sz="1300" dirty="0"/>
          </a:p>
        </p:txBody>
      </p:sp>
      <p:sp>
        <p:nvSpPr>
          <p:cNvPr id="29" name="Text 27"/>
          <p:cNvSpPr txBox="1"/>
          <p:nvPr/>
        </p:nvSpPr>
        <p:spPr>
          <a:xfrm>
            <a:off x="8762695" y="5340096"/>
            <a:ext cx="2194560" cy="896112"/>
          </a:xfrm>
          <a:prstGeom prst="rect">
            <a:avLst/>
          </a:prstGeom>
          <a:noFill/>
          <a:ln/>
        </p:spPr>
        <p:txBody>
          <a:bodyPr wrap="square" lIns="0" tIns="0" rIns="0" bIns="0" rtlCol="0" anchor="ctr"/>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وضعیت آزمون و فرایند</a:t>
            </a:r>
            <a:endParaRPr lang="en-US" sz="1300" dirty="0"/>
          </a:p>
        </p:txBody>
      </p:sp>
      <p:sp>
        <p:nvSpPr>
          <p:cNvPr id="30" name="Text 28"/>
          <p:cNvSpPr txBox="1"/>
          <p:nvPr/>
        </p:nvSpPr>
        <p:spPr>
          <a:xfrm>
            <a:off x="685800" y="5340096"/>
            <a:ext cx="7939735" cy="896112"/>
          </a:xfrm>
          <a:prstGeom prst="rect">
            <a:avLst/>
          </a:prstGeom>
          <a:noFill/>
          <a:ln/>
        </p:spPr>
        <p:txBody>
          <a:bodyPr wrap="square" lIns="0" tIns="0" rIns="0" bIns="0" rtlCol="0" anchor="ctr"/>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روش فنی (احیای نود و گذار رفت‌وبرگشت) روی Besu واقعی آزموده شده است؛ فرایند سازمانی تأیید ۵ از ۷ مسئول مستقل و ابزار کمکی هنوز نوشته نشده است.</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امنیت</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امنیت و مرز اعتماد</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32</a:t>
            </a:r>
            <a:endParaRPr lang="en-US" sz="1000" dirty="0"/>
          </a:p>
        </p:txBody>
      </p:sp>
      <p:sp>
        <p:nvSpPr>
          <p:cNvPr id="6" name="Shape 4"/>
          <p:cNvSpPr/>
          <p:nvPr/>
        </p:nvSpPr>
        <p:spPr>
          <a:xfrm>
            <a:off x="6233465" y="1417320"/>
            <a:ext cx="5410048" cy="2286000"/>
          </a:xfrm>
          <a:prstGeom prst="roundRect">
            <a:avLst>
              <a:gd name="adj" fmla="val 4800"/>
            </a:avLst>
          </a:prstGeom>
          <a:solidFill>
            <a:srgbClr val="F7F9FC"/>
          </a:solidFill>
          <a:ln w="9525">
            <a:solidFill>
              <a:srgbClr val="DDE1EE"/>
            </a:solidFill>
            <a:prstDash val="solid"/>
          </a:ln>
        </p:spPr>
      </p:sp>
      <p:sp>
        <p:nvSpPr>
          <p:cNvPr id="7" name="Shape 5"/>
          <p:cNvSpPr/>
          <p:nvPr/>
        </p:nvSpPr>
        <p:spPr>
          <a:xfrm>
            <a:off x="10957712"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3501" y="1735988"/>
            <a:ext cx="231343" cy="231343"/>
          </a:xfrm>
          <a:prstGeom prst="rect">
            <a:avLst/>
          </a:prstGeom>
        </p:spPr>
      </p:pic>
      <p:sp>
        <p:nvSpPr>
          <p:cNvPr id="9" name="Text 6"/>
          <p:cNvSpPr txBox="1"/>
          <p:nvPr/>
        </p:nvSpPr>
        <p:spPr>
          <a:xfrm>
            <a:off x="6416345"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قرارداد چه تضمین می‌کند</a:t>
            </a:r>
            <a:endParaRPr lang="en-US" sz="1550" dirty="0"/>
          </a:p>
        </p:txBody>
      </p:sp>
      <p:sp>
        <p:nvSpPr>
          <p:cNvPr id="10" name="Text 7"/>
          <p:cNvSpPr txBox="1"/>
          <p:nvPr/>
        </p:nvSpPr>
        <p:spPr>
          <a:xfrm>
            <a:off x="6416345" y="2286000"/>
            <a:ext cx="5044288" cy="1325880"/>
          </a:xfrm>
          <a:prstGeom prst="rect">
            <a:avLst/>
          </a:prstGeom>
          <a:noFill/>
          <a:ln/>
        </p:spPr>
        <p:txBody>
          <a:bodyPr wrap="square" lIns="0" tIns="0" rIns="0" bIns="0" rtlCol="0" anchor="t"/>
          <a:lstStyle/>
          <a:p>
            <a:pPr rtl="1" algn="r" indent="0" marL="0">
              <a:lnSpc>
                <a:spcPct val="105000"/>
              </a:lnSpc>
              <a:buNone/>
            </a:pPr>
            <a:r>
              <a:rPr lang="fa-IR" altLang="en-US" sz="1120" dirty="0">
                <a:solidFill>
                  <a:srgbClr val="1B1B2F"/>
                </a:solidFill>
                <a:latin typeface="Vazirmatn" pitchFamily="34" charset="0"/>
                <a:ea typeface="Vazirmatn" pitchFamily="34" charset="-122"/>
                <a:cs typeface="Vazirmatn" pitchFamily="34" charset="-120"/>
              </a:rPr>
              <a:t>بازه‌ی تسویه بدون تکرار، هم‌پوشانی و فاصله؛ سقف پاداش هر بازه؛ صعودی بودن و یکتایی آدرس‌ها؛ نصاب و تأخیر هر حکمرانی؛ پرداخت فقط به آدرس‌هایی که حداقل یک‌بار مشروع Active بوده‌اند؛ انتقال سورن با call و بررسی نتیجه و nonReentrant روی مسیرهای حساس.</a:t>
            </a:r>
            <a:endParaRPr lang="en-US" sz="1120" dirty="0"/>
          </a:p>
        </p:txBody>
      </p:sp>
      <p:sp>
        <p:nvSpPr>
          <p:cNvPr id="11" name="Shape 8"/>
          <p:cNvSpPr/>
          <p:nvPr/>
        </p:nvSpPr>
        <p:spPr>
          <a:xfrm>
            <a:off x="548640" y="1417320"/>
            <a:ext cx="5410048" cy="2286000"/>
          </a:xfrm>
          <a:prstGeom prst="roundRect">
            <a:avLst>
              <a:gd name="adj" fmla="val 4800"/>
            </a:avLst>
          </a:prstGeom>
          <a:solidFill>
            <a:srgbClr val="FCEAE4"/>
          </a:solidFill>
          <a:ln w="9525">
            <a:solidFill>
              <a:srgbClr val="FCEAE4"/>
            </a:solidFill>
            <a:prstDash val="solid"/>
          </a:ln>
        </p:spPr>
      </p:sp>
      <p:sp>
        <p:nvSpPr>
          <p:cNvPr id="12" name="Shape 9"/>
          <p:cNvSpPr/>
          <p:nvPr/>
        </p:nvSpPr>
        <p:spPr>
          <a:xfrm>
            <a:off x="5272888" y="1600200"/>
            <a:ext cx="502920" cy="502920"/>
          </a:xfrm>
          <a:prstGeom prst="ellipse">
            <a:avLst/>
          </a:prstGeom>
          <a:solidFill>
            <a:srgbClr val="C8431F"/>
          </a:solidFill>
          <a:ln w="12700">
            <a:solidFill>
              <a:srgbClr val="C8431F"/>
            </a:solidFill>
            <a:prstDash val="solid"/>
          </a:ln>
        </p:spPr>
      </p:sp>
      <p:pic>
        <p:nvPicPr>
          <p:cNvPr id="13" name="Image 1" descr="preencoded.png">    </p:cNvPr>
          <p:cNvPicPr>
            <a:picLocks noChangeAspect="1"/>
          </p:cNvPicPr>
          <p:nvPr/>
        </p:nvPicPr>
        <p:blipFill>
          <a:blip r:embed="rId2"/>
          <a:stretch>
            <a:fillRect/>
          </a:stretch>
        </p:blipFill>
        <p:spPr>
          <a:xfrm>
            <a:off x="5408676" y="1735988"/>
            <a:ext cx="231343" cy="231343"/>
          </a:xfrm>
          <a:prstGeom prst="rect">
            <a:avLst/>
          </a:prstGeom>
        </p:spPr>
      </p:pic>
      <p:sp>
        <p:nvSpPr>
          <p:cNvPr id="14" name="Text 10"/>
          <p:cNvSpPr txBox="1"/>
          <p:nvPr/>
        </p:nvSpPr>
        <p:spPr>
          <a:xfrm>
            <a:off x="731520" y="167335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قرارداد چه چیزی را تأیید نمی‌کند</a:t>
            </a:r>
            <a:endParaRPr lang="en-US" sz="1550" dirty="0"/>
          </a:p>
        </p:txBody>
      </p:sp>
      <p:sp>
        <p:nvSpPr>
          <p:cNvPr id="15" name="Text 11"/>
          <p:cNvSpPr txBox="1"/>
          <p:nvPr/>
        </p:nvSpPr>
        <p:spPr>
          <a:xfrm>
            <a:off x="731520" y="2286000"/>
            <a:ext cx="5044288" cy="1325880"/>
          </a:xfrm>
          <a:prstGeom prst="rect">
            <a:avLst/>
          </a:prstGeom>
          <a:noFill/>
          <a:ln/>
        </p:spPr>
        <p:txBody>
          <a:bodyPr wrap="square" lIns="0" tIns="0" rIns="0" bIns="0" rtlCol="0" anchor="t"/>
          <a:lstStyle/>
          <a:p>
            <a:pPr rtl="1" algn="r" indent="0" marL="0">
              <a:lnSpc>
                <a:spcPct val="105000"/>
              </a:lnSpc>
              <a:buNone/>
            </a:pPr>
            <a:r>
              <a:rPr lang="fa-IR" altLang="en-US" sz="1120" dirty="0">
                <a:solidFill>
                  <a:srgbClr val="1B1B2F"/>
                </a:solidFill>
                <a:latin typeface="Vazirmatn" pitchFamily="34" charset="0"/>
                <a:ea typeface="Vazirmatn" pitchFamily="34" charset="-122"/>
                <a:cs typeface="Vazirmatn" pitchFamily="34" charset="-120"/>
              </a:rPr>
              <a:t>صحت totalRewards و totalFees و انتساب بلاک‌ها به ولیدیتورها را از distributionOracle می‌پذیرد و با زنجیره تطبیق نمی‌دهد. محافظ‌ها: سقف پاداش، everActivated، موجودی قرارداد و چرخش کلید توسط هیأت.</a:t>
            </a:r>
            <a:endParaRPr lang="en-US" sz="1120" dirty="0"/>
          </a:p>
        </p:txBody>
      </p:sp>
      <p:sp>
        <p:nvSpPr>
          <p:cNvPr id="16" name="Shape 12"/>
          <p:cNvSpPr/>
          <p:nvPr/>
        </p:nvSpPr>
        <p:spPr>
          <a:xfrm>
            <a:off x="6233465" y="3886200"/>
            <a:ext cx="5410048" cy="2286000"/>
          </a:xfrm>
          <a:prstGeom prst="roundRect">
            <a:avLst>
              <a:gd name="adj" fmla="val 4800"/>
            </a:avLst>
          </a:prstGeom>
          <a:solidFill>
            <a:srgbClr val="FCEAE4"/>
          </a:solidFill>
          <a:ln w="9525">
            <a:solidFill>
              <a:srgbClr val="FCEAE4"/>
            </a:solidFill>
            <a:prstDash val="solid"/>
          </a:ln>
        </p:spPr>
      </p:sp>
      <p:sp>
        <p:nvSpPr>
          <p:cNvPr id="17" name="Shape 13"/>
          <p:cNvSpPr/>
          <p:nvPr/>
        </p:nvSpPr>
        <p:spPr>
          <a:xfrm>
            <a:off x="10957712" y="4069080"/>
            <a:ext cx="502920" cy="502920"/>
          </a:xfrm>
          <a:prstGeom prst="ellipse">
            <a:avLst/>
          </a:prstGeom>
          <a:solidFill>
            <a:srgbClr val="C8431F"/>
          </a:solidFill>
          <a:ln w="12700">
            <a:solidFill>
              <a:srgbClr val="C8431F"/>
            </a:solidFill>
            <a:prstDash val="solid"/>
          </a:ln>
        </p:spPr>
      </p:sp>
      <p:pic>
        <p:nvPicPr>
          <p:cNvPr id="18" name="Image 2" descr="preencoded.png">    </p:cNvPr>
          <p:cNvPicPr>
            <a:picLocks noChangeAspect="1"/>
          </p:cNvPicPr>
          <p:nvPr/>
        </p:nvPicPr>
        <p:blipFill>
          <a:blip r:embed="rId3"/>
          <a:stretch>
            <a:fillRect/>
          </a:stretch>
        </p:blipFill>
        <p:spPr>
          <a:xfrm>
            <a:off x="11093501" y="4204868"/>
            <a:ext cx="231343" cy="231343"/>
          </a:xfrm>
          <a:prstGeom prst="rect">
            <a:avLst/>
          </a:prstGeom>
        </p:spPr>
      </p:pic>
      <p:sp>
        <p:nvSpPr>
          <p:cNvPr id="19" name="Text 14"/>
          <p:cNvSpPr txBox="1"/>
          <p:nvPr/>
        </p:nvSpPr>
        <p:spPr>
          <a:xfrm>
            <a:off x="6416345"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سطح حمله‌ی کلیدها</a:t>
            </a:r>
            <a:endParaRPr lang="en-US" sz="1550" dirty="0"/>
          </a:p>
        </p:txBody>
      </p:sp>
      <p:sp>
        <p:nvSpPr>
          <p:cNvPr id="20" name="Text 15"/>
          <p:cNvSpPr txBox="1"/>
          <p:nvPr/>
        </p:nvSpPr>
        <p:spPr>
          <a:xfrm>
            <a:off x="6416345" y="4754880"/>
            <a:ext cx="5044288" cy="1325880"/>
          </a:xfrm>
          <a:prstGeom prst="rect">
            <a:avLst/>
          </a:prstGeom>
          <a:noFill/>
          <a:ln/>
        </p:spPr>
        <p:txBody>
          <a:bodyPr wrap="square" lIns="0" tIns="0" rIns="0" bIns="0" rtlCol="0" anchor="t"/>
          <a:lstStyle/>
          <a:p>
            <a:pPr rtl="1" algn="r" indent="0" marL="0">
              <a:lnSpc>
                <a:spcPct val="105000"/>
              </a:lnSpc>
              <a:buNone/>
            </a:pPr>
            <a:r>
              <a:rPr lang="fa-IR" altLang="en-US" sz="1120" dirty="0">
                <a:solidFill>
                  <a:srgbClr val="1B1B2F"/>
                </a:solidFill>
                <a:latin typeface="Vazirmatn" pitchFamily="34" charset="0"/>
                <a:ea typeface="Vazirmatn" pitchFamily="34" charset="-122"/>
                <a:cs typeface="Vazirmatn" pitchFamily="34" charset="-120"/>
              </a:rPr>
              <a:t>distributionOracle و verifier نقاط تمرکز اعتماداند. مهاجم با کلید paymentOracle فقط پرداخت ساختگی تا سقف موجودی SurenSale می‌تواند گزارش دهد. برای تک‌Verifier معافیت جمعی فقط جریمه‌ی مالی را متوقف می‌کند و خطای او روی مجموعه‌ی اجماع اثر دارد.</a:t>
            </a:r>
            <a:endParaRPr lang="en-US" sz="1120" dirty="0"/>
          </a:p>
        </p:txBody>
      </p:sp>
      <p:sp>
        <p:nvSpPr>
          <p:cNvPr id="21" name="Shape 16"/>
          <p:cNvSpPr/>
          <p:nvPr/>
        </p:nvSpPr>
        <p:spPr>
          <a:xfrm>
            <a:off x="548640" y="3886200"/>
            <a:ext cx="5410048" cy="2286000"/>
          </a:xfrm>
          <a:prstGeom prst="roundRect">
            <a:avLst>
              <a:gd name="adj" fmla="val 4800"/>
            </a:avLst>
          </a:prstGeom>
          <a:solidFill>
            <a:srgbClr val="F7F9FC"/>
          </a:solidFill>
          <a:ln w="9525">
            <a:solidFill>
              <a:srgbClr val="DDE1EE"/>
            </a:solidFill>
            <a:prstDash val="solid"/>
          </a:ln>
        </p:spPr>
      </p:sp>
      <p:sp>
        <p:nvSpPr>
          <p:cNvPr id="22" name="Shape 17"/>
          <p:cNvSpPr/>
          <p:nvPr/>
        </p:nvSpPr>
        <p:spPr>
          <a:xfrm>
            <a:off x="5272888" y="4069080"/>
            <a:ext cx="502920" cy="502920"/>
          </a:xfrm>
          <a:prstGeom prst="ellipse">
            <a:avLst/>
          </a:prstGeom>
          <a:solidFill>
            <a:srgbClr val="2F3690"/>
          </a:solidFill>
          <a:ln w="12700">
            <a:solidFill>
              <a:srgbClr val="2F3690"/>
            </a:solidFill>
            <a:prstDash val="solid"/>
          </a:ln>
        </p:spPr>
      </p:sp>
      <p:pic>
        <p:nvPicPr>
          <p:cNvPr id="23" name="Image 3" descr="preencoded.png">    </p:cNvPr>
          <p:cNvPicPr>
            <a:picLocks noChangeAspect="1"/>
          </p:cNvPicPr>
          <p:nvPr/>
        </p:nvPicPr>
        <p:blipFill>
          <a:blip r:embed="rId4"/>
          <a:stretch>
            <a:fillRect/>
          </a:stretch>
        </p:blipFill>
        <p:spPr>
          <a:xfrm>
            <a:off x="5408676" y="4204868"/>
            <a:ext cx="231343" cy="231343"/>
          </a:xfrm>
          <a:prstGeom prst="rect">
            <a:avLst/>
          </a:prstGeom>
        </p:spPr>
      </p:pic>
      <p:sp>
        <p:nvSpPr>
          <p:cNvPr id="24" name="Text 18"/>
          <p:cNvSpPr txBox="1"/>
          <p:nvPr/>
        </p:nvSpPr>
        <p:spPr>
          <a:xfrm>
            <a:off x="731520" y="4142232"/>
            <a:ext cx="4404208"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ایزوله‌سازی</a:t>
            </a:r>
            <a:endParaRPr lang="en-US" sz="1550" dirty="0"/>
          </a:p>
        </p:txBody>
      </p:sp>
      <p:sp>
        <p:nvSpPr>
          <p:cNvPr id="25" name="Text 19"/>
          <p:cNvSpPr txBox="1"/>
          <p:nvPr/>
        </p:nvSpPr>
        <p:spPr>
          <a:xfrm>
            <a:off x="731520" y="4754880"/>
            <a:ext cx="5044288" cy="1325880"/>
          </a:xfrm>
          <a:prstGeom prst="rect">
            <a:avLst/>
          </a:prstGeom>
          <a:noFill/>
          <a:ln/>
        </p:spPr>
        <p:txBody>
          <a:bodyPr wrap="square" lIns="0" tIns="0" rIns="0" bIns="0" rtlCol="0" anchor="t"/>
          <a:lstStyle/>
          <a:p>
            <a:pPr rtl="1" algn="r" indent="0" marL="0">
              <a:lnSpc>
                <a:spcPct val="105000"/>
              </a:lnSpc>
              <a:buNone/>
            </a:pPr>
            <a:r>
              <a:rPr lang="fa-IR" altLang="en-US" sz="1120" dirty="0">
                <a:solidFill>
                  <a:srgbClr val="1B1B2F"/>
                </a:solidFill>
                <a:latin typeface="Vazirmatn" pitchFamily="34" charset="0"/>
                <a:ea typeface="Vazirmatn" pitchFamily="34" charset="-122"/>
                <a:cs typeface="Vazirmatn" pitchFamily="34" charset="-120"/>
              </a:rPr>
              <a:t>FoundationDAO هیچ مسیری به خزانه‌ی ولیدیتورها ندارد؛ خرج Treasury فقط با هیأت و زیر دو سقف؛ هیچ ادمین مرکزی و هیچ مسیر دورزدن اضطراری سقف پاداش وجود ندارد.</a:t>
            </a:r>
            <a:endParaRPr lang="en-US" sz="112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آزمون‌ها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آنچه روی Besu واقعی دیده شده است</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33</a:t>
            </a:r>
            <a:endParaRPr lang="en-US" sz="1000" dirty="0"/>
          </a:p>
        </p:txBody>
      </p:sp>
      <p:sp>
        <p:nvSpPr>
          <p:cNvPr id="6" name="Text 4"/>
          <p:cNvSpPr txBox="1"/>
          <p:nvPr/>
        </p:nvSpPr>
        <p:spPr>
          <a:xfrm>
            <a:off x="548640" y="1097280"/>
            <a:ext cx="11094415" cy="2743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شبکه‌ی آزمایشی از صفر: چهار نود ولیدیتور و یک نود اضافه، نسخه‌ی Besu ۲۶٫۹٫۰</a:t>
            </a:r>
            <a:endParaRPr lang="en-US" sz="12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7619695"/>
                <a:gridCol w="3474720"/>
              </a:tblGrid>
              <a:tr h="384048">
                <a:tc>
                  <a:txBody>
                    <a:bodyPr/>
                    <a:lstStyle/>
                    <a:p>
                      <a:pPr rtl="1" algn="r" indent="0" marL="0">
                        <a:buNone/>
                      </a:pPr>
                      <a:r>
                        <a:rPr lang="fa-IR" altLang="en-US" sz="1100" b="1" dirty="0">
                          <a:solidFill>
                            <a:srgbClr val="FFFFFF"/>
                          </a:solidFill>
                          <a:latin typeface="Vazirmatn" pitchFamily="34" charset="0"/>
                          <a:ea typeface="Vazirmatn" pitchFamily="34" charset="-122"/>
                          <a:cs typeface="Vazirmatn" pitchFamily="34" charset="-120"/>
                        </a:rPr>
                        <a:t>نتیجه / پیامد عملی</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00" b="1" dirty="0">
                          <a:solidFill>
                            <a:srgbClr val="FFFFFF"/>
                          </a:solidFill>
                          <a:latin typeface="Vazirmatn" pitchFamily="34" charset="0"/>
                          <a:ea typeface="Vazirmatn" pitchFamily="34" charset="-122"/>
                          <a:cs typeface="Vazirmatn" pitchFamily="34" charset="-120"/>
                        </a:rPr>
                        <a:t>یافته</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02920">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کار می‌کند؛ هر چهار نود از بلاک صفر کد یکسان (sha256 برابر) دیدند</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تزریق genesis بدون constructor</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48640">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getValidators() واقعاً برای انتخاب پیشنهاددهنده خوانده می‌شود؛ چرخش round-robin بین چهار مؤسس تأیید شد</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qbft.validatorcontractaddress</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48640">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ولیدیتور جدید پس از recordActivation و روشن‌شدن نودش بلافاصله بلاک پیشنهاد داد؛ تعلیق نصاب را فوراً تطبیق داد</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فعال‌سازی و تعلیق</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48640">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با زمان واقعی کار کرد؛ جریمه روی مؤسسی با وثیقه‌ی صفر بود، پس اثر مالی روی عضو پرداخت‌کننده آزموده نشده</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جریان تحویل → بی‌اعتراض → جریمه</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02920">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رأی‌گیری هیأت و پرداخت خزانه با تراکنش واقعی تأیید شد؛ رأی پیشنهاددهنده خودکار شمرده می‌شود</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هیأت و خزانه</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وقتی نصاب از شمار نودهای روشن بیشتر شد زنجیره حدود ۵۴ دقیقه ایستاد</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قفل زنجیره با ولیدیتور بدون نود</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48640">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زنجیره تا فرارسیدن آن زمان تولید بلاک نمی‌کند؛ timestamp را با فاصله‌ی کم از «اکنون» بگذارید</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genesis با timestamp در آینده</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1100" dirty="0">
                          <a:solidFill>
                            <a:srgbClr val="1B1B2F"/>
                          </a:solidFill>
                          <a:latin typeface="Vazirmatn" pitchFamily="34" charset="0"/>
                          <a:ea typeface="Vazirmatn" pitchFamily="34" charset="-122"/>
                          <a:cs typeface="Vazirmatn" pitchFamily="34" charset="-120"/>
                        </a:rPr>
                        <a:t>با هر enode خطا می‌دهد؛ از static-nodes.json استفاده کنید</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00" b="1" dirty="0">
                          <a:solidFill>
                            <a:srgbClr val="1B1B2F"/>
                          </a:solidFill>
                          <a:latin typeface="Vazirmatn" pitchFamily="34" charset="0"/>
                          <a:ea typeface="Vazirmatn" pitchFamily="34" charset="-122"/>
                          <a:cs typeface="Vazirmatn" pitchFamily="34" charset="-120"/>
                        </a:rPr>
                        <a:t>--bootnodes روی Besu ویندوز</a:t>
                      </a:r>
                      <a:endParaRPr lang="fa-IR" sz="11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
        <p:nvSpPr>
          <p:cNvPr id="8" name="Text 5"/>
          <p:cNvSpPr txBox="1"/>
          <p:nvPr/>
        </p:nvSpPr>
        <p:spPr>
          <a:xfrm>
            <a:off x="548640" y="6035040"/>
            <a:ext cx="11094415" cy="411480"/>
          </a:xfrm>
          <a:prstGeom prst="rect">
            <a:avLst/>
          </a:prstGeom>
          <a:noFill/>
          <a:ln/>
        </p:spPr>
        <p:txBody>
          <a:bodyPr wrap="square" lIns="0" tIns="0" rIns="0" bIns="0" rtlCol="0" anchor="t"/>
          <a:lstStyle/>
          <a:p>
            <a:pPr rtl="1" algn="r" indent="0" marL="0">
              <a:lnSpc>
                <a:spcPct val="105000"/>
              </a:lnSpc>
              <a:buNone/>
            </a:pPr>
            <a:r>
              <a:rPr lang="fa-IR" altLang="en-US" sz="1150" b="1" dirty="0">
                <a:solidFill>
                  <a:srgbClr val="C8431F"/>
                </a:solidFill>
                <a:latin typeface="Vazirmatn" pitchFamily="34" charset="0"/>
                <a:ea typeface="Vazirmatn" pitchFamily="34" charset="-122"/>
                <a:cs typeface="Vazirmatn" pitchFamily="34" charset="-120"/>
              </a:rPr>
              <a:t>محدودیت: سؤال «اگر شمار ولیدیتور به زیر نصاب برسد چه می‌شود» و رفتار همه‌ی ویژگی‌های جدید (سقف پاداش، حکمرانی نرخ، واجدان رأی) روی Besu واقعی هنوز آزموده نشده است.</a:t>
            </a:r>
            <a:endParaRPr lang="en-US" sz="11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آزمون‌ها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وضعیت پیاده‌سازی و آزمون</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34</a:t>
            </a:r>
            <a:endParaRPr lang="en-US" sz="10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6888175"/>
                <a:gridCol w="4206240"/>
              </a:tblGrid>
              <a:tr h="384048">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وضعیت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جزء</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4864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نوشته‌شده و کامپایل‌شده بدون viaIR؛ ServiceStaking فقط پیش‌نویس اولیه است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شش قرارداد ساختاری، SurenSale و ServiceStaking</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68580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سقف پاداش، حکمرانی نرخ، واجدان رأی، ترتیب آدرس‌ها، فاصله‌ی تغییر سهم و نسخه‌ی ترکیب هیأت پوشش دارند؛ شبیه‌ساز جایگزین Besu واقعی نیست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آزمون خودکار قراردادها (شبکه‌ی شبیه‌ساز Hardhat)</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68580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نسخه‌ی فعلی کد هنوز آزموده نشده؛ برنامه‌ی آزمون نوشته شده، شبکه‌های مستقل برای هر خانواده‌ی آزمون و ثبت شواهد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آزمون روی Besu واقعی</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مشخصات کامل؛ پیاده‌سازی و آزمون باز</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ابزار ساخت genesis</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0292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مشخصات کامل (از جمله جدول‌ها و تطبیق crash)؛ پیاده‌سازی و آزمون باز</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RewardRouter</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مشخصات کامل؛ پیاده‌سازی باز</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Verifier، Identity Service، PaymentReporter</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64008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طراحی‌شده و هنوز پیاده یا آزموده نشده؛ تا آن زمان فقط حضور در admin_peers سنجیده می‌شود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پروتکل چالش و پاسخ برای سنجش نود (SUR_NODE_CHECK_V1)</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548640" y="5989320"/>
            <a:ext cx="11094415"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C8431F"/>
                </a:solidFill>
                <a:latin typeface="Vazirmatn" pitchFamily="34" charset="0"/>
                <a:ea typeface="Vazirmatn" pitchFamily="34" charset="-122"/>
                <a:cs typeface="Vazirmatn" pitchFamily="34" charset="-120"/>
              </a:rPr>
              <a:t>این جدول آمادگی production را اعلام نمی‌کند.</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آزمون‌ها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موارد فنی باز</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تیم فنی</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35</a:t>
            </a:r>
            <a:endParaRPr lang="en-US" sz="10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6888175"/>
                <a:gridCol w="4206240"/>
              </a:tblGrid>
              <a:tr h="384048">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وضعیت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مورد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4864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تعیین نشده؛ هزینه‌ی محاسبه‌ی سقف برای بازه‌ی عقب‌افتاده‌ی دارای k زیاد باید با آن تطبیق داده شود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gasLimit تولیدی genesis</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6692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تعریف نشده؛ تغییر نرخ آینده آن را حل نمی‌کند و مسیر دورزدن اضطراری وجود ندارد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مسیر رفع «پاداش واقعی بیش از سقف» برای بازه‌ی گذشته</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0292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فرض عملیاتی: لزوم تغییر فایل و ری‌استارت و رفتار نودهای ناهم‌زمان آزموده نشده</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اعمال transition نرخ روی Besu</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4864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REPLACE_AFTER، MAX_REPLACEMENTS و حداقل افزایش گس باید با txpool واقعی تطبیق یابد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پارامترهای جایگزینی تراکنش RewardRouter</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6692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پیش‌نویس؛ آزمون بازپخش با سناریوهای ولیدیتور خاموش، قطع نود پایش، توقف شبکه و ۲۰٪ ساکت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اعداد قواعد تصمیم Verifier</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6692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محاسبه‌ی نوبت مورد انتظار به نسخه‌ی Besu وابسته است و باید روی شبکه‌ی واقعی راستی‌آزمایی شود</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قاعده‌ی انتخاب پیشنهاددهنده‌ی QBFT</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1148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انتخاب نشده</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سرویس IP-geolocation و ارائه‌دهنده‌ی پیامک/تلگرام</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گزارش جدا برای تصمیم؛ حذف یا بازتوزیع خودکار ممنوع است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استثنای تولید بلاک توسط فرد فاقد صلاحیت</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2F3690"/>
        </a:solidFill>
      </p:bgPr>
    </p:bg>
    <p:spTree>
      <p:nvGrpSpPr>
        <p:cNvPr id="1" name=""/>
        <p:cNvGrpSpPr/>
        <p:nvPr/>
      </p:nvGrpSpPr>
      <p:grpSpPr>
        <a:xfrm>
          <a:off x="0" y="0"/>
          <a:ext cx="0" cy="0"/>
          <a:chOff x="0" y="0"/>
          <a:chExt cx="0" cy="0"/>
        </a:xfrm>
      </p:grpSpPr>
      <p:sp>
        <p:nvSpPr>
          <p:cNvPr id="2" name="Shape 0"/>
          <p:cNvSpPr/>
          <p:nvPr/>
        </p:nvSpPr>
        <p:spPr>
          <a:xfrm>
            <a:off x="-2011680" y="4023360"/>
            <a:ext cx="5486400" cy="5486400"/>
          </a:xfrm>
          <a:prstGeom prst="ellipse">
            <a:avLst/>
          </a:prstGeom>
          <a:solidFill>
            <a:srgbClr val="3D46A8">
              <a:alpha val="40000"/>
            </a:srgbClr>
          </a:solidFill>
          <a:ln w="12700">
            <a:solidFill>
              <a:srgbClr val="3D46A8"/>
            </a:solidFill>
            <a:prstDash val="solid"/>
          </a:ln>
        </p:spPr>
      </p:sp>
      <p:sp>
        <p:nvSpPr>
          <p:cNvPr id="3" name="Text 1"/>
          <p:cNvSpPr txBox="1"/>
          <p:nvPr/>
        </p:nvSpPr>
        <p:spPr>
          <a:xfrm>
            <a:off x="4327855" y="640080"/>
            <a:ext cx="7315200" cy="822960"/>
          </a:xfrm>
          <a:prstGeom prst="rect">
            <a:avLst/>
          </a:prstGeom>
          <a:noFill/>
          <a:ln/>
        </p:spPr>
        <p:txBody>
          <a:bodyPr wrap="square" lIns="0" tIns="0" rIns="0" bIns="0" rtlCol="0" anchor="t"/>
          <a:lstStyle/>
          <a:p>
            <a:pPr rtl="1" algn="r" indent="0" marL="0">
              <a:lnSpc>
                <a:spcPct val="105000"/>
              </a:lnSpc>
              <a:buNone/>
            </a:pPr>
            <a:r>
              <a:rPr lang="fa-IR" altLang="en-US" sz="3800" b="1" dirty="0">
                <a:solidFill>
                  <a:srgbClr val="FFFFFF"/>
                </a:solidFill>
                <a:latin typeface="Vazirmatn" pitchFamily="34" charset="0"/>
                <a:ea typeface="Vazirmatn" pitchFamily="34" charset="-122"/>
                <a:cs typeface="Vazirmatn" pitchFamily="34" charset="-120"/>
              </a:rPr>
              <a:t>جمع‌بندی</a:t>
            </a:r>
            <a:endParaRPr lang="en-US" sz="3800" dirty="0"/>
          </a:p>
        </p:txBody>
      </p:sp>
      <p:sp>
        <p:nvSpPr>
          <p:cNvPr id="4" name="Text 2"/>
          <p:cNvSpPr txBox="1"/>
          <p:nvPr/>
        </p:nvSpPr>
        <p:spPr>
          <a:xfrm>
            <a:off x="1401775" y="1737360"/>
            <a:ext cx="10241280" cy="4389120"/>
          </a:xfrm>
          <a:prstGeom prst="rect">
            <a:avLst/>
          </a:prstGeom>
          <a:noFill/>
          <a:ln/>
        </p:spPr>
        <p:txBody>
          <a:bodyPr wrap="square" lIns="0" tIns="0" rIns="0" bIns="0" rtlCol="0" anchor="t"/>
          <a:lstStyle/>
          <a:p>
            <a:pPr rtl="1" algn="r" indent="0" marL="0">
              <a:lnSpc>
                <a:spcPct val="105000"/>
              </a:lnSpc>
              <a:spcAft>
                <a:spcPts val="1400"/>
              </a:spcAft>
              <a:buNone/>
            </a:pPr>
            <a:r>
              <a:rPr lang="fa-IR" altLang="en-US" sz="1700" dirty="0">
                <a:solidFill>
                  <a:srgbClr val="E8EBFF"/>
                </a:solidFill>
                <a:latin typeface="Vazirmatn" pitchFamily="34" charset="0"/>
                <a:ea typeface="Vazirmatn" pitchFamily="34" charset="-122"/>
                <a:cs typeface="Vazirmatn" pitchFamily="34" charset="-120"/>
              </a:rPr>
              <a:t>سور یک شبکه‌ی QBFT روی Besu رسمی است که ولیدیتورها، پاداش و حکمرانی را در شش قرارداد با آدرس ثابت و بدون constructor مدیریت می‌کند؛ این قراردادها مستقیم در alloc می‌نشینند و ساخت genesis با overlay و بررسی از بلاک صفر انجام می‌شود.</a:t>
            </a:r>
            <a:endParaRPr lang="en-US" sz="1700" dirty="0"/>
          </a:p>
          <a:p>
            <a:pPr rtl="1" algn="r" indent="0" marL="0">
              <a:lnSpc>
                <a:spcPct val="105000"/>
              </a:lnSpc>
              <a:spcAft>
                <a:spcPts val="1400"/>
              </a:spcAft>
              <a:buNone/>
            </a:pPr>
            <a:r>
              <a:rPr lang="fa-IR" altLang="en-US" sz="1700" dirty="0">
                <a:solidFill>
                  <a:srgbClr val="E8EBFF"/>
                </a:solidFill>
                <a:latin typeface="Vazirmatn" pitchFamily="34" charset="0"/>
                <a:ea typeface="Vazirmatn" pitchFamily="34" charset="-122"/>
                <a:cs typeface="Vazirmatn" pitchFamily="34" charset="-120"/>
              </a:rPr>
              <a:t>ریوارد و فی مستقیم به قرارداد توزیع می‌رسد. چون زنجیره رویدادی ندارد، RewardRouter هر ۲۳ ساعت بازه‌ی بلاک‌ها را از زنجیره محاسبه و با یک تراکنش، زیر سقف پاداش مصوب، تسویه می‌کند.</a:t>
            </a:r>
            <a:endParaRPr lang="en-US" sz="1700" dirty="0"/>
          </a:p>
          <a:p>
            <a:pPr rtl="1" algn="r" indent="0" marL="0">
              <a:lnSpc>
                <a:spcPct val="105000"/>
              </a:lnSpc>
              <a:spcAft>
                <a:spcPts val="1400"/>
              </a:spcAft>
              <a:buNone/>
            </a:pPr>
            <a:r>
              <a:rPr lang="fa-IR" altLang="en-US" sz="1700" dirty="0">
                <a:solidFill>
                  <a:srgbClr val="E8EBFF"/>
                </a:solidFill>
                <a:latin typeface="Vazirmatn" pitchFamily="34" charset="0"/>
                <a:ea typeface="Vazirmatn" pitchFamily="34" charset="-122"/>
                <a:cs typeface="Vazirmatn" pitchFamily="34" charset="-120"/>
              </a:rPr>
              <a:t>چهار کلید مستقل در Vault نگهداری می‌شوند؛ Verifier فقط تغییر وضعیت را با هش شواهد ثبت می‌کند و جریمه از مسیر تحویل، اعتراض و رأی مجمع می‌گذرد.</a:t>
            </a:r>
            <a:endParaRPr lang="en-US" sz="1700" dirty="0"/>
          </a:p>
          <a:p>
            <a:pPr rtl="1" algn="r" indent="0" marL="0">
              <a:lnSpc>
                <a:spcPct val="105000"/>
              </a:lnSpc>
              <a:spcAft>
                <a:spcPts val="1400"/>
              </a:spcAft>
              <a:buNone/>
            </a:pPr>
            <a:r>
              <a:rPr lang="fa-IR" altLang="en-US" sz="1700" dirty="0">
                <a:solidFill>
                  <a:srgbClr val="E8EBFF"/>
                </a:solidFill>
                <a:latin typeface="Vazirmatn" pitchFamily="34" charset="0"/>
                <a:ea typeface="Vazirmatn" pitchFamily="34" charset="-122"/>
                <a:cs typeface="Vazirmatn" pitchFamily="34" charset="-120"/>
              </a:rPr>
              <a:t>کارهای باز: آزمون نسخه‌ی فعلی روی Besu واقعی، پیاده‌سازی RewardRouter و ابزار genesis و سرویس‌ها، gasLimit تولیدی و مسیر رفع پاداش بیش از سقف.</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Vazirmatn"/>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Vazirmatn"/>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بنیاد سور</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بلاک‌چین سور — پیاده‌سازی فنی (ارائه به تیم فنی)</dc:title>
  <dc:subject>PptxGenJS Presentation</dc:subject>
  <dc:creator>بنیاد سور</dc:creator>
  <cp:lastModifiedBy>بنیاد سور</cp:lastModifiedBy>
  <cp:revision>1</cp:revision>
  <dcterms:created xsi:type="dcterms:W3CDTF">2026-10-03T12:25:52Z</dcterms:created>
  <dcterms:modified xsi:type="dcterms:W3CDTF">2026-10-03T12:25:52Z</dcterms:modified>
</cp:coreProperties>
</file>