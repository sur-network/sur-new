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گس</c:v>
                </c:pt>
              </c:strCache>
            </c:strRef>
          </c:tx>
          <c:spPr>
            <a:solidFill>
              <a:srgbClr val="2F3690"/>
            </a:solidFill>
            <a:effectLst/>
          </c:spPr>
          <c:invertIfNegative val="0"/>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cat>
            <c:multiLvlStrRef>
              <c:f>Sheet1!$A$2:$A$8</c:f>
              <c:multiLvlStrCache>
                <c:ptCount val="7"/>
                <c:lvl>
                  <c:pt idx="0">
                    <c:v>k=۰</c:v>
                  </c:pt>
                  <c:pt idx="1">
                    <c:v>k=۱</c:v>
                  </c:pt>
                  <c:pt idx="2">
                    <c:v>k=۵</c:v>
                  </c:pt>
                  <c:pt idx="3">
                    <c:v>k=۲۰</c:v>
                  </c:pt>
                  <c:pt idx="4">
                    <c:v>k=۴۰</c:v>
                  </c:pt>
                  <c:pt idx="5">
                    <c:v>k=۱۰۰</c:v>
                  </c:pt>
                  <c:pt idx="6">
                    <c:v>k=۳۹۹</c:v>
                  </c:pt>
                </c:lvl>
              </c:multiLvlStrCache>
            </c:multiLvlStrRef>
          </c:cat>
          <c:val>
            <c:numRef>
              <c:f>Sheet1!$B$2:$B$8</c:f>
              <c:numCache>
                <c:formatCode>General</c:formatCode>
                <c:ptCount val="7"/>
                <c:pt idx="0">
                  <c:v>45689</c:v>
                </c:pt>
                <c:pt idx="1">
                  <c:v>49033</c:v>
                </c:pt>
                <c:pt idx="2">
                  <c:v>56173</c:v>
                </c:pt>
                <c:pt idx="3">
                  <c:v>96484</c:v>
                </c:pt>
                <c:pt idx="4">
                  <c:v>152497</c:v>
                </c:pt>
                <c:pt idx="5">
                  <c:v>326289</c:v>
                </c:pt>
                <c:pt idx="6">
                  <c:v>1160454</c:v>
                </c:pt>
              </c:numCache>
            </c:numRef>
          </c:val>
        </c:ser>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300000"/>
          <c:min val="0"/>
        </c:scaling>
        <c:delete val="0"/>
        <c:axPos val="l"/>
        <c:majorGridlines>
          <c:spPr>
            <a:ln w="9525" cap="flat">
              <a:solidFill>
                <a:srgbClr val="DDE1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تیم فنی</a:t>
            </a:r>
            <a:endParaRPr lang="en-US" sz="1800" dirty="0"/>
          </a:p>
        </p:txBody>
      </p:sp>
      <p:sp>
        <p:nvSpPr>
          <p:cNvPr id="7" name="Text 4"/>
          <p:cNvSpPr txBox="1"/>
          <p:nvPr/>
        </p:nvSpPr>
        <p:spPr>
          <a:xfrm>
            <a:off x="853135" y="3108960"/>
            <a:ext cx="10515600" cy="914400"/>
          </a:xfrm>
          <a:prstGeom prst="rect">
            <a:avLst/>
          </a:prstGeom>
          <a:noFill/>
          <a:ln/>
        </p:spPr>
        <p:txBody>
          <a:bodyPr wrap="square" lIns="0" tIns="0" rIns="0" bIns="0" rtlCol="0" anchor="t"/>
          <a:lstStyle/>
          <a:p>
            <a:pPr rtl="1" algn="r" indent="0" marL="0">
              <a:lnSpc>
                <a:spcPct val="105000"/>
              </a:lnSpc>
              <a:buNone/>
            </a:pPr>
            <a:r>
              <a:rPr lang="fa-IR" altLang="en-US" sz="4600" b="1" dirty="0">
                <a:solidFill>
                  <a:srgbClr val="FFFFFF"/>
                </a:solidFill>
                <a:latin typeface="Vazirmatn" pitchFamily="34" charset="0"/>
                <a:ea typeface="Vazirmatn" pitchFamily="34" charset="-122"/>
                <a:cs typeface="Vazirmatn" pitchFamily="34" charset="-120"/>
              </a:rPr>
              <a:t>پیاده‌سازی فنی بلاک‌چین سور</a:t>
            </a:r>
            <a:endParaRPr lang="en-US" sz="4600" dirty="0"/>
          </a:p>
        </p:txBody>
      </p:sp>
      <p:sp>
        <p:nvSpPr>
          <p:cNvPr id="8" name="Text 5"/>
          <p:cNvSpPr txBox="1"/>
          <p:nvPr/>
        </p:nvSpPr>
        <p:spPr>
          <a:xfrm>
            <a:off x="853135" y="4206240"/>
            <a:ext cx="10515600" cy="457200"/>
          </a:xfrm>
          <a:prstGeom prst="rect">
            <a:avLst/>
          </a:prstGeom>
          <a:noFill/>
          <a:ln/>
        </p:spPr>
        <p:txBody>
          <a:bodyPr wrap="square" lIns="0" tIns="0" rIns="0" bIns="0" rtlCol="0" anchor="t"/>
          <a:lstStyle/>
          <a:p>
            <a:pPr rtl="1" algn="r" indent="0" marL="0">
              <a:lnSpc>
                <a:spcPct val="105000"/>
              </a:lnSpc>
              <a:buNone/>
            </a:pPr>
            <a:r>
              <a:rPr lang="fa-IR" altLang="en-US" sz="2100" dirty="0">
                <a:solidFill>
                  <a:srgbClr val="E5E8FF"/>
                </a:solidFill>
                <a:latin typeface="Vazirmatn" pitchFamily="34" charset="0"/>
                <a:ea typeface="Vazirmatn" pitchFamily="34" charset="-122"/>
                <a:cs typeface="Vazirmatn" pitchFamily="34" charset="-120"/>
              </a:rPr>
              <a:t>شبکه‌ی Besu، قراردادهای هوشمند، سرویس‌های آف‌چین و روش راه‌اندازی</a:t>
            </a:r>
            <a:endParaRPr lang="en-US" sz="21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91640"/>
            <a:ext cx="5410048" cy="868680"/>
          </a:xfrm>
          <a:prstGeom prst="roundRect">
            <a:avLst>
              <a:gd name="adj" fmla="val 12632"/>
            </a:avLst>
          </a:prstGeom>
          <a:solidFill>
            <a:srgbClr val="F7F9FC"/>
          </a:solidFill>
          <a:ln w="9525">
            <a:solidFill>
              <a:srgbClr val="DDE1EE"/>
            </a:solidFill>
            <a:prstDash val="solid"/>
          </a:ln>
        </p:spPr>
      </p:sp>
      <p:sp>
        <p:nvSpPr>
          <p:cNvPr id="7" name="Shape 5"/>
          <p:cNvSpPr/>
          <p:nvPr/>
        </p:nvSpPr>
        <p:spPr>
          <a:xfrm>
            <a:off x="11003432" y="1874520"/>
            <a:ext cx="502920" cy="502920"/>
          </a:xfrm>
          <a:prstGeom prst="ellipse">
            <a:avLst/>
          </a:prstGeom>
          <a:solidFill>
            <a:srgbClr val="2F3690"/>
          </a:solidFill>
          <a:ln w="12700">
            <a:solidFill>
              <a:srgbClr val="2F3690"/>
            </a:solidFill>
            <a:prstDash val="solid"/>
          </a:ln>
        </p:spPr>
      </p:sp>
      <p:sp>
        <p:nvSpPr>
          <p:cNvPr id="8" name="Text 6"/>
          <p:cNvSpPr txBox="1"/>
          <p:nvPr/>
        </p:nvSpPr>
        <p:spPr>
          <a:xfrm>
            <a:off x="11003432"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۱</a:t>
            </a:r>
            <a:endParaRPr lang="en-US" sz="1700" dirty="0"/>
          </a:p>
        </p:txBody>
      </p:sp>
      <p:sp>
        <p:nvSpPr>
          <p:cNvPr id="9" name="Text 7"/>
          <p:cNvSpPr txBox="1"/>
          <p:nvPr/>
        </p:nvSpPr>
        <p:spPr>
          <a:xfrm>
            <a:off x="6416345"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و واژگان این ارائه</a:t>
            </a:r>
            <a:endParaRPr lang="en-US" sz="1600" dirty="0"/>
          </a:p>
        </p:txBody>
      </p:sp>
      <p:sp>
        <p:nvSpPr>
          <p:cNvPr id="10" name="Shape 8"/>
          <p:cNvSpPr/>
          <p:nvPr/>
        </p:nvSpPr>
        <p:spPr>
          <a:xfrm>
            <a:off x="6233465" y="2788920"/>
            <a:ext cx="5410048" cy="868680"/>
          </a:xfrm>
          <a:prstGeom prst="roundRect">
            <a:avLst>
              <a:gd name="adj" fmla="val 12632"/>
            </a:avLst>
          </a:prstGeom>
          <a:solidFill>
            <a:srgbClr val="F7F9FC"/>
          </a:solidFill>
          <a:ln w="9525">
            <a:solidFill>
              <a:srgbClr val="DDE1EE"/>
            </a:solidFill>
            <a:prstDash val="solid"/>
          </a:ln>
        </p:spPr>
      </p:sp>
      <p:sp>
        <p:nvSpPr>
          <p:cNvPr id="11" name="Shape 9"/>
          <p:cNvSpPr/>
          <p:nvPr/>
        </p:nvSpPr>
        <p:spPr>
          <a:xfrm>
            <a:off x="11003432" y="2971800"/>
            <a:ext cx="502920" cy="502920"/>
          </a:xfrm>
          <a:prstGeom prst="ellipse">
            <a:avLst/>
          </a:prstGeom>
          <a:solidFill>
            <a:srgbClr val="2F3690"/>
          </a:solidFill>
          <a:ln w="12700">
            <a:solidFill>
              <a:srgbClr val="2F3690"/>
            </a:solidFill>
            <a:prstDash val="solid"/>
          </a:ln>
        </p:spPr>
      </p:sp>
      <p:sp>
        <p:nvSpPr>
          <p:cNvPr id="12" name="Text 10"/>
          <p:cNvSpPr txBox="1"/>
          <p:nvPr/>
        </p:nvSpPr>
        <p:spPr>
          <a:xfrm>
            <a:off x="11003432"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۲</a:t>
            </a:r>
            <a:endParaRPr lang="en-US" sz="1700" dirty="0"/>
          </a:p>
        </p:txBody>
      </p:sp>
      <p:sp>
        <p:nvSpPr>
          <p:cNvPr id="13" name="Text 11"/>
          <p:cNvSpPr txBox="1"/>
          <p:nvPr/>
        </p:nvSpPr>
        <p:spPr>
          <a:xfrm>
            <a:off x="6416345"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شبکه‌ی Besu و اجماع</a:t>
            </a:r>
            <a:endParaRPr lang="en-US" sz="1600" dirty="0"/>
          </a:p>
        </p:txBody>
      </p:sp>
      <p:sp>
        <p:nvSpPr>
          <p:cNvPr id="14" name="Shape 12"/>
          <p:cNvSpPr/>
          <p:nvPr/>
        </p:nvSpPr>
        <p:spPr>
          <a:xfrm>
            <a:off x="6233465" y="3886200"/>
            <a:ext cx="5410048" cy="868680"/>
          </a:xfrm>
          <a:prstGeom prst="roundRect">
            <a:avLst>
              <a:gd name="adj" fmla="val 12632"/>
            </a:avLst>
          </a:prstGeom>
          <a:solidFill>
            <a:srgbClr val="F7F9FC"/>
          </a:solidFill>
          <a:ln w="9525">
            <a:solidFill>
              <a:srgbClr val="DDE1EE"/>
            </a:solidFill>
            <a:prstDash val="solid"/>
          </a:ln>
        </p:spPr>
      </p:sp>
      <p:sp>
        <p:nvSpPr>
          <p:cNvPr id="15" name="Shape 13"/>
          <p:cNvSpPr/>
          <p:nvPr/>
        </p:nvSpPr>
        <p:spPr>
          <a:xfrm>
            <a:off x="11003432" y="4069080"/>
            <a:ext cx="502920" cy="502920"/>
          </a:xfrm>
          <a:prstGeom prst="ellipse">
            <a:avLst/>
          </a:prstGeom>
          <a:solidFill>
            <a:srgbClr val="2F3690"/>
          </a:solidFill>
          <a:ln w="12700">
            <a:solidFill>
              <a:srgbClr val="2F3690"/>
            </a:solidFill>
            <a:prstDash val="solid"/>
          </a:ln>
        </p:spPr>
      </p:sp>
      <p:sp>
        <p:nvSpPr>
          <p:cNvPr id="16" name="Text 14"/>
          <p:cNvSpPr txBox="1"/>
          <p:nvPr/>
        </p:nvSpPr>
        <p:spPr>
          <a:xfrm>
            <a:off x="11003432"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۳</a:t>
            </a:r>
            <a:endParaRPr lang="en-US" sz="1700" dirty="0"/>
          </a:p>
        </p:txBody>
      </p:sp>
      <p:sp>
        <p:nvSpPr>
          <p:cNvPr id="17" name="Text 15"/>
          <p:cNvSpPr txBox="1"/>
          <p:nvPr/>
        </p:nvSpPr>
        <p:spPr>
          <a:xfrm>
            <a:off x="6416345"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قراردادهای ساختاری و روش استقرار در genesis</a:t>
            </a:r>
            <a:endParaRPr lang="en-US" sz="1600" dirty="0"/>
          </a:p>
        </p:txBody>
      </p:sp>
      <p:sp>
        <p:nvSpPr>
          <p:cNvPr id="18" name="Shape 16"/>
          <p:cNvSpPr/>
          <p:nvPr/>
        </p:nvSpPr>
        <p:spPr>
          <a:xfrm>
            <a:off x="6233465" y="4983480"/>
            <a:ext cx="5410048" cy="868680"/>
          </a:xfrm>
          <a:prstGeom prst="roundRect">
            <a:avLst>
              <a:gd name="adj" fmla="val 12632"/>
            </a:avLst>
          </a:prstGeom>
          <a:solidFill>
            <a:srgbClr val="F7F9FC"/>
          </a:solidFill>
          <a:ln w="9525">
            <a:solidFill>
              <a:srgbClr val="DDE1EE"/>
            </a:solidFill>
            <a:prstDash val="solid"/>
          </a:ln>
        </p:spPr>
      </p:sp>
      <p:sp>
        <p:nvSpPr>
          <p:cNvPr id="19" name="Shape 17"/>
          <p:cNvSpPr/>
          <p:nvPr/>
        </p:nvSpPr>
        <p:spPr>
          <a:xfrm>
            <a:off x="11003432" y="5166360"/>
            <a:ext cx="502920" cy="502920"/>
          </a:xfrm>
          <a:prstGeom prst="ellipse">
            <a:avLst/>
          </a:prstGeom>
          <a:solidFill>
            <a:srgbClr val="2F3690"/>
          </a:solidFill>
          <a:ln w="12700">
            <a:solidFill>
              <a:srgbClr val="2F3690"/>
            </a:solidFill>
            <a:prstDash val="solid"/>
          </a:ln>
        </p:spPr>
      </p:sp>
      <p:sp>
        <p:nvSpPr>
          <p:cNvPr id="20" name="Text 18"/>
          <p:cNvSpPr txBox="1"/>
          <p:nvPr/>
        </p:nvSpPr>
        <p:spPr>
          <a:xfrm>
            <a:off x="11003432"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۴</a:t>
            </a:r>
            <a:endParaRPr lang="en-US" sz="1700" dirty="0"/>
          </a:p>
        </p:txBody>
      </p:sp>
      <p:sp>
        <p:nvSpPr>
          <p:cNvPr id="21" name="Text 19"/>
          <p:cNvSpPr txBox="1"/>
          <p:nvPr/>
        </p:nvSpPr>
        <p:spPr>
          <a:xfrm>
            <a:off x="6416345"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 یک‌به‌یک</a:t>
            </a:r>
            <a:endParaRPr lang="en-US" sz="1600" dirty="0"/>
          </a:p>
        </p:txBody>
      </p:sp>
      <p:sp>
        <p:nvSpPr>
          <p:cNvPr id="22" name="Shape 20"/>
          <p:cNvSpPr/>
          <p:nvPr/>
        </p:nvSpPr>
        <p:spPr>
          <a:xfrm>
            <a:off x="548640" y="1691640"/>
            <a:ext cx="5410048" cy="868680"/>
          </a:xfrm>
          <a:prstGeom prst="roundRect">
            <a:avLst>
              <a:gd name="adj" fmla="val 12632"/>
            </a:avLst>
          </a:prstGeom>
          <a:solidFill>
            <a:srgbClr val="F7F9FC"/>
          </a:solidFill>
          <a:ln w="9525">
            <a:solidFill>
              <a:srgbClr val="DDE1EE"/>
            </a:solidFill>
            <a:prstDash val="solid"/>
          </a:ln>
        </p:spPr>
      </p:sp>
      <p:sp>
        <p:nvSpPr>
          <p:cNvPr id="23" name="Shape 21"/>
          <p:cNvSpPr/>
          <p:nvPr/>
        </p:nvSpPr>
        <p:spPr>
          <a:xfrm>
            <a:off x="5318608" y="1874520"/>
            <a:ext cx="502920" cy="502920"/>
          </a:xfrm>
          <a:prstGeom prst="ellipse">
            <a:avLst/>
          </a:prstGeom>
          <a:solidFill>
            <a:srgbClr val="2F3690"/>
          </a:solidFill>
          <a:ln w="12700">
            <a:solidFill>
              <a:srgbClr val="2F3690"/>
            </a:solidFill>
            <a:prstDash val="solid"/>
          </a:ln>
        </p:spPr>
      </p:sp>
      <p:sp>
        <p:nvSpPr>
          <p:cNvPr id="24" name="Text 22"/>
          <p:cNvSpPr txBox="1"/>
          <p:nvPr/>
        </p:nvSpPr>
        <p:spPr>
          <a:xfrm>
            <a:off x="5318608"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۵</a:t>
            </a:r>
            <a:endParaRPr lang="en-US" sz="1700" dirty="0"/>
          </a:p>
        </p:txBody>
      </p:sp>
      <p:sp>
        <p:nvSpPr>
          <p:cNvPr id="25" name="Text 23"/>
          <p:cNvSpPr txBox="1"/>
          <p:nvPr/>
        </p:nvSpPr>
        <p:spPr>
          <a:xfrm>
            <a:off x="731520"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توزیع پاداش، سقف و حکمرانی نرخ</a:t>
            </a:r>
            <a:endParaRPr lang="en-US" sz="1600" dirty="0"/>
          </a:p>
        </p:txBody>
      </p:sp>
      <p:sp>
        <p:nvSpPr>
          <p:cNvPr id="26" name="Shape 24"/>
          <p:cNvSpPr/>
          <p:nvPr/>
        </p:nvSpPr>
        <p:spPr>
          <a:xfrm>
            <a:off x="548640" y="2788920"/>
            <a:ext cx="5410048" cy="868680"/>
          </a:xfrm>
          <a:prstGeom prst="roundRect">
            <a:avLst>
              <a:gd name="adj" fmla="val 12632"/>
            </a:avLst>
          </a:prstGeom>
          <a:solidFill>
            <a:srgbClr val="F7F9FC"/>
          </a:solidFill>
          <a:ln w="9525">
            <a:solidFill>
              <a:srgbClr val="DDE1EE"/>
            </a:solidFill>
            <a:prstDash val="solid"/>
          </a:ln>
        </p:spPr>
      </p:sp>
      <p:sp>
        <p:nvSpPr>
          <p:cNvPr id="27" name="Shape 25"/>
          <p:cNvSpPr/>
          <p:nvPr/>
        </p:nvSpPr>
        <p:spPr>
          <a:xfrm>
            <a:off x="5318608" y="2971800"/>
            <a:ext cx="502920" cy="502920"/>
          </a:xfrm>
          <a:prstGeom prst="ellipse">
            <a:avLst/>
          </a:prstGeom>
          <a:solidFill>
            <a:srgbClr val="2F3690"/>
          </a:solidFill>
          <a:ln w="12700">
            <a:solidFill>
              <a:srgbClr val="2F3690"/>
            </a:solidFill>
            <a:prstDash val="solid"/>
          </a:ln>
        </p:spPr>
      </p:sp>
      <p:sp>
        <p:nvSpPr>
          <p:cNvPr id="28" name="Text 26"/>
          <p:cNvSpPr txBox="1"/>
          <p:nvPr/>
        </p:nvSpPr>
        <p:spPr>
          <a:xfrm>
            <a:off x="5318608"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۶</a:t>
            </a:r>
            <a:endParaRPr lang="en-US" sz="1700" dirty="0"/>
          </a:p>
        </p:txBody>
      </p:sp>
      <p:sp>
        <p:nvSpPr>
          <p:cNvPr id="29" name="Text 27"/>
          <p:cNvSpPr txBox="1"/>
          <p:nvPr/>
        </p:nvSpPr>
        <p:spPr>
          <a:xfrm>
            <a:off x="731520"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کلیدها و سرویس‌های آف‌چین</a:t>
            </a:r>
            <a:endParaRPr lang="en-US" sz="1600" dirty="0"/>
          </a:p>
        </p:txBody>
      </p:sp>
      <p:sp>
        <p:nvSpPr>
          <p:cNvPr id="30" name="Shape 28"/>
          <p:cNvSpPr/>
          <p:nvPr/>
        </p:nvSpPr>
        <p:spPr>
          <a:xfrm>
            <a:off x="548640" y="3886200"/>
            <a:ext cx="5410048" cy="868680"/>
          </a:xfrm>
          <a:prstGeom prst="roundRect">
            <a:avLst>
              <a:gd name="adj" fmla="val 12632"/>
            </a:avLst>
          </a:prstGeom>
          <a:solidFill>
            <a:srgbClr val="F7F9FC"/>
          </a:solidFill>
          <a:ln w="9525">
            <a:solidFill>
              <a:srgbClr val="DDE1EE"/>
            </a:solidFill>
            <a:prstDash val="solid"/>
          </a:ln>
        </p:spPr>
      </p:sp>
      <p:sp>
        <p:nvSpPr>
          <p:cNvPr id="31" name="Shape 29"/>
          <p:cNvSpPr/>
          <p:nvPr/>
        </p:nvSpPr>
        <p:spPr>
          <a:xfrm>
            <a:off x="5318608" y="4069080"/>
            <a:ext cx="502920" cy="502920"/>
          </a:xfrm>
          <a:prstGeom prst="ellipse">
            <a:avLst/>
          </a:prstGeom>
          <a:solidFill>
            <a:srgbClr val="2F3690"/>
          </a:solidFill>
          <a:ln w="12700">
            <a:solidFill>
              <a:srgbClr val="2F3690"/>
            </a:solidFill>
            <a:prstDash val="solid"/>
          </a:ln>
        </p:spPr>
      </p:sp>
      <p:sp>
        <p:nvSpPr>
          <p:cNvPr id="32" name="Text 30"/>
          <p:cNvSpPr txBox="1"/>
          <p:nvPr/>
        </p:nvSpPr>
        <p:spPr>
          <a:xfrm>
            <a:off x="5318608"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۷</a:t>
            </a:r>
            <a:endParaRPr lang="en-US" sz="1700" dirty="0"/>
          </a:p>
        </p:txBody>
      </p:sp>
      <p:sp>
        <p:nvSpPr>
          <p:cNvPr id="33" name="Text 31"/>
          <p:cNvSpPr txBox="1"/>
          <p:nvPr/>
        </p:nvSpPr>
        <p:spPr>
          <a:xfrm>
            <a:off x="731520"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زیرساخت، بازیابی اضطراری و امنیت</a:t>
            </a:r>
            <a:endParaRPr lang="en-US" sz="1600" dirty="0"/>
          </a:p>
        </p:txBody>
      </p:sp>
      <p:sp>
        <p:nvSpPr>
          <p:cNvPr id="34" name="Shape 32"/>
          <p:cNvSpPr/>
          <p:nvPr/>
        </p:nvSpPr>
        <p:spPr>
          <a:xfrm>
            <a:off x="548640" y="4983480"/>
            <a:ext cx="5410048" cy="868680"/>
          </a:xfrm>
          <a:prstGeom prst="roundRect">
            <a:avLst>
              <a:gd name="adj" fmla="val 12632"/>
            </a:avLst>
          </a:prstGeom>
          <a:solidFill>
            <a:srgbClr val="F7F9FC"/>
          </a:solidFill>
          <a:ln w="9525">
            <a:solidFill>
              <a:srgbClr val="DDE1EE"/>
            </a:solidFill>
            <a:prstDash val="solid"/>
          </a:ln>
        </p:spPr>
      </p:sp>
      <p:sp>
        <p:nvSpPr>
          <p:cNvPr id="35" name="Shape 33"/>
          <p:cNvSpPr/>
          <p:nvPr/>
        </p:nvSpPr>
        <p:spPr>
          <a:xfrm>
            <a:off x="5318608" y="5166360"/>
            <a:ext cx="502920" cy="502920"/>
          </a:xfrm>
          <a:prstGeom prst="ellipse">
            <a:avLst/>
          </a:prstGeom>
          <a:solidFill>
            <a:srgbClr val="2F3690"/>
          </a:solidFill>
          <a:ln w="12700">
            <a:solidFill>
              <a:srgbClr val="2F3690"/>
            </a:solidFill>
            <a:prstDash val="solid"/>
          </a:ln>
        </p:spPr>
      </p:sp>
      <p:sp>
        <p:nvSpPr>
          <p:cNvPr id="36" name="Text 34"/>
          <p:cNvSpPr txBox="1"/>
          <p:nvPr/>
        </p:nvSpPr>
        <p:spPr>
          <a:xfrm>
            <a:off x="5318608"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۸</a:t>
            </a:r>
            <a:endParaRPr lang="en-US" sz="1700" dirty="0"/>
          </a:p>
        </p:txBody>
      </p:sp>
      <p:sp>
        <p:nvSpPr>
          <p:cNvPr id="37" name="Text 35"/>
          <p:cNvSpPr txBox="1"/>
          <p:nvPr/>
        </p:nvSpPr>
        <p:spPr>
          <a:xfrm>
            <a:off x="731520"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آزمون‌ها، یافته‌های عملیاتی و موارد باز</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 چیست و واژگان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71600"/>
            <a:ext cx="11094415" cy="960120"/>
          </a:xfrm>
          <a:prstGeom prst="rect">
            <a:avLst/>
          </a:prstGeom>
          <a:noFill/>
          <a:ln/>
        </p:spPr>
        <p:txBody>
          <a:bodyPr wrap="square" lIns="0" tIns="0" rIns="0" bIns="0" rtlCol="0" anchor="t"/>
          <a:lstStyle/>
          <a:p>
            <a:pPr rtl="1" algn="r" indent="0" marL="0">
              <a:lnSpc>
                <a:spcPct val="105000"/>
              </a:lnSpc>
              <a:buNone/>
            </a:pPr>
            <a:r>
              <a:rPr lang="fa-IR" altLang="en-US" sz="1450" dirty="0">
                <a:solidFill>
                  <a:srgbClr val="565D7A"/>
                </a:solidFill>
                <a:latin typeface="Vazirmatn" pitchFamily="34" charset="0"/>
                <a:ea typeface="Vazirmatn" pitchFamily="34" charset="-122"/>
                <a:cs typeface="Vazirmatn" pitchFamily="34" charset="-120"/>
              </a:rPr>
              <a:t>سور یک بلاک‌چین عمومی و بدون‌مجوز برای توسعه‌دهندگان و کاربران ایرانی است. شبکه روی Hyperledger Besu رسمی (بدون فورک) با اجماع QBFT اجرا می‌شود و ارز بومی آن «سورن» است. تقسیم پاداش، حکمرانی و عضویت ولیدیتورها همگی در قراردادهای هوشمند پیاده شده‌اند، نه در نرم‌افزار زنجیره.</a:t>
            </a:r>
            <a:endParaRPr lang="en-US" sz="1450" dirty="0"/>
          </a:p>
        </p:txBody>
      </p:sp>
      <p:sp>
        <p:nvSpPr>
          <p:cNvPr id="7" name="Shape 5"/>
          <p:cNvSpPr/>
          <p:nvPr/>
        </p:nvSpPr>
        <p:spPr>
          <a:xfrm>
            <a:off x="8078724" y="2468880"/>
            <a:ext cx="3564026" cy="1783080"/>
          </a:xfrm>
          <a:prstGeom prst="roundRect">
            <a:avLst>
              <a:gd name="adj" fmla="val 6154"/>
            </a:avLst>
          </a:prstGeom>
          <a:solidFill>
            <a:srgbClr val="EEF0FB"/>
          </a:solidFill>
          <a:ln w="9525">
            <a:solidFill>
              <a:srgbClr val="EEF0FB"/>
            </a:solidFill>
            <a:prstDash val="solid"/>
          </a:ln>
        </p:spPr>
      </p:sp>
      <p:sp>
        <p:nvSpPr>
          <p:cNvPr id="8" name="Text 6"/>
          <p:cNvSpPr txBox="1"/>
          <p:nvPr/>
        </p:nvSpPr>
        <p:spPr>
          <a:xfrm>
            <a:off x="8243316"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ولیدیتور</a:t>
            </a:r>
            <a:endParaRPr lang="en-US" sz="1500" dirty="0"/>
          </a:p>
        </p:txBody>
      </p:sp>
      <p:sp>
        <p:nvSpPr>
          <p:cNvPr id="9" name="Text 7"/>
          <p:cNvSpPr txBox="1"/>
          <p:nvPr/>
        </p:nvSpPr>
        <p:spPr>
          <a:xfrm>
            <a:off x="8243316"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گره‌ای که بلاک تولید و تأیید می‌کند؛ مجموعه‌ی آن از قرارداد ValidatorsRegistry خوانده می‌شود</a:t>
            </a:r>
            <a:endParaRPr lang="en-US" sz="1200" dirty="0"/>
          </a:p>
        </p:txBody>
      </p:sp>
      <p:sp>
        <p:nvSpPr>
          <p:cNvPr id="10" name="Shape 8"/>
          <p:cNvSpPr/>
          <p:nvPr/>
        </p:nvSpPr>
        <p:spPr>
          <a:xfrm>
            <a:off x="4314139" y="2468880"/>
            <a:ext cx="3564026" cy="1783080"/>
          </a:xfrm>
          <a:prstGeom prst="roundRect">
            <a:avLst>
              <a:gd name="adj" fmla="val 6154"/>
            </a:avLst>
          </a:prstGeom>
          <a:solidFill>
            <a:srgbClr val="EEF0FB"/>
          </a:solidFill>
          <a:ln w="9525">
            <a:solidFill>
              <a:srgbClr val="EEF0FB"/>
            </a:solidFill>
            <a:prstDash val="solid"/>
          </a:ln>
        </p:spPr>
      </p:sp>
      <p:sp>
        <p:nvSpPr>
          <p:cNvPr id="11" name="Text 9"/>
          <p:cNvSpPr txBox="1"/>
          <p:nvPr/>
        </p:nvSpPr>
        <p:spPr>
          <a:xfrm>
            <a:off x="4478731"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سورن</a:t>
            </a:r>
            <a:endParaRPr lang="en-US" sz="1500" dirty="0"/>
          </a:p>
        </p:txBody>
      </p:sp>
      <p:sp>
        <p:nvSpPr>
          <p:cNvPr id="12" name="Text 10"/>
          <p:cNvSpPr txBox="1"/>
          <p:nvPr/>
        </p:nvSpPr>
        <p:spPr>
          <a:xfrm>
            <a:off x="4478731"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ارز بومی زنجیره (مثل ETH در اتریوم)، نه توکن ERC20؛ کوچک‌ترین واحد wei است و ۱۸ رقم اعشار دارد</a:t>
            </a:r>
            <a:endParaRPr lang="en-US" sz="1200" dirty="0"/>
          </a:p>
        </p:txBody>
      </p:sp>
      <p:sp>
        <p:nvSpPr>
          <p:cNvPr id="13" name="Shape 11"/>
          <p:cNvSpPr/>
          <p:nvPr/>
        </p:nvSpPr>
        <p:spPr>
          <a:xfrm>
            <a:off x="548640" y="2468880"/>
            <a:ext cx="3564026" cy="1783080"/>
          </a:xfrm>
          <a:prstGeom prst="roundRect">
            <a:avLst>
              <a:gd name="adj" fmla="val 6154"/>
            </a:avLst>
          </a:prstGeom>
          <a:solidFill>
            <a:srgbClr val="EEF0FB"/>
          </a:solidFill>
          <a:ln w="9525">
            <a:solidFill>
              <a:srgbClr val="EEF0FB"/>
            </a:solidFill>
            <a:prstDash val="solid"/>
          </a:ln>
        </p:spPr>
      </p:sp>
      <p:sp>
        <p:nvSpPr>
          <p:cNvPr id="14" name="Text 12"/>
          <p:cNvSpPr txBox="1"/>
          <p:nvPr/>
        </p:nvSpPr>
        <p:spPr>
          <a:xfrm>
            <a:off x="713232"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ریوارد و فی</a:t>
            </a:r>
            <a:endParaRPr lang="en-US" sz="1500" dirty="0"/>
          </a:p>
        </p:txBody>
      </p:sp>
      <p:sp>
        <p:nvSpPr>
          <p:cNvPr id="15" name="Text 13"/>
          <p:cNvSpPr txBox="1"/>
          <p:nvPr/>
        </p:nvSpPr>
        <p:spPr>
          <a:xfrm>
            <a:off x="713232"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ریوارد: ۲ سورن ثابت برای هر بلاک؛ فی: کارمزد تراکنش‌ها. هر دو به آدرس ثابت BlockRewardDistributor می‌رسند</a:t>
            </a:r>
            <a:endParaRPr lang="en-US" sz="1200" dirty="0"/>
          </a:p>
        </p:txBody>
      </p:sp>
      <p:sp>
        <p:nvSpPr>
          <p:cNvPr id="16" name="Shape 14"/>
          <p:cNvSpPr/>
          <p:nvPr/>
        </p:nvSpPr>
        <p:spPr>
          <a:xfrm>
            <a:off x="8078724" y="4434840"/>
            <a:ext cx="3564026" cy="1783080"/>
          </a:xfrm>
          <a:prstGeom prst="roundRect">
            <a:avLst>
              <a:gd name="adj" fmla="val 6154"/>
            </a:avLst>
          </a:prstGeom>
          <a:solidFill>
            <a:srgbClr val="EEF0FB"/>
          </a:solidFill>
          <a:ln w="9525">
            <a:solidFill>
              <a:srgbClr val="EEF0FB"/>
            </a:solidFill>
            <a:prstDash val="solid"/>
          </a:ln>
        </p:spPr>
      </p:sp>
      <p:sp>
        <p:nvSpPr>
          <p:cNvPr id="17" name="Text 15"/>
          <p:cNvSpPr txBox="1"/>
          <p:nvPr/>
        </p:nvSpPr>
        <p:spPr>
          <a:xfrm>
            <a:off x="8243316"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genesis و alloc</a:t>
            </a:r>
            <a:endParaRPr lang="en-US" sz="1500" dirty="0"/>
          </a:p>
        </p:txBody>
      </p:sp>
      <p:sp>
        <p:nvSpPr>
          <p:cNvPr id="18" name="Text 16"/>
          <p:cNvSpPr txBox="1"/>
          <p:nvPr/>
        </p:nvSpPr>
        <p:spPr>
          <a:xfrm>
            <a:off x="8243316"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بلاک نخست زنجیره؛ بخش alloc فایل genesis کد و storage قراردادها و موجودی‌های اولیه را مستقیم می‌نویسد</a:t>
            </a:r>
            <a:endParaRPr lang="en-US" sz="1200" dirty="0"/>
          </a:p>
        </p:txBody>
      </p:sp>
      <p:sp>
        <p:nvSpPr>
          <p:cNvPr id="19" name="Shape 17"/>
          <p:cNvSpPr/>
          <p:nvPr/>
        </p:nvSpPr>
        <p:spPr>
          <a:xfrm>
            <a:off x="4314139" y="4434840"/>
            <a:ext cx="3564026" cy="1783080"/>
          </a:xfrm>
          <a:prstGeom prst="roundRect">
            <a:avLst>
              <a:gd name="adj" fmla="val 6154"/>
            </a:avLst>
          </a:prstGeom>
          <a:solidFill>
            <a:srgbClr val="EEF0FB"/>
          </a:solidFill>
          <a:ln w="9525">
            <a:solidFill>
              <a:srgbClr val="EEF0FB"/>
            </a:solidFill>
            <a:prstDash val="solid"/>
          </a:ln>
        </p:spPr>
      </p:sp>
      <p:sp>
        <p:nvSpPr>
          <p:cNvPr id="20" name="Text 18"/>
          <p:cNvSpPr txBox="1"/>
          <p:nvPr/>
        </p:nvSpPr>
        <p:spPr>
          <a:xfrm>
            <a:off x="4478731"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اوراکل</a:t>
            </a:r>
            <a:endParaRPr lang="en-US" sz="1500" dirty="0"/>
          </a:p>
        </p:txBody>
      </p:sp>
      <p:sp>
        <p:nvSpPr>
          <p:cNvPr id="21" name="Text 19"/>
          <p:cNvSpPr txBox="1"/>
          <p:nvPr/>
        </p:nvSpPr>
        <p:spPr>
          <a:xfrm>
            <a:off x="4478731"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کلید یک سرویس آف‌چین که یک نوع داده‌ی بیرونی (توزیع پاداش، وضعیت ولیدیتور، هویت، پرداخت) را روی زنجیره ثبت می‌کند</a:t>
            </a:r>
            <a:endParaRPr lang="en-US" sz="1200" dirty="0"/>
          </a:p>
        </p:txBody>
      </p:sp>
      <p:sp>
        <p:nvSpPr>
          <p:cNvPr id="22" name="Shape 20"/>
          <p:cNvSpPr/>
          <p:nvPr/>
        </p:nvSpPr>
        <p:spPr>
          <a:xfrm>
            <a:off x="548640" y="4434840"/>
            <a:ext cx="3564026" cy="1783080"/>
          </a:xfrm>
          <a:prstGeom prst="roundRect">
            <a:avLst>
              <a:gd name="adj" fmla="val 6154"/>
            </a:avLst>
          </a:prstGeom>
          <a:solidFill>
            <a:srgbClr val="EEF0FB"/>
          </a:solidFill>
          <a:ln w="9525">
            <a:solidFill>
              <a:srgbClr val="EEF0FB"/>
            </a:solidFill>
            <a:prstDash val="solid"/>
          </a:ln>
        </p:spPr>
      </p:sp>
      <p:sp>
        <p:nvSpPr>
          <p:cNvPr id="23" name="Text 21"/>
          <p:cNvSpPr txBox="1"/>
          <p:nvPr/>
        </p:nvSpPr>
        <p:spPr>
          <a:xfrm>
            <a:off x="713232"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epoch توزیع</a:t>
            </a:r>
            <a:endParaRPr lang="en-US" sz="1500" dirty="0"/>
          </a:p>
        </p:txBody>
      </p:sp>
      <p:sp>
        <p:nvSpPr>
          <p:cNvPr id="24" name="Text 22"/>
          <p:cNvSpPr txBox="1"/>
          <p:nvPr/>
        </p:nvSpPr>
        <p:spPr>
          <a:xfrm>
            <a:off x="713232"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یک دور تسویه‌ی پاداش (حداقل هر ۲۳ ساعت) که بازه‌ای از بلاک‌ها را پرداخت می‌کند؛ «N−1» یعنی وضعیت قرارداد در انتهای بلاک قبل از 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معماری کلی: زنجیره، شش قرارداد، چهار سرویس آف‌چین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548640" y="1417320"/>
            <a:ext cx="11094415" cy="1417320"/>
          </a:xfrm>
          <a:prstGeom prst="roundRect">
            <a:avLst>
              <a:gd name="adj" fmla="val 7742"/>
            </a:avLst>
          </a:prstGeom>
          <a:solidFill>
            <a:srgbClr val="EEF0FB"/>
          </a:solidFill>
          <a:ln w="9525">
            <a:solidFill>
              <a:srgbClr val="EEF0FB"/>
            </a:solidFill>
            <a:prstDash val="solid"/>
          </a:ln>
        </p:spPr>
      </p:sp>
      <p:sp>
        <p:nvSpPr>
          <p:cNvPr id="7" name="Text 5"/>
          <p:cNvSpPr txBox="1"/>
          <p:nvPr/>
        </p:nvSpPr>
        <p:spPr>
          <a:xfrm>
            <a:off x="8671255" y="1508760"/>
            <a:ext cx="2743200" cy="32004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لایه‌ی زنجیره</a:t>
            </a:r>
            <a:endParaRPr lang="en-US" sz="1500" dirty="0"/>
          </a:p>
        </p:txBody>
      </p:sp>
      <p:sp>
        <p:nvSpPr>
          <p:cNvPr id="8" name="Text 6"/>
          <p:cNvSpPr txBox="1"/>
          <p:nvPr/>
        </p:nvSpPr>
        <p:spPr>
          <a:xfrm>
            <a:off x="777240" y="1874520"/>
            <a:ext cx="10637215" cy="868680"/>
          </a:xfrm>
          <a:prstGeom prst="rect">
            <a:avLst/>
          </a:prstGeom>
          <a:noFill/>
          <a:ln/>
        </p:spPr>
        <p:txBody>
          <a:bodyPr wrap="square" lIns="0" tIns="0" rIns="0" bIns="0" rtlCol="0" anchor="t"/>
          <a:lstStyle/>
          <a:p>
            <a:pPr rtl="1" algn="r" indent="0" marL="0">
              <a:lnSpc>
                <a:spcPct val="105000"/>
              </a:lnSpc>
              <a:buNone/>
            </a:pPr>
            <a:r>
              <a:rPr lang="fa-IR" altLang="en-US" sz="1350" dirty="0">
                <a:solidFill>
                  <a:srgbClr val="1B1B2F"/>
                </a:solidFill>
                <a:latin typeface="Vazirmatn" pitchFamily="34" charset="0"/>
                <a:ea typeface="Vazirmatn" pitchFamily="34" charset="-122"/>
                <a:cs typeface="Vazirmatn" pitchFamily="34" charset="-120"/>
              </a:rPr>
              <a:t>Hyperledger Besu رسمی؛ QBFT با حالت انتخاب ولیدیتور از قرارداد (validatorselectionmode: contract)؛ بلاک ۳ ثانیه؛ نهایی‌شدن فوری؛ ریوارد و فی مستقیم به قرارداد توزیع می‌رسد.</a:t>
            </a:r>
            <a:endParaRPr lang="en-US" sz="1350" dirty="0"/>
          </a:p>
        </p:txBody>
      </p:sp>
      <p:sp>
        <p:nvSpPr>
          <p:cNvPr id="9" name="Shape 7"/>
          <p:cNvSpPr/>
          <p:nvPr/>
        </p:nvSpPr>
        <p:spPr>
          <a:xfrm>
            <a:off x="9908438" y="3063240"/>
            <a:ext cx="1734769" cy="1051560"/>
          </a:xfrm>
          <a:prstGeom prst="roundRect">
            <a:avLst>
              <a:gd name="adj" fmla="val 10435"/>
            </a:avLst>
          </a:prstGeom>
          <a:solidFill>
            <a:srgbClr val="F7F9FC"/>
          </a:solidFill>
          <a:ln w="9525">
            <a:solidFill>
              <a:srgbClr val="DDE1EE"/>
            </a:solidFill>
            <a:prstDash val="solid"/>
          </a:ln>
        </p:spPr>
      </p:sp>
      <p:sp>
        <p:nvSpPr>
          <p:cNvPr id="10" name="Text 8"/>
          <p:cNvSpPr txBox="1"/>
          <p:nvPr/>
        </p:nvSpPr>
        <p:spPr>
          <a:xfrm>
            <a:off x="9954158"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FoundationDAO</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0x1111</a:t>
            </a:r>
            <a:endParaRPr lang="en-US" sz="1100" dirty="0"/>
          </a:p>
        </p:txBody>
      </p:sp>
      <p:sp>
        <p:nvSpPr>
          <p:cNvPr id="11" name="Shape 9"/>
          <p:cNvSpPr/>
          <p:nvPr/>
        </p:nvSpPr>
        <p:spPr>
          <a:xfrm>
            <a:off x="8036662" y="3063240"/>
            <a:ext cx="1734769" cy="1051560"/>
          </a:xfrm>
          <a:prstGeom prst="roundRect">
            <a:avLst>
              <a:gd name="adj" fmla="val 10435"/>
            </a:avLst>
          </a:prstGeom>
          <a:solidFill>
            <a:srgbClr val="F7F9FC"/>
          </a:solidFill>
          <a:ln w="9525">
            <a:solidFill>
              <a:srgbClr val="DDE1EE"/>
            </a:solidFill>
            <a:prstDash val="solid"/>
          </a:ln>
        </p:spPr>
      </p:sp>
      <p:sp>
        <p:nvSpPr>
          <p:cNvPr id="12" name="Text 10"/>
          <p:cNvSpPr txBox="1"/>
          <p:nvPr/>
        </p:nvSpPr>
        <p:spPr>
          <a:xfrm>
            <a:off x="8082382"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BlockRewardDistributor</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0x2222</a:t>
            </a:r>
            <a:endParaRPr lang="en-US" sz="1100" dirty="0"/>
          </a:p>
        </p:txBody>
      </p:sp>
      <p:sp>
        <p:nvSpPr>
          <p:cNvPr id="13" name="Shape 11"/>
          <p:cNvSpPr/>
          <p:nvPr/>
        </p:nvSpPr>
        <p:spPr>
          <a:xfrm>
            <a:off x="6163970" y="3063240"/>
            <a:ext cx="1734769" cy="1051560"/>
          </a:xfrm>
          <a:prstGeom prst="roundRect">
            <a:avLst>
              <a:gd name="adj" fmla="val 10435"/>
            </a:avLst>
          </a:prstGeom>
          <a:solidFill>
            <a:srgbClr val="F7F9FC"/>
          </a:solidFill>
          <a:ln w="9525">
            <a:solidFill>
              <a:srgbClr val="DDE1EE"/>
            </a:solidFill>
            <a:prstDash val="solid"/>
          </a:ln>
        </p:spPr>
      </p:sp>
      <p:sp>
        <p:nvSpPr>
          <p:cNvPr id="14" name="Text 12"/>
          <p:cNvSpPr txBox="1"/>
          <p:nvPr/>
        </p:nvSpPr>
        <p:spPr>
          <a:xfrm>
            <a:off x="620969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0x3333</a:t>
            </a:r>
            <a:endParaRPr lang="en-US" sz="1100" dirty="0"/>
          </a:p>
        </p:txBody>
      </p:sp>
      <p:sp>
        <p:nvSpPr>
          <p:cNvPr id="15" name="Shape 13"/>
          <p:cNvSpPr/>
          <p:nvPr/>
        </p:nvSpPr>
        <p:spPr>
          <a:xfrm>
            <a:off x="4292194" y="3063240"/>
            <a:ext cx="1734769" cy="1051560"/>
          </a:xfrm>
          <a:prstGeom prst="roundRect">
            <a:avLst>
              <a:gd name="adj" fmla="val 10435"/>
            </a:avLst>
          </a:prstGeom>
          <a:solidFill>
            <a:srgbClr val="F7F9FC"/>
          </a:solidFill>
          <a:ln w="9525">
            <a:solidFill>
              <a:srgbClr val="DDE1EE"/>
            </a:solidFill>
            <a:prstDash val="solid"/>
          </a:ln>
        </p:spPr>
      </p:sp>
      <p:sp>
        <p:nvSpPr>
          <p:cNvPr id="16" name="Text 14"/>
          <p:cNvSpPr txBox="1"/>
          <p:nvPr/>
        </p:nvSpPr>
        <p:spPr>
          <a:xfrm>
            <a:off x="4337914"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ValidatorsBoard</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0x4444</a:t>
            </a:r>
            <a:endParaRPr lang="en-US" sz="1100" dirty="0"/>
          </a:p>
        </p:txBody>
      </p:sp>
      <p:sp>
        <p:nvSpPr>
          <p:cNvPr id="17" name="Shape 15"/>
          <p:cNvSpPr/>
          <p:nvPr/>
        </p:nvSpPr>
        <p:spPr>
          <a:xfrm>
            <a:off x="2420417" y="3063240"/>
            <a:ext cx="1734769" cy="1051560"/>
          </a:xfrm>
          <a:prstGeom prst="roundRect">
            <a:avLst>
              <a:gd name="adj" fmla="val 10435"/>
            </a:avLst>
          </a:prstGeom>
          <a:solidFill>
            <a:srgbClr val="F7F9FC"/>
          </a:solidFill>
          <a:ln w="9525">
            <a:solidFill>
              <a:srgbClr val="DDE1EE"/>
            </a:solidFill>
            <a:prstDash val="solid"/>
          </a:ln>
        </p:spPr>
      </p:sp>
      <p:sp>
        <p:nvSpPr>
          <p:cNvPr id="18" name="Text 16"/>
          <p:cNvSpPr txBox="1"/>
          <p:nvPr/>
        </p:nvSpPr>
        <p:spPr>
          <a:xfrm>
            <a:off x="2466137"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ValidatorsTreasury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0x5555</a:t>
            </a:r>
            <a:endParaRPr lang="en-US" sz="1100" dirty="0"/>
          </a:p>
        </p:txBody>
      </p:sp>
      <p:sp>
        <p:nvSpPr>
          <p:cNvPr id="19" name="Shape 17"/>
          <p:cNvSpPr/>
          <p:nvPr/>
        </p:nvSpPr>
        <p:spPr>
          <a:xfrm>
            <a:off x="548640" y="3063240"/>
            <a:ext cx="1734769" cy="1051560"/>
          </a:xfrm>
          <a:prstGeom prst="roundRect">
            <a:avLst>
              <a:gd name="adj" fmla="val 10435"/>
            </a:avLst>
          </a:prstGeom>
          <a:solidFill>
            <a:srgbClr val="F7F9FC"/>
          </a:solidFill>
          <a:ln w="9525">
            <a:solidFill>
              <a:srgbClr val="DDE1EE"/>
            </a:solidFill>
            <a:prstDash val="solid"/>
          </a:ln>
        </p:spPr>
      </p:sp>
      <p:sp>
        <p:nvSpPr>
          <p:cNvPr id="20" name="Text 18"/>
          <p:cNvSpPr txBox="1"/>
          <p:nvPr/>
        </p:nvSpPr>
        <p:spPr>
          <a:xfrm>
            <a:off x="59436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IdentityRegistry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0x6666</a:t>
            </a:r>
            <a:endParaRPr lang="en-US" sz="1100" dirty="0"/>
          </a:p>
        </p:txBody>
      </p:sp>
      <p:sp>
        <p:nvSpPr>
          <p:cNvPr id="21" name="Text 19"/>
          <p:cNvSpPr txBox="1"/>
          <p:nvPr/>
        </p:nvSpPr>
        <p:spPr>
          <a:xfrm>
            <a:off x="5242255" y="4160520"/>
            <a:ext cx="640080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قراردادهای ساختاری (در genesis، بدون constructor)</a:t>
            </a:r>
            <a:endParaRPr lang="en-US" sz="1200" dirty="0"/>
          </a:p>
        </p:txBody>
      </p:sp>
      <p:sp>
        <p:nvSpPr>
          <p:cNvPr id="22" name="Shape 20"/>
          <p:cNvSpPr/>
          <p:nvPr/>
        </p:nvSpPr>
        <p:spPr>
          <a:xfrm>
            <a:off x="9006840" y="4663440"/>
            <a:ext cx="2636444" cy="1234440"/>
          </a:xfrm>
          <a:prstGeom prst="roundRect">
            <a:avLst>
              <a:gd name="adj" fmla="val 8889"/>
            </a:avLst>
          </a:prstGeom>
          <a:solidFill>
            <a:srgbClr val="E3F4EC"/>
          </a:solidFill>
          <a:ln w="9525">
            <a:solidFill>
              <a:srgbClr val="E3F4EC"/>
            </a:solidFill>
            <a:prstDash val="solid"/>
          </a:ln>
        </p:spPr>
      </p:sp>
      <p:sp>
        <p:nvSpPr>
          <p:cNvPr id="23" name="Text 21"/>
          <p:cNvSpPr txBox="1"/>
          <p:nvPr/>
        </p:nvSpPr>
        <p:spPr>
          <a:xfrm>
            <a:off x="90068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RewardRouter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distributionOracle</a:t>
            </a:r>
            <a:endParaRPr lang="en-US" sz="1500" dirty="0"/>
          </a:p>
        </p:txBody>
      </p:sp>
      <p:sp>
        <p:nvSpPr>
          <p:cNvPr id="24" name="Shape 22"/>
          <p:cNvSpPr/>
          <p:nvPr/>
        </p:nvSpPr>
        <p:spPr>
          <a:xfrm>
            <a:off x="6186830" y="4663440"/>
            <a:ext cx="2636444" cy="1234440"/>
          </a:xfrm>
          <a:prstGeom prst="roundRect">
            <a:avLst>
              <a:gd name="adj" fmla="val 8889"/>
            </a:avLst>
          </a:prstGeom>
          <a:solidFill>
            <a:srgbClr val="E3F4EC"/>
          </a:solidFill>
          <a:ln w="9525">
            <a:solidFill>
              <a:srgbClr val="E3F4EC"/>
            </a:solidFill>
            <a:prstDash val="solid"/>
          </a:ln>
        </p:spPr>
      </p:sp>
      <p:sp>
        <p:nvSpPr>
          <p:cNvPr id="25" name="Text 23"/>
          <p:cNvSpPr txBox="1"/>
          <p:nvPr/>
        </p:nvSpPr>
        <p:spPr>
          <a:xfrm>
            <a:off x="618683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Verifier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verifier</a:t>
            </a:r>
            <a:endParaRPr lang="en-US" sz="1500" dirty="0"/>
          </a:p>
        </p:txBody>
      </p:sp>
      <p:sp>
        <p:nvSpPr>
          <p:cNvPr id="26" name="Shape 24"/>
          <p:cNvSpPr/>
          <p:nvPr/>
        </p:nvSpPr>
        <p:spPr>
          <a:xfrm>
            <a:off x="3367735" y="4663440"/>
            <a:ext cx="2636444" cy="1234440"/>
          </a:xfrm>
          <a:prstGeom prst="roundRect">
            <a:avLst>
              <a:gd name="adj" fmla="val 8889"/>
            </a:avLst>
          </a:prstGeom>
          <a:solidFill>
            <a:srgbClr val="E3F4EC"/>
          </a:solidFill>
          <a:ln w="9525">
            <a:solidFill>
              <a:srgbClr val="E3F4EC"/>
            </a:solidFill>
            <a:prstDash val="solid"/>
          </a:ln>
        </p:spPr>
      </p:sp>
      <p:sp>
        <p:nvSpPr>
          <p:cNvPr id="27" name="Text 25"/>
          <p:cNvSpPr txBox="1"/>
          <p:nvPr/>
        </p:nvSpPr>
        <p:spPr>
          <a:xfrm>
            <a:off x="3367735"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Identity Service</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identityOracle</a:t>
            </a:r>
            <a:endParaRPr lang="en-US" sz="1500" dirty="0"/>
          </a:p>
        </p:txBody>
      </p:sp>
      <p:sp>
        <p:nvSpPr>
          <p:cNvPr id="28" name="Shape 26"/>
          <p:cNvSpPr/>
          <p:nvPr/>
        </p:nvSpPr>
        <p:spPr>
          <a:xfrm>
            <a:off x="548640" y="4663440"/>
            <a:ext cx="2636444" cy="1234440"/>
          </a:xfrm>
          <a:prstGeom prst="roundRect">
            <a:avLst>
              <a:gd name="adj" fmla="val 8889"/>
            </a:avLst>
          </a:prstGeom>
          <a:solidFill>
            <a:srgbClr val="E3F4EC"/>
          </a:solidFill>
          <a:ln w="9525">
            <a:solidFill>
              <a:srgbClr val="E3F4EC"/>
            </a:solidFill>
            <a:prstDash val="solid"/>
          </a:ln>
        </p:spPr>
      </p:sp>
      <p:sp>
        <p:nvSpPr>
          <p:cNvPr id="29" name="Text 27"/>
          <p:cNvSpPr txBox="1"/>
          <p:nvPr/>
        </p:nvSpPr>
        <p:spPr>
          <a:xfrm>
            <a:off x="5486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PaymentReporter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paymentOracle</a:t>
            </a:r>
            <a:endParaRPr lang="en-US" sz="1500" dirty="0"/>
          </a:p>
        </p:txBody>
      </p:sp>
      <p:sp>
        <p:nvSpPr>
          <p:cNvPr id="30" name="Text 28"/>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سرویس‌های آف‌چین با چهار کلید مستقل؛ هرکدام فقط یک نوع تصمیم را روی زنجیره ثبت می‌کند</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پیکربندی شبکه: genesis و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242255"/>
                <a:gridCol w="3017520"/>
                <a:gridCol w="28346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توضیح</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پارامتر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بدون فورک؛ نسخه‌ی ۲۶٫۹٫۰ به Java 25 نیاز 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Besu رسمی (آزموده: ۲۶٫۷٫۱ و ۲۶٫۹٫۰)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کلاینت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qbft.validatorselectionmode = contract و validatorcontractaddress = 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 حالت contract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اجماع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آهنگ مشاهده‌شده حدود ۲٫۹۵ ثانیه است؛ شمار بلاک را از زمان حدس نزنید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blockperiodseconds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هر ولیدیتور بدون نود واقعی در هر نوبتش به‌اندازه‌ی requesttimeout تأخیر می‌سازد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۳۰۰۰۰ / ۱۰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epochlength / requesttimeoutseconds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پیش‌فرض blockreward صفر است؛ اگر نوشته نشود هیچ ریواردی صادر نمی‌شود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۲×۱۰¹⁸ wei و 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 و miningbeneficiary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min-gas-price تنظیم سطح نود است، نه فیلد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true و ۱۰¹⁴ wei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zeroBaseFee و min-gas-price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اجباری؛ evmVersion کامپایل باید با فورک genesis هم‌خوان باشد (PUSH0 فقط از Shanghai)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همه از بلاک ۰ تا london</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hard forkها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 حالت contract، فهرست ولیدیتور فقط از قرارداد می‌آید، نه از 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RLP با ۰ ولیدیتور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انتخاب ولیدیتور از قرارداد و خطر ولیدیتور بدون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رابط قرارداد</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Besu هر بلاک تابع getValidators() را از ValidatorsRegistry می‌خواند؛ امضای آن در کد Besu ثابت است. خروجی: فهرست آدرس‌های وضعیت Active.</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زمان اثر تغییر</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تغییر فهرست بدون تأخیر epoch و بدون کش اعمال می‌شود. دقیقاً از کدام بلاک اثر می‌کند را روی نسخه‌ی واقعی Besu اندازه بگیرید؛ سیاست پرداخت پاداش از وضعیت انتهای بلاک N−1 استفاده می‌کند.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ولیدیتور بدون نود</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نصاب QBFT برابر دوسوم n (گرد به پایین) به‌علاوه یک است. فعال‌کردن ولیدیتوری که نود واقعی پشتش نیست، اگر نصاب از شمار نودهای روشن بیشتر شود، کل زنجیره را قفل می‌کند (در آزمون واقعی حدود ۵۴ دقیقه). پس شمار نود روشن همیشه ≥ ولیدیتور فعال.</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بازگشت از قفل</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اگر زنجیره قفل شد، همه‌ی نودها را هم‌زمان ری‌استارت کنید؛ ری‌استارت جزئی معمولاً جواب نمی‌دهد چون تایمر دور نودهای زنده جلوتر رفته. آخرین راه، گذار blockheader است (اسلاید بازیابی اضطراری).</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آدرس ثابت و وابستگی‌ها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4023360"/>
                <a:gridCol w="1645920"/>
                <a:gridCol w="23774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قراردادهایی که می‌شناسد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نقش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آدرس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هیچ‌کدام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حکمرانی داخلی بنیاد (۱۵ عضو) و کنترل دو اوراکل</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0x1111…1111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Treasury،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دریافت ریوارد و فی؛ توزیع؛ سقف و حکمرانی نرخ</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مرجع اجماع، وثیقه، چرخه‌ی عمر و جریمه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Distributor، Treasury، 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۵صندلی با اختیارات تفویضی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0x4444…4444</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خزانه؛ خرج فقط با هیأت و زیر سقف‌ها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0x5555…5555</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هویت خوداظهاری و وریفای همه‌ی کاربران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0x6666…6666</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486400"/>
            <a:ext cx="11094415"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آدرس‌ها پیش از وجود هر قرارداد معلوم‌اند؛ پس هرکدام آدرس بقیه را constant می‌داند و مرحله‌ی سیم‌کشی پس از استقرار وجود ندارد. SurenSale و ServiceStaking قراردادهای مستقل‌اند و با تراکنش عادی مستقر می‌شوند.</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چرا قراردادها در alloc تزریق می‌شوند و نه با تراکنش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constructor</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کد (runtime) و storage نهایی مستقیم در alloc نوشته می‌شود. هر شش قرارداد constructor ندارند، چون قراردادهای genesis با constructor روی اکسپلوررهایی مثل Blockscout وریفای نمی‌شوند.</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مقدار اولیه اجرا نمی‌شود</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مقداردهی scalarها (آدرس اوراکل‌ها، سقف‌ها، پارامترهای زمانی، سهم‌ها) جزو runtime نیست. هر scalar غیرصفر باید با overlay صریح روی slot خودش نوشته شود، وگرنه صفر می‌ماند.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mapping و آرایه</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slot این‌ها با keccak محاسبه می‌شود. سه قرارداد دارای عضو اولیه (FoundationDAO، Registry، Board) با یک قرارداد کمکی موقت روی زنجیره‌ی محلی اجرا و storage واقعی از state خوانده می‌شود، نه محاسبه‌ی دستی.</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viaIR، بدون immutable</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کامپایل با solc 0.8.24، optimizer فعال، بدون viaIR (برای وریفای روی اکسپلورر). هیچ قرارداد genesis متغیر immutable ندارد؛ پس برداشتن مستقیم deployedBytecode درست است.</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ابزار ساخت genesis.json: دو مسیر برای دو نوع قرارداد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6202375" y="1417320"/>
            <a:ext cx="5440680" cy="2377440"/>
          </a:xfrm>
          <a:prstGeom prst="roundRect">
            <a:avLst>
              <a:gd name="adj" fmla="val 4615"/>
            </a:avLst>
          </a:prstGeom>
          <a:solidFill>
            <a:srgbClr val="EEF0FB"/>
          </a:solidFill>
          <a:ln w="9525">
            <a:solidFill>
              <a:srgbClr val="EEF0FB"/>
            </a:solidFill>
            <a:prstDash val="solid"/>
          </a:ln>
        </p:spPr>
      </p:sp>
      <p:sp>
        <p:nvSpPr>
          <p:cNvPr id="7" name="Shape 5"/>
          <p:cNvSpPr/>
          <p:nvPr/>
        </p:nvSpPr>
        <p:spPr>
          <a:xfrm>
            <a:off x="548640" y="1417320"/>
            <a:ext cx="5440680" cy="2377440"/>
          </a:xfrm>
          <a:prstGeom prst="roundRect">
            <a:avLst>
              <a:gd name="adj" fmla="val 4615"/>
            </a:avLst>
          </a:prstGeom>
          <a:solidFill>
            <a:srgbClr val="F7F9FC"/>
          </a:solidFill>
          <a:ln w="9525">
            <a:solidFill>
              <a:srgbClr val="DDE1EE"/>
            </a:solidFill>
            <a:prstDash val="solid"/>
          </a:ln>
        </p:spPr>
      </p:sp>
      <p:sp>
        <p:nvSpPr>
          <p:cNvPr id="8" name="Text 6"/>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مسیر ساده: Distributor، Treasury، IdentityRegistry</a:t>
            </a:r>
            <a:endParaRPr lang="en-US" sz="1450" dirty="0"/>
          </a:p>
        </p:txBody>
      </p:sp>
      <p:sp>
        <p:nvSpPr>
          <p:cNvPr id="9" name="Text 7"/>
          <p:cNvSpPr txBox="1"/>
          <p:nvPr/>
        </p:nvSpPr>
        <p:spPr>
          <a:xfrm>
            <a:off x="6385255"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کامپایل سورس با مقدارهای واقعی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اجرای creation code روی زنجیره‌ی موقت و خواندن کد با eth_getCode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خواندن شماره‌ی slot هر scalar از storageLayout</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نوشتن مقدار واقعی در همان slot در alloc.storage</a:t>
            </a:r>
            <a:endParaRPr lang="en-US" sz="1250" dirty="0"/>
          </a:p>
        </p:txBody>
      </p:sp>
      <p:sp>
        <p:nvSpPr>
          <p:cNvPr id="10" name="Text 8"/>
          <p:cNvSpPr txBox="1"/>
          <p:nvPr/>
        </p:nvSpPr>
        <p:spPr>
          <a:xfrm>
            <a:off x="731520"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مسیر شبیه‌سازی: FoundationDAO، Registry، Board</a:t>
            </a:r>
            <a:endParaRPr lang="en-US" sz="1450" dirty="0"/>
          </a:p>
        </p:txBody>
      </p:sp>
      <p:sp>
        <p:nvSpPr>
          <p:cNvPr id="11" name="Text 9"/>
          <p:cNvSpPr txBox="1"/>
          <p:nvPr/>
        </p:nvSpPr>
        <p:spPr>
          <a:xfrm>
            <a:off x="731520"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جایگزینی آدرس‌های اولیه در قرارداد کمکی (بدون آرگومان constructor)</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دیپلوی روی زنجیره‌ی محلی موقت (Anvil) و گرفتن state با anvil_dumpState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برداشتن storage؛ کد از قرارداد اصلی، نه کمکی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برای Registry علاوه بر آن overlay scalarها</a:t>
            </a:r>
            <a:endParaRPr lang="en-US" sz="1250" dirty="0"/>
          </a:p>
        </p:txBody>
      </p:sp>
      <p:sp>
        <p:nvSpPr>
          <p:cNvPr id="12" name="Text 10"/>
          <p:cNvSpPr txBox="1"/>
          <p:nvPr/>
        </p:nvSpPr>
        <p:spPr>
          <a:xfrm>
            <a:off x="548640" y="3977640"/>
            <a:ext cx="11094415"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مقدارهایی که باید با overlay نوشته شوند (چون اجرای مقداردهی اولیه جزو runtime نیست)</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8442655"/>
                <a:gridCol w="2651760"/>
              </a:tblGrid>
              <a:tr h="365760">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verifier؛ entryThresholdBase؛ growthFactorPerValidator؛ membershipFeeBps؛ شش پارامتر امنیتی و زمانی؛ windowStart (برابر timestamp genesis). paidValidatorCount را ننویسید.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perPaymentCap و periodCap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distributionOracle و validatorDirectShareBps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بررسی‌های اجباری پس از ساخت: همه از بلاک صفر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425135"/>
                <a:gridCol w="566928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مقدار مورد انتظار</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بررسی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فهرست مؤسسان؛ true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getValidators، isValidator(مؤسس)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بدون آن اولین توزیع با «address was never a legitimate validator» revert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everActivated(مؤسس)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و ۰ (برای غیرمؤسس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wasActiveAt(مؤسس, 0)، statusNonce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۰ و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paidValidatorCount، isPaidEntrant(مؤسس)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برابر پیکربندی؛ windowStart = timestamp genesis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verifier، پارامترها، windowStart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۵۰٬۰۰۰ و ۲۰۰٬۰۰۰ سورن (صفر یعنی هیچ پرداختی ممکن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Treasury: perPaymentCap، periodCap</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هر سه ۰؛ maxRewardsForRange(1, 1000) = ۲۰۰۰ سورن؛ بدون immutable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Distributor: lastSettledBlock، rewardRateChangeCount، rateProposalCount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 عضو؛ مقدار overlay؛ timestamp genesis؛ ۰</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Board و DAO: getBoardMembers، boardVersion، lastBoardRefreshAt، membershipNonce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806440"/>
            <a:ext cx="11094415" cy="5943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حالت verify: یک نود Besu واقعی با همان genesis نهایی بالا می‌آید و مقدارهای بالا با eth_call خوانده می‌شود؛ هر ناهمخوانی خروجی غیرصفر و پیام دقیق می‌دهد. ورودی صفر یا تکراری، هیأتی غیر از ۵ عضو و timestamp نامعتبر پیش از ساخت رد می‌شوند.</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توابع اصلی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882335"/>
                <a:gridCol w="1280160"/>
                <a:gridCol w="39319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کار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چه کسی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تابع</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msg.value = وثیقه + کارمزد؛ سقف نرخ ورود؛ کارمزد به Distributor می‌رود؛ وضعیت Probation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آدرس</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requestMembership() payable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probationPeriod و موفقیت آف‌چین ≥ ۹۵٪؛ آدرس وارد getValidators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recordActivation(addr,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حذف فوری از مجموعه (Demoted)؛ مبلغ جریمه = slashBps از وثیقه در همان لحظه ثبت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recordSuspension(addr,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بازگشت پس از recoveryPeriod بدون پرونده‌ی باز؛ یا ثبت تخلف پیش از خروج تا ۷۲ ساعت پس از درخواست خروج</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recordRecovery، recordPreExitViolation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خروج فوراً وظیفه را پایان می‌دهد؛ برداشت پس از exitCooldown؛ با پرونده‌ی باز فقط مبلغ درگیر نگه داشته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requestExit() و withdrawStake()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شش پارامتر امنیتی؛ نصاب اکثریت ساده‌ی Activeهای هنگام ساخت؛ اجرا در همان رأی نصاب</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 Active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proposeParameterChange، voteParameterChange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رأی هیأت؛ سه پارامتر اقتصادی با حدود مجاز و قفل مشترک ۱۸۰ روزه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فقط Board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setEntryThresholdBase، setGrowthFactorPerValidator، setMembershipFeeBps، setVerifier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receive() عمداً revert می‌کند تا موجودی قرارداد برابر جمع وثیقه‌های قفل‌شده بماند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view</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getValidators، isValidator، everActivated، wasActiveAt، getValidatorInfo، currentEntryThreshold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منحنی وثیقه و پارامترها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6202375" y="1417320"/>
            <a:ext cx="5440680" cy="2194560"/>
          </a:xfrm>
          <a:prstGeom prst="roundRect">
            <a:avLst>
              <a:gd name="adj" fmla="val 5000"/>
            </a:avLst>
          </a:prstGeom>
          <a:solidFill>
            <a:srgbClr val="EEF0FB"/>
          </a:solidFill>
          <a:ln w="9525">
            <a:solidFill>
              <a:srgbClr val="EEF0FB"/>
            </a:solidFill>
            <a:prstDash val="solid"/>
          </a:ln>
        </p:spPr>
      </p:sp>
      <p:sp>
        <p:nvSpPr>
          <p:cNvPr id="7" name="Text 5"/>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فرمول وثیقه (fixed-point ۱۸ رقمی)</a:t>
            </a:r>
            <a:endParaRPr lang="en-US" sz="1450" dirty="0"/>
          </a:p>
        </p:txBody>
      </p:sp>
      <p:sp>
        <p:nvSpPr>
          <p:cNvPr id="8" name="Text 6"/>
          <p:cNvSpPr txBox="1"/>
          <p:nvPr/>
        </p:nvSpPr>
        <p:spPr>
          <a:xfrm>
            <a:off x="6385255" y="187452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threshold(p) = entryThresholdBase × g^p</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p = paidValidatorCount؛ مؤسسان رایگان شمرده نمی‌شوند</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g = ۱٫۰۱۷۴۷۹۶۹۲۱۰۲۶۸۶۳۳۶ (دوبرابر در هر ۴۰ نفر)؛ توان با exponentiation-by-squaring</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کارمزد عضویت = threshold × membershipFeeBps ÷ ۱۰٬۰۰۰ (۴۰۰ یعنی ۴٪)</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40680" cy="914400"/>
        </p:xfrm>
        <a:graphic>
          <a:graphicData uri="http://schemas.openxmlformats.org/drawingml/2006/table">
            <a:tbl>
              <a:tblPr/>
              <a:tblGrid>
                <a:gridCol w="1325880"/>
                <a:gridCol w="1645920"/>
                <a:gridCol w="246888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قید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امنیتی (ParamKey)</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 / ۸۶۴۰۰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MaxEntriesPerWindow / EntryWindowSeconds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ProbationPeriod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۳۶۰۰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۱۷۲۸۰۰ ث (۴۸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RecoveryPeriod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 ۱۰٬۰۰۰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SlashBps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۷۲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ExitCooldown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202375" y="3840480"/>
          <a:ext cx="5440680" cy="914400"/>
        </p:xfrm>
        <a:graphic>
          <a:graphicData uri="http://schemas.openxmlformats.org/drawingml/2006/table">
            <a:tbl>
              <a:tblPr/>
              <a:tblGrid>
                <a:gridCol w="1920240"/>
                <a:gridCol w="1417320"/>
                <a:gridCol w="21031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حد مجاز</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 اولیه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اقتصادی (فقط با هیأت)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۱۰۰٬۰۰۰ تا ۲٬۰۰۰٬۰۰۰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۵۰۰٬۰۰۰ سورن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entryThresholdBase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۲۰ تا ۸۰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۴۰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growthFactorPerValidator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تا ۱۰۰۰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۴۰۰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membershipFeeBps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202375" y="5440680"/>
            <a:ext cx="5440680" cy="5486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پس از هر تغییر موفق در هرکدام از این سه پارامتر، تا ۱۸۰ روز هیچ‌کدام از سه پارامتر قابل‌تغییر نیست (قفل مشترک).</a:t>
            </a:r>
            <a:endParaRPr lang="en-US" sz="1150" dirty="0"/>
          </a:p>
        </p:txBody>
      </p:sp>
      <p:sp>
        <p:nvSpPr>
          <p:cNvPr id="12" name="Text 8"/>
          <p:cNvSpPr txBox="1"/>
          <p:nvPr/>
        </p:nvSpPr>
        <p:spPr>
          <a:xfrm>
            <a:off x="548640" y="4526280"/>
            <a:ext cx="5440680"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منحنی عمداً برای ۵۰ تا ۱۰۰ ولیدیتور طراحی شده است (وثیقه حدود ۱٫۰۵ تا ۲٫۵۱ میلیون سورن برای ۵۰ تا ۱۰۰ ولیدیتور در مجموع، با هفت مؤسس رایگان و بدون خروج)؛ بیرون از این بازه سریع گران می‌شود.</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Registry: ماشین حالت و مسیر پرونده‌ی تعلیق</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722815" y="1463040"/>
            <a:ext cx="1920240" cy="731520"/>
          </a:xfrm>
          <a:prstGeom prst="roundRect">
            <a:avLst>
              <a:gd name="adj" fmla="val 15000"/>
            </a:avLst>
          </a:prstGeom>
          <a:solidFill>
            <a:srgbClr val="5F6472"/>
          </a:solidFill>
          <a:ln w="9525">
            <a:solidFill>
              <a:srgbClr val="5F6472"/>
            </a:solidFill>
            <a:prstDash val="solid"/>
          </a:ln>
        </p:spPr>
      </p:sp>
      <p:sp>
        <p:nvSpPr>
          <p:cNvPr id="7" name="Text 5"/>
          <p:cNvSpPr txBox="1"/>
          <p:nvPr/>
        </p:nvSpPr>
        <p:spPr>
          <a:xfrm>
            <a:off x="972281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None</a:t>
            </a:r>
            <a:endParaRPr lang="en-US" sz="1500" dirty="0"/>
          </a:p>
        </p:txBody>
      </p:sp>
      <p:sp>
        <p:nvSpPr>
          <p:cNvPr id="8" name="Shape 6"/>
          <p:cNvSpPr/>
          <p:nvPr/>
        </p:nvSpPr>
        <p:spPr>
          <a:xfrm flipH="1">
            <a:off x="8991295" y="1828800"/>
            <a:ext cx="685800" cy="0"/>
          </a:xfrm>
          <a:prstGeom prst="line">
            <a:avLst/>
          </a:prstGeom>
          <a:noFill/>
          <a:ln w="31750">
            <a:solidFill>
              <a:srgbClr val="2F3690"/>
            </a:solidFill>
            <a:prstDash val="solid"/>
            <a:tailEnd type="triangle"/>
          </a:ln>
        </p:spPr>
      </p:sp>
      <p:sp>
        <p:nvSpPr>
          <p:cNvPr id="9" name="Shape 7"/>
          <p:cNvSpPr/>
          <p:nvPr/>
        </p:nvSpPr>
        <p:spPr>
          <a:xfrm>
            <a:off x="7025335" y="1463040"/>
            <a:ext cx="1920240" cy="731520"/>
          </a:xfrm>
          <a:prstGeom prst="roundRect">
            <a:avLst>
              <a:gd name="adj" fmla="val 15000"/>
            </a:avLst>
          </a:prstGeom>
          <a:solidFill>
            <a:srgbClr val="3D46A8"/>
          </a:solidFill>
          <a:ln w="9525">
            <a:solidFill>
              <a:srgbClr val="3D46A8"/>
            </a:solidFill>
            <a:prstDash val="solid"/>
          </a:ln>
        </p:spPr>
      </p:sp>
      <p:sp>
        <p:nvSpPr>
          <p:cNvPr id="10" name="Text 8"/>
          <p:cNvSpPr txBox="1"/>
          <p:nvPr/>
        </p:nvSpPr>
        <p:spPr>
          <a:xfrm>
            <a:off x="702533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Probation</a:t>
            </a:r>
            <a:endParaRPr lang="en-US" sz="1500" dirty="0"/>
          </a:p>
        </p:txBody>
      </p:sp>
      <p:sp>
        <p:nvSpPr>
          <p:cNvPr id="11" name="Shape 9"/>
          <p:cNvSpPr/>
          <p:nvPr/>
        </p:nvSpPr>
        <p:spPr>
          <a:xfrm flipH="1">
            <a:off x="6293815" y="1828800"/>
            <a:ext cx="685800" cy="0"/>
          </a:xfrm>
          <a:prstGeom prst="line">
            <a:avLst/>
          </a:prstGeom>
          <a:noFill/>
          <a:ln w="31750">
            <a:solidFill>
              <a:srgbClr val="2F3690"/>
            </a:solidFill>
            <a:prstDash val="solid"/>
            <a:tailEnd type="triangle"/>
          </a:ln>
        </p:spPr>
      </p:sp>
      <p:sp>
        <p:nvSpPr>
          <p:cNvPr id="12" name="Shape 10"/>
          <p:cNvSpPr/>
          <p:nvPr/>
        </p:nvSpPr>
        <p:spPr>
          <a:xfrm>
            <a:off x="4327855" y="1463040"/>
            <a:ext cx="1920240" cy="731520"/>
          </a:xfrm>
          <a:prstGeom prst="roundRect">
            <a:avLst>
              <a:gd name="adj" fmla="val 15000"/>
            </a:avLst>
          </a:prstGeom>
          <a:solidFill>
            <a:srgbClr val="2F3690"/>
          </a:solidFill>
          <a:ln w="9525">
            <a:solidFill>
              <a:srgbClr val="2F3690"/>
            </a:solidFill>
            <a:prstDash val="solid"/>
          </a:ln>
        </p:spPr>
      </p:sp>
      <p:sp>
        <p:nvSpPr>
          <p:cNvPr id="13" name="Text 11"/>
          <p:cNvSpPr txBox="1"/>
          <p:nvPr/>
        </p:nvSpPr>
        <p:spPr>
          <a:xfrm>
            <a:off x="432785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Active</a:t>
            </a:r>
            <a:endParaRPr lang="en-US" sz="1500" dirty="0"/>
          </a:p>
        </p:txBody>
      </p:sp>
      <p:sp>
        <p:nvSpPr>
          <p:cNvPr id="14" name="Shape 12"/>
          <p:cNvSpPr/>
          <p:nvPr/>
        </p:nvSpPr>
        <p:spPr>
          <a:xfrm flipH="1">
            <a:off x="3596335" y="1828800"/>
            <a:ext cx="685800" cy="0"/>
          </a:xfrm>
          <a:prstGeom prst="line">
            <a:avLst/>
          </a:prstGeom>
          <a:noFill/>
          <a:ln w="31750">
            <a:solidFill>
              <a:srgbClr val="2F3690"/>
            </a:solidFill>
            <a:prstDash val="solid"/>
            <a:tailEnd type="triangle"/>
          </a:ln>
        </p:spPr>
      </p:sp>
      <p:sp>
        <p:nvSpPr>
          <p:cNvPr id="15" name="Shape 13"/>
          <p:cNvSpPr/>
          <p:nvPr/>
        </p:nvSpPr>
        <p:spPr>
          <a:xfrm>
            <a:off x="1630375" y="1463040"/>
            <a:ext cx="1920240" cy="731520"/>
          </a:xfrm>
          <a:prstGeom prst="roundRect">
            <a:avLst>
              <a:gd name="adj" fmla="val 15000"/>
            </a:avLst>
          </a:prstGeom>
          <a:solidFill>
            <a:srgbClr val="C8431F"/>
          </a:solidFill>
          <a:ln w="9525">
            <a:solidFill>
              <a:srgbClr val="C8431F"/>
            </a:solidFill>
            <a:prstDash val="solid"/>
          </a:ln>
        </p:spPr>
      </p:sp>
      <p:sp>
        <p:nvSpPr>
          <p:cNvPr id="16" name="Text 14"/>
          <p:cNvSpPr txBox="1"/>
          <p:nvPr/>
        </p:nvSpPr>
        <p:spPr>
          <a:xfrm>
            <a:off x="163037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Demoted</a:t>
            </a:r>
            <a:endParaRPr lang="en-US" sz="1500" dirty="0"/>
          </a:p>
        </p:txBody>
      </p:sp>
      <p:sp>
        <p:nvSpPr>
          <p:cNvPr id="17" name="Text 15"/>
          <p:cNvSpPr txBox="1"/>
          <p:nvPr/>
        </p:nvSpPr>
        <p:spPr>
          <a:xfrm>
            <a:off x="548640" y="228600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Exiting از Active، Probation یا Demoted؛ بازگشت Demoted → Active با recordRecovery</a:t>
            </a:r>
            <a:endParaRPr lang="en-US" sz="1200" dirty="0"/>
          </a:p>
        </p:txBody>
      </p:sp>
      <p:sp>
        <p:nvSpPr>
          <p:cNvPr id="18" name="Shape 16"/>
          <p:cNvSpPr/>
          <p:nvPr/>
        </p:nvSpPr>
        <p:spPr>
          <a:xfrm>
            <a:off x="548640" y="2743200"/>
            <a:ext cx="11094415" cy="621792"/>
          </a:xfrm>
          <a:prstGeom prst="roundRect">
            <a:avLst>
              <a:gd name="adj" fmla="val 17647"/>
            </a:avLst>
          </a:prstGeom>
          <a:solidFill>
            <a:srgbClr val="F7F9FC"/>
          </a:solidFill>
          <a:ln w="9525">
            <a:solidFill>
              <a:srgbClr val="DDE1EE"/>
            </a:solidFill>
            <a:prstDash val="solid"/>
          </a:ln>
        </p:spPr>
      </p:sp>
      <p:sp>
        <p:nvSpPr>
          <p:cNvPr id="19" name="Shape 17"/>
          <p:cNvSpPr/>
          <p:nvPr/>
        </p:nvSpPr>
        <p:spPr>
          <a:xfrm>
            <a:off x="11094415" y="2848356"/>
            <a:ext cx="411480" cy="411480"/>
          </a:xfrm>
          <a:prstGeom prst="ellipse">
            <a:avLst/>
          </a:prstGeom>
          <a:solidFill>
            <a:srgbClr val="2F3690"/>
          </a:solidFill>
          <a:ln w="12700">
            <a:solidFill>
              <a:srgbClr val="2F3690"/>
            </a:solidFill>
            <a:prstDash val="solid"/>
          </a:ln>
        </p:spPr>
      </p:sp>
      <p:sp>
        <p:nvSpPr>
          <p:cNvPr id="20" name="Text 18"/>
          <p:cNvSpPr txBox="1"/>
          <p:nvPr/>
        </p:nvSpPr>
        <p:spPr>
          <a:xfrm>
            <a:off x="11094415" y="2848356"/>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21" name="Text 19"/>
          <p:cNvSpPr txBox="1"/>
          <p:nvPr/>
        </p:nvSpPr>
        <p:spPr>
          <a:xfrm>
            <a:off x="8808415" y="2743200"/>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حذف فوری</a:t>
            </a:r>
            <a:endParaRPr lang="en-US" sz="1350" dirty="0"/>
          </a:p>
        </p:txBody>
      </p:sp>
      <p:sp>
        <p:nvSpPr>
          <p:cNvPr id="22" name="Text 20"/>
          <p:cNvSpPr txBox="1"/>
          <p:nvPr/>
        </p:nvSpPr>
        <p:spPr>
          <a:xfrm>
            <a:off x="731520" y="2743200"/>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recordSuspension ولیدیتور را بی‌قید از getValidators خارج می‌کند؛ این مرحله هرگز معطل نمی‌ماند.</a:t>
            </a:r>
            <a:endParaRPr lang="en-US" sz="1150" dirty="0"/>
          </a:p>
        </p:txBody>
      </p:sp>
      <p:sp>
        <p:nvSpPr>
          <p:cNvPr id="23" name="Shape 21"/>
          <p:cNvSpPr/>
          <p:nvPr/>
        </p:nvSpPr>
        <p:spPr>
          <a:xfrm>
            <a:off x="548640" y="3447288"/>
            <a:ext cx="11094415" cy="621792"/>
          </a:xfrm>
          <a:prstGeom prst="roundRect">
            <a:avLst>
              <a:gd name="adj" fmla="val 17647"/>
            </a:avLst>
          </a:prstGeom>
          <a:solidFill>
            <a:srgbClr val="F7F9FC"/>
          </a:solidFill>
          <a:ln w="9525">
            <a:solidFill>
              <a:srgbClr val="DDE1EE"/>
            </a:solidFill>
            <a:prstDash val="solid"/>
          </a:ln>
        </p:spPr>
      </p:sp>
      <p:sp>
        <p:nvSpPr>
          <p:cNvPr id="24" name="Shape 22"/>
          <p:cNvSpPr/>
          <p:nvPr/>
        </p:nvSpPr>
        <p:spPr>
          <a:xfrm>
            <a:off x="11094415" y="3552444"/>
            <a:ext cx="411480" cy="411480"/>
          </a:xfrm>
          <a:prstGeom prst="ellipse">
            <a:avLst/>
          </a:prstGeom>
          <a:solidFill>
            <a:srgbClr val="2F3690"/>
          </a:solidFill>
          <a:ln w="12700">
            <a:solidFill>
              <a:srgbClr val="2F3690"/>
            </a:solidFill>
            <a:prstDash val="solid"/>
          </a:ln>
        </p:spPr>
      </p:sp>
      <p:sp>
        <p:nvSpPr>
          <p:cNvPr id="25" name="Text 23"/>
          <p:cNvSpPr txBox="1"/>
          <p:nvPr/>
        </p:nvSpPr>
        <p:spPr>
          <a:xfrm>
            <a:off x="11094415" y="3552444"/>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26" name="Text 24"/>
          <p:cNvSpPr txBox="1"/>
          <p:nvPr/>
        </p:nvSpPr>
        <p:spPr>
          <a:xfrm>
            <a:off x="8808415" y="3447288"/>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رخداد جمعی</a:t>
            </a:r>
            <a:endParaRPr lang="en-US" sz="1350" dirty="0"/>
          </a:p>
        </p:txBody>
      </p:sp>
      <p:sp>
        <p:nvSpPr>
          <p:cNvPr id="27" name="Text 25"/>
          <p:cNvSpPr txBox="1"/>
          <p:nvPr/>
        </p:nvSpPr>
        <p:spPr>
          <a:xfrm>
            <a:off x="731520" y="3447288"/>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اگر در پنجره‌ی ثابت ۱ ساعته بیش از ۲۰٪ مجموعه معلق شوند، همه معاف می‌شوند؛ resolveMassFailureCheck برای هر پرونده جدا.</a:t>
            </a:r>
            <a:endParaRPr lang="en-US" sz="1150" dirty="0"/>
          </a:p>
        </p:txBody>
      </p:sp>
      <p:sp>
        <p:nvSpPr>
          <p:cNvPr id="28" name="Shape 26"/>
          <p:cNvSpPr/>
          <p:nvPr/>
        </p:nvSpPr>
        <p:spPr>
          <a:xfrm>
            <a:off x="548640" y="4151376"/>
            <a:ext cx="11094415" cy="621792"/>
          </a:xfrm>
          <a:prstGeom prst="roundRect">
            <a:avLst>
              <a:gd name="adj" fmla="val 17647"/>
            </a:avLst>
          </a:prstGeom>
          <a:solidFill>
            <a:srgbClr val="F7F9FC"/>
          </a:solidFill>
          <a:ln w="9525">
            <a:solidFill>
              <a:srgbClr val="DDE1EE"/>
            </a:solidFill>
            <a:prstDash val="solid"/>
          </a:ln>
        </p:spPr>
      </p:sp>
      <p:sp>
        <p:nvSpPr>
          <p:cNvPr id="29" name="Shape 27"/>
          <p:cNvSpPr/>
          <p:nvPr/>
        </p:nvSpPr>
        <p:spPr>
          <a:xfrm>
            <a:off x="11094415" y="4256532"/>
            <a:ext cx="411480" cy="411480"/>
          </a:xfrm>
          <a:prstGeom prst="ellipse">
            <a:avLst/>
          </a:prstGeom>
          <a:solidFill>
            <a:srgbClr val="2F3690"/>
          </a:solidFill>
          <a:ln w="12700">
            <a:solidFill>
              <a:srgbClr val="2F3690"/>
            </a:solidFill>
            <a:prstDash val="solid"/>
          </a:ln>
        </p:spPr>
      </p:sp>
      <p:sp>
        <p:nvSpPr>
          <p:cNvPr id="30" name="Text 28"/>
          <p:cNvSpPr txBox="1"/>
          <p:nvPr/>
        </p:nvSpPr>
        <p:spPr>
          <a:xfrm>
            <a:off x="11094415" y="4256532"/>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31" name="Text 29"/>
          <p:cNvSpPr txBox="1"/>
          <p:nvPr/>
        </p:nvSpPr>
        <p:spPr>
          <a:xfrm>
            <a:off x="8808415" y="4151376"/>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تحویل شواهد</a:t>
            </a:r>
            <a:endParaRPr lang="en-US" sz="1350" dirty="0"/>
          </a:p>
        </p:txBody>
      </p:sp>
      <p:sp>
        <p:nvSpPr>
          <p:cNvPr id="32" name="Text 30"/>
          <p:cNvSpPr txBox="1"/>
          <p:nvPr/>
        </p:nvSpPr>
        <p:spPr>
          <a:xfrm>
            <a:off x="731520" y="4151376"/>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confirmDelivery فقط دریافت را تأیید می‌کند. اگر تأیید نشد، مجمع روی «آیا تحویل شد» رأی می‌دهد.</a:t>
            </a:r>
            <a:endParaRPr lang="en-US" sz="1150" dirty="0"/>
          </a:p>
        </p:txBody>
      </p:sp>
      <p:sp>
        <p:nvSpPr>
          <p:cNvPr id="33" name="Shape 31"/>
          <p:cNvSpPr/>
          <p:nvPr/>
        </p:nvSpPr>
        <p:spPr>
          <a:xfrm>
            <a:off x="548640" y="4855464"/>
            <a:ext cx="11094415" cy="621792"/>
          </a:xfrm>
          <a:prstGeom prst="roundRect">
            <a:avLst>
              <a:gd name="adj" fmla="val 17647"/>
            </a:avLst>
          </a:prstGeom>
          <a:solidFill>
            <a:srgbClr val="F7F9FC"/>
          </a:solidFill>
          <a:ln w="9525">
            <a:solidFill>
              <a:srgbClr val="DDE1EE"/>
            </a:solidFill>
            <a:prstDash val="solid"/>
          </a:ln>
        </p:spPr>
      </p:sp>
      <p:sp>
        <p:nvSpPr>
          <p:cNvPr id="34" name="Shape 32"/>
          <p:cNvSpPr/>
          <p:nvPr/>
        </p:nvSpPr>
        <p:spPr>
          <a:xfrm>
            <a:off x="11094415" y="4960620"/>
            <a:ext cx="411480" cy="411480"/>
          </a:xfrm>
          <a:prstGeom prst="ellipse">
            <a:avLst/>
          </a:prstGeom>
          <a:solidFill>
            <a:srgbClr val="2F3690"/>
          </a:solidFill>
          <a:ln w="12700">
            <a:solidFill>
              <a:srgbClr val="2F3690"/>
            </a:solidFill>
            <a:prstDash val="solid"/>
          </a:ln>
        </p:spPr>
      </p:sp>
      <p:sp>
        <p:nvSpPr>
          <p:cNvPr id="35" name="Text 33"/>
          <p:cNvSpPr txBox="1"/>
          <p:nvPr/>
        </p:nvSpPr>
        <p:spPr>
          <a:xfrm>
            <a:off x="11094415" y="4960620"/>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36" name="Text 34"/>
          <p:cNvSpPr txBox="1"/>
          <p:nvPr/>
        </p:nvSpPr>
        <p:spPr>
          <a:xfrm>
            <a:off x="8808415" y="4855464"/>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اعتراض</a:t>
            </a:r>
            <a:endParaRPr lang="en-US" sz="1350" dirty="0"/>
          </a:p>
        </p:txBody>
      </p:sp>
      <p:sp>
        <p:nvSpPr>
          <p:cNvPr id="37" name="Text 35"/>
          <p:cNvSpPr txBox="1"/>
          <p:nvPr/>
        </p:nvSpPr>
        <p:spPr>
          <a:xfrm>
            <a:off x="731520" y="4855464"/>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ظرف ۷۲ ساعت از تحویل (فقط خود ولیدیتور)؛ مجمع با اکثریت ساده، مهلت ۷ روز؛ نبود نصاب یعنی رد جریمه.</a:t>
            </a:r>
            <a:endParaRPr lang="en-US" sz="1150" dirty="0"/>
          </a:p>
        </p:txBody>
      </p:sp>
      <p:sp>
        <p:nvSpPr>
          <p:cNvPr id="38" name="Shape 36"/>
          <p:cNvSpPr/>
          <p:nvPr/>
        </p:nvSpPr>
        <p:spPr>
          <a:xfrm>
            <a:off x="548640" y="5559552"/>
            <a:ext cx="11094415" cy="621792"/>
          </a:xfrm>
          <a:prstGeom prst="roundRect">
            <a:avLst>
              <a:gd name="adj" fmla="val 17647"/>
            </a:avLst>
          </a:prstGeom>
          <a:solidFill>
            <a:srgbClr val="F7F9FC"/>
          </a:solidFill>
          <a:ln w="9525">
            <a:solidFill>
              <a:srgbClr val="DDE1EE"/>
            </a:solidFill>
            <a:prstDash val="solid"/>
          </a:ln>
        </p:spPr>
      </p:sp>
      <p:sp>
        <p:nvSpPr>
          <p:cNvPr id="39" name="Shape 37"/>
          <p:cNvSpPr/>
          <p:nvPr/>
        </p:nvSpPr>
        <p:spPr>
          <a:xfrm>
            <a:off x="11094415" y="566470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11094415" y="5664708"/>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41" name="Text 39"/>
          <p:cNvSpPr txBox="1"/>
          <p:nvPr/>
        </p:nvSpPr>
        <p:spPr>
          <a:xfrm>
            <a:off x="8808415" y="5559552"/>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جریمه‌ی بی‌اعتراض</a:t>
            </a:r>
            <a:endParaRPr lang="en-US" sz="1350" dirty="0"/>
          </a:p>
        </p:txBody>
      </p:sp>
      <p:sp>
        <p:nvSpPr>
          <p:cNvPr id="42" name="Text 40"/>
          <p:cNvSpPr txBox="1"/>
          <p:nvPr/>
        </p:nvSpPr>
        <p:spPr>
          <a:xfrm>
            <a:off x="731520" y="5559552"/>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executeUncontestedSlash پس از ۷۲ ساعت؛ مبلغ همان مبلغ ثبت‌شده در لحظه‌ی پرونده (decisionSlashAmount) و به Treasury می‌رود.</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ValidatorsBoard و ValidatorsTreasury</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2F3690"/>
                </a:solidFill>
                <a:latin typeface="Vazirmatn" pitchFamily="34" charset="0"/>
                <a:ea typeface="Vazirmatn" pitchFamily="34" charset="-122"/>
                <a:cs typeface="Vazirmatn" pitchFamily="34" charset="-120"/>
              </a:rPr>
              <a:t>ValidatorsBoard — ۵ صندلی</a:t>
            </a:r>
            <a:endParaRPr lang="en-US" sz="1550" dirty="0"/>
          </a:p>
        </p:txBody>
      </p:sp>
      <p:sp>
        <p:nvSpPr>
          <p:cNvPr id="8" name="Text 6"/>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voteFor(candidate) / unvoteFor: هر ولیدیتور Active با هویت ثبت‌شده تا ۵ کاندیدای هم‌زمان؛ کاندیدا باید Active باشد؛ خودرأیی مجاز.</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refreshBoard(votersToSync): بدون مجوز؛ هیأت هر ماه میلادی با نخستین فراخوان همان ماه نشانده می‌شود: ۵ پررأی‌ترین ولیدیتور فعال، در تساوی activationSeq کمتر، عضو قبلی بدون امتیاز. هیأت ماه قبل تا آن لحظه اختیاری ندارد.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hasBoardAuthority: کرسی دارد و درخواست خروج نداده؛ تعلیق اختیار را قطع نمی‌کند. syncBoard() و fillVacancies() بدون مجوزند. voteCount افزایشی است و Registry در هر تغییر وضعیت syncVoter را صدا می‌زند.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اکشن‌ها (چرخش اوراکل و verifier، تأیید پرداخت، سه پارامتر اقتصادی) با voteAction؛ نصاب اکثریت (تأیید پرداخت و چرخش کلیدها: ≥ ۳ رأی، بدون تأخیر). اکشنی که با boardVersion قدیمی ساخته شده revert می‌شود.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اگر دارنده‌ی کرسی درخواست خروج داده، همه‌ی اکشن‌ها تا syncBoard() revert می‌کنند.</a:t>
            </a:r>
            <a:endParaRPr lang="en-US" sz="123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3D46A8"/>
                </a:solidFill>
                <a:latin typeface="Vazirmatn" pitchFamily="34" charset="0"/>
                <a:ea typeface="Vazirmatn" pitchFamily="34" charset="-122"/>
                <a:cs typeface="Vazirmatn" pitchFamily="34" charset="-120"/>
              </a:rPr>
              <a:t>ValidatorsTreasury</a:t>
            </a:r>
            <a:endParaRPr lang="en-US" sz="15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boardApproveExpenditure(to, amount, description): فقط قرارداد Board (پس از ≥ ۳ رأی). شرط: amount ≤ perPaymentCap (۵۰٬۰۰۰ سورن، مقدار مرزی مجاز) و مجموع پنجره‌ی حدود ۳۰روزه (سطل‌های روزانه) ≤ periodCap (۲۰۰٬۰۰۰).</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هر پرداخت، با هر مقصد و توضیح، در یک شمارنده‌ی مشترک حساب می‌شود (خردکردن راه دورزدن نیست).</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proposeCapChange(kind, value) و voteCapChange(id): ولیدیتور Active؛ با رسیدن به نصاب، تغییر در صف تأخیر ۷روزه می‌رود.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applyPendingCapChange(kind): هرکس، پس از ۷ روز؛ قبل از آن revert با timelock not elapsed.</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receive(): از Distributor (سهم باقی‌مانده‌ی ریوارد) و Registry (جریمه). موجودی در genesis ندارد؛ سقف‌ها overlay می‌شوند.</a:t>
            </a:r>
            <a:endParaRPr lang="en-US" sz="12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BlockRewardDistributor.distributeRewards: ترتیب کنترل‌ها و پرداخت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sp>
        <p:nvSpPr>
          <p:cNvPr id="6" name="Shape 4"/>
          <p:cNvSpPr/>
          <p:nvPr/>
        </p:nvSpPr>
        <p:spPr>
          <a:xfrm>
            <a:off x="548640" y="1371600"/>
            <a:ext cx="11094415" cy="868680"/>
          </a:xfrm>
          <a:prstGeom prst="roundRect">
            <a:avLst>
              <a:gd name="adj" fmla="val 12632"/>
            </a:avLst>
          </a:prstGeom>
          <a:solidFill>
            <a:srgbClr val="EEF0FB"/>
          </a:solidFill>
          <a:ln w="9525">
            <a:solidFill>
              <a:srgbClr val="EEF0FB"/>
            </a:solidFill>
            <a:prstDash val="solid"/>
          </a:ln>
        </p:spPr>
      </p:sp>
      <p:sp>
        <p:nvSpPr>
          <p:cNvPr id="7" name="Text 5"/>
          <p:cNvSpPr txBox="1"/>
          <p:nvPr/>
        </p:nvSpPr>
        <p:spPr>
          <a:xfrm>
            <a:off x="731520" y="1444752"/>
            <a:ext cx="10728655" cy="365760"/>
          </a:xfrm>
          <a:prstGeom prst="rect">
            <a:avLst/>
          </a:prstGeom>
          <a:noFill/>
          <a:ln/>
        </p:spPr>
        <p:txBody>
          <a:bodyPr wrap="square" lIns="0" tIns="0" rIns="0" bIns="0" rtlCol="0" anchor="ctr"/>
          <a:lstStyle/>
          <a:p>
            <a:pPr rtl="1" algn="l"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distributeRewards(BlockRange{fromBlock, toBlock}, address[] validators, uint256[] blocksMined, uint256 totalRewards, uint256 totalFees)</a:t>
            </a:r>
            <a:endParaRPr lang="en-US" sz="1200" dirty="0"/>
          </a:p>
        </p:txBody>
      </p:sp>
      <p:sp>
        <p:nvSpPr>
          <p:cNvPr id="8" name="Text 6"/>
          <p:cNvSpPr txBox="1"/>
          <p:nvPr/>
        </p:nvSpPr>
        <p:spPr>
          <a:xfrm>
            <a:off x="731520" y="1828800"/>
            <a:ext cx="10728655" cy="320040"/>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فقط distributionOracle می‌تواند آن را صدا بزند و تابع nonReentrant است</a:t>
            </a:r>
            <a:endParaRPr lang="en-US" sz="1200" dirty="0"/>
          </a:p>
        </p:txBody>
      </p:sp>
      <p:sp>
        <p:nvSpPr>
          <p:cNvPr id="9" name="Shape 7"/>
          <p:cNvSpPr/>
          <p:nvPr/>
        </p:nvSpPr>
        <p:spPr>
          <a:xfrm>
            <a:off x="548640" y="2377440"/>
            <a:ext cx="11094415" cy="484632"/>
          </a:xfrm>
          <a:prstGeom prst="roundRect">
            <a:avLst>
              <a:gd name="adj" fmla="val 22642"/>
            </a:avLst>
          </a:prstGeom>
          <a:solidFill>
            <a:srgbClr val="F7F9FC"/>
          </a:solidFill>
          <a:ln w="9525">
            <a:solidFill>
              <a:srgbClr val="DDE1EE"/>
            </a:solidFill>
            <a:prstDash val="solid"/>
          </a:ln>
        </p:spPr>
      </p:sp>
      <p:sp>
        <p:nvSpPr>
          <p:cNvPr id="10" name="Shape 8"/>
          <p:cNvSpPr/>
          <p:nvPr/>
        </p:nvSpPr>
        <p:spPr>
          <a:xfrm>
            <a:off x="11204143" y="2446020"/>
            <a:ext cx="347472" cy="347472"/>
          </a:xfrm>
          <a:prstGeom prst="ellipse">
            <a:avLst/>
          </a:prstGeom>
          <a:solidFill>
            <a:srgbClr val="2F3690"/>
          </a:solidFill>
          <a:ln w="12700">
            <a:solidFill>
              <a:srgbClr val="2F3690"/>
            </a:solidFill>
            <a:prstDash val="solid"/>
          </a:ln>
        </p:spPr>
      </p:sp>
      <p:sp>
        <p:nvSpPr>
          <p:cNvPr id="11" name="Text 9"/>
          <p:cNvSpPr txBox="1"/>
          <p:nvPr/>
        </p:nvSpPr>
        <p:spPr>
          <a:xfrm>
            <a:off x="11204143" y="24460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۱</a:t>
            </a:r>
            <a:endParaRPr lang="en-US" sz="1200" dirty="0"/>
          </a:p>
        </p:txBody>
      </p:sp>
      <p:sp>
        <p:nvSpPr>
          <p:cNvPr id="12" name="Text 10"/>
          <p:cNvSpPr txBox="1"/>
          <p:nvPr/>
        </p:nvSpPr>
        <p:spPr>
          <a:xfrm>
            <a:off x="8899855" y="23774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فهرست غیرخالی و هم‌طول</a:t>
            </a:r>
            <a:endParaRPr lang="en-US" sz="1200" dirty="0"/>
          </a:p>
        </p:txBody>
      </p:sp>
      <p:sp>
        <p:nvSpPr>
          <p:cNvPr id="13" name="Text 11"/>
          <p:cNvSpPr txBox="1"/>
          <p:nvPr/>
        </p:nvSpPr>
        <p:spPr>
          <a:xfrm>
            <a:off x="685800" y="23774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validators و blocksMined باید هم‌طول و غیرخالی باشند.</a:t>
            </a:r>
            <a:endParaRPr lang="en-US" sz="1100" dirty="0"/>
          </a:p>
        </p:txBody>
      </p:sp>
      <p:sp>
        <p:nvSpPr>
          <p:cNvPr id="14" name="Shape 12"/>
          <p:cNvSpPr/>
          <p:nvPr/>
        </p:nvSpPr>
        <p:spPr>
          <a:xfrm>
            <a:off x="548640" y="2926080"/>
            <a:ext cx="11094415" cy="484632"/>
          </a:xfrm>
          <a:prstGeom prst="roundRect">
            <a:avLst>
              <a:gd name="adj" fmla="val 22642"/>
            </a:avLst>
          </a:prstGeom>
          <a:solidFill>
            <a:srgbClr val="FFFFFF"/>
          </a:solidFill>
          <a:ln w="9525">
            <a:solidFill>
              <a:srgbClr val="DDE1EE"/>
            </a:solidFill>
            <a:prstDash val="solid"/>
          </a:ln>
        </p:spPr>
      </p:sp>
      <p:sp>
        <p:nvSpPr>
          <p:cNvPr id="15" name="Shape 13"/>
          <p:cNvSpPr/>
          <p:nvPr/>
        </p:nvSpPr>
        <p:spPr>
          <a:xfrm>
            <a:off x="11204143" y="2994660"/>
            <a:ext cx="347472" cy="347472"/>
          </a:xfrm>
          <a:prstGeom prst="ellipse">
            <a:avLst/>
          </a:prstGeom>
          <a:solidFill>
            <a:srgbClr val="2F3690"/>
          </a:solidFill>
          <a:ln w="12700">
            <a:solidFill>
              <a:srgbClr val="2F3690"/>
            </a:solidFill>
            <a:prstDash val="solid"/>
          </a:ln>
        </p:spPr>
      </p:sp>
      <p:sp>
        <p:nvSpPr>
          <p:cNvPr id="16" name="Text 14"/>
          <p:cNvSpPr txBox="1"/>
          <p:nvPr/>
        </p:nvSpPr>
        <p:spPr>
          <a:xfrm>
            <a:off x="11204143" y="29946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۲</a:t>
            </a:r>
            <a:endParaRPr lang="en-US" sz="1200" dirty="0"/>
          </a:p>
        </p:txBody>
      </p:sp>
      <p:sp>
        <p:nvSpPr>
          <p:cNvPr id="17" name="Text 15"/>
          <p:cNvSpPr txBox="1"/>
          <p:nvPr/>
        </p:nvSpPr>
        <p:spPr>
          <a:xfrm>
            <a:off x="8899855" y="29260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فاصله‌ی ۲۳ ساعت</a:t>
            </a:r>
            <a:endParaRPr lang="en-US" sz="1200" dirty="0"/>
          </a:p>
        </p:txBody>
      </p:sp>
      <p:sp>
        <p:nvSpPr>
          <p:cNvPr id="18" name="Text 16"/>
          <p:cNvSpPr txBox="1"/>
          <p:nvPr/>
        </p:nvSpPr>
        <p:spPr>
          <a:xfrm>
            <a:off x="685800" y="29260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پس از اولین توزیع، حداقل ۲۳ ساعت از توزیع قبلی.</a:t>
            </a:r>
            <a:endParaRPr lang="en-US" sz="1100" dirty="0"/>
          </a:p>
        </p:txBody>
      </p:sp>
      <p:sp>
        <p:nvSpPr>
          <p:cNvPr id="19" name="Shape 17"/>
          <p:cNvSpPr/>
          <p:nvPr/>
        </p:nvSpPr>
        <p:spPr>
          <a:xfrm>
            <a:off x="548640" y="3474720"/>
            <a:ext cx="11094415" cy="484632"/>
          </a:xfrm>
          <a:prstGeom prst="roundRect">
            <a:avLst>
              <a:gd name="adj" fmla="val 22642"/>
            </a:avLst>
          </a:prstGeom>
          <a:solidFill>
            <a:srgbClr val="F7F9FC"/>
          </a:solidFill>
          <a:ln w="9525">
            <a:solidFill>
              <a:srgbClr val="DDE1EE"/>
            </a:solidFill>
            <a:prstDash val="solid"/>
          </a:ln>
        </p:spPr>
      </p:sp>
      <p:sp>
        <p:nvSpPr>
          <p:cNvPr id="20" name="Shape 18"/>
          <p:cNvSpPr/>
          <p:nvPr/>
        </p:nvSpPr>
        <p:spPr>
          <a:xfrm>
            <a:off x="11204143" y="3543300"/>
            <a:ext cx="347472" cy="347472"/>
          </a:xfrm>
          <a:prstGeom prst="ellipse">
            <a:avLst/>
          </a:prstGeom>
          <a:solidFill>
            <a:srgbClr val="2F3690"/>
          </a:solidFill>
          <a:ln w="12700">
            <a:solidFill>
              <a:srgbClr val="2F3690"/>
            </a:solidFill>
            <a:prstDash val="solid"/>
          </a:ln>
        </p:spPr>
      </p:sp>
      <p:sp>
        <p:nvSpPr>
          <p:cNvPr id="21" name="Text 19"/>
          <p:cNvSpPr txBox="1"/>
          <p:nvPr/>
        </p:nvSpPr>
        <p:spPr>
          <a:xfrm>
            <a:off x="11204143" y="354330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۳</a:t>
            </a:r>
            <a:endParaRPr lang="en-US" sz="1200" dirty="0"/>
          </a:p>
        </p:txBody>
      </p:sp>
      <p:sp>
        <p:nvSpPr>
          <p:cNvPr id="22" name="Text 20"/>
          <p:cNvSpPr txBox="1"/>
          <p:nvPr/>
        </p:nvSpPr>
        <p:spPr>
          <a:xfrm>
            <a:off x="8899855" y="347472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پیش‌محاسبه</a:t>
            </a:r>
            <a:endParaRPr lang="en-US" sz="1200" dirty="0"/>
          </a:p>
        </p:txBody>
      </p:sp>
      <p:sp>
        <p:nvSpPr>
          <p:cNvPr id="23" name="Text 21"/>
          <p:cNvSpPr txBox="1"/>
          <p:nvPr/>
        </p:nvSpPr>
        <p:spPr>
          <a:xfrm>
            <a:off x="685800" y="347472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جمع بلاک‌ها؛ کارمزد عضویت انباشته به استخر کارمزد افزوده می‌شود؛ ۳۰٪ کارمزد معمولی برای سوزاندن؛ موجودی کافی؛ مجموع بلاک‌ها صفر نباشد.</a:t>
            </a:r>
            <a:endParaRPr lang="en-US" sz="1100" dirty="0"/>
          </a:p>
        </p:txBody>
      </p:sp>
      <p:sp>
        <p:nvSpPr>
          <p:cNvPr id="24" name="Shape 22"/>
          <p:cNvSpPr/>
          <p:nvPr/>
        </p:nvSpPr>
        <p:spPr>
          <a:xfrm>
            <a:off x="548640" y="4023360"/>
            <a:ext cx="11094415" cy="484632"/>
          </a:xfrm>
          <a:prstGeom prst="roundRect">
            <a:avLst>
              <a:gd name="adj" fmla="val 22642"/>
            </a:avLst>
          </a:prstGeom>
          <a:solidFill>
            <a:srgbClr val="FFFFFF"/>
          </a:solidFill>
          <a:ln w="9525">
            <a:solidFill>
              <a:srgbClr val="DDE1EE"/>
            </a:solidFill>
            <a:prstDash val="solid"/>
          </a:ln>
        </p:spPr>
      </p:sp>
      <p:sp>
        <p:nvSpPr>
          <p:cNvPr id="25" name="Shape 23"/>
          <p:cNvSpPr/>
          <p:nvPr/>
        </p:nvSpPr>
        <p:spPr>
          <a:xfrm>
            <a:off x="11204143" y="4091940"/>
            <a:ext cx="347472" cy="347472"/>
          </a:xfrm>
          <a:prstGeom prst="ellipse">
            <a:avLst/>
          </a:prstGeom>
          <a:solidFill>
            <a:srgbClr val="2F3690"/>
          </a:solidFill>
          <a:ln w="12700">
            <a:solidFill>
              <a:srgbClr val="2F3690"/>
            </a:solidFill>
            <a:prstDash val="solid"/>
          </a:ln>
        </p:spPr>
      </p:sp>
      <p:sp>
        <p:nvSpPr>
          <p:cNvPr id="26" name="Text 24"/>
          <p:cNvSpPr txBox="1"/>
          <p:nvPr/>
        </p:nvSpPr>
        <p:spPr>
          <a:xfrm>
            <a:off x="11204143" y="409194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۴</a:t>
            </a:r>
            <a:endParaRPr lang="en-US" sz="1200" dirty="0"/>
          </a:p>
        </p:txBody>
      </p:sp>
      <p:sp>
        <p:nvSpPr>
          <p:cNvPr id="27" name="Text 25"/>
          <p:cNvSpPr txBox="1"/>
          <p:nvPr/>
        </p:nvSpPr>
        <p:spPr>
          <a:xfrm>
            <a:off x="8899855" y="402336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پیوستگی بازه</a:t>
            </a:r>
            <a:endParaRPr lang="en-US" sz="1200" dirty="0"/>
          </a:p>
        </p:txBody>
      </p:sp>
      <p:sp>
        <p:nvSpPr>
          <p:cNvPr id="28" name="Text 26"/>
          <p:cNvSpPr txBox="1"/>
          <p:nvPr/>
        </p:nvSpPr>
        <p:spPr>
          <a:xfrm>
            <a:off x="685800" y="402336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fromBlock = lastSettledBlock + ۱؛ toBlock ≥ fromBlock و &lt; block.number؛ جمع blocksMined ≤ اندازه‌ی بازه.</a:t>
            </a:r>
            <a:endParaRPr lang="en-US" sz="1100" dirty="0"/>
          </a:p>
        </p:txBody>
      </p:sp>
      <p:sp>
        <p:nvSpPr>
          <p:cNvPr id="29" name="Shape 27"/>
          <p:cNvSpPr/>
          <p:nvPr/>
        </p:nvSpPr>
        <p:spPr>
          <a:xfrm>
            <a:off x="548640" y="4572000"/>
            <a:ext cx="11094415" cy="484632"/>
          </a:xfrm>
          <a:prstGeom prst="roundRect">
            <a:avLst>
              <a:gd name="adj" fmla="val 22642"/>
            </a:avLst>
          </a:prstGeom>
          <a:solidFill>
            <a:srgbClr val="F7F9FC"/>
          </a:solidFill>
          <a:ln w="9525">
            <a:solidFill>
              <a:srgbClr val="DDE1EE"/>
            </a:solidFill>
            <a:prstDash val="solid"/>
          </a:ln>
        </p:spPr>
      </p:sp>
      <p:sp>
        <p:nvSpPr>
          <p:cNvPr id="30" name="Shape 28"/>
          <p:cNvSpPr/>
          <p:nvPr/>
        </p:nvSpPr>
        <p:spPr>
          <a:xfrm>
            <a:off x="11204143" y="4640580"/>
            <a:ext cx="347472" cy="347472"/>
          </a:xfrm>
          <a:prstGeom prst="ellipse">
            <a:avLst/>
          </a:prstGeom>
          <a:solidFill>
            <a:srgbClr val="2F3690"/>
          </a:solidFill>
          <a:ln w="12700">
            <a:solidFill>
              <a:srgbClr val="2F3690"/>
            </a:solidFill>
            <a:prstDash val="solid"/>
          </a:ln>
        </p:spPr>
      </p:sp>
      <p:sp>
        <p:nvSpPr>
          <p:cNvPr id="31" name="Text 29"/>
          <p:cNvSpPr txBox="1"/>
          <p:nvPr/>
        </p:nvSpPr>
        <p:spPr>
          <a:xfrm>
            <a:off x="11204143" y="464058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۵</a:t>
            </a:r>
            <a:endParaRPr lang="en-US" sz="1200" dirty="0"/>
          </a:p>
        </p:txBody>
      </p:sp>
      <p:sp>
        <p:nvSpPr>
          <p:cNvPr id="32" name="Text 30"/>
          <p:cNvSpPr txBox="1"/>
          <p:nvPr/>
        </p:nvSpPr>
        <p:spPr>
          <a:xfrm>
            <a:off x="8899855" y="457200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سقف پاداش</a:t>
            </a:r>
            <a:endParaRPr lang="en-US" sz="1200" dirty="0"/>
          </a:p>
        </p:txBody>
      </p:sp>
      <p:sp>
        <p:nvSpPr>
          <p:cNvPr id="33" name="Text 31"/>
          <p:cNvSpPr txBox="1"/>
          <p:nvPr/>
        </p:nvSpPr>
        <p:spPr>
          <a:xfrm>
            <a:off x="685800" y="457200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totalRewards ≤ maxRewardsForRange(from, to)؛ در غیر این صورت «totalRewards exceed approved reward for range».</a:t>
            </a:r>
            <a:endParaRPr lang="en-US" sz="1100" dirty="0"/>
          </a:p>
        </p:txBody>
      </p:sp>
      <p:sp>
        <p:nvSpPr>
          <p:cNvPr id="34" name="Shape 32"/>
          <p:cNvSpPr/>
          <p:nvPr/>
        </p:nvSpPr>
        <p:spPr>
          <a:xfrm>
            <a:off x="548640" y="5120640"/>
            <a:ext cx="11094415" cy="484632"/>
          </a:xfrm>
          <a:prstGeom prst="roundRect">
            <a:avLst>
              <a:gd name="adj" fmla="val 22642"/>
            </a:avLst>
          </a:prstGeom>
          <a:solidFill>
            <a:srgbClr val="FFFFFF"/>
          </a:solidFill>
          <a:ln w="9525">
            <a:solidFill>
              <a:srgbClr val="DDE1EE"/>
            </a:solidFill>
            <a:prstDash val="solid"/>
          </a:ln>
        </p:spPr>
      </p:sp>
      <p:sp>
        <p:nvSpPr>
          <p:cNvPr id="35" name="Shape 33"/>
          <p:cNvSpPr/>
          <p:nvPr/>
        </p:nvSpPr>
        <p:spPr>
          <a:xfrm>
            <a:off x="11204143" y="5189220"/>
            <a:ext cx="347472" cy="347472"/>
          </a:xfrm>
          <a:prstGeom prst="ellipse">
            <a:avLst/>
          </a:prstGeom>
          <a:solidFill>
            <a:srgbClr val="2F3690"/>
          </a:solidFill>
          <a:ln w="12700">
            <a:solidFill>
              <a:srgbClr val="2F3690"/>
            </a:solidFill>
            <a:prstDash val="solid"/>
          </a:ln>
        </p:spPr>
      </p:sp>
      <p:sp>
        <p:nvSpPr>
          <p:cNvPr id="36" name="Text 34"/>
          <p:cNvSpPr txBox="1"/>
          <p:nvPr/>
        </p:nvSpPr>
        <p:spPr>
          <a:xfrm>
            <a:off x="11204143" y="51892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۶</a:t>
            </a:r>
            <a:endParaRPr lang="en-US" sz="1200" dirty="0"/>
          </a:p>
        </p:txBody>
      </p:sp>
      <p:sp>
        <p:nvSpPr>
          <p:cNvPr id="37" name="Text 35"/>
          <p:cNvSpPr txBox="1"/>
          <p:nvPr/>
        </p:nvSpPr>
        <p:spPr>
          <a:xfrm>
            <a:off x="8899855" y="51206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 هر ولیدیتور</a:t>
            </a:r>
            <a:endParaRPr lang="en-US" sz="1200" dirty="0"/>
          </a:p>
        </p:txBody>
      </p:sp>
      <p:sp>
        <p:nvSpPr>
          <p:cNvPr id="38" name="Text 36"/>
          <p:cNvSpPr txBox="1"/>
          <p:nvPr/>
        </p:nvSpPr>
        <p:spPr>
          <a:xfrm>
            <a:off x="685800" y="51206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آدرس‌ها اکیداً صعودی و غیرصفر، everActivated=true؛ سهم پاداش و سهم کارمزد در یک انتقال: ⌊مبلغ × blocks ÷ totalBlocks⌋.</a:t>
            </a:r>
            <a:endParaRPr lang="en-US" sz="1100" dirty="0"/>
          </a:p>
        </p:txBody>
      </p:sp>
      <p:sp>
        <p:nvSpPr>
          <p:cNvPr id="39" name="Shape 37"/>
          <p:cNvSpPr/>
          <p:nvPr/>
        </p:nvSpPr>
        <p:spPr>
          <a:xfrm>
            <a:off x="548640" y="5669280"/>
            <a:ext cx="11094415" cy="484632"/>
          </a:xfrm>
          <a:prstGeom prst="roundRect">
            <a:avLst>
              <a:gd name="adj" fmla="val 22642"/>
            </a:avLst>
          </a:prstGeom>
          <a:solidFill>
            <a:srgbClr val="F7F9FC"/>
          </a:solidFill>
          <a:ln w="9525">
            <a:solidFill>
              <a:srgbClr val="DDE1EE"/>
            </a:solidFill>
            <a:prstDash val="solid"/>
          </a:ln>
        </p:spPr>
      </p:sp>
      <p:sp>
        <p:nvSpPr>
          <p:cNvPr id="40" name="Shape 38"/>
          <p:cNvSpPr/>
          <p:nvPr/>
        </p:nvSpPr>
        <p:spPr>
          <a:xfrm>
            <a:off x="11204143" y="5737860"/>
            <a:ext cx="347472" cy="347472"/>
          </a:xfrm>
          <a:prstGeom prst="ellipse">
            <a:avLst/>
          </a:prstGeom>
          <a:solidFill>
            <a:srgbClr val="2F3690"/>
          </a:solidFill>
          <a:ln w="12700">
            <a:solidFill>
              <a:srgbClr val="2F3690"/>
            </a:solidFill>
            <a:prstDash val="solid"/>
          </a:ln>
        </p:spPr>
      </p:sp>
      <p:sp>
        <p:nvSpPr>
          <p:cNvPr id="41" name="Text 39"/>
          <p:cNvSpPr txBox="1"/>
          <p:nvPr/>
        </p:nvSpPr>
        <p:spPr>
          <a:xfrm>
            <a:off x="11204143" y="57378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۷</a:t>
            </a:r>
            <a:endParaRPr lang="en-US" sz="1200" dirty="0"/>
          </a:p>
        </p:txBody>
      </p:sp>
      <p:sp>
        <p:nvSpPr>
          <p:cNvPr id="42" name="Text 40"/>
          <p:cNvSpPr txBox="1"/>
          <p:nvPr/>
        </p:nvSpPr>
        <p:spPr>
          <a:xfrm>
            <a:off x="8899855" y="56692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بنیاد، خزانه، سوزاندن</a:t>
            </a:r>
            <a:endParaRPr lang="en-US" sz="1200" dirty="0"/>
          </a:p>
        </p:txBody>
      </p:sp>
      <p:sp>
        <p:nvSpPr>
          <p:cNvPr id="43" name="Text 41"/>
          <p:cNvSpPr txBox="1"/>
          <p:nvPr/>
        </p:nvSpPr>
        <p:spPr>
          <a:xfrm>
            <a:off x="685800" y="56692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ریوارد به FoundationDAO؛ باقی‌مانده و خرده‌ی گردکردن به Treasury؛ ۳۰٪ کارمزد معمولی به address(0)؛ سپس ثبت epoch و lastSettledBlock = toBlock.</a:t>
            </a:r>
            <a:endParaRPr lang="en-US" sz="1100" dirty="0"/>
          </a:p>
        </p:txBody>
      </p:sp>
      <p:sp>
        <p:nvSpPr>
          <p:cNvPr id="44" name="Text 42"/>
          <p:cNvSpPr txBox="1"/>
          <p:nvPr/>
        </p:nvSpPr>
        <p:spPr>
          <a:xfrm>
            <a:off x="548640" y="6263640"/>
            <a:ext cx="11094415"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ساختار داخلی: _prepareEpoch (نتیجه در struct EpochPrep)، _settleRange، شرط سقف، _payValidators + _payOneValidator (پارامترها در struct EpochContext) و _finalizeEpoch؛ کامپایل بدون viaIR.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حکمرانی سهم ولیدیتورها و نرخ پاداش در Distributor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سهم مستقیم ولیدیتورها (validatorDirectShareBps)</a:t>
            </a:r>
            <a:endParaRPr lang="en-US" sz="1450" dirty="0"/>
          </a:p>
        </p:txBody>
      </p:sp>
      <p:sp>
        <p:nvSpPr>
          <p:cNvPr id="8" name="Text 6"/>
          <p:cNvSpPr txBox="1"/>
          <p:nvPr/>
        </p:nvSpPr>
        <p:spPr>
          <a:xfrm>
            <a:off x="6385255"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proposeShareChange(bps): فقط ولیدیتور Active؛ بازه‌ی مجاز ۴۰۰۰ تا ۶۵۰۰ (شروع ۵۰۰۰).</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boardVoteShareChange(id): hasBoardAuthority زنده + boardVersion هنگام ساخت؛ نصاب ۳ از ۵.</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validatorVoteShareChange(id): نصاب (۲n+۲)÷۳ با n = شمار Active هنگام ساخت (منجمد)؛ واجد بودن هنگام ساخت.</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رأیی که هر دو مجلس را کامل کند، همان‌جا اجرا می‌کند. فاصله‌ی ۱۸۰ روز بین دو تغییر موفق هم هنگام ساخت و هم هنگام اجرا چک می‌شود؛ رأی کامل‌کننده‌ی زودهنگام revert می‌شود (حالت state رأی برمی‌گردد). انقضا ۳۰ روز.</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نسخه‌ی ترکیب هیأت در رأی هیأت و در اجرا دوباره بررسی می‌شود.</a:t>
            </a:r>
            <a:endParaRPr lang="en-US" sz="115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نرخ پاداش هر بلاک</a:t>
            </a:r>
            <a:endParaRPr lang="en-US" sz="1450" dirty="0"/>
          </a:p>
        </p:txBody>
      </p:sp>
      <p:sp>
        <p:nvSpPr>
          <p:cNvPr id="11" name="Text 9"/>
          <p:cNvSpPr txBox="1"/>
          <p:nvPr/>
        </p:nvSpPr>
        <p:spPr>
          <a:xfrm>
            <a:off x="731520"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proposeRateChange(startBlock, ratePerBlock): ولیدیتور Active؛ startBlock باید آینده، حداقل ۲۰۱٬۶۰۰ بلاک بعد از بلاک اجرا، و بعد از آخرین نرخ مصوب باشد (در ساخت و در اجرا).</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boardVoteRateChange و validatorVoteRateChange؛ مهلت رأی ۳۰ روز؛ هنگام تکمیل هر دو مجلس نسخه‌ی هیأت دوباره چک می‌شود.</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executeRateChange(id): هرکس، ≥ ۷ روز پس از تکمیل (قبل از آن: execution delay has not elapsed).</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rateChangeStatus(id) → (status, problem): ۰ یافت نشد، ۱ رأی‌گیری، ۲ منقضی، ۳ اجراشده، ۴ منتظر تأخیر، ۵ قابل‌اجرا، ۶ تصویب‌شده ولی غیرقابل‌اجرا، ۷ تصویب‌نشده و غیرقابل‌ادامه. problem: ۱ ترکیب هیأت، ۲ ارتفاع آینده نیست، ۳ فاصله &lt; ۲۰۱٬۶۰۰، ۴ ترتیب صعودی.</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تاریخچه‌ی rewardRateChanges (storage slot ۲۴ تا ۲۸) فقط‌افزودنی؛ rateProposals(id) یازده خروجی دارد.</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محاسبه‌ی سقف پاداش: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6" name="Chart 0" descr=""/>
          <p:cNvGraphicFramePr/>
          <p:nvPr/>
        </p:nvGraphicFramePr>
        <p:xfrm>
          <a:off x="548640" y="141732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گس maxRewardsForRange؛ تاریخچه‌ی ۴۰۰ ورودی؛ k = شمار تغییر نرخ داخل بازه</a:t>
            </a:r>
            <a:endParaRPr lang="en-US" sz="1200" dirty="0"/>
          </a:p>
        </p:txBody>
      </p:sp>
      <p:sp>
        <p:nvSpPr>
          <p:cNvPr id="8" name="Shape 5"/>
          <p:cNvSpPr/>
          <p:nvPr/>
        </p:nvSpPr>
        <p:spPr>
          <a:xfrm>
            <a:off x="7345375" y="1417320"/>
            <a:ext cx="4297680" cy="1463040"/>
          </a:xfrm>
          <a:prstGeom prst="roundRect">
            <a:avLst>
              <a:gd name="adj" fmla="val 7500"/>
            </a:avLst>
          </a:prstGeom>
          <a:solidFill>
            <a:srgbClr val="F7F9FC"/>
          </a:solidFill>
          <a:ln w="9525">
            <a:solidFill>
              <a:srgbClr val="DDE1EE"/>
            </a:solidFill>
            <a:prstDash val="solid"/>
          </a:ln>
        </p:spPr>
      </p:sp>
      <p:sp>
        <p:nvSpPr>
          <p:cNvPr id="9" name="Text 6"/>
          <p:cNvSpPr txBox="1"/>
          <p:nvPr/>
        </p:nvSpPr>
        <p:spPr>
          <a:xfrm>
            <a:off x="8396935" y="1508760"/>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جست‌وجوی دودویی</a:t>
            </a:r>
            <a:endParaRPr lang="en-US" sz="1350" dirty="0"/>
          </a:p>
        </p:txBody>
      </p:sp>
      <p:sp>
        <p:nvSpPr>
          <p:cNvPr id="10" name="Text 7"/>
          <p:cNvSpPr txBox="1"/>
          <p:nvPr/>
        </p:nvSpPr>
        <p:spPr>
          <a:xfrm>
            <a:off x="7482535" y="1874520"/>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تاریخچه‌ی نرخ فقط‌افزودنی و صعودی است؛ نرخ لازم برای fromBlock با جست‌وجوی دودویی پیدا می‌شود (O(log n)) و سپس k تغییر داخل بازه جمع می‌شود (O(k)).</a:t>
            </a:r>
            <a:endParaRPr lang="en-US" sz="1100" dirty="0"/>
          </a:p>
        </p:txBody>
      </p:sp>
      <p:sp>
        <p:nvSpPr>
          <p:cNvPr id="11" name="Shape 8"/>
          <p:cNvSpPr/>
          <p:nvPr/>
        </p:nvSpPr>
        <p:spPr>
          <a:xfrm>
            <a:off x="7345375" y="2990088"/>
            <a:ext cx="4297680" cy="1463040"/>
          </a:xfrm>
          <a:prstGeom prst="roundRect">
            <a:avLst>
              <a:gd name="adj" fmla="val 7500"/>
            </a:avLst>
          </a:prstGeom>
          <a:solidFill>
            <a:srgbClr val="F7F9FC"/>
          </a:solidFill>
          <a:ln w="9525">
            <a:solidFill>
              <a:srgbClr val="DDE1EE"/>
            </a:solidFill>
            <a:prstDash val="solid"/>
          </a:ln>
        </p:spPr>
      </p:sp>
      <p:sp>
        <p:nvSpPr>
          <p:cNvPr id="12" name="Text 9"/>
          <p:cNvSpPr txBox="1"/>
          <p:nvPr/>
        </p:nvSpPr>
        <p:spPr>
          <a:xfrm>
            <a:off x="8396935" y="3081528"/>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اثر بر هزینه</a:t>
            </a:r>
            <a:endParaRPr lang="en-US" sz="1350" dirty="0"/>
          </a:p>
        </p:txBody>
      </p:sp>
      <p:sp>
        <p:nvSpPr>
          <p:cNvPr id="13" name="Text 10"/>
          <p:cNvSpPr txBox="1"/>
          <p:nvPr/>
        </p:nvSpPr>
        <p:spPr>
          <a:xfrm>
            <a:off x="7482535" y="3447288"/>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بازه‌ی بدون تغییر با تاریخچه‌ی ۴۰۰ ورودی ۴۵٬۶۸۹ گس است؛ پیمایش خطی همین حالت ۱٬۰۷۲٬۷۷۷ گس می‌شد. برای k ≥ ۲۰ حدود ۲٬۸۰۰ گس به‌ازای هر تغییر.</a:t>
            </a:r>
            <a:endParaRPr lang="en-US" sz="1100" dirty="0"/>
          </a:p>
        </p:txBody>
      </p:sp>
      <p:sp>
        <p:nvSpPr>
          <p:cNvPr id="14" name="Shape 11"/>
          <p:cNvSpPr/>
          <p:nvPr/>
        </p:nvSpPr>
        <p:spPr>
          <a:xfrm>
            <a:off x="7345375" y="4562856"/>
            <a:ext cx="4297680" cy="1463040"/>
          </a:xfrm>
          <a:prstGeom prst="roundRect">
            <a:avLst>
              <a:gd name="adj" fmla="val 7500"/>
            </a:avLst>
          </a:prstGeom>
          <a:solidFill>
            <a:srgbClr val="FCEAE4"/>
          </a:solidFill>
          <a:ln w="9525">
            <a:solidFill>
              <a:srgbClr val="FCEAE4"/>
            </a:solidFill>
            <a:prstDash val="solid"/>
          </a:ln>
        </p:spPr>
      </p:sp>
      <p:sp>
        <p:nvSpPr>
          <p:cNvPr id="15" name="Text 12"/>
          <p:cNvSpPr txBox="1"/>
          <p:nvPr/>
        </p:nvSpPr>
        <p:spPr>
          <a:xfrm>
            <a:off x="8396935" y="4654296"/>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حد باز</a:t>
            </a:r>
            <a:endParaRPr lang="en-US" sz="1350" dirty="0"/>
          </a:p>
        </p:txBody>
      </p:sp>
      <p:sp>
        <p:nvSpPr>
          <p:cNvPr id="16" name="Text 13"/>
          <p:cNvSpPr txBox="1"/>
          <p:nvPr/>
        </p:nvSpPr>
        <p:spPr>
          <a:xfrm>
            <a:off x="7482535" y="5020056"/>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قرارداد k را محدود نمی‌کند و بازه‌ی عقب‌افتاده‌ی طولانی با k زیاد هزینه‌ی تقریباً خطی دارد (k=۳۹۹ حدود ۱٫۱۶ میلیون گس). تطبیق با gasLimit تولیدی هنوز انجام نشده است.</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واجدان رأی: وضعیت در لحظه‌ی ساخت پیشنهاد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sp>
        <p:nvSpPr>
          <p:cNvPr id="6" name="Shape 4"/>
          <p:cNvSpPr/>
          <p:nvPr/>
        </p:nvSpPr>
        <p:spPr>
          <a:xfrm>
            <a:off x="6233465" y="1417320"/>
            <a:ext cx="5410048" cy="1965960"/>
          </a:xfrm>
          <a:prstGeom prst="roundRect">
            <a:avLst>
              <a:gd name="adj" fmla="val 5581"/>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مشکل و اصل راه‌حل</a:t>
            </a:r>
            <a:endParaRPr lang="en-US" sz="1550" dirty="0"/>
          </a:p>
        </p:txBody>
      </p:sp>
      <p:sp>
        <p:nvSpPr>
          <p:cNvPr id="10" name="Text 7"/>
          <p:cNvSpPr txBox="1"/>
          <p:nvPr/>
        </p:nvSpPr>
        <p:spPr>
          <a:xfrm>
            <a:off x="6416345"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رأی‌دهنده‌ی یک پیشنهاد باید هنگام ساخت همان پیشنهاد واجد بوده باشد؛ وگرنه کسی می‌تواند بعد از ساخت پیشنهاد وارد شود و ترکیب مجلس را عوض کند. وضعیت در لحظه‌ی ساخت پیشنهاد ثبت می‌شود و رأی با آن سنجیده می‌شود.</a:t>
            </a:r>
            <a:endParaRPr lang="en-US" sz="1200" dirty="0"/>
          </a:p>
        </p:txBody>
      </p:sp>
      <p:sp>
        <p:nvSpPr>
          <p:cNvPr id="11" name="Shape 8"/>
          <p:cNvSpPr/>
          <p:nvPr/>
        </p:nvSpPr>
        <p:spPr>
          <a:xfrm>
            <a:off x="548640" y="1417320"/>
            <a:ext cx="5410048" cy="1965960"/>
          </a:xfrm>
          <a:prstGeom prst="roundRect">
            <a:avLst>
              <a:gd name="adj" fmla="val 5581"/>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ثبت در Registry</a:t>
            </a:r>
            <a:endParaRPr lang="en-US" sz="1550" dirty="0"/>
          </a:p>
        </p:txBody>
      </p:sp>
      <p:sp>
        <p:nvSpPr>
          <p:cNvPr id="15" name="Text 11"/>
          <p:cNvSpPr txBox="1"/>
          <p:nvPr/>
        </p:nvSpPr>
        <p:spPr>
          <a:xfrm>
            <a:off x="731520"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statusNonce با هر تغییر وضعیت یک واحد زیاد می‌شود. activeCheckpoints[آدرس] آرایه‌ی فقط‌افزودنی {nonce, active} است؛ wasActiveAt(addr, nonce) با جست‌وجوی دودویی جواب می‌دهد. هر مؤسس با {۰, true} شروع می‌کند.</a:t>
            </a:r>
            <a:endParaRPr lang="en-US" sz="1200" dirty="0"/>
          </a:p>
        </p:txBody>
      </p:sp>
      <p:sp>
        <p:nvSpPr>
          <p:cNvPr id="16" name="Shape 12"/>
          <p:cNvSpPr/>
          <p:nvPr/>
        </p:nvSpPr>
        <p:spPr>
          <a:xfrm>
            <a:off x="6233465" y="3566160"/>
            <a:ext cx="5410048" cy="1965960"/>
          </a:xfrm>
          <a:prstGeom prst="roundRect">
            <a:avLst>
              <a:gd name="adj" fmla="val 5581"/>
            </a:avLst>
          </a:prstGeom>
          <a:solidFill>
            <a:srgbClr val="F7F9FC"/>
          </a:solidFill>
          <a:ln w="9525">
            <a:solidFill>
              <a:srgbClr val="DDE1EE"/>
            </a:solidFill>
            <a:prstDash val="solid"/>
          </a:ln>
        </p:spPr>
      </p:sp>
      <p:sp>
        <p:nvSpPr>
          <p:cNvPr id="17" name="Shape 13"/>
          <p:cNvSpPr/>
          <p:nvPr/>
        </p:nvSpPr>
        <p:spPr>
          <a:xfrm>
            <a:off x="10957712" y="37490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3884828"/>
            <a:ext cx="231343" cy="231343"/>
          </a:xfrm>
          <a:prstGeom prst="rect">
            <a:avLst/>
          </a:prstGeom>
        </p:spPr>
      </p:pic>
      <p:sp>
        <p:nvSpPr>
          <p:cNvPr id="19" name="Text 14"/>
          <p:cNvSpPr txBox="1"/>
          <p:nvPr/>
        </p:nvSpPr>
        <p:spPr>
          <a:xfrm>
            <a:off x="6416345"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قاعده‌ی رأی</a:t>
            </a:r>
            <a:endParaRPr lang="en-US" sz="1550" dirty="0"/>
          </a:p>
        </p:txBody>
      </p:sp>
      <p:sp>
        <p:nvSpPr>
          <p:cNvPr id="20" name="Text 15"/>
          <p:cNvSpPr txBox="1"/>
          <p:nvPr/>
        </p:nvSpPr>
        <p:spPr>
          <a:xfrm>
            <a:off x="6416345"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پیشنهادهای Registry، Treasury و Distributor شمارنده را در createdAtNonce نگه می‌دارند. رأی معتبر یعنی wasActiveAt(voter, createdAtNonce) و همین حالا هم isValidator(voter) درست باشد.</a:t>
            </a:r>
            <a:endParaRPr lang="en-US" sz="1200" dirty="0"/>
          </a:p>
        </p:txBody>
      </p:sp>
      <p:sp>
        <p:nvSpPr>
          <p:cNvPr id="21" name="Shape 16"/>
          <p:cNvSpPr/>
          <p:nvPr/>
        </p:nvSpPr>
        <p:spPr>
          <a:xfrm>
            <a:off x="548640" y="3566160"/>
            <a:ext cx="5410048" cy="1965960"/>
          </a:xfrm>
          <a:prstGeom prst="roundRect">
            <a:avLst>
              <a:gd name="adj" fmla="val 5581"/>
            </a:avLst>
          </a:prstGeom>
          <a:solidFill>
            <a:srgbClr val="F7F9FC"/>
          </a:solidFill>
          <a:ln w="9525">
            <a:solidFill>
              <a:srgbClr val="DDE1EE"/>
            </a:solidFill>
            <a:prstDash val="solid"/>
          </a:ln>
        </p:spPr>
      </p:sp>
      <p:sp>
        <p:nvSpPr>
          <p:cNvPr id="22" name="Shape 17"/>
          <p:cNvSpPr/>
          <p:nvPr/>
        </p:nvSpPr>
        <p:spPr>
          <a:xfrm>
            <a:off x="5272888" y="37490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3884828"/>
            <a:ext cx="231343" cy="231343"/>
          </a:xfrm>
          <a:prstGeom prst="rect">
            <a:avLst/>
          </a:prstGeom>
        </p:spPr>
      </p:pic>
      <p:sp>
        <p:nvSpPr>
          <p:cNvPr id="24" name="Text 18"/>
          <p:cNvSpPr txBox="1"/>
          <p:nvPr/>
        </p:nvSpPr>
        <p:spPr>
          <a:xfrm>
            <a:off x="731520"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بنیاد و هیأت</a:t>
            </a:r>
            <a:endParaRPr lang="en-US" sz="1550" dirty="0"/>
          </a:p>
        </p:txBody>
      </p:sp>
      <p:sp>
        <p:nvSpPr>
          <p:cNvPr id="25" name="Text 19"/>
          <p:cNvSpPr txBox="1"/>
          <p:nvPr/>
        </p:nvSpPr>
        <p:spPr>
          <a:xfrm>
            <a:off x="731520"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FoundationDAO: membershipNonce و memberSinceNonce (عضوی که پس از ساخت پیشنهاد افزوده شده رأی نمی‌دهد). هیأت: boardVersion در رأی و اجرا چک می‌شود.</a:t>
            </a:r>
            <a:endParaRPr lang="en-US" sz="1200" dirty="0"/>
          </a:p>
        </p:txBody>
      </p:sp>
      <p:sp>
        <p:nvSpPr>
          <p:cNvPr id="26" name="Text 20"/>
          <p:cNvSpPr txBox="1"/>
          <p:nvPr/>
        </p:nvSpPr>
        <p:spPr>
          <a:xfrm>
            <a:off x="548640" y="5760720"/>
            <a:ext cx="11094415" cy="68580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565D7A"/>
                </a:solidFill>
                <a:latin typeface="Vazirmatn" pitchFamily="34" charset="0"/>
                <a:ea typeface="Vazirmatn" pitchFamily="34" charset="-122"/>
                <a:cs typeface="Vazirmatn" pitchFamily="34" charset="-120"/>
              </a:rPr>
              <a:t>شماره‌ی slot برای بررسی‌های genesis</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Registry: everActivated در slot ۲۰، statusNonce در ۳۶ و activeCheckpoints در ۳۷</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FoundationDAO: membershipNonce در slot ۵ و memberSinceNonce در ۶</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Distributor: تاریخچه و پیشنهادهای نرخ در slotهای ۲۴ تا ۲۸ (همه صفر)</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حکمرانی داخلی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201168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افزودن یا حذف عضو</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proposeAddMember(description, name, account) و proposeRemoveMember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سورن از موجودی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proposeSendETH(description,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توکن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proposeSendERC20(description, token,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فراخوانی دلخواه؛ value باید صفر باشد و انتقال سورن فقط با SendETH ممکن است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proposeExecute(description, target, value, data)</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رأی پیشنهاددهنده خودکار شمرده می‌شود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عضو / 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vote(id)؛ getProposal، getProposalMeta، requiredVotesNow، hasVoted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Shape 4"/>
          <p:cNvSpPr/>
          <p:nvPr/>
        </p:nvSpPr>
        <p:spPr>
          <a:xfrm>
            <a:off x="8078724" y="4754880"/>
            <a:ext cx="3564026" cy="1508760"/>
          </a:xfrm>
          <a:prstGeom prst="roundRect">
            <a:avLst>
              <a:gd name="adj" fmla="val 7273"/>
            </a:avLst>
          </a:prstGeom>
          <a:solidFill>
            <a:srgbClr val="EEF0FB"/>
          </a:solidFill>
          <a:ln w="9525">
            <a:solidFill>
              <a:srgbClr val="EEF0FB"/>
            </a:solidFill>
            <a:prstDash val="solid"/>
          </a:ln>
        </p:spPr>
      </p:sp>
      <p:sp>
        <p:nvSpPr>
          <p:cNvPr id="8" name="Text 5"/>
          <p:cNvSpPr txBox="1"/>
          <p:nvPr/>
        </p:nvSpPr>
        <p:spPr>
          <a:xfrm>
            <a:off x="8243316"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ایزوله</a:t>
            </a:r>
            <a:endParaRPr lang="en-US" sz="1500" dirty="0"/>
          </a:p>
        </p:txBody>
      </p:sp>
      <p:sp>
        <p:nvSpPr>
          <p:cNvPr id="9" name="Text 6"/>
          <p:cNvSpPr txBox="1"/>
          <p:nvPr/>
        </p:nvSpPr>
        <p:spPr>
          <a:xfrm>
            <a:off x="8243316"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a:t>
            </a:r>
            <a:endParaRPr lang="en-US" sz="1200" dirty="0"/>
          </a:p>
        </p:txBody>
      </p:sp>
      <p:sp>
        <p:nvSpPr>
          <p:cNvPr id="10" name="Shape 7"/>
          <p:cNvSpPr/>
          <p:nvPr/>
        </p:nvSpPr>
        <p:spPr>
          <a:xfrm>
            <a:off x="4314139" y="4754880"/>
            <a:ext cx="3564026" cy="1508760"/>
          </a:xfrm>
          <a:prstGeom prst="roundRect">
            <a:avLst>
              <a:gd name="adj" fmla="val 7273"/>
            </a:avLst>
          </a:prstGeom>
          <a:solidFill>
            <a:srgbClr val="EEF0FB"/>
          </a:solidFill>
          <a:ln w="9525">
            <a:solidFill>
              <a:srgbClr val="EEF0FB"/>
            </a:solidFill>
            <a:prstDash val="solid"/>
          </a:ln>
        </p:spPr>
      </p:sp>
      <p:sp>
        <p:nvSpPr>
          <p:cNvPr id="11" name="Text 8"/>
          <p:cNvSpPr txBox="1"/>
          <p:nvPr/>
        </p:nvSpPr>
        <p:spPr>
          <a:xfrm>
            <a:off x="4478731"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موجودی</a:t>
            </a:r>
            <a:endParaRPr lang="en-US" sz="1500" dirty="0"/>
          </a:p>
        </p:txBody>
      </p:sp>
      <p:sp>
        <p:nvSpPr>
          <p:cNvPr id="12" name="Text 9"/>
          <p:cNvSpPr txBox="1"/>
          <p:nvPr/>
        </p:nvSpPr>
        <p:spPr>
          <a:xfrm>
            <a:off x="4478731"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موجودی اولیه‌ی ۲۰ میلیون سورن در alloc نوشته می‌شود.</a:t>
            </a:r>
            <a:endParaRPr lang="en-US" sz="1200" dirty="0"/>
          </a:p>
        </p:txBody>
      </p:sp>
      <p:sp>
        <p:nvSpPr>
          <p:cNvPr id="13" name="Shape 10"/>
          <p:cNvSpPr/>
          <p:nvPr/>
        </p:nvSpPr>
        <p:spPr>
          <a:xfrm>
            <a:off x="548640" y="4754880"/>
            <a:ext cx="3564026" cy="1508760"/>
          </a:xfrm>
          <a:prstGeom prst="roundRect">
            <a:avLst>
              <a:gd name="adj" fmla="val 7273"/>
            </a:avLst>
          </a:prstGeom>
          <a:solidFill>
            <a:srgbClr val="EEF0FB"/>
          </a:solidFill>
          <a:ln w="9525">
            <a:solidFill>
              <a:srgbClr val="EEF0FB"/>
            </a:solidFill>
            <a:prstDash val="solid"/>
          </a:ln>
        </p:spPr>
      </p:sp>
      <p:sp>
        <p:nvSpPr>
          <p:cNvPr id="14" name="Text 11"/>
          <p:cNvSpPr txBox="1"/>
          <p:nvPr/>
        </p:nvSpPr>
        <p:spPr>
          <a:xfrm>
            <a:off x="713232"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اعضا</a:t>
            </a:r>
            <a:endParaRPr lang="en-US" sz="1500" dirty="0"/>
          </a:p>
        </p:txBody>
      </p:sp>
      <p:sp>
        <p:nvSpPr>
          <p:cNvPr id="15" name="Text 12"/>
          <p:cNvSpPr txBox="1"/>
          <p:nvPr/>
        </p:nvSpPr>
        <p:spPr>
          <a:xfrm>
            <a:off x="713232"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اعضای اولیه (۱۵ نفر) در genesis seed می‌شوند؛ عضو افزوده‌شده بعد از ساخت یک پیشنهاد در آن رأی نمی‌دهد.</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IdentityRegistry: هویت کاربران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53535"/>
                <a:gridCol w="219456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چه کسی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خوداظهاری: شخص حقیقی یا حقوقی و نام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registerIdentity(personType, name)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نتیجه‌ی وریفای موبایل و تلگرام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setPhoneVerified، setTelegramVerified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KYC اختیاری؛ فقط commitment هش‌شده با salt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setKycVerified(addr, verified, commitment)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هویت پس از تغییر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migrateIdentity(oldAddr, newAddr)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خواندن وضعیت هویت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hasIdentity، getVerificationStatus</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چرخش کلید 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فقط 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setIdentityOracle(newOracle)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5029200"/>
            <a:ext cx="3564026" cy="1280160"/>
          </a:xfrm>
          <a:prstGeom prst="roundRect">
            <a:avLst>
              <a:gd name="adj" fmla="val 8571"/>
            </a:avLst>
          </a:prstGeom>
          <a:solidFill>
            <a:srgbClr val="EEF0FB"/>
          </a:solidFill>
          <a:ln w="9525">
            <a:solidFill>
              <a:srgbClr val="EEF0FB"/>
            </a:solidFill>
            <a:prstDash val="solid"/>
          </a:ln>
        </p:spPr>
      </p:sp>
      <p:sp>
        <p:nvSpPr>
          <p:cNvPr id="8" name="Text 5"/>
          <p:cNvSpPr txBox="1"/>
          <p:nvPr/>
        </p:nvSpPr>
        <p:spPr>
          <a:xfrm>
            <a:off x="8243316"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حریم خصوصی</a:t>
            </a:r>
            <a:endParaRPr lang="en-US" sz="1500" dirty="0"/>
          </a:p>
        </p:txBody>
      </p:sp>
      <p:sp>
        <p:nvSpPr>
          <p:cNvPr id="9" name="Text 6"/>
          <p:cNvSpPr txBox="1"/>
          <p:nvPr/>
        </p:nvSpPr>
        <p:spPr>
          <a:xfrm>
            <a:off x="8243316"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شماره‌ی موبایل، آیدی تلگرام و مدارک KYC هرگز روی زنجیره نمی‌روند؛ فقط وضعیت وریفای و commitment.</a:t>
            </a:r>
            <a:endParaRPr lang="en-US" sz="1100" dirty="0"/>
          </a:p>
        </p:txBody>
      </p:sp>
      <p:sp>
        <p:nvSpPr>
          <p:cNvPr id="10" name="Shape 7"/>
          <p:cNvSpPr/>
          <p:nvPr/>
        </p:nvSpPr>
        <p:spPr>
          <a:xfrm>
            <a:off x="4314139" y="5029200"/>
            <a:ext cx="3564026" cy="1280160"/>
          </a:xfrm>
          <a:prstGeom prst="roundRect">
            <a:avLst>
              <a:gd name="adj" fmla="val 8571"/>
            </a:avLst>
          </a:prstGeom>
          <a:solidFill>
            <a:srgbClr val="EEF0FB"/>
          </a:solidFill>
          <a:ln w="9525">
            <a:solidFill>
              <a:srgbClr val="EEF0FB"/>
            </a:solidFill>
            <a:prstDash val="solid"/>
          </a:ln>
        </p:spPr>
      </p:sp>
      <p:sp>
        <p:nvSpPr>
          <p:cNvPr id="11" name="Text 8"/>
          <p:cNvSpPr txBox="1"/>
          <p:nvPr/>
        </p:nvSpPr>
        <p:spPr>
          <a:xfrm>
            <a:off x="4478731"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پیش‌نیاز رأی</a:t>
            </a:r>
            <a:endParaRPr lang="en-US" sz="1500" dirty="0"/>
          </a:p>
        </p:txBody>
      </p:sp>
      <p:sp>
        <p:nvSpPr>
          <p:cNvPr id="12" name="Text 9"/>
          <p:cNvSpPr txBox="1"/>
          <p:nvPr/>
        </p:nvSpPr>
        <p:spPr>
          <a:xfrm>
            <a:off x="4478731"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ثبت هویت (hasIdentity) برای رأی‌دادن در انتخاب هیأت لازم است.</a:t>
            </a:r>
            <a:endParaRPr lang="en-US" sz="1100" dirty="0"/>
          </a:p>
        </p:txBody>
      </p:sp>
      <p:sp>
        <p:nvSpPr>
          <p:cNvPr id="13" name="Shape 10"/>
          <p:cNvSpPr/>
          <p:nvPr/>
        </p:nvSpPr>
        <p:spPr>
          <a:xfrm>
            <a:off x="548640" y="5029200"/>
            <a:ext cx="3564026" cy="1280160"/>
          </a:xfrm>
          <a:prstGeom prst="roundRect">
            <a:avLst>
              <a:gd name="adj" fmla="val 8571"/>
            </a:avLst>
          </a:prstGeom>
          <a:solidFill>
            <a:srgbClr val="EEF0FB"/>
          </a:solidFill>
          <a:ln w="9525">
            <a:solidFill>
              <a:srgbClr val="EEF0FB"/>
            </a:solidFill>
            <a:prstDash val="solid"/>
          </a:ln>
        </p:spPr>
      </p:sp>
      <p:sp>
        <p:nvSpPr>
          <p:cNvPr id="14" name="Text 11"/>
          <p:cNvSpPr txBox="1"/>
          <p:nvPr/>
        </p:nvSpPr>
        <p:spPr>
          <a:xfrm>
            <a:off x="713232"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تطبیق آف‌چین</a:t>
            </a:r>
            <a:endParaRPr lang="en-US" sz="1500" dirty="0"/>
          </a:p>
        </p:txBody>
      </p:sp>
      <p:sp>
        <p:nvSpPr>
          <p:cNvPr id="15" name="Text 12"/>
          <p:cNvSpPr txBox="1"/>
          <p:nvPr/>
        </p:nvSpPr>
        <p:spPr>
          <a:xfrm>
            <a:off x="713232"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کوئری «آیا این مشخصات با آدرسی ثبت شده» یک API آف‌چین است، نه تراکنش.</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SurenSale: فروش ۶ ماهه و پنجره‌ی گذار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6233465" y="1417320"/>
            <a:ext cx="5410048"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قیمت از block.timestamp</a:t>
            </a:r>
            <a:endParaRPr lang="en-US" sz="1550" dirty="0"/>
          </a:p>
        </p:txBody>
      </p:sp>
      <p:sp>
        <p:nvSpPr>
          <p:cNvPr id="10" name="Text 7"/>
          <p:cNvSpPr txBox="1"/>
          <p:nvPr/>
        </p:nvSpPr>
        <p:spPr>
          <a:xfrm>
            <a:off x="6416345"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قیمت هر سورن فقط از زمان بلاک محاسبه می‌شود: ماه ۱ تا ۶ = ۱۰۰، ۱۰۳، ۱۰۶، ۱۰۹، ۱۱۳ و ۱۱۶ تومان (جدول ثابت)؛ سورن‌ها از همان موجودی قرارداد منتقل می‌شوند. saleStartTime تنها immutable است و قرارداد در genesis نیست.</a:t>
            </a:r>
            <a:endParaRPr lang="en-US" sz="1150" dirty="0"/>
          </a:p>
        </p:txBody>
      </p:sp>
      <p:sp>
        <p:nvSpPr>
          <p:cNvPr id="11" name="Shape 8"/>
          <p:cNvSpPr/>
          <p:nvPr/>
        </p:nvSpPr>
        <p:spPr>
          <a:xfrm>
            <a:off x="548640" y="1417320"/>
            <a:ext cx="5410048"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reportPayment(buyer, tomanAmount, paymentReference)</a:t>
            </a:r>
            <a:endParaRPr lang="en-US" sz="1550" dirty="0"/>
          </a:p>
        </p:txBody>
      </p:sp>
      <p:sp>
        <p:nvSpPr>
          <p:cNvPr id="15" name="Text 11"/>
          <p:cNvSpPr txBox="1"/>
          <p:nvPr/>
        </p:nvSpPr>
        <p:spPr>
          <a:xfrm>
            <a:off x="731520"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فقط paymentOracle؛ idempotent با processedPayments[paymentReference]. اگر کلید اوراکل لو برود، مهاجم فقط می‌تواند پرداخت ساختگی گزارش دهد، نه قیمت را عوض کند. موجودی را دوره‌ای و تکه‌تکه واریز کنید تا سقف زیان محدود بماند.</a:t>
            </a:r>
            <a:endParaRPr lang="en-US" sz="1150" dirty="0"/>
          </a:p>
        </p:txBody>
      </p:sp>
      <p:sp>
        <p:nvSpPr>
          <p:cNvPr id="16" name="Shape 12"/>
          <p:cNvSpPr/>
          <p:nvPr/>
        </p:nvSpPr>
        <p:spPr>
          <a:xfrm>
            <a:off x="6233465" y="3794760"/>
            <a:ext cx="5410048"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10957712" y="39776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113428"/>
            <a:ext cx="231343" cy="231343"/>
          </a:xfrm>
          <a:prstGeom prst="rect">
            <a:avLst/>
          </a:prstGeom>
        </p:spPr>
      </p:pic>
      <p:sp>
        <p:nvSpPr>
          <p:cNvPr id="19" name="Text 14"/>
          <p:cNvSpPr txBox="1"/>
          <p:nvPr/>
        </p:nvSpPr>
        <p:spPr>
          <a:xfrm>
            <a:off x="6416345"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پنجره‌ی گذار ۴۵ روزه</a:t>
            </a:r>
            <a:endParaRPr lang="en-US" sz="1550" dirty="0"/>
          </a:p>
        </p:txBody>
      </p:sp>
      <p:sp>
        <p:nvSpPr>
          <p:cNvPr id="20" name="Text 15"/>
          <p:cNvSpPr txBox="1"/>
          <p:nvPr/>
        </p:nvSpPr>
        <p:spPr>
          <a:xfrm>
            <a:off x="6416345"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پس از ۱۸۰ روز، قیمت روزانه ±۰٫۵٪ می‌شود: بالاتر از ۱۲۰٪ میانگین متحرک ۷روزه‌ی حجم فروش افزایش، پایین‌تر از ۸۰٪ کاهش؛ کف ۹۰ و سقف ۱۵۰ تومان؛ دقت میلی‌تومان.</a:t>
            </a:r>
            <a:endParaRPr lang="en-US" sz="1150" dirty="0"/>
          </a:p>
        </p:txBody>
      </p:sp>
      <p:sp>
        <p:nvSpPr>
          <p:cNvPr id="21" name="Shape 16"/>
          <p:cNvSpPr/>
          <p:nvPr/>
        </p:nvSpPr>
        <p:spPr>
          <a:xfrm>
            <a:off x="548640" y="3794760"/>
            <a:ext cx="5410048"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5272888"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113428"/>
            <a:ext cx="231343" cy="231343"/>
          </a:xfrm>
          <a:prstGeom prst="rect">
            <a:avLst/>
          </a:prstGeom>
        </p:spPr>
      </p:pic>
      <p:sp>
        <p:nvSpPr>
          <p:cNvPr id="24" name="Text 18"/>
          <p:cNvSpPr txBox="1"/>
          <p:nvPr/>
        </p:nvSpPr>
        <p:spPr>
          <a:xfrm>
            <a:off x="731520"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advanceTransitionPrice()</a:t>
            </a:r>
            <a:endParaRPr lang="en-US" sz="1550" dirty="0"/>
          </a:p>
        </p:txBody>
      </p:sp>
      <p:sp>
        <p:nvSpPr>
          <p:cNvPr id="25" name="Text 19"/>
          <p:cNvSpPr txBox="1"/>
          <p:nvPr/>
        </p:nvSpPr>
        <p:spPr>
          <a:xfrm>
            <a:off x="731520"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بدون مجوز؛ قیمت روزهای کامل‌شده را به‌ترتیب اعمال می‌کند (حداکثر ۴۵ تکرار در کل عمر). reportPayment در دوره‌ی گذار قبل از قیمت‌گذاری خودش آن را صدا می‌زند؛ پس قیمت همیشه به «امروز» رسیده است.</a:t>
            </a:r>
            <a:endParaRPr lang="en-US" sz="1150" dirty="0"/>
          </a:p>
        </p:txBody>
      </p:sp>
      <p:sp>
        <p:nvSpPr>
          <p:cNvPr id="26" name="Text 20"/>
          <p:cNvSpPr txBox="1"/>
          <p:nvPr/>
        </p:nvSpPr>
        <p:spPr>
          <a:xfrm>
            <a:off x="548640" y="6053328"/>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setPaymentOracle و sweepUnsold(to) فقط FoundationDAO (از مسیر proposeExecute)؛ sweepUnsold پس از پایان فروش و گذار. getBalance، timeRemaining و transitionTimeRemaining فقط خواندنی‌اند.</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کلیدها و سرویس‌ها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چهار کلید عملیاتی مستقل</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33295"/>
                <a:gridCol w="4206240"/>
                <a:gridCol w="2651760"/>
                <a:gridCol w="21031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چرخش توسط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 میزبان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کلید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فراخوانی distributeRewards در هر epoch</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distributionOracle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تصمیم‌های وضعیت ولیدیتور (فعال‌سازی، تعلیق، بازگشت، تخلف پیش از خروج)</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وریفای موبایل، تلگرام و KYC؛ انتقال هویت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 (اکثریت ساده)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پرداخت‌های تومانی تأییدشده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SurenSale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paymentOracle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4526280"/>
            <a:ext cx="3564026" cy="1783080"/>
          </a:xfrm>
          <a:prstGeom prst="roundRect">
            <a:avLst>
              <a:gd name="adj" fmla="val 6154"/>
            </a:avLst>
          </a:prstGeom>
          <a:solidFill>
            <a:srgbClr val="EEF0FB"/>
          </a:solidFill>
          <a:ln w="9525">
            <a:solidFill>
              <a:srgbClr val="EEF0FB"/>
            </a:solidFill>
            <a:prstDash val="solid"/>
          </a:ln>
        </p:spPr>
      </p:sp>
      <p:sp>
        <p:nvSpPr>
          <p:cNvPr id="8" name="Text 5"/>
          <p:cNvSpPr txBox="1"/>
          <p:nvPr/>
        </p:nvSpPr>
        <p:spPr>
          <a:xfrm>
            <a:off x="8243316"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جداسازی</a:t>
            </a:r>
            <a:endParaRPr lang="en-US" sz="1500" dirty="0"/>
          </a:p>
        </p:txBody>
      </p:sp>
      <p:sp>
        <p:nvSpPr>
          <p:cNvPr id="9" name="Text 6"/>
          <p:cNvSpPr txBox="1"/>
          <p:nvPr/>
        </p:nvSpPr>
        <p:spPr>
          <a:xfrm>
            <a:off x="8243316"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کلید فقط یک کار می‌کند و هیچ دو سرویسی کلید مشترک ندارند. دو کلید مربوط به اجماع زیر نظر هیأت ولیدیتورها و دو کلید عملیات بنیاد زیر نظر خود بنیاد است.</a:t>
            </a:r>
            <a:endParaRPr lang="en-US" sz="1150" dirty="0"/>
          </a:p>
        </p:txBody>
      </p:sp>
      <p:sp>
        <p:nvSpPr>
          <p:cNvPr id="10" name="Shape 7"/>
          <p:cNvSpPr/>
          <p:nvPr/>
        </p:nvSpPr>
        <p:spPr>
          <a:xfrm>
            <a:off x="4314139" y="4526280"/>
            <a:ext cx="3564026" cy="1783080"/>
          </a:xfrm>
          <a:prstGeom prst="roundRect">
            <a:avLst>
              <a:gd name="adj" fmla="val 6154"/>
            </a:avLst>
          </a:prstGeom>
          <a:solidFill>
            <a:srgbClr val="EEF0FB"/>
          </a:solidFill>
          <a:ln w="9525">
            <a:solidFill>
              <a:srgbClr val="EEF0FB"/>
            </a:solidFill>
            <a:prstDash val="solid"/>
          </a:ln>
        </p:spPr>
      </p:sp>
      <p:sp>
        <p:nvSpPr>
          <p:cNvPr id="11" name="Text 8"/>
          <p:cNvSpPr txBox="1"/>
          <p:nvPr/>
        </p:nvSpPr>
        <p:spPr>
          <a:xfrm>
            <a:off x="4478731"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نگهداری</a:t>
            </a:r>
            <a:endParaRPr lang="en-US" sz="1500" dirty="0"/>
          </a:p>
        </p:txBody>
      </p:sp>
      <p:sp>
        <p:nvSpPr>
          <p:cNvPr id="12" name="Text 9"/>
          <p:cNvSpPr txBox="1"/>
          <p:nvPr/>
        </p:nvSpPr>
        <p:spPr>
          <a:xfrm>
            <a:off x="4478731"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همه‌ی کلیدها در HashiCorp Vault با policy و token جدا و کمترین دسترسی؛ نه فایل خام و نه متغیر محیطی. حساب هر سرویس باید سورن کافی برای گس داشته باشد.</a:t>
            </a:r>
            <a:endParaRPr lang="en-US" sz="1150" dirty="0"/>
          </a:p>
        </p:txBody>
      </p:sp>
      <p:sp>
        <p:nvSpPr>
          <p:cNvPr id="13" name="Shape 10"/>
          <p:cNvSpPr/>
          <p:nvPr/>
        </p:nvSpPr>
        <p:spPr>
          <a:xfrm>
            <a:off x="548640" y="4526280"/>
            <a:ext cx="3564026" cy="1783080"/>
          </a:xfrm>
          <a:prstGeom prst="roundRect">
            <a:avLst>
              <a:gd name="adj" fmla="val 6154"/>
            </a:avLst>
          </a:prstGeom>
          <a:solidFill>
            <a:srgbClr val="EEF0FB"/>
          </a:solidFill>
          <a:ln w="9525">
            <a:solidFill>
              <a:srgbClr val="EEF0FB"/>
            </a:solidFill>
            <a:prstDash val="solid"/>
          </a:ln>
        </p:spPr>
      </p:sp>
      <p:sp>
        <p:nvSpPr>
          <p:cNvPr id="14" name="Text 11"/>
          <p:cNvSpPr txBox="1"/>
          <p:nvPr/>
        </p:nvSpPr>
        <p:spPr>
          <a:xfrm>
            <a:off x="713232"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چرخش</a:t>
            </a:r>
            <a:endParaRPr lang="en-US" sz="1500" dirty="0"/>
          </a:p>
        </p:txBody>
      </p:sp>
      <p:sp>
        <p:nvSpPr>
          <p:cNvPr id="15" name="Text 12"/>
          <p:cNvSpPr txBox="1"/>
          <p:nvPr/>
        </p:nvSpPr>
        <p:spPr>
          <a:xfrm>
            <a:off x="713232"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جدید با تراکنش حکمرانی تعیین می‌شود؛ سرویس پیش از هر چرخه کلید فعلی قرارداد را می‌خواند و اگر کلیدش دیگر معتبر نیست متوقف می‌شود و هشدار می‌دهد.</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چرا لازم است و هر چرخه چه می‌کند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Text 4"/>
          <p:cNvSpPr txBox="1"/>
          <p:nvPr/>
        </p:nvSpPr>
        <p:spPr>
          <a:xfrm>
            <a:off x="548640" y="1371600"/>
            <a:ext cx="11094415" cy="77724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ریوارد بلاک یک اعتبار مستقیم روی state است، بدون فراخوانی EVM و بدون رویداد؛ پس قرارداد خودش نمی‌فهمد چه دریافت کرده یا به چه کسی بدهد. RewardRouter یک daemon کاملاً خودکار (Node.js، TypeScript، viem، SQLite، pino) است که هر ۲۳ ساعت و ۱۰ دقیقه بازه‌ای از بلاک‌ها را از خود زنجیره محاسبه و با یک تراکنش تسویه می‌کند.</a:t>
            </a:r>
            <a:endParaRPr lang="en-US" sz="1250" dirty="0"/>
          </a:p>
        </p:txBody>
      </p:sp>
      <p:sp>
        <p:nvSpPr>
          <p:cNvPr id="7" name="Shape 5"/>
          <p:cNvSpPr/>
          <p:nvPr/>
        </p:nvSpPr>
        <p:spPr>
          <a:xfrm>
            <a:off x="548640" y="2286000"/>
            <a:ext cx="11094415" cy="621792"/>
          </a:xfrm>
          <a:prstGeom prst="roundRect">
            <a:avLst>
              <a:gd name="adj" fmla="val 17647"/>
            </a:avLst>
          </a:prstGeom>
          <a:solidFill>
            <a:srgbClr val="F7F9FC"/>
          </a:solidFill>
          <a:ln w="9525">
            <a:solidFill>
              <a:srgbClr val="DDE1EE"/>
            </a:solidFill>
            <a:prstDash val="solid"/>
          </a:ln>
        </p:spPr>
      </p:sp>
      <p:sp>
        <p:nvSpPr>
          <p:cNvPr id="8" name="Shape 6"/>
          <p:cNvSpPr/>
          <p:nvPr/>
        </p:nvSpPr>
        <p:spPr>
          <a:xfrm>
            <a:off x="11121847" y="2404872"/>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21847" y="24048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854135" y="228600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پیش‌شرط‌ها</a:t>
            </a:r>
            <a:endParaRPr lang="en-US" sz="1300" dirty="0"/>
          </a:p>
        </p:txBody>
      </p:sp>
      <p:sp>
        <p:nvSpPr>
          <p:cNvPr id="11" name="Text 9"/>
          <p:cNvSpPr txBox="1"/>
          <p:nvPr/>
        </p:nvSpPr>
        <p:spPr>
          <a:xfrm>
            <a:off x="685800" y="228600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همین سرویس هنوز distributionOracle است (getDistributionOracle)؛ timeUntilNextDistribution. در غیر این صورت توقف و هشدار.</a:t>
            </a:r>
            <a:endParaRPr lang="en-US" sz="1150" dirty="0"/>
          </a:p>
        </p:txBody>
      </p:sp>
      <p:sp>
        <p:nvSpPr>
          <p:cNvPr id="12" name="Shape 10"/>
          <p:cNvSpPr/>
          <p:nvPr/>
        </p:nvSpPr>
        <p:spPr>
          <a:xfrm>
            <a:off x="548640" y="2980944"/>
            <a:ext cx="11094415" cy="621792"/>
          </a:xfrm>
          <a:prstGeom prst="roundRect">
            <a:avLst>
              <a:gd name="adj" fmla="val 17647"/>
            </a:avLst>
          </a:prstGeom>
          <a:solidFill>
            <a:srgbClr val="FFFFFF"/>
          </a:solidFill>
          <a:ln w="9525">
            <a:solidFill>
              <a:srgbClr val="DDE1EE"/>
            </a:solidFill>
            <a:prstDash val="solid"/>
          </a:ln>
        </p:spPr>
      </p:sp>
      <p:sp>
        <p:nvSpPr>
          <p:cNvPr id="13" name="Shape 11"/>
          <p:cNvSpPr/>
          <p:nvPr/>
        </p:nvSpPr>
        <p:spPr>
          <a:xfrm>
            <a:off x="11121847" y="3099816"/>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21847" y="309981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854135" y="2980944"/>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تعیین بازه</a:t>
            </a:r>
            <a:endParaRPr lang="en-US" sz="1300" dirty="0"/>
          </a:p>
        </p:txBody>
      </p:sp>
      <p:sp>
        <p:nvSpPr>
          <p:cNvPr id="16" name="Text 14"/>
          <p:cNvSpPr txBox="1"/>
          <p:nvPr/>
        </p:nvSpPr>
        <p:spPr>
          <a:xfrm>
            <a:off x="685800" y="2980944"/>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S = lastSettledBlock() و L = eth_blockNumber (آخرین بلاک مهرشده)؛ بازه [S+1, L]. اگر L &lt; S+1 کاری نیست. QBFT نهایی‌شدن فوری دارد، پس margin اضافه لازم نیست.</a:t>
            </a:r>
            <a:endParaRPr lang="en-US" sz="1150" dirty="0"/>
          </a:p>
        </p:txBody>
      </p:sp>
      <p:sp>
        <p:nvSpPr>
          <p:cNvPr id="17" name="Shape 15"/>
          <p:cNvSpPr/>
          <p:nvPr/>
        </p:nvSpPr>
        <p:spPr>
          <a:xfrm>
            <a:off x="548640" y="3675888"/>
            <a:ext cx="11094415" cy="621792"/>
          </a:xfrm>
          <a:prstGeom prst="roundRect">
            <a:avLst>
              <a:gd name="adj" fmla="val 17647"/>
            </a:avLst>
          </a:prstGeom>
          <a:solidFill>
            <a:srgbClr val="F7F9FC"/>
          </a:solidFill>
          <a:ln w="9525">
            <a:solidFill>
              <a:srgbClr val="DDE1EE"/>
            </a:solidFill>
            <a:prstDash val="solid"/>
          </a:ln>
        </p:spPr>
      </p:sp>
      <p:sp>
        <p:nvSpPr>
          <p:cNvPr id="18" name="Shape 16"/>
          <p:cNvSpPr/>
          <p:nvPr/>
        </p:nvSpPr>
        <p:spPr>
          <a:xfrm>
            <a:off x="11121847" y="3794760"/>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21847" y="379476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854135" y="3675888"/>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اسکن هر بلاک</a:t>
            </a:r>
            <a:endParaRPr lang="en-US" sz="1300" dirty="0"/>
          </a:p>
        </p:txBody>
      </p:sp>
      <p:sp>
        <p:nvSpPr>
          <p:cNvPr id="21" name="Text 19"/>
          <p:cNvSpPr txBox="1"/>
          <p:nvPr/>
        </p:nvSpPr>
        <p:spPr>
          <a:xfrm>
            <a:off x="685800" y="3675888"/>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miner از eth_getBlockByNumber؛ ریوارد از trace_block؛ کارمزد از رسید تراکنش‌ها؛ صلاحیت تولیدکننده در ارتفاع N−1.</a:t>
            </a:r>
            <a:endParaRPr lang="en-US" sz="1150" dirty="0"/>
          </a:p>
        </p:txBody>
      </p:sp>
      <p:sp>
        <p:nvSpPr>
          <p:cNvPr id="22" name="Shape 20"/>
          <p:cNvSpPr/>
          <p:nvPr/>
        </p:nvSpPr>
        <p:spPr>
          <a:xfrm>
            <a:off x="548640" y="4370832"/>
            <a:ext cx="11094415" cy="621792"/>
          </a:xfrm>
          <a:prstGeom prst="roundRect">
            <a:avLst>
              <a:gd name="adj" fmla="val 17647"/>
            </a:avLst>
          </a:prstGeom>
          <a:solidFill>
            <a:srgbClr val="FFFFFF"/>
          </a:solidFill>
          <a:ln w="9525">
            <a:solidFill>
              <a:srgbClr val="DDE1EE"/>
            </a:solidFill>
            <a:prstDash val="solid"/>
          </a:ln>
        </p:spPr>
      </p:sp>
      <p:sp>
        <p:nvSpPr>
          <p:cNvPr id="23" name="Shape 21"/>
          <p:cNvSpPr/>
          <p:nvPr/>
        </p:nvSpPr>
        <p:spPr>
          <a:xfrm>
            <a:off x="11121847" y="44897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21847" y="44897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854135" y="4370832"/>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تجمیع</a:t>
            </a:r>
            <a:endParaRPr lang="en-US" sz="1300" dirty="0"/>
          </a:p>
        </p:txBody>
      </p:sp>
      <p:sp>
        <p:nvSpPr>
          <p:cNvPr id="26" name="Text 24"/>
          <p:cNvSpPr txBox="1"/>
          <p:nvPr/>
        </p:nvSpPr>
        <p:spPr>
          <a:xfrm>
            <a:off x="685800" y="4370832"/>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تعداد بلاک و جمع ریوارد و کارمزد هر miner؛ آرایه‌ها بر اساس مقدار عددی آدرس صعودی و بدون تکرار.</a:t>
            </a:r>
            <a:endParaRPr lang="en-US" sz="1150" dirty="0"/>
          </a:p>
        </p:txBody>
      </p:sp>
      <p:sp>
        <p:nvSpPr>
          <p:cNvPr id="27" name="Shape 25"/>
          <p:cNvSpPr/>
          <p:nvPr/>
        </p:nvSpPr>
        <p:spPr>
          <a:xfrm>
            <a:off x="548640" y="5065776"/>
            <a:ext cx="11094415" cy="621792"/>
          </a:xfrm>
          <a:prstGeom prst="roundRect">
            <a:avLst>
              <a:gd name="adj" fmla="val 17647"/>
            </a:avLst>
          </a:prstGeom>
          <a:solidFill>
            <a:srgbClr val="F7F9FC"/>
          </a:solidFill>
          <a:ln w="9525">
            <a:solidFill>
              <a:srgbClr val="DDE1EE"/>
            </a:solidFill>
            <a:prstDash val="solid"/>
          </a:ln>
        </p:spPr>
      </p:sp>
      <p:sp>
        <p:nvSpPr>
          <p:cNvPr id="28" name="Shape 26"/>
          <p:cNvSpPr/>
          <p:nvPr/>
        </p:nvSpPr>
        <p:spPr>
          <a:xfrm>
            <a:off x="11121847" y="5184648"/>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21847" y="518464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854135" y="5065776"/>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کنترل پیش از ارسال</a:t>
            </a:r>
            <a:endParaRPr lang="en-US" sz="1300" dirty="0"/>
          </a:p>
        </p:txBody>
      </p:sp>
      <p:sp>
        <p:nvSpPr>
          <p:cNvPr id="31" name="Text 29"/>
          <p:cNvSpPr txBox="1"/>
          <p:nvPr/>
        </p:nvSpPr>
        <p:spPr>
          <a:xfrm>
            <a:off x="685800" y="5065776"/>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معادله‌ی موجودی، مقایسه با سقف پاداش، sum(blocksMined) ≤ اندازه‌ی بازه.</a:t>
            </a:r>
            <a:endParaRPr lang="en-US" sz="1150" dirty="0"/>
          </a:p>
        </p:txBody>
      </p:sp>
      <p:sp>
        <p:nvSpPr>
          <p:cNvPr id="32" name="Shape 30"/>
          <p:cNvSpPr/>
          <p:nvPr/>
        </p:nvSpPr>
        <p:spPr>
          <a:xfrm>
            <a:off x="548640" y="5760720"/>
            <a:ext cx="11094415" cy="621792"/>
          </a:xfrm>
          <a:prstGeom prst="roundRect">
            <a:avLst>
              <a:gd name="adj" fmla="val 17647"/>
            </a:avLst>
          </a:prstGeom>
          <a:solidFill>
            <a:srgbClr val="FFFFFF"/>
          </a:solidFill>
          <a:ln w="9525">
            <a:solidFill>
              <a:srgbClr val="DDE1EE"/>
            </a:solidFill>
            <a:prstDash val="solid"/>
          </a:ln>
        </p:spPr>
      </p:sp>
      <p:sp>
        <p:nvSpPr>
          <p:cNvPr id="33" name="Shape 31"/>
          <p:cNvSpPr/>
          <p:nvPr/>
        </p:nvSpPr>
        <p:spPr>
          <a:xfrm>
            <a:off x="11121847" y="5879592"/>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21847" y="587959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854135" y="576072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ارسال و تطبیق</a:t>
            </a:r>
            <a:endParaRPr lang="en-US" sz="1300" dirty="0"/>
          </a:p>
        </p:txBody>
      </p:sp>
      <p:sp>
        <p:nvSpPr>
          <p:cNvPr id="36" name="Text 34"/>
          <p:cNvSpPr txBox="1"/>
          <p:nvPr/>
        </p:nvSpPr>
        <p:spPr>
          <a:xfrm>
            <a:off x="685800" y="576072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ثبت پایدار، امضا، broadcast؛ سپس تطبیق رسید و lastSettledBlock (اسلاید ۲۵).</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RewardRouter: محاسبه‌ی مبالغ و کنترل‌های پیش از ارسال</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ریوارد و کارمزد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ریوارد: فقط entry از نوع reward در trace_block. کارمزد هر تراکنش: gasUsed × (effectiveGasPrice − baseFeePerGas) با baseFeePerGas از هدر همان بلاک (اگر وجود ندارد یا صفر است: gasUsed × effectiveGasPrice). کارمزد هرگز از trace_block حساب نمی‌شود.</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معادله‌ی موجودی</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برای بازه‌ی [f, t]: B(t) − B(f−1) = R + F + M + X − P (R ریوارد، F کارمزد، M کارمزد عضویت ورودی، X واریز دیگر، P خروجی توزیع‌های بازه). اگر نبست یا totalFees ≠ F، ارسال نمی‌شود و هشدار می‌دهد.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سقف پاداش</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maxRewardsForRange(from, to) از قرارداد خوانده می‌شود. اگر پاداش واقعی بیشتر باشد، کل بازه متوقف می‌شود و totalRewards هرگز کم نمی‌شود؛ lastSettledBlock نمی‌گذرد. اگر کمتر باشد، ناهماهنگی نرخ ثبت و هشدار داده می‌شود.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صلاحیت تولیدکننده</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ولیدیتوری که هنگام تولید Active بوده، حتی بعد از خروج یا تعلیق پاداش بلاک‌هایش را می‌گیرد: isValidator روی ارتفاع N−1 (نود آرشیوی) یا بازسازی از StatusDecisionRecorded و ExitRequested با مؤسسان Active از بلاک صفر. شمارش ناقص یا صلاحیت نامعلوم یعنی ارسال نشدن همان بازه.</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ارسال ایمن، crash و جدول‌ها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45375" y="1417320"/>
          <a:ext cx="4297680" cy="914400"/>
        </p:xfrm>
        <a:graphic>
          <a:graphicData uri="http://schemas.openxmlformats.org/drawingml/2006/table">
            <a:tbl>
              <a:tblPr/>
              <a:tblGrid>
                <a:gridCol w="2560320"/>
                <a:gridCol w="1737360"/>
              </a:tblGrid>
              <a:tr h="365760">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معنا</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وضعیت epoch</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بازه، مبالغ، calldata و nonce رزرو شد؛ هنوز ارسال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prepared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broadcast شد؛ رسید نیامده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submitted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timeout یا قطع ارتباط؛ هرگز شکست قطعی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unknown</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رسید با status ۱ یا ۰؛ هر دو نهایی‌اند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confirmed / reverted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3566160"/>
                <a:gridCol w="1920240"/>
              </a:tblGrid>
              <a:tr h="365760">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ستون‌های کلیدی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جدول</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بازه، مبالغ، status، nonce، calldata، confirmed_tx_hash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تلاش ارسال: tx_hash، raw_signed_tx، fee_params، receipt_status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epoch_txs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epoch_id، آدرس ولیدیتور، blocks_mined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validator_epoch_shares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last_scanned_block؛ فقط بهینه‌ی خواندن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scan_progress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Shape 4"/>
          <p:cNvSpPr/>
          <p:nvPr/>
        </p:nvSpPr>
        <p:spPr>
          <a:xfrm>
            <a:off x="548640" y="3931920"/>
            <a:ext cx="11094415" cy="2377440"/>
          </a:xfrm>
          <a:prstGeom prst="roundRect">
            <a:avLst>
              <a:gd name="adj" fmla="val 4615"/>
            </a:avLst>
          </a:prstGeom>
          <a:solidFill>
            <a:srgbClr val="EEF0FB"/>
          </a:solidFill>
          <a:ln w="9525">
            <a:solidFill>
              <a:srgbClr val="EEF0FB"/>
            </a:solidFill>
            <a:prstDash val="solid"/>
          </a:ln>
        </p:spPr>
      </p:sp>
      <p:sp>
        <p:nvSpPr>
          <p:cNvPr id="9" name="Text 5"/>
          <p:cNvSpPr txBox="1"/>
          <p:nvPr/>
        </p:nvSpPr>
        <p:spPr>
          <a:xfrm>
            <a:off x="731520" y="4005072"/>
            <a:ext cx="10728655"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ترتیب اجباری ارسال و بازیابی</a:t>
            </a:r>
            <a:endParaRPr lang="en-US" sz="1400" dirty="0"/>
          </a:p>
        </p:txBody>
      </p:sp>
      <p:sp>
        <p:nvSpPr>
          <p:cNvPr id="10" name="Text 6"/>
          <p:cNvSpPr txBox="1"/>
          <p:nvPr/>
        </p:nvSpPr>
        <p:spPr>
          <a:xfrm>
            <a:off x="731520" y="4389120"/>
            <a:ext cx="10728655" cy="18745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۱. تراکنش را با nonce رزروشده امضا کن؛ ۲. raw_signed_tx و tx_hash را با commit پایدار در epoch_txs بنویس؛ ۳. فقط پس از آن eth_sendRawTransaction بزن. بدون ردیف پایدار هرگز broadcast نکن.</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پس از restart: رسید همه‌ی hashهای ثبت‌شده، lastSettledBlock و nonce تأییدشده را بخوان. بدون رسید و nonce هنوز مصرف‌نشده: همان بایت‌ها را بازپخش کن. ارسال با nonce دیگر ممنوع است؛ فقط جایگزینی با همان nonce و همان calldata و گس‌پرایس بالاتر (≥ ۱۰٪).</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اگر nonce مصرف شده و lastSettledBlock = toBlock، یکی از نسخه‌های جایگزین کار کرده (confirmed). حالت ناسازگار دیگر یعنی توقف و هشدار. پارامترهای جایگزینی (REPLACE_AFTER، MAX_REPLACEMENTS) پیشنهادی‌اند و باید روی txpool واقعی آزموده شوند.</a:t>
            </a:r>
            <a:endParaRPr lang="en-US" sz="11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وظایف، ورودی‌ها و معماری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وظایف</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احراز هویت (موبایل و تلگرام)، سنجش سلامت نود ولیدیتورها، نگهداری داده‌ی حساس آف‌چین (شماره، آیدی، nodeID) که هرگز روی زنجیره نمی‌رود، و احراز مداوم اینکه نود در ایران است.</a:t>
            </a:r>
            <a:endParaRPr lang="en-US" sz="123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ورودی‌ها</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admin_peers از یک نود Besu اختصاصی که static peer همه‌ی ولیدیتورهاست (nodeID و remoteAddress)؛ IP-geolocation روی remoteAddress؛ از زنجیره: getValidators، getValidatorInfo، miner بلاک‌های اخیر و ارتفاع فعلی؛ اپ همراه: آدرس، شماره، آیدی تلگرام، nodeID (بخش کلید عمومی enode).</a:t>
            </a:r>
            <a:endParaRPr lang="en-US" sz="123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معماری</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Node.js، TypeScript، viem، better-sqlite3؛ scheduler داخلی (نه API عمومی)؛ جداسازی «چک‌کردن» از «امضاکردن»: چند نمونه‌ی polling جانشین برای دسترس‌پذیری، یک مرجع تصمیم و یک مرجع امضا؛ نمونه‌ی دوم هم‌زمان فقط revert می‌شود چون قرارداد شرط وضعیت را چک می‌کند.</a:t>
            </a:r>
            <a:endParaRPr lang="en-US" sz="123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خروجی‌ها</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تراکنش فقط هنگام تغییر واقعی وضعیت و همراه evidenceHash = keccak256(بسته‌ی شواهد)؛ اعلان به ولیدیتور؛ لاگ کامل هر چک و تصمیم. هر هفت تابع کاری require صریح دارند و در صورت برقرارنبودن شرط revert می‌کنند، نه اینکه بی‌اثر موفق شوند.</a:t>
            </a:r>
            <a:endParaRPr lang="en-US" sz="123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قواعد تصمیم هر بررسی ساعتی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sp>
        <p:nvSpPr>
          <p:cNvPr id="6" name="Text 4"/>
          <p:cNvSpPr txBox="1"/>
          <p:nvPr/>
        </p:nvSpPr>
        <p:spPr>
          <a:xfrm>
            <a:off x="548640" y="1325880"/>
            <a:ext cx="11094415" cy="5486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هر بررسی برای هر ولیدیتور Active پنجره‌ی ۴ ساعته‌ی منتهی به «اکنون» را بر پایه‌ی زمان بلاک‌ها ارزیابی می‌کند و دقیقاً یکی از سه نتیجه می‌دهد: OK، INACTIVE_CONFIRMED یا UNKNOWN(کد). اولین قاعده‌ی برقرار تعیین‌کننده است.</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6613855"/>
                <a:gridCol w="3566160"/>
                <a:gridCol w="91440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شرط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نتیجه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ترتیب</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نود پایش همگام نیست، RPC لازم شکست خورده، یا داده‌ی پنجره ناقص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UNKNOWN(MONITOR_UNHEALTHY)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بررسی متوالی از حد مجاز بیشتر یا سرویس در پنجره قطعی داشته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UNKNOWN(OBSERVATION_GAP)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پنجره با بازه‌ی بازیابی اضطراری هم‌پوشان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UNKNOWN(EMERGENCY_WINDOW)</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ولیدیتور در پنجره دست‌کم یک بلاک پیشنهاد داده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OK</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بلاک بیش از ۱۲۰ ثانیه یا سهم ارتفاع‌های با دور بیش از صفر بالای 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UNKNOWN(NETWORK_UNHEALTHY)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دست‌کم ۲۰٪ ولیدیتورهای Active هم‌زمان ساکت‌اند؛ هیچ‌کدام تخلف فردی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UNKNOWN(GENERAL_OUTAGE)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نوبت مورد انتظار ولیدیتور در پنجره کمتر از ۳ بوده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UNKNOWN(NO_OPPORTUNITY)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 بلاکی، دست‌کم ۳ نوبت مورد انتظار همگی از دست رفته، و قواعد ۱ تا ۷ برقرار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INACTIVE_CONFIRMED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۸</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آستانه‌ها، فعال‌سازی و کارهای بدون مجوز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دوره و آستانه‌ها</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بررسی هر ۶۰ دقیقه؛ هشدار اولیه ۱۵ دقیقه، هشدار جدی ۱ ساعت، تعلیق پس از ۴ ساعت غیرفعالیِ تأییدشده. هر آستانه در اولین بررسی پس از عبور دیده می‌شود؛ پس تعلیق ۴ تا ۵ ساعت پس از آخرین بلاک ثبت می‌شود.</a:t>
            </a:r>
            <a:endParaRPr lang="en-US" sz="120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فعال‌سازی و بازگشت</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فعال‌سازی پس از ۱ هفته probation، موفقیت ≥ ۹۵٪ و فقط اگر نود واقعی روشن و همگام باشد. بازگشت پس از ۴۸ ساعت و ≥ ۹۵٪. عددهای آستانه‌ی قواعد (۱۲۰ ثانیه، ۲۰٪، ۳ نوبت) پیشنهادی‌اند و پیش از راه‌اندازی باید نهایی شوند.</a:t>
            </a:r>
            <a:endParaRPr lang="en-US" sz="120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کارهای بدون مجوز</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برای معطل‌نماندن پرونده‌ها سرویس این‌ها را صدا می‌زند: resolveMassFailureCheck، assertDeliveryDisputed، executeUncontestedSlash، resolveAppealIfExpired، resolveDeliveryDisputeIfExpired، syncBoard، fillVacancies و در هر ماه میلادی یک‌بار refreshBoard(votersToSync).</a:t>
            </a:r>
            <a:endParaRPr lang="en-US" sz="1200" dirty="0"/>
          </a:p>
        </p:txBody>
      </p:sp>
      <p:sp>
        <p:nvSpPr>
          <p:cNvPr id="21" name="Shape 16"/>
          <p:cNvSpPr/>
          <p:nvPr/>
        </p:nvSpPr>
        <p:spPr>
          <a:xfrm>
            <a:off x="548640" y="3886200"/>
            <a:ext cx="5410048" cy="2286000"/>
          </a:xfrm>
          <a:prstGeom prst="roundRect">
            <a:avLst>
              <a:gd name="adj" fmla="val 4800"/>
            </a:avLst>
          </a:prstGeom>
          <a:solidFill>
            <a:srgbClr val="FCEAE4"/>
          </a:solidFill>
          <a:ln w="9525">
            <a:solidFill>
              <a:srgbClr val="FCEAE4"/>
            </a:solidFill>
            <a:prstDash val="solid"/>
          </a:ln>
        </p:spPr>
      </p:sp>
      <p:sp>
        <p:nvSpPr>
          <p:cNvPr id="22" name="Shape 17"/>
          <p:cNvSpPr/>
          <p:nvPr/>
        </p:nvSpPr>
        <p:spPr>
          <a:xfrm>
            <a:off x="5272888" y="4069080"/>
            <a:ext cx="502920" cy="502920"/>
          </a:xfrm>
          <a:prstGeom prst="ellipse">
            <a:avLst/>
          </a:prstGeom>
          <a:solidFill>
            <a:srgbClr val="C8431F"/>
          </a:solidFill>
          <a:ln w="12700">
            <a:solidFill>
              <a:srgbClr val="C8431F"/>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خرابی خود سرویس</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حفره‌ی مشاهده‌ی خودِ سرویس هرگز غیرفعالیِ ولیدیتور حساب نمی‌شود؛ شمارش ۴ ساعته از داده‌ی کامل پس از رفع خرابی دوباره شروع می‌شود. غیرفعالی پس از درخواست خروج هم تخلف نیست؛ فقط تا ۷۲ ساعت رفتار پیش از درخواست بررسی می‌شود.</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 Service و PaymentReporter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8" name="Text 6"/>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Identity Service (کلید identityOracle)</a:t>
            </a:r>
            <a:endParaRPr lang="en-US" sz="1450" dirty="0"/>
          </a:p>
        </p:txBody>
      </p:sp>
      <p:sp>
        <p:nvSpPr>
          <p:cNvPr id="9" name="Text 7"/>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وریفای کد پیامکی و تلگرامی؛ نتیجه با setPhoneVerified و setTelegramVerified ثبت می‌شود. داده‌ی خام (شماره و آیدی) هرگز روی زنجیره نمی‌رود.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KYC اختیاری از طریق ارائه‌دهنده‌ی eKYC؛ فقط commitment هش‌شده با salt (setKycVerified).</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کوئری «تطبیق» (آیا این مشخصات با یک آدرس ثبت‌شده می‌خواند) همیشه API آف‌چین است، نه تراکنش، چون خودِ ورودی کوئری حساس است.</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ثبت‌نام در IdentityRegistry با خود کاربر است؛ سرویس فقط وضعیت‌های وریفای را می‌نویسد.</a:t>
            </a:r>
            <a:endParaRPr lang="en-US" sz="1200" dirty="0"/>
          </a:p>
        </p:txBody>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PaymentReporter (کلید paymentOracle)</a:t>
            </a:r>
            <a:endParaRPr lang="en-US" sz="14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واسط درگاه پرداخت و SurenSale: webhook درگاه را دریافت می‌کند، پرداخت را مستقل دوباره با درگاه راستی‌آزمایی می‌کند و سپس reportPayment را با paymentReference یکتا می‌فرستد.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تکرار webhook بی‌خطر است چون قرارداد پرداخت تکراری را رد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دو اندپوینت برای اپ خرید: POST /api/v1/purchase/initiate (شروع خرید، ساخت paymentReference و آدرس درگاه) و یک GET برای پیگیری وضعیت؛ یک مکانیزم رزرو موجودی از فروش مضاعف جلوگیری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هر خطا یا اختلاف بین درگاه و زنجیره یعنی هشدار فوری و پیجینگ؛ هیچ پرداختی بدون راستی‌آزمایی مستقل گزارش نمی‌شود.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زیرساخت مشترک: Vault، Docker Compose، نودها و اکسپلورر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HashiCorp Vault</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نرم‌افزاری که کلید خصوصی دارد از Vault استفاده می‌کند؛ به‌ازای هر سرویس token و policy مستقل با کمترین دسترسی. زیرساخت امضای ریموت برای جداسازی امضا از polling.</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Docker Compose</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سرویس یک container؛ SQLite روی volume پایدار؛ لاگ ساخت‌یافته با pino؛ هشدار پیجینگ با چرخه‌ی on-call مشترک؛ هشدار اگر ۲۴ ساعت گذشت و epoch جدید confirmed نشد.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یک نود Besu با API های TRACE و ADMIN و RPC عمومی برای سرویس‌ها؛ یک نود پایش به‌عنوان static peer همه‌ی ولیدیتورها. از static-nodes.json استفاده کنید؛ --bootnodes روی Besu ویندوز با هر enode خطای «Illegal char &lt;:&gt;» می‌دهد.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Blockscout</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اکسپلورر عمومی. وریفای سورس قراردادها فقط وقتی ممکن است که با solc 0.8.24 بدون viaIR و بدون constructor برای قراردادهای genesis کامپایل شده باشند.</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بازیابی اضطراری اجماع: گذار blockheader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sp>
        <p:nvSpPr>
          <p:cNvPr id="6" name="Shape 4"/>
          <p:cNvSpPr/>
          <p:nvPr/>
        </p:nvSpPr>
        <p:spPr>
          <a:xfrm>
            <a:off x="548640" y="1463040"/>
            <a:ext cx="11094415" cy="896112"/>
          </a:xfrm>
          <a:prstGeom prst="roundRect">
            <a:avLst>
              <a:gd name="adj" fmla="val 12245"/>
            </a:avLst>
          </a:prstGeom>
          <a:solidFill>
            <a:srgbClr val="F7F9FC"/>
          </a:solidFill>
          <a:ln w="9525">
            <a:solidFill>
              <a:srgbClr val="DDE1EE"/>
            </a:solidFill>
            <a:prstDash val="solid"/>
          </a:ln>
        </p:spPr>
      </p:sp>
      <p:sp>
        <p:nvSpPr>
          <p:cNvPr id="7" name="Shape 5"/>
          <p:cNvSpPr/>
          <p:nvPr/>
        </p:nvSpPr>
        <p:spPr>
          <a:xfrm>
            <a:off x="11121847" y="1719072"/>
            <a:ext cx="384048" cy="384048"/>
          </a:xfrm>
          <a:prstGeom prst="ellipse">
            <a:avLst/>
          </a:prstGeom>
          <a:solidFill>
            <a:srgbClr val="2F3690"/>
          </a:solidFill>
          <a:ln w="12700">
            <a:solidFill>
              <a:srgbClr val="2F3690"/>
            </a:solidFill>
            <a:prstDash val="solid"/>
          </a:ln>
        </p:spPr>
      </p:sp>
      <p:sp>
        <p:nvSpPr>
          <p:cNvPr id="8" name="Text 6"/>
          <p:cNvSpPr txBox="1"/>
          <p:nvPr/>
        </p:nvSpPr>
        <p:spPr>
          <a:xfrm>
            <a:off x="11121847" y="17190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9" name="Text 7"/>
          <p:cNvSpPr txBox="1"/>
          <p:nvPr/>
        </p:nvSpPr>
        <p:spPr>
          <a:xfrm>
            <a:off x="8762695" y="1463040"/>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تشخیص</a:t>
            </a:r>
            <a:endParaRPr lang="en-US" sz="1300" dirty="0"/>
          </a:p>
        </p:txBody>
      </p:sp>
      <p:sp>
        <p:nvSpPr>
          <p:cNvPr id="10" name="Text 8"/>
          <p:cNvSpPr txBox="1"/>
          <p:nvPr/>
        </p:nvSpPr>
        <p:spPr>
          <a:xfrm>
            <a:off x="685800" y="1463040"/>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قفل شدن زنجیره (نصاب QBFT برآورده نمی‌شود) را از توقف تولید بلاک تشخیص دهید؛ شمارش نودهای روشن در برابر مجموعه‌ی فعال. بعضی ولیدیتورها ممکن است بدون نود واقعی فعال شده باشند.</a:t>
            </a:r>
            <a:endParaRPr lang="en-US" sz="1200" dirty="0"/>
          </a:p>
        </p:txBody>
      </p:sp>
      <p:sp>
        <p:nvSpPr>
          <p:cNvPr id="11" name="Shape 9"/>
          <p:cNvSpPr/>
          <p:nvPr/>
        </p:nvSpPr>
        <p:spPr>
          <a:xfrm>
            <a:off x="548640" y="2432304"/>
            <a:ext cx="11094415" cy="896112"/>
          </a:xfrm>
          <a:prstGeom prst="roundRect">
            <a:avLst>
              <a:gd name="adj" fmla="val 12245"/>
            </a:avLst>
          </a:prstGeom>
          <a:solidFill>
            <a:srgbClr val="FFFFFF"/>
          </a:solidFill>
          <a:ln w="9525">
            <a:solidFill>
              <a:srgbClr val="DDE1EE"/>
            </a:solidFill>
            <a:prstDash val="solid"/>
          </a:ln>
        </p:spPr>
      </p:sp>
      <p:sp>
        <p:nvSpPr>
          <p:cNvPr id="12" name="Shape 10"/>
          <p:cNvSpPr/>
          <p:nvPr/>
        </p:nvSpPr>
        <p:spPr>
          <a:xfrm>
            <a:off x="11121847" y="2688336"/>
            <a:ext cx="384048" cy="384048"/>
          </a:xfrm>
          <a:prstGeom prst="ellipse">
            <a:avLst/>
          </a:prstGeom>
          <a:solidFill>
            <a:srgbClr val="2F3690"/>
          </a:solidFill>
          <a:ln w="12700">
            <a:solidFill>
              <a:srgbClr val="2F3690"/>
            </a:solidFill>
            <a:prstDash val="solid"/>
          </a:ln>
        </p:spPr>
      </p:sp>
      <p:sp>
        <p:nvSpPr>
          <p:cNvPr id="13" name="Text 11"/>
          <p:cNvSpPr txBox="1"/>
          <p:nvPr/>
        </p:nvSpPr>
        <p:spPr>
          <a:xfrm>
            <a:off x="11121847" y="26883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4" name="Text 12"/>
          <p:cNvSpPr txBox="1"/>
          <p:nvPr/>
        </p:nvSpPr>
        <p:spPr>
          <a:xfrm>
            <a:off x="8762695" y="2432304"/>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احیای نودها</a:t>
            </a:r>
            <a:endParaRPr lang="en-US" sz="1300" dirty="0"/>
          </a:p>
        </p:txBody>
      </p:sp>
      <p:sp>
        <p:nvSpPr>
          <p:cNvPr id="15" name="Text 13"/>
          <p:cNvSpPr txBox="1"/>
          <p:nvPr/>
        </p:nvSpPr>
        <p:spPr>
          <a:xfrm>
            <a:off x="685800" y="2432304"/>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همه‌ی نودهای صادق را هم‌زمان ری‌استارت کنید؛ ری‌استارت جزئی معمولاً کافی نیست. نودهای مفقود را راه بیندازید و ببینید نصاب بازمی‌گردد یا نه.</a:t>
            </a:r>
            <a:endParaRPr lang="en-US" sz="1200" dirty="0"/>
          </a:p>
        </p:txBody>
      </p:sp>
      <p:sp>
        <p:nvSpPr>
          <p:cNvPr id="16" name="Shape 14"/>
          <p:cNvSpPr/>
          <p:nvPr/>
        </p:nvSpPr>
        <p:spPr>
          <a:xfrm>
            <a:off x="548640" y="3401568"/>
            <a:ext cx="11094415" cy="896112"/>
          </a:xfrm>
          <a:prstGeom prst="roundRect">
            <a:avLst>
              <a:gd name="adj" fmla="val 12245"/>
            </a:avLst>
          </a:prstGeom>
          <a:solidFill>
            <a:srgbClr val="F7F9FC"/>
          </a:solidFill>
          <a:ln w="9525">
            <a:solidFill>
              <a:srgbClr val="DDE1EE"/>
            </a:solidFill>
            <a:prstDash val="solid"/>
          </a:ln>
        </p:spPr>
      </p:sp>
      <p:sp>
        <p:nvSpPr>
          <p:cNvPr id="17" name="Shape 15"/>
          <p:cNvSpPr/>
          <p:nvPr/>
        </p:nvSpPr>
        <p:spPr>
          <a:xfrm>
            <a:off x="11121847" y="3657600"/>
            <a:ext cx="384048" cy="384048"/>
          </a:xfrm>
          <a:prstGeom prst="ellipse">
            <a:avLst/>
          </a:prstGeom>
          <a:solidFill>
            <a:srgbClr val="2F3690"/>
          </a:solidFill>
          <a:ln w="12700">
            <a:solidFill>
              <a:srgbClr val="2F3690"/>
            </a:solidFill>
            <a:prstDash val="solid"/>
          </a:ln>
        </p:spPr>
      </p:sp>
      <p:sp>
        <p:nvSpPr>
          <p:cNvPr id="18" name="Text 16"/>
          <p:cNvSpPr txBox="1"/>
          <p:nvPr/>
        </p:nvSpPr>
        <p:spPr>
          <a:xfrm>
            <a:off x="11121847" y="365760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8762695" y="3401568"/>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گذار به blockheader</a:t>
            </a:r>
            <a:endParaRPr lang="en-US" sz="1300" dirty="0"/>
          </a:p>
        </p:txBody>
      </p:sp>
      <p:sp>
        <p:nvSpPr>
          <p:cNvPr id="20" name="Text 18"/>
          <p:cNvSpPr txBox="1"/>
          <p:nvPr/>
        </p:nvSpPr>
        <p:spPr>
          <a:xfrm>
            <a:off x="685800" y="3401568"/>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هنوز قفل است، در یک ارتفاع آینده transitions.qbft موقتاً انتخاب ولیدیتور را به حالت blockheader با فهرست صریح می‌برد؛ این تغییر پیکربندی را باید همه‌ی نودها پیش از آن ارتفاع اعمال کنند.</a:t>
            </a:r>
            <a:endParaRPr lang="en-US" sz="1200" dirty="0"/>
          </a:p>
        </p:txBody>
      </p:sp>
      <p:sp>
        <p:nvSpPr>
          <p:cNvPr id="21" name="Shape 19"/>
          <p:cNvSpPr/>
          <p:nvPr/>
        </p:nvSpPr>
        <p:spPr>
          <a:xfrm>
            <a:off x="548640" y="4370832"/>
            <a:ext cx="11094415" cy="896112"/>
          </a:xfrm>
          <a:prstGeom prst="roundRect">
            <a:avLst>
              <a:gd name="adj" fmla="val 12245"/>
            </a:avLst>
          </a:prstGeom>
          <a:solidFill>
            <a:srgbClr val="FFFFFF"/>
          </a:solidFill>
          <a:ln w="9525">
            <a:solidFill>
              <a:srgbClr val="DDE1EE"/>
            </a:solidFill>
            <a:prstDash val="solid"/>
          </a:ln>
        </p:spPr>
      </p:sp>
      <p:sp>
        <p:nvSpPr>
          <p:cNvPr id="22" name="Shape 20"/>
          <p:cNvSpPr/>
          <p:nvPr/>
        </p:nvSpPr>
        <p:spPr>
          <a:xfrm>
            <a:off x="11121847" y="4626864"/>
            <a:ext cx="384048" cy="384048"/>
          </a:xfrm>
          <a:prstGeom prst="ellipse">
            <a:avLst/>
          </a:prstGeom>
          <a:solidFill>
            <a:srgbClr val="2F3690"/>
          </a:solidFill>
          <a:ln w="12700">
            <a:solidFill>
              <a:srgbClr val="2F3690"/>
            </a:solidFill>
            <a:prstDash val="solid"/>
          </a:ln>
        </p:spPr>
      </p:sp>
      <p:sp>
        <p:nvSpPr>
          <p:cNvPr id="23" name="Text 21"/>
          <p:cNvSpPr txBox="1"/>
          <p:nvPr/>
        </p:nvSpPr>
        <p:spPr>
          <a:xfrm>
            <a:off x="11121847" y="462686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4" name="Text 22"/>
          <p:cNvSpPr txBox="1"/>
          <p:nvPr/>
        </p:nvSpPr>
        <p:spPr>
          <a:xfrm>
            <a:off x="8762695" y="4370832"/>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بازگشت به قرارداد</a:t>
            </a:r>
            <a:endParaRPr lang="en-US" sz="1300" dirty="0"/>
          </a:p>
        </p:txBody>
      </p:sp>
      <p:sp>
        <p:nvSpPr>
          <p:cNvPr id="25" name="Text 23"/>
          <p:cNvSpPr txBox="1"/>
          <p:nvPr/>
        </p:nvSpPr>
        <p:spPr>
          <a:xfrm>
            <a:off x="685800" y="4370832"/>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پس از بازیابی، گذار دوم دوباره حالت contract با آدرس ValidatorsRegistry را برمی‌گرداند. فهرست صریح باید با وضعیت قرارداد هم‌خوان باشد.</a:t>
            </a:r>
            <a:endParaRPr lang="en-US" sz="1200" dirty="0"/>
          </a:p>
        </p:txBody>
      </p:sp>
      <p:sp>
        <p:nvSpPr>
          <p:cNvPr id="26" name="Shape 24"/>
          <p:cNvSpPr/>
          <p:nvPr/>
        </p:nvSpPr>
        <p:spPr>
          <a:xfrm>
            <a:off x="548640" y="5340096"/>
            <a:ext cx="11094415" cy="896112"/>
          </a:xfrm>
          <a:prstGeom prst="roundRect">
            <a:avLst>
              <a:gd name="adj" fmla="val 12245"/>
            </a:avLst>
          </a:prstGeom>
          <a:solidFill>
            <a:srgbClr val="F7F9FC"/>
          </a:solidFill>
          <a:ln w="9525">
            <a:solidFill>
              <a:srgbClr val="DDE1EE"/>
            </a:solidFill>
            <a:prstDash val="solid"/>
          </a:ln>
        </p:spPr>
      </p:sp>
      <p:sp>
        <p:nvSpPr>
          <p:cNvPr id="27" name="Shape 25"/>
          <p:cNvSpPr/>
          <p:nvPr/>
        </p:nvSpPr>
        <p:spPr>
          <a:xfrm>
            <a:off x="11121847" y="5596128"/>
            <a:ext cx="384048" cy="384048"/>
          </a:xfrm>
          <a:prstGeom prst="ellipse">
            <a:avLst/>
          </a:prstGeom>
          <a:solidFill>
            <a:srgbClr val="2F3690"/>
          </a:solidFill>
          <a:ln w="12700">
            <a:solidFill>
              <a:srgbClr val="2F3690"/>
            </a:solidFill>
            <a:prstDash val="solid"/>
          </a:ln>
        </p:spPr>
      </p:sp>
      <p:sp>
        <p:nvSpPr>
          <p:cNvPr id="28" name="Text 26"/>
          <p:cNvSpPr txBox="1"/>
          <p:nvPr/>
        </p:nvSpPr>
        <p:spPr>
          <a:xfrm>
            <a:off x="11121847" y="559612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29" name="Text 27"/>
          <p:cNvSpPr txBox="1"/>
          <p:nvPr/>
        </p:nvSpPr>
        <p:spPr>
          <a:xfrm>
            <a:off x="8762695" y="5340096"/>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وضعیت آزمون و فرایند</a:t>
            </a:r>
            <a:endParaRPr lang="en-US" sz="1300" dirty="0"/>
          </a:p>
        </p:txBody>
      </p:sp>
      <p:sp>
        <p:nvSpPr>
          <p:cNvPr id="30" name="Text 28"/>
          <p:cNvSpPr txBox="1"/>
          <p:nvPr/>
        </p:nvSpPr>
        <p:spPr>
          <a:xfrm>
            <a:off x="685800" y="5340096"/>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روش فنی (احیای نود و گذار رفت‌وبرگشت) روی Besu واقعی آزموده شده است؛ فرایند سازمانی تأیید ۵ از ۷ مسئول مستقل و ابزار کمکی هنوز نوشته نشده است.</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امنیت و مرز اعتماد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تضمین می‌کند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بازه‌ی تسویه بدون تکرار، هم‌پوشانی و فاصله؛ سقف پاداش هر بازه؛ صعودی بودن و یکتایی آدرس‌ها؛ نصاب و تأخیر هر حکمرانی؛ پرداخت فقط به آدرس‌هایی که حداقل یک‌بار مشروع Active بوده‌اند؛ انتقال سورن با call و بررسی نتیجه و nonReentrant روی مسیرهای حساس.</a:t>
            </a:r>
            <a:endParaRPr lang="en-US" sz="1120" dirty="0"/>
          </a:p>
        </p:txBody>
      </p:sp>
      <p:sp>
        <p:nvSpPr>
          <p:cNvPr id="11" name="Shape 8"/>
          <p:cNvSpPr/>
          <p:nvPr/>
        </p:nvSpPr>
        <p:spPr>
          <a:xfrm>
            <a:off x="548640" y="1417320"/>
            <a:ext cx="5410048" cy="2286000"/>
          </a:xfrm>
          <a:prstGeom prst="roundRect">
            <a:avLst>
              <a:gd name="adj" fmla="val 4800"/>
            </a:avLst>
          </a:prstGeom>
          <a:solidFill>
            <a:srgbClr val="FCEAE4"/>
          </a:solidFill>
          <a:ln w="9525">
            <a:solidFill>
              <a:srgbClr val="FCEAE4"/>
            </a:solidFill>
            <a:prstDash val="solid"/>
          </a:ln>
        </p:spPr>
      </p:sp>
      <p:sp>
        <p:nvSpPr>
          <p:cNvPr id="12" name="Shape 9"/>
          <p:cNvSpPr/>
          <p:nvPr/>
        </p:nvSpPr>
        <p:spPr>
          <a:xfrm>
            <a:off x="5272888" y="1600200"/>
            <a:ext cx="502920" cy="502920"/>
          </a:xfrm>
          <a:prstGeom prst="ellipse">
            <a:avLst/>
          </a:prstGeom>
          <a:solidFill>
            <a:srgbClr val="C8431F"/>
          </a:solidFill>
          <a:ln w="12700">
            <a:solidFill>
              <a:srgbClr val="C8431F"/>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چیزی را تأیید نمی‌کند</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صحت totalRewards و totalFees و انتساب بلاک‌ها به ولیدیتورها را از distributionOracle می‌پذیرد و با زنجیره تطبیق نمی‌دهد. محافظ‌ها: سقف پاداش، everActivated، موجودی قرارداد و چرخش کلید توسط هیأت.</a:t>
            </a:r>
            <a:endParaRPr lang="en-US" sz="112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سطح حمله‌ی کلیدها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distributionOracle و verifier نقاط تمرکز اعتماداند. مهاجم با کلید paymentOracle فقط پرداخت ساختگی تا سقف موجودی SurenSale می‌تواند گزارش دهد. برای تک‌Verifier معافیت جمعی فقط جریمه‌ی مالی را متوقف می‌کند و خطای او روی مجموعه‌ی اجماع اثر دارد.</a:t>
            </a:r>
            <a:endParaRPr lang="en-US" sz="112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ایزوله‌سازی</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FoundationDAO هیچ مسیری به خزانه‌ی ولیدیتورها ندارد؛ خرج Treasury فقط با هیأت و زیر دو سقف؛ هیچ ادمین مرکزی و هیچ مسیر دورزدن اضطراری سقف پاداش وجود ندارد.</a:t>
            </a:r>
            <a:endParaRPr lang="en-US" sz="11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دورهای آزمون Besu و وضعیت هر دور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دور آزمون مستند شده‌اند؛ آخرین دور اجراشده دور چهارم (v4) روی نسخه‌ی ۲٫۰٫۰ است؛ برای نسخه‌ی ۲٫۱٫۰ هنوز دوری اجرا نشده</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2651760"/>
                <a:gridCol w="2103120"/>
                <a:gridCol w="173736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دامنه و 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تاریخ</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دور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۴نودی از صفر طبق runbook؛ سناریوهای A تا D (عضویت، تعلیق، جریمه، هیأت و خزانه) با تراکنش واقعی؛ دو یافتهٔ کامپایل و راه‌اندازی. نتایج آن برای کد فعلی معتبر نیست؛ فقط دانش عملیاتی نگه داشته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نسخه‌ی پیشین؛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۲۷ تا ۲۸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اول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ساخت شبکه از صفر، چرخهٔ کامل Registry، هیأت، خزانه، FoundationDAO، IdentityRegistry و هر دو مرحلهٔ بازیابی اضطراری. اجرا شد؛ فقط نتیجهٔ فاز توزیع پاداش آن دیگر معتبر نیست، چون پاداش هنوز با isValidator پرداخت می‌شد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پیش از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۲۸ تا ۲۹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(v2)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تأیید سیاست everActivated و اولین توزیع واقعی. پیش از اصلاحات L01 تا L07 اجرا شد، پس برای قراردادهایی که آن اصلاحات تغییرشان داده‌اند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با everActivated؛ شبکه‌ی ۴نودی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۳۰ سپتامبر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(v3)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در چهار گذر پیاپی روی شبکه‌های Besu مستقل؛ جزئیات در پنج اسلاید دور چهارم (اسلایدهای ۳۷ تا ۴۱). تنها دوری که روی نسخهٔ ۲٫۰٫۰ کد اجرا شده است (۲٫۱٫۰ هنوز آزموده نشده)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کد ۲٫۰٫۰؛ Besu ۲۶٫۹٫۰</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۲ تا ۴ اکتبر ۲۰۲۶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چهارم (v4)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بخش آمادگی production را اعلام نمی‌کند.</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اول (۲۷ تا ۲۸ سپتامبر): راه‌اندازی شبکه و یافته‌ها</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Besu ۲۶٫۹٫۰ روی ویندوز؛ شبکهٔ ۴نودی که بعداً ۵نودی شد؛ طبق runbook مالک؛ حدود ۲ ساعت؛ روی نسخه‌ی پیشین کد</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08415"/>
                <a:gridCol w="2286000"/>
              </a:tblGrid>
              <a:tr h="310896">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نتیجه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00" b="1" dirty="0">
                          <a:solidFill>
                            <a:srgbClr val="FFFFFF"/>
                          </a:solidFill>
                          <a:latin typeface="Vazirmatn" pitchFamily="34" charset="0"/>
                          <a:ea typeface="Vazirmatn" pitchFamily="34" charset="-122"/>
                          <a:cs typeface="Vazirmatn" pitchFamily="34" charset="-120"/>
                        </a:rPr>
                        <a:t>موضوع</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2179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probation ۳۰۰ ثانیه، recovery ۱۲۰، MASS_DEMOTION_WINDOW ۶۰، APPEAL_FILING_WINDOW ۱۲۰، APPEAL_VOTING_PERIOD ۱۸۰، DELIVERY_DISPUTE_GRACE_PERIOD ۱۲۰، exitCooldown ۱۲۰؛ سقف‌های خزانه ۱۰۰۰ و ۵۰۰۰ سورن؛ verifier یک آدرس آزمایشی؛ ولیدیتورهای seed برابر ۴ نود واقعی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پارامترهای آزمایشی</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solc ۰٫۸٫۲۴ و بدون viaIR، خطای Stack too deep در distributeRewards دیده شد. در نسخهٔ آزمایشی با استخراج _prepareEpoch رفع شد؛ بدون تغییر در require، رویداد یا ترتیب اجرا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کامپایل</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نبود بلاک فعال‌سازی fork در config باعث Invalid opcode 0x1c (SHR) در getValidators شد؛ با homestead تا london در بلاک ۰ و zeroBaseFee رفع شد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hard-forkها</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20624">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هر enode خطای Illegal char &lt;:&gt; می‌دهد (حتی با رشتهٔ ساختگی)؛ راه‌حل static-nodes.json در پوشهٔ داده‌ی هر نود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--bootnodes روی Besu ویندوز</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13232">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storage با استقرار واقعی هر قرارداد روی Hardhat و محاسبهٔ slotهای mapping و array استخراج شد؛ round-trip روی Registry پیش از Besu برابر بود. روی هر چهار نود genesis hash، timestamp و eth_getCode(0x3333…3333) یکسان بود (۳۷٬۲۱۸ نویسه، sha256 ‏5e39eb51ab25…)</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genesis و storage</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با qbft.validatorcontractaddress، بلاک‌های ۱ تا ۸ دقیقاً round-robin بین چهار ولیدیتور seed چرخید؛ یعنی چرخش از قرارداد خوانده می‌شود</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انتخاب پیشنهاددهنده</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900" dirty="0">
                          <a:solidFill>
                            <a:srgbClr val="1B1B2F"/>
                          </a:solidFill>
                          <a:latin typeface="Vazirmatn" pitchFamily="34" charset="0"/>
                          <a:ea typeface="Vazirmatn" pitchFamily="34" charset="-122"/>
                          <a:cs typeface="Vazirmatn" pitchFamily="34" charset="-120"/>
                        </a:rPr>
                        <a:t>سازنده‌ی helperهای _GenesisSeed بدون آرگومان بود؛ آرایهٔ Registry از ۷ به ۴ تقلیل یافت؛ verifier پیش‌فرض عوض شد؛ Board و FoundationDAO با state خالی استقرار یافتند، چون هیچ سناریویی به آن‌ها نیاز نداشت</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00" b="1" dirty="0">
                          <a:solidFill>
                            <a:srgbClr val="1B1B2F"/>
                          </a:solidFill>
                          <a:latin typeface="Vazirmatn" pitchFamily="34" charset="0"/>
                          <a:ea typeface="Vazirmatn" pitchFamily="34" charset="-122"/>
                          <a:cs typeface="Vazirmatn" pitchFamily="34" charset="-120"/>
                        </a:rPr>
                        <a:t>انحرافات از runbook</a:t>
                      </a:r>
                      <a:endParaRPr lang="fa-IR" sz="9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6199632"/>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دور روی نسخه‌ی پیشین کد بود؛ فقط دانش عملیاتی آن (fork، bootnodes، timestamp) هنوز راهنماست.</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اول: سناریوهای A تا D روی Besu</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1887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requestMembership با ۵۲۰٬۰۰۰ سورن (محاسبهٔ زنده)، انتظار واقعی ۳۰۰ ثانیه، recordActivation؛ isValidator و getValidators فوراً به‌روز شدند. نامزد پنجم که فقط یک EOA بود هرگز بلاک نساخت؛ هر پنج نوبت یک شکاف ثابت ۱۳ ثانیه‌ای (بلاک ۳ ثانیه + timeout دور ۱۰ ثانیه) دیده شد: رفتار درست تحمل‌خطای BFT نه عیب. پس از راه‌اندازی نود واقعی با همان کلید، بلاک ۱۷۳ را خودش ساخت و شکاف‌ها رفتند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A: عضویت و فعال‌سازی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recordSuspension در بلاک ۱۸۸ (decisionId ۲)؛ getValidators در فراخوانی بعدی ولیدیتور را حذف کرد. ۱۵ بلاک بعد با فاصلهٔ ۳ ثانیه و بدون شکاف، و ولیدیتور تعلیق‌شده دیگر پیشنهاد نداد. سؤال «زیر نصاب زنجیره می‌ایستد؟» آزموده نشد (۵ به ۴، بالاتر از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B: تعلیق و تطبیق نصاب</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resolveMassFailureCheck معاف نکرد: ۱ از ۵ دقیقاً ۲۰٪ است و قرارداد «بیشتر از ۲۰٪» می‌خواهد (ترتیب A پیش از B/C مهم بود). confirmDelivery، انتظار ۱۳۰ ثانیه از پنجرهٔ اعتراض بدون fileAppeal و سپس executeUncontestedSlash موفق شد. چون وثیقهٔ مؤسس صفر است، جریمهٔ ۱٪ برابر ۰ wei بود؛ سازوکار تأیید شد، اثر مالی 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C: جریمهٔ بی‌اعتراض</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خزانه با ۲۰۰۰ سورن پر شد؛ چهار ولیدیتور فعال registerIdentity، voteFor(self) و refreshBoard زدند و عضو هیأت شدند. proposeApproveBudget برای ۱۰۰ سورن actionId ۱ گرفت. رأی پیشنهاددهنده خودکار شمرده می‌شود (رأی چهارم صریح با already voted رد شد؛ اشتباه اسکریپت من بود نه قرارداد). با ۳ رأی، موجودی گیرنده از ۰ به دقیقاً ۱۰۰ سورن رسید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D: هیأت و خزانه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اثر مالی جریمه روی عضو پرداخت‌کننده و رفتار زیر نصاب در این دور آزموده نشد.</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یافته‌های دورهای دوم و سوم (۲۸ تا ۳۰ سپتامبر)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دور دوم: شبکهٔ ۱۵نودی و هر ۱۰ فاز. دور سوم: شبکهٔ ۴نودی با Besu ۲۶٫۹٫۰ و کد دارای سیاست everActivated. هر دو روی نسخه‌های پیشین کد</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076895"/>
                <a:gridCol w="301752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 / پیامد عملی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یافته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چرخهٔ کامل Registry (عضویت، تعلیق، معافیت جمعی، اعتراض، اختلاف تحویل، بازگشت، خروج، تغییر پارامتر)، بازطراحی refreshBoard، خزانه، FoundationDAO، IdentityRegistry و هر دو مرحلهٔ بازیابی اضطراری (N04) با تراکنش واقعی تأیید 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چرخهٔ قراردادها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اولین distributeRewards واقعی روی کد قدیمی (isValidator): از ۱۵ پیشنهاددهنده فقط ۴ نفری که هنوز فعال بودند پاداش گرفتند. همین رفتار بعداً مشکل شناخته شد و با everActivated عوض شد؛ نتیجهٔ این فاز دیگر معتبر نیست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دوم: توزیع پاداش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وقتی نصاب از شمار نودهای روشن بیشتر شد زنجیره حدود ۵۴ دقیقه ایستاد (یافتهٔ بحرانی عملیاتی دور دوم)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قفل زنجیره با ولیدیتور بدون نود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2179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پنج فاز با تراکنش واقعی، همه موفق: مؤسسان genesis از بلاک صفر everActivated=true می‌گیرند و اولین توزیع واقعی موفق می‌شود؛ پرچم ماندگار است و آدرس ساختگی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دور سوم: سیاست everActivated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حدود ۲٫۹۵ ثانیه برای هر بلاک، کمی سریع‌تر از ۳ ثانیه‌ی اسمی؛ چک سقف فیزیکی آن زمان دو بار به آن خورد و بعداً حذف شد (L03)</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سرعت واقعی تولید بلاک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5836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زنجیره تا فرارسیدن آن زمان بلاک نمی‌سازد و بدون خطا در لاگ شبیه قفل اجماع دیده می‌شود (حدود ۳۰ دقیقه جلوتر، حدود ۱۵ دقیقه معطلی)؛ timestamp را با فاصلهٔ کم از «اکنون» بگذارید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genesis با timestamp در آینده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نتایج نسخه‌ی فعلی کد در اسلایدهای دور چهارم (v4) آمده است.</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(v4): دامنه، گذرها و شمار نتایج</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99855"/>
                <a:gridCol w="219456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Besu ۲۶٫۹٫۰، Java Temurin 25، solc ۰٫۸٫۲۴ با optimizer و بدون viaIR؛ یک میزبان ویندوز با ۵ تا ۶ فرایند نود برای هر شبکه؛ قراردادها بایت‌به‌بایت برابر Plan نسخه‌ی ۲٫۰٫۰ (هش ۱۳ فایل انگلیسی و ۱۳ فایل فارسی)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محیط</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601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گذر اول (۲ اکتبر): L01، L02، L04، L05، L07 و رگرسیون everActivated. گذر تکمیلی (۳ اکتبر): تکرار L05 با پیش‌شرط درست، حسابداری مستقل D02، گروه‌های E و F. گذر دوم: آزمون ترکیبی Net-F6، اسکن A14، تکرار F07. گذر سوم: C-L04-6 با seed درست و پوشش گروه A روی شبکه‌های تکمیلی. گذر چهارم (۴ اکتبر): رفع A09 و C-L04-6b</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چهار گذر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۹۷ ردیف: ۹۰ PASS، ۰ FAIL، ۶ SUPERSEDED، ۱ NOT-RUN؛ شمارش با اسکریپت از خود جدول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شمار ردیف‌ها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7548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هیچ ردیف FAIL باقی نمانده. A09-spec (گذر سوم) FAIL بود: lastBoardRefreshAt در genesis آزمایشی صفر بود، یعنی شکاف ابزار آزمایشی نه نقص قرارداد؛ در گذر چهارم اصلاح و با کنترل منفی تأیید شد و ردیفش SUPERSEDED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FAIL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چهار ردیف اولیهٔ C-L05 (با پیش‌شرط نادرست)، ردیف A09-spec و اجرای اول C-L04-6b (انتظار اشتباه در اسکریپت)؛ همگی با اجرای دوباره جایگزین شدند و برای شفافیت نگه داشته شده‌اند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۶ ردیف SUPERSEDED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baseline (قراردادهای دست‌نخورده)؛ test-fork (سه ثابت زمانی فشرده، شاهد baseline نیست)؛ شبیه‌سازی با eth_call (چیزی استخراج نمی‌شود)؛ TEST-ONLY-SEED (state نوشته‌شده مستقیم در genesis)؛ benchmark مصنوعی (گروه E)</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۵ نوع شاهد (جدا از هم)</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همه پاک: هیچ ناهمخوانی هش، هیچ توزیع بالاتر از سقف، هیچ پرداخت به آدرس هرگز-فعال‌نشده و هیچ رأی نامعتبر پذیرفته‌شده‌ای دیده نشد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توقف‌های بحرانی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همه‌ی اجراها روی یک میزبان بودند و این جدول آمادگی production را اعلام نمی‌کند.</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دور چهارم: نتایج تأییدشده — شبکه، ولیدیتورها و حکمرانی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تزریق شش قرارداد با code و storage مستقیم در alloc کار کرد و هش eth_getCode با کامپایل برابر بود. A14: در ۲۰ genesis هیچ حساب یا slot ناخواسته‌ای نبود (کنترل منفی هر ۴ دست‌کاری را گرفت) و ریشه‌ی state بلاک ۰ در ۲۱ شبکه با alloc برابر بود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genesis و storage</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7724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تعلیق، فعال‌سازی، بازگشت و تعلیق هم‌زمان دو ولیدیتور با QBFT و validatorcontractaddress. B06: ۱٬۰۰۲ بررسی isValidator در برابر getValidators بدون اختلاف (فقط ≈۵۱۲ بلاک اخیر). B07: miner(N) در Registry@(N−1) برای ۱۷ بلاک نمونه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ولیدیتورها (گروه B)</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2296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قفل فاصله‌ی تغییر سهم در نقطه‌ی اجرا؛ اختیار زنده‌ی هیأت و نسخه‌ی ترکیب (C-L02، C-L05-3a/3b)؛ snapshot واجدان رأی (C-L04)؛ سقف و حکمرانی نرخ با نصاب منجمد و رد اجرای زودهنگام (C-L05-1 تا ۳)؛ ترتیب صعودی (C-L07)؛ سیاست everActivated (C-REG-2)</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اصلاحات L01 تا L07</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عضو افزوده‌شده پس از ساخت پیشنهاد روی آن رأی نمی‌دهد ولی روی پیشنهادهای بعدی مجاز است؛ عضو حذف‌وافزوده‌شده روی پیشنهاد باز دوباره با «already voted» رد می‌شود بدون شمارش مضاعف؛ نصاب پیشنهاد باز در هر دو جهت منجمد است (C-L04-6 و 6b، هر کدام یک اجرا روی یک شبکه)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رأی عضو افزوده یا حذف‌شده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8686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A01 تا A13 و A15 روی ۱۱ شبکه‌ی دوقلو با genesis یکسان برای ۱۵ شبکه‌ی تکمیلی (هم‌ارزی ۱۵ از ۱۵؛ A07 و A08 پاک). تنها شکست گذر سوم A09-spec بود؛ پس از اصلاح ابزار آزمایشی، ۴۳۸ ثانیه پس از genesis فراخوانی refreshBoard با پیام دقیق رد شد. مرز ۳۰ روز آزموده نشد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گروه A روی شبکه‌های تکمیلی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تسویه، هماهنگی نرخ پاداش و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351215"/>
                <a:gridCol w="274320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D01 تا D03 و D06 پاس. حسابداری مستقل برای D02 روی Net-D3 و برای آزمون ترکیبی Net-F6: عبور از transition در بلاک ۱۰۰ با بلاک‌های غیرخالی، کارمزد عادی، کارمزد عضویت و ورودی مستقیم؛ R دقیقاً برابر سقف؛ سوزاندن ۳۰٪ فقط روی کارمزد عادی. D04 و D05 فقط روی fork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تسویه (گروه D)</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قالب transitions.qbft سند پذیرفته شد؛ پاداش از بلاک X (شامل خودش) عوض می‌شود و تاریخچه‌ی قرارداد در همان بلاک، بدون اختلاف یک‌بلاکی</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transition پاداش (F01، F02)</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پاداش واقعی بیشتر از سقف رد می‌شود و state تغییر نمی‌کند؛ پاداش کمتر از سقف می‌گذرد. F04: تراکنش استخراج‌شده روی Net-F3؛ روی Net-F6 فقط eth_call</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سقف پاداش (F03، F04)</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7315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تغییر فایل genesis و ری‌استارت یکی‌یکی نودها کافی است و زنجیره نایستاد؛ بدون ری‌استارت اثری ندارد. نود ناهماهنگ یا تازه‌واردی با genesis قدیمی در بلاک X رد می‌شود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ری‌استارت و نود ناهماهنگ (F05 تا F07)</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05156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≈۱۳۷٬۶۰۰ گس به‌ازای هر payee و ≈۲٬۸۱۰ گس به‌ازای هر تغییر نرخ داخل بازه. سنگین‌ترین ترکیب (۱۵۰ payee، k=۳۹۹): تخمین ۲۲٬۱۸۸٬۲۳۹ و گس واقعی ۲۱٬۹۹۲٬۴۷۰. در ۱۵M گس شش ترکیب از ۲۵ ترکیب جا نشد. این اعداد gasLimit تولیدی را تعیین نمی‌کنند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هزینه‌ی گس (گروه E، benchmark)</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D04، D05 و F04 روی Net-F6 به‌ترتیب شاهد fork و شبیه‌سازی‌اند، نه baseline.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یافته‌های عملیاتی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40</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442655"/>
                <a:gridCol w="2651760"/>
              </a:tblGrid>
              <a:tr h="310896">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نتیجه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950" b="1" dirty="0">
                          <a:solidFill>
                            <a:srgbClr val="FFFFFF"/>
                          </a:solidFill>
                          <a:latin typeface="Vazirmatn" pitchFamily="34" charset="0"/>
                          <a:ea typeface="Vazirmatn" pitchFamily="34" charset="-122"/>
                          <a:cs typeface="Vazirmatn" pitchFamily="34" charset="-120"/>
                        </a:rPr>
                        <a:t>موضوع</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genesis فقط هنگام راه‌اندازی خوانده می‌شود؛ نودی که transition را نداشته باشد در بلاک X با «World State Root does not match» رد می‌شود. با یک نود ناهماهنگ از ۵، چهار نود باقی‌مانده (دقیقاً نصاب) با تأخیر ≈۱۰ ثانیه در نوبت آن نود ادامه دادند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هماهنگی transition</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قرارداد پاداش بیشتر از سقف را رد می‌کند ولی پاداش کمتر از نرخ مصوب را بی‌صدا می‌پذیرد؛ فقط ابزار بیرونی آن را می‌بیند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اختلاف نرخ</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خارج از ≈۵۱۲ بلاک اخیر (Bonsai) مقدار eth_getBalance برابر null و trace_block آرایه‌ی خالی است، بدون خطا؛ بازه‌ی ۲۳ساعته ≈۲۷٬۶۰۰ بلاک است</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داده‌ی تاریخی برای Router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هر distributeRewards در آزمون‌های واقعی ≈۹۴ تا ≈۱۳۶ SUR با gas price آزمایشی؛ در benchmark با ۱۵۰ payee ≈۲٬۱۹۹ SUR</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موجودی گس اوراکل</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58368">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بلاک نامعتبر را مدام تکرار می‌کند (۱٬۱۱۱ بار در ≈۳۶ دقیقه) و حافظه با heap پیش‌فرض ظرف ≈۲ دقیقه از ≈۰٫۶ به ≈۷٫۵ گیگابایت رسید. OOM دیده نشد ولی نبود نشت اثبات نشد؛ نیازمند مداخله‌ی اپراتور</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نود با genesis ناهماهنگ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بیش از ۲۰ دقیقه بی‌صدا pending ماند (نه استخراج، نه رد)؛ ری‌استارت نودها pool را پاک کرد. یک بار دیده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تراکنش با پیش‌پرداخت ناکافی</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debug_storageRangeAt و debug_accountRange روی نود Bonsai خالی برمی‌گردانند؛ A14 با مقایسه‌ی ریشه‌ی state انجام شد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ابزار مشاهده</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950" dirty="0">
                          <a:solidFill>
                            <a:srgbClr val="1B1B2F"/>
                          </a:solidFill>
                          <a:latin typeface="Vazirmatn" pitchFamily="34" charset="0"/>
                          <a:ea typeface="Vazirmatn" pitchFamily="34" charset="-122"/>
                          <a:cs typeface="Vazirmatn" pitchFamily="34" charset="-120"/>
                        </a:rPr>
                        <a:t>بازگشت ولیدیتور به شکل مستندنشده به بسته‌شدن پرونده‌ی جریمه وابسته است؛ انتقال مستقیم به distributor هرگز توزیع نمی‌شود و در موجودی می‌ماند</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950" b="1" dirty="0">
                          <a:solidFill>
                            <a:srgbClr val="1B1B2F"/>
                          </a:solidFill>
                          <a:latin typeface="Vazirmatn" pitchFamily="34" charset="0"/>
                          <a:ea typeface="Vazirmatn" pitchFamily="34" charset="-122"/>
                          <a:cs typeface="Vazirmatn" pitchFamily="34" charset="-120"/>
                        </a:rPr>
                        <a:t>رفتار قرارداد (نیازمند تصمیم)</a:t>
                      </a:r>
                      <a:endParaRPr lang="fa-IR" sz="9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گزینه‌های طراحی این یافته‌ها هنوز انتخاب نشده‌اند.</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دور چهارم: اجرانشده‌ها، محدودیت‌ها و موارد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41</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625535"/>
                <a:gridCol w="2468880"/>
              </a:tblGrid>
              <a:tr h="329184">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نتیجه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موضوع</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ترکیبی زمان واقعی L (مرحله‌ی L4 در C-L05-4): پیشنهاد، تأخیر واقعی ۷روزه، اجرا، ≥۲۰۱٬۶۰۰ بلاک، عبور از startBlock و تسویه با نرخ جدید. دو نیمه‌اش جدا شاهد دارند ولی هرگز با هم اجرا نشدند. برنامه‌ی اجرا (≈۱۵ روز) فقط نوشته شده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اجرانشده (۱ مورد)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0058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F04 روی Net-F6 فقط شبیه‌سازی؛ D04 و D05 فقط fork؛ B07 فقط ۱۷ بلاک؛ A14 فقط genesis و ریشه‌ی state بلاک ۰؛ A09-fix فقط رد پیش از ۳۰ روز و ۳۳ شبکه‌ی قدیمی مقدار صفر را نگه می‌دارند؛ C-L04-6 و 6b هر کدام یک اجرا؛ F07 یک پنجره‌ی ≈۳۶ دقیقه‌ای؛ همه تک‌میزبان</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محدودیت ردیف‌های اجراشده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۱۸۰روزه‌ی تغییر سهم، انقضای ۳۰روزه‌ی پیشنهادها و refresh ۳۰روزه‌ی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غیرقابل‌آزمون روی Besu</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مسیر رفع «پاداش واقعی &gt; سقف» برای بازه‌ی گذشته؛ تصمیم gasLimit تولیدی؛ پیاده‌سازی و آزمون RewardRouter؛ صفحه‌ی حکمرانی نرخ در داشبورد؛ ابزار genesis تولیدی (T02) که باید boardMonthId را برابر ماه میلادی زمان genesis بنویسد و assert کند؛ این الزام موجود پروژه است، نه تصمیم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باز، و Besu آن‌ها را نمی‌بندد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91440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رویه‌ی اپراتوری هماهنگی transition؛ هشدار اختلاف نرخ؛ نود archive برای Router؛ تأمین موجودی گس اوراکل؛ توصیه‌ی heap؛ سرنوشت ورودی مستقیم به distributor؛ بررسی موجودی پیش از ارسال</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تصمیم‌های انتخاب‌نشده</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44768"/>
            <a:ext cx="11094415" cy="27432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42</a:t>
            </a:r>
            <a:endParaRPr lang="en-US" sz="1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جزء</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نوشته‌شده و کامپایل‌شده بدون viaIR؛ ServiceStaking فقط پیش‌نویس اولیه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شش قرارداد ساختاری، SurenSale و ServiceStaking</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سقف پاداش، حکمرانی نرخ، واجدان رأی، ترتیب آدرس‌ها، فاصله‌ی تغییر سهم و نسخه‌ی ترکیب هیأت، و در نسخه‌ی ۲٫۱٫۰ هیأت ماهانه با شمارنده‌ی افزایشی رأی، کف ۱ ولیدیتور فعال، رأی پرونده‌ها و هویت سوخته پوشش دارند؛ شبیه‌ساز جایگزین Besu واقعی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خودکار قراردادها (شبکه‌ی شبیه‌ساز Hardhat)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دور چهارم (۲ تا ۴ اکتبر ۲۰۲۶) روی نسخه‌ی ۲٫۰٫۰ کد (پیش از ۲٫۱٫۰) و Besu ۲۶٫۹٫۰ اجرا شد، با شبکه‌ی مستقل برای هر خانواده‌ی آزمون و ثبت شواهد، روی میزبان تکی. دور پنجم برای ۲٫۱٫۰ هنوز اجرا نشده. مسیر زمان واقعی اجرا نشد و سه ثابت زمانی فقط روی fork آزمایشی فشرده شدند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روی Besu واقعی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ابزار ساخت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(از جمله جدول‌ها و تطبیق crash)؛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 Identity Service، PaymentReporter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طراحی‌شده و هنوز پیاده یا آزموده نشده؛ تا آن زمان فقط حضور در admin_peers سنجیده 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پروتکل چالش و پاسخ برای سنجش نود (SUR_NODE_CHECK_V1)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 فنی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43</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مورد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تعیین نشده؛ هزینه‌ی محاسبه‌ی سقف برای بازه‌ی عقب‌افتاده‌ی دارای k زیاد باید با آن تطبیق داده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gasLimit تولیدی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تعریف نشده؛ تغییر نرخ آینده آن را حل نمی‌کند و مسیر دورزدن اضطراری وجود ندارد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L1 تا L3 روی fork فشرده تأیید شد؛ L4 (زمان واقعی) اجرا نشده. لزوم تغییر فایل و ری‌استارت و رفتار نودهای ناهم‌زمان در دامنه‌ی تک‌میزبان دور چهارم (F05 تا F07) دیده شد و تضمین production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اعمال transition نرخ روی Besu</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REPLACE_AFTER، MAX_REPLACEMENTS و حداقل افزایش گس باید با txpool واقعی تطبیق یابد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پارامترهای جایگزینی تراکنش 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پیش‌نویس؛ آزمون بازپخش با سناریوهای ولیدیتور خاموش، قطع نود پایش، توقف شبکه و ۲۰٪ ساکت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اعداد قواعد تصمیم 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محاسبه‌ی نوبت مورد انتظار به نسخه‌ی Besu وابسته است و باید روی شبکه‌ی واقعی راستی‌آزمایی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قاعده‌ی انتخاب پیشنهاددهنده‌ی QBFT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انتخاب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سرویس IP-geolocation و ارائه‌دهنده‌ی پیامک/تلگرام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جدا برای تصمیم؛ حذف یا بازتوزیع خودکار ممنوع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استثنای تولید بلاک توسط فرد فاقد صلاحیت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2011680" y="4023360"/>
            <a:ext cx="5486400" cy="5486400"/>
          </a:xfrm>
          <a:prstGeom prst="ellipse">
            <a:avLst/>
          </a:prstGeom>
          <a:solidFill>
            <a:srgbClr val="3D46A8">
              <a:alpha val="40000"/>
            </a:srgbClr>
          </a:solidFill>
          <a:ln w="12700">
            <a:solidFill>
              <a:srgbClr val="3D46A8"/>
            </a:solidFill>
            <a:prstDash val="solid"/>
          </a:ln>
        </p:spPr>
      </p:sp>
      <p:sp>
        <p:nvSpPr>
          <p:cNvPr id="3" name="Text 1"/>
          <p:cNvSpPr txBox="1"/>
          <p:nvPr/>
        </p:nvSpPr>
        <p:spPr>
          <a:xfrm>
            <a:off x="4327855" y="640080"/>
            <a:ext cx="7315200" cy="82296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401775" y="1737360"/>
            <a:ext cx="10241280" cy="438912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سور یک شبکه‌ی QBFT روی Besu رسمی است که ولیدیتورها، پاداش و حکمرانی را در شش قرارداد با آدرس ثابت و بدون constructor مدیریت می‌کند؛ این قراردادها مستقیم در alloc می‌نشینند و ساخت genesis با overlay و بررسی از بلاک صفر انجام می‌شود.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ریوارد و فی مستقیم به قرارداد توزیع می‌رسد. چون زنجیره رویدادی ندارد، RewardRouter هر ۲۳ ساعت بازه‌ی بلاک‌ها را از زنجیره محاسبه و با یک تراکنش، زیر سقف پاداش مصوب، تسویه می‌کند.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چهار کلید مستقل در Vault نگهداری می‌شوند؛ Verifier فقط تغییر وضعیت را با هش شواهد ثبت می‌کند و جریمه از مسیر تحویل، اعتراض و رأی مجمع می‌گذرد.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کارهای باز: آزمون نسخه‌ی فعلی روی Besu واقعی، پیاده‌سازی RewardRouter و ابزار genesis و سرویس‌ها، gasLimit تولیدی و مسیر رفع پاداش بیش از سقف.</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پیاده‌سازی فنی (ارائه به تیم فنی)</dc:title>
  <dc:subject>PptxGenJS Presentation</dc:subject>
  <dc:creator>بنیاد سور</dc:creator>
  <cp:lastModifiedBy>بنیاد سور</cp:lastModifiedBy>
  <cp:revision>1</cp:revision>
  <dcterms:created xsi:type="dcterms:W3CDTF">2026-10-04T05:37:38Z</dcterms:created>
  <dcterms:modified xsi:type="dcterms:W3CDTF">2026-10-04T05:37:38Z</dcterms:modified>
</cp:coreProperties>
</file>