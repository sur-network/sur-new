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3238"/>
        </a:solidFill>
      </p:bgPr>
    </p:bg>
    <p:spTree>
      <p:nvGrpSpPr>
        <p:cNvPr id="1" name=""/>
        <p:cNvGrpSpPr/>
        <p:nvPr/>
      </p:nvGrpSpPr>
      <p:grpSpPr>
        <a:xfrm>
          <a:off x="0" y="0"/>
          <a:ext cx="0" cy="0"/>
          <a:chOff x="0" y="0"/>
          <a:chExt cx="0" cy="0"/>
        </a:xfrm>
      </p:grpSpPr>
      <p:sp>
        <p:nvSpPr>
          <p:cNvPr id="2" name="Shape 0"/>
          <p:cNvSpPr/>
          <p:nvPr/>
        </p:nvSpPr>
        <p:spPr>
          <a:xfrm>
            <a:off x="8961120" y="0"/>
            <a:ext cx="3227832" cy="6858000"/>
          </a:xfrm>
          <a:prstGeom prst="rect">
            <a:avLst/>
          </a:prstGeom>
          <a:solidFill>
            <a:srgbClr val="37474F"/>
          </a:solidFill>
          <a:ln/>
        </p:spPr>
        <p:txBody>
          <a:bodyPr/>
          <a:p/>
        </p:txBody>
      </p:sp>
      <p:sp>
        <p:nvSpPr>
          <p:cNvPr id="3" name="Shape 1"/>
          <p:cNvSpPr/>
          <p:nvPr/>
        </p:nvSpPr>
        <p:spPr>
          <a:xfrm>
            <a:off x="9326880" y="914400"/>
            <a:ext cx="411480" cy="411480"/>
          </a:xfrm>
          <a:prstGeom prst="rect">
            <a:avLst/>
          </a:prstGeom>
          <a:solidFill>
            <a:srgbClr val="00BFA5"/>
          </a:solidFill>
          <a:ln/>
        </p:spPr>
        <p:txBody>
          <a:bodyPr/>
          <a:p/>
        </p:txBody>
      </p:sp>
      <p:sp>
        <p:nvSpPr>
          <p:cNvPr id="4" name="Shape 2"/>
          <p:cNvSpPr/>
          <p:nvPr/>
        </p:nvSpPr>
        <p:spPr>
          <a:xfrm>
            <a:off x="10012680" y="2103120"/>
            <a:ext cx="411480" cy="411480"/>
          </a:xfrm>
          <a:prstGeom prst="rect">
            <a:avLst/>
          </a:prstGeom>
          <a:solidFill>
            <a:srgbClr val="00BFA5"/>
          </a:solidFill>
          <a:ln/>
        </p:spPr>
        <p:txBody>
          <a:bodyPr/>
          <a:p/>
        </p:txBody>
      </p:sp>
      <p:sp>
        <p:nvSpPr>
          <p:cNvPr id="5" name="Shape 3"/>
          <p:cNvSpPr/>
          <p:nvPr/>
        </p:nvSpPr>
        <p:spPr>
          <a:xfrm>
            <a:off x="10698480" y="3291840"/>
            <a:ext cx="411480" cy="411480"/>
          </a:xfrm>
          <a:prstGeom prst="rect">
            <a:avLst/>
          </a:prstGeom>
          <a:solidFill>
            <a:srgbClr val="00BFA5"/>
          </a:solidFill>
          <a:ln/>
        </p:spPr>
        <p:txBody>
          <a:bodyPr/>
          <a:p/>
        </p:txBody>
      </p:sp>
      <p:sp>
        <p:nvSpPr>
          <p:cNvPr id="6" name="Shape 4"/>
          <p:cNvSpPr/>
          <p:nvPr/>
        </p:nvSpPr>
        <p:spPr>
          <a:xfrm>
            <a:off x="11384280" y="4480560"/>
            <a:ext cx="411480" cy="411480"/>
          </a:xfrm>
          <a:prstGeom prst="rect">
            <a:avLst/>
          </a:prstGeom>
          <a:solidFill>
            <a:srgbClr val="00BFA5"/>
          </a:solidFill>
          <a:ln/>
        </p:spPr>
        <p:txBody>
          <a:bodyPr/>
          <a:p/>
        </p:txBody>
      </p:sp>
      <p:sp>
        <p:nvSpPr>
          <p:cNvPr id="7" name="Shape 5"/>
          <p:cNvSpPr/>
          <p:nvPr/>
        </p:nvSpPr>
        <p:spPr>
          <a:xfrm>
            <a:off x="9509760" y="5120640"/>
            <a:ext cx="1188720" cy="1188720"/>
          </a:xfrm>
          <a:prstGeom prst="ellipse">
            <a:avLst/>
          </a:prstGeom>
          <a:solidFill>
            <a:srgbClr val="FFFFFF"/>
          </a:solidFill>
          <a:ln/>
        </p:spPr>
        <p:txBody>
          <a:bodyPr/>
          <a:p/>
        </p:txBody>
      </p:sp>
      <p:pic>
        <p:nvPicPr>
          <p:cNvPr id="8" name="Image 0" descr="/home/claude/deck2/assets/logo.png">    </p:cNvPr>
          <p:cNvPicPr>
            <a:picLocks noChangeAspect="1"/>
          </p:cNvPicPr>
          <p:nvPr/>
        </p:nvPicPr>
        <p:blipFill>
          <a:blip r:embed="rId1"/>
          <a:stretch>
            <a:fillRect/>
          </a:stretch>
        </p:blipFill>
        <p:spPr>
          <a:xfrm>
            <a:off x="9665208" y="5276088"/>
            <a:ext cx="877824" cy="877824"/>
          </a:xfrm>
          <a:prstGeom prst="rect">
            <a:avLst/>
          </a:prstGeom>
        </p:spPr>
      </p:pic>
      <p:sp>
        <p:nvSpPr>
          <p:cNvPr id="9" name="Text 6"/>
          <p:cNvSpPr txBox="1"/>
          <p:nvPr/>
        </p:nvSpPr>
        <p:spPr>
          <a:xfrm>
            <a:off x="731520" y="2286000"/>
            <a:ext cx="7955280" cy="457200"/>
          </a:xfrm>
          <a:prstGeom prst="rect">
            <a:avLst/>
          </a:prstGeom>
          <a:noFill/>
          <a:ln/>
        </p:spPr>
        <p:txBody>
          <a:bodyPr wrap="square" lIns="0" tIns="0" rIns="0" bIns="0" rtlCol="0" anchor="ctr"/>
          <a:lstStyle/>
          <a:p>
            <a:pPr rtl="1" algn="r" indent="0" marL="0">
              <a:buNone/>
            </a:pPr>
            <a:r>
              <a:rPr lang="en-US" sz="1600" b="1" spc="200" kern="0" dirty="0">
                <a:solidFill>
                  <a:srgbClr val="00BFA5"/>
                </a:solidFill>
                <a:latin typeface="Calibri" pitchFamily="34" charset="0"/>
                <a:ea typeface="Calibri" pitchFamily="34" charset="-122"/>
                <a:cs typeface="Calibri" pitchFamily="34" charset="-120"/>
              </a:rPr>
              <a:t>ارائه به تیم فنی بنیاد</a:t>
            </a:r>
            <a:endParaRPr lang="en-US" sz="1600" dirty="0"/>
          </a:p>
        </p:txBody>
      </p:sp>
      <p:sp>
        <p:nvSpPr>
          <p:cNvPr id="10" name="Text 7"/>
          <p:cNvSpPr txBox="1"/>
          <p:nvPr/>
        </p:nvSpPr>
        <p:spPr>
          <a:xfrm>
            <a:off x="731520" y="2743200"/>
            <a:ext cx="7955280" cy="1463040"/>
          </a:xfrm>
          <a:prstGeom prst="rect">
            <a:avLst/>
          </a:prstGeom>
          <a:noFill/>
          <a:ln/>
        </p:spPr>
        <p:txBody>
          <a:bodyPr wrap="square" lIns="0" tIns="0" rIns="0" bIns="0" rtlCol="0" anchor="ctr"/>
          <a:lstStyle/>
          <a:p>
            <a:pPr rtl="1" algn="r" indent="0" marL="0">
              <a:buNone/>
            </a:pPr>
            <a:r>
              <a:rPr lang="en-US" sz="3800" b="1" dirty="0">
                <a:solidFill>
                  <a:srgbClr val="FFFFFF"/>
                </a:solidFill>
                <a:latin typeface="Cambria" pitchFamily="34" charset="0"/>
                <a:ea typeface="Cambria" pitchFamily="34" charset="-122"/>
                <a:cs typeface="Cambria" pitchFamily="34" charset="-120"/>
              </a:rPr>
              <a:t>پیاده‌سازی فنی طرح جدید سور</a:t>
            </a:r>
            <a:endParaRPr lang="en-US" sz="3800" dirty="0"/>
          </a:p>
        </p:txBody>
      </p:sp>
      <p:sp>
        <p:nvSpPr>
          <p:cNvPr id="11" name="Text 8"/>
          <p:cNvSpPr txBox="1"/>
          <p:nvPr/>
        </p:nvSpPr>
        <p:spPr>
          <a:xfrm>
            <a:off x="731520" y="4206240"/>
            <a:ext cx="7955280" cy="731520"/>
          </a:xfrm>
          <a:prstGeom prst="rect">
            <a:avLst/>
          </a:prstGeom>
          <a:noFill/>
          <a:ln/>
        </p:spPr>
        <p:txBody>
          <a:bodyPr wrap="square" lIns="0" tIns="0" rIns="0" bIns="0" rtlCol="0" anchor="ctr"/>
          <a:lstStyle/>
          <a:p>
            <a:pPr rtl="1" algn="r" indent="0" marL="0">
              <a:buNone/>
            </a:pPr>
            <a:r>
              <a:rPr lang="en-US" sz="1500" dirty="0">
                <a:solidFill>
                  <a:srgbClr val="B0BEC5"/>
                </a:solidFill>
                <a:latin typeface="Calibri" pitchFamily="34" charset="0"/>
                <a:ea typeface="Calibri" pitchFamily="34" charset="-122"/>
                <a:cs typeface="Calibri" pitchFamily="34" charset="-120"/>
              </a:rPr>
              <a:t>هر هشت قرارداد، چهار اوراکل، چهار سرویس آف‌چین — کامل و جامع</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نمای کلی</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دستور جلسه</a:t>
            </a:r>
            <a:endParaRPr lang="en-US" sz="2400" dirty="0"/>
          </a:p>
        </p:txBody>
      </p:sp>
      <p:sp>
        <p:nvSpPr>
          <p:cNvPr id="4" name="Text 2"/>
          <p:cNvSpPr txBox="1"/>
          <p:nvPr/>
        </p:nvSpPr>
        <p:spPr>
          <a:xfrm>
            <a:off x="548640" y="1691640"/>
            <a:ext cx="10881360" cy="4572000"/>
          </a:xfrm>
          <a:prstGeom prst="rect">
            <a:avLst/>
          </a:prstGeom>
          <a:noFill/>
          <a:ln/>
        </p:spPr>
        <p:txBody>
          <a:bodyPr wrap="square" lIns="0" tIns="0" rIns="0" bIns="0" rtlCol="0" anchor="t"/>
          <a:lstStyle/>
          <a:p>
            <a:pPr rtl="1" algn="r" indent="0" marL="0">
              <a:spcAft>
                <a:spcPts val="1300"/>
              </a:spcAft>
              <a:buNone/>
            </a:pPr>
            <a:r>
              <a:rPr lang="en-US" sz="1400" dirty="0">
                <a:solidFill>
                  <a:srgbClr val="1B1B1B"/>
                </a:solidFill>
                <a:latin typeface="Calibri" pitchFamily="34" charset="0"/>
                <a:ea typeface="Calibri" pitchFamily="34" charset="-122"/>
                <a:cs typeface="Calibri" pitchFamily="34" charset="-120"/>
              </a:rPr>
              <a:t>◆  معماری کلی: شش قرارداد ساختاری genesis-injected</a:t>
            </a:r>
            <a:endParaRPr lang="en-US" sz="1400" dirty="0"/>
          </a:p>
          <a:p>
            <a:pPr rtl="1" algn="r" indent="0" marL="0">
              <a:spcAft>
                <a:spcPts val="1300"/>
              </a:spcAft>
              <a:buNone/>
            </a:pPr>
            <a:r>
              <a:rPr lang="en-US" sz="1400" dirty="0">
                <a:solidFill>
                  <a:srgbClr val="1B1B1B"/>
                </a:solidFill>
                <a:latin typeface="Calibri" pitchFamily="34" charset="0"/>
                <a:ea typeface="Calibri" pitchFamily="34" charset="-122"/>
                <a:cs typeface="Calibri" pitchFamily="34" charset="-120"/>
              </a:rPr>
              <a:t>◆  بررسی کامل هر قرارداد: توابع، حاکمیت، نقاط اعتماد</a:t>
            </a:r>
            <a:endParaRPr lang="en-US" sz="1400" dirty="0"/>
          </a:p>
          <a:p>
            <a:pPr rtl="1" algn="r" indent="0" marL="0">
              <a:spcAft>
                <a:spcPts val="1300"/>
              </a:spcAft>
              <a:buNone/>
            </a:pPr>
            <a:r>
              <a:rPr lang="en-US" sz="1400" dirty="0">
                <a:solidFill>
                  <a:srgbClr val="1B1B1B"/>
                </a:solidFill>
                <a:latin typeface="Calibri" pitchFamily="34" charset="0"/>
                <a:ea typeface="Calibri" pitchFamily="34" charset="-122"/>
                <a:cs typeface="Calibri" pitchFamily="34" charset="-120"/>
              </a:rPr>
              <a:t>◆  همه‌ی اوراکل‌ها و مکانیزم کلیدگردانی هرکدام</a:t>
            </a:r>
            <a:endParaRPr lang="en-US" sz="1400" dirty="0"/>
          </a:p>
          <a:p>
            <a:pPr rtl="1" algn="r" indent="0" marL="0">
              <a:spcAft>
                <a:spcPts val="1300"/>
              </a:spcAft>
              <a:buNone/>
            </a:pPr>
            <a:r>
              <a:rPr lang="en-US" sz="1400" dirty="0">
                <a:solidFill>
                  <a:srgbClr val="1B1B1B"/>
                </a:solidFill>
                <a:latin typeface="Calibri" pitchFamily="34" charset="0"/>
                <a:ea typeface="Calibri" pitchFamily="34" charset="-122"/>
                <a:cs typeface="Calibri" pitchFamily="34" charset="-120"/>
              </a:rPr>
              <a:t>◆  چهار سرویس آف‌چین و جریان کاری هرکدام</a:t>
            </a:r>
            <a:endParaRPr lang="en-US" sz="1400" dirty="0"/>
          </a:p>
          <a:p>
            <a:pPr rtl="1" algn="r" indent="0" marL="0">
              <a:spcAft>
                <a:spcPts val="1300"/>
              </a:spcAft>
              <a:buNone/>
            </a:pPr>
            <a:r>
              <a:rPr lang="en-US" sz="1400" dirty="0">
                <a:solidFill>
                  <a:srgbClr val="1B1B1B"/>
                </a:solidFill>
                <a:latin typeface="Calibri" pitchFamily="34" charset="0"/>
                <a:ea typeface="Calibri" pitchFamily="34" charset="-122"/>
                <a:cs typeface="Calibri" pitchFamily="34" charset="-120"/>
              </a:rPr>
              <a:t>◆  زیرساخت مشترک: Vault، Docker، ابزار genesis</a:t>
            </a:r>
            <a:endParaRPr lang="en-US" sz="1400" dirty="0"/>
          </a:p>
          <a:p>
            <a:pPr rtl="1" algn="r" indent="0" marL="0">
              <a:spcAft>
                <a:spcPts val="1300"/>
              </a:spcAft>
              <a:buNone/>
            </a:pPr>
            <a:r>
              <a:rPr lang="en-US" sz="1400" dirty="0">
                <a:solidFill>
                  <a:srgbClr val="1B1B1B"/>
                </a:solidFill>
                <a:latin typeface="Calibri" pitchFamily="34" charset="0"/>
                <a:ea typeface="Calibri" pitchFamily="34" charset="-122"/>
                <a:cs typeface="Calibri" pitchFamily="34" charset="-120"/>
              </a:rPr>
              <a:t>◆  امنیت: یافته‌های بررسی اولیه و سؤالات باز فنی</a:t>
            </a:r>
            <a:endParaRPr lang="en-US" sz="14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63238"/>
        </a:solidFill>
      </p:bgPr>
    </p:bg>
    <p:spTree>
      <p:nvGrpSpPr>
        <p:cNvPr id="1" name=""/>
        <p:cNvGrpSpPr/>
        <p:nvPr/>
      </p:nvGrpSpPr>
      <p:grpSpPr>
        <a:xfrm>
          <a:off x="0" y="0"/>
          <a:ext cx="0" cy="0"/>
          <a:chOff x="0" y="0"/>
          <a:chExt cx="0" cy="0"/>
        </a:xfrm>
      </p:grpSpPr>
      <p:sp>
        <p:nvSpPr>
          <p:cNvPr id="2" name="Text 0"/>
          <p:cNvSpPr txBox="1"/>
          <p:nvPr/>
        </p:nvSpPr>
        <p:spPr>
          <a:xfrm>
            <a:off x="731520" y="2377440"/>
            <a:ext cx="2743200" cy="1828800"/>
          </a:xfrm>
          <a:prstGeom prst="rect">
            <a:avLst/>
          </a:prstGeom>
          <a:noFill/>
          <a:ln/>
        </p:spPr>
        <p:txBody>
          <a:bodyPr wrap="square" lIns="0" tIns="0" rIns="0" bIns="0" rtlCol="0" anchor="ctr"/>
          <a:lstStyle/>
          <a:p>
            <a:pPr rtl="1" algn="r" indent="0" marL="0">
              <a:buNone/>
            </a:pPr>
            <a:r>
              <a:rPr lang="en-US" sz="9200" b="1" dirty="0">
                <a:solidFill>
                  <a:srgbClr val="3C4A50"/>
                </a:solidFill>
                <a:latin typeface="Arial" pitchFamily="34" charset="0"/>
                <a:ea typeface="Arial" pitchFamily="34" charset="-122"/>
                <a:cs typeface="Arial" pitchFamily="34" charset="-120"/>
              </a:rPr>
              <a:t>1</a:t>
            </a:r>
            <a:endParaRPr lang="en-US" sz="9200" dirty="0"/>
          </a:p>
        </p:txBody>
      </p:sp>
      <p:sp>
        <p:nvSpPr>
          <p:cNvPr id="3" name="Shape 1"/>
          <p:cNvSpPr/>
          <p:nvPr/>
        </p:nvSpPr>
        <p:spPr>
          <a:xfrm>
            <a:off x="3520440" y="2880360"/>
            <a:ext cx="54864" cy="1097280"/>
          </a:xfrm>
          <a:prstGeom prst="rect">
            <a:avLst/>
          </a:prstGeom>
          <a:solidFill>
            <a:srgbClr val="00BFA5"/>
          </a:solidFill>
          <a:ln/>
        </p:spPr>
        <p:txBody>
          <a:bodyPr/>
          <a:p/>
        </p:txBody>
      </p:sp>
      <p:sp>
        <p:nvSpPr>
          <p:cNvPr id="4" name="Text 2"/>
          <p:cNvSpPr txBox="1"/>
          <p:nvPr/>
        </p:nvSpPr>
        <p:spPr>
          <a:xfrm>
            <a:off x="3749040" y="2834640"/>
            <a:ext cx="7680960" cy="1188720"/>
          </a:xfrm>
          <a:prstGeom prst="rect">
            <a:avLst/>
          </a:prstGeom>
          <a:noFill/>
          <a:ln/>
        </p:spPr>
        <p:txBody>
          <a:bodyPr wrap="square" lIns="0" tIns="0" rIns="0" bIns="0" rtlCol="0" anchor="ctr"/>
          <a:lstStyle/>
          <a:p>
            <a:pPr rtl="1" algn="r" indent="0" marL="0">
              <a:buNone/>
            </a:pPr>
            <a:r>
              <a:rPr lang="en-US" sz="3000" b="1" dirty="0">
                <a:solidFill>
                  <a:srgbClr val="FFFFFF"/>
                </a:solidFill>
                <a:latin typeface="Cambria" pitchFamily="34" charset="0"/>
                <a:ea typeface="Cambria" pitchFamily="34" charset="-122"/>
                <a:cs typeface="Cambria" pitchFamily="34" charset="-120"/>
              </a:rPr>
              <a:t>معماری کلی: شش قرارداد genesis</a:t>
            </a:r>
            <a:endParaRPr lang="en-US" sz="30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آدرس‌های ثابت</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شش قرارداد ساختاری و وابستگی‌ها</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3688080"/>
                <a:gridCol w="3688080"/>
                <a:gridCol w="3688080"/>
              </a:tblGrid>
              <a:tr h="66620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قرارداد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آدرس</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می‌شناسد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666206">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FoundationDAO</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0x1111</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 (کاملاً ایزوله)</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BlockRewardDistributor</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0x2222</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Registry, Treasury, Board</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ValidatorsRegistry</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0x3333</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Treasury</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ValidatorsBoard</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0x4444</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Registry, Distributor, Treasury, IdentityRegistry</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ValidatorsTreasury</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0x5555</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Registry, Board</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IdentityRegistry</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0x6666</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FoundationDAO (فقط چرخش کلید)</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دیپلوی genesis-injected</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چرا این قراردادها با تراکنش عادی دیپلوی نمی‌شوند</a:t>
            </a:r>
            <a:endParaRPr lang="en-US" sz="2400" dirty="0"/>
          </a:p>
        </p:txBody>
      </p:sp>
      <p:sp>
        <p:nvSpPr>
          <p:cNvPr id="4" name="Shape 2"/>
          <p:cNvSpPr/>
          <p:nvPr/>
        </p:nvSpPr>
        <p:spPr>
          <a:xfrm>
            <a:off x="9966960" y="2005584"/>
            <a:ext cx="621792" cy="621792"/>
          </a:xfrm>
          <a:prstGeom prst="ellipse">
            <a:avLst/>
          </a:prstGeom>
          <a:solidFill>
            <a:srgbClr val="263238"/>
          </a:solidFill>
          <a:ln/>
        </p:spPr>
        <p:txBody>
          <a:bodyPr/>
          <a:p/>
        </p:txBody>
      </p:sp>
      <p:pic>
        <p:nvPicPr>
          <p:cNvPr id="5" name="Image 0" descr="/home/claude/deck2/icons/code.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constructor هرگز واقعاً روی زنجیره‌ی اصلی اجرا نمی‌شود</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برای ۳ قرارداد با mapping/آرایه‌ی پیچیده (FoundationDAO, ValidatorsRegistry, ValidatorsBoard) روی یک زنجیره‌ی موقت شبیه‌سازی می‌شود؛ ۳ قرارداد دیگر (BlockRewardDistributor, ValidatorsTreasury, IdentityRegistry) با نوشتن مستقیم مقادیر اسکالر در alloc، بدون شبیه‌سازی. در هردو حالت فقط code و storage نهایی در alloc بلاک genesis تزریق می‌شود.</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00BFA5"/>
          </a:solidFill>
          <a:ln/>
        </p:spPr>
        <p:txBody>
          <a:bodyPr/>
          <a:p/>
        </p:txBody>
      </p:sp>
      <p:pic>
        <p:nvPicPr>
          <p:cNvPr id="10" name="Image 1" descr="/home/claude/deck2/icons/link.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بدون نیاز به wire() بعد از دیپلوی</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چون آدرس هر شش قرارداد از قبل معلوم است (SurAddresses.sol)، هرکدام آدرس بقیه را مستقیم constant می‌کنند.</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B71C1C"/>
          </a:solidFill>
          <a:ln/>
        </p:spPr>
        <p:txBody>
          <a:bodyPr/>
          <a:p/>
        </p:txBody>
      </p:sp>
      <p:pic>
        <p:nvPicPr>
          <p:cNvPr id="15" name="Image 2" descr="/home/claude/deck2/icons/warning.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block.timestamp داخل constructor قابل‌اتکا نیست</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باید مستقیم داخل سورس constructor فایل کمکی هاردکد شود (نه به‌عنوان آرگومان — این فایل‌ها بدون آرگومان دیپلوی می‌شوند).</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3238"/>
        </a:solidFill>
      </p:bgPr>
    </p:bg>
    <p:spTree>
      <p:nvGrpSpPr>
        <p:cNvPr id="1" name=""/>
        <p:cNvGrpSpPr/>
        <p:nvPr/>
      </p:nvGrpSpPr>
      <p:grpSpPr>
        <a:xfrm>
          <a:off x="0" y="0"/>
          <a:ext cx="0" cy="0"/>
          <a:chOff x="0" y="0"/>
          <a:chExt cx="0" cy="0"/>
        </a:xfrm>
      </p:grpSpPr>
      <p:sp>
        <p:nvSpPr>
          <p:cNvPr id="2" name="Text 0"/>
          <p:cNvSpPr txBox="1"/>
          <p:nvPr/>
        </p:nvSpPr>
        <p:spPr>
          <a:xfrm>
            <a:off x="731520" y="2377440"/>
            <a:ext cx="2743200" cy="1828800"/>
          </a:xfrm>
          <a:prstGeom prst="rect">
            <a:avLst/>
          </a:prstGeom>
          <a:noFill/>
          <a:ln/>
        </p:spPr>
        <p:txBody>
          <a:bodyPr wrap="square" lIns="0" tIns="0" rIns="0" bIns="0" rtlCol="0" anchor="ctr"/>
          <a:lstStyle/>
          <a:p>
            <a:pPr rtl="1" algn="r" indent="0" marL="0">
              <a:buNone/>
            </a:pPr>
            <a:r>
              <a:rPr lang="en-US" sz="9200" b="1" dirty="0">
                <a:solidFill>
                  <a:srgbClr val="3C4A50"/>
                </a:solidFill>
                <a:latin typeface="Arial" pitchFamily="34" charset="0"/>
                <a:ea typeface="Arial" pitchFamily="34" charset="-122"/>
                <a:cs typeface="Arial" pitchFamily="34" charset="-120"/>
              </a:rPr>
              <a:t>2</a:t>
            </a:r>
            <a:endParaRPr lang="en-US" sz="9200" dirty="0"/>
          </a:p>
        </p:txBody>
      </p:sp>
      <p:sp>
        <p:nvSpPr>
          <p:cNvPr id="3" name="Shape 1"/>
          <p:cNvSpPr/>
          <p:nvPr/>
        </p:nvSpPr>
        <p:spPr>
          <a:xfrm>
            <a:off x="3520440" y="2880360"/>
            <a:ext cx="54864" cy="1097280"/>
          </a:xfrm>
          <a:prstGeom prst="rect">
            <a:avLst/>
          </a:prstGeom>
          <a:solidFill>
            <a:srgbClr val="00BFA5"/>
          </a:solidFill>
          <a:ln/>
        </p:spPr>
        <p:txBody>
          <a:bodyPr/>
          <a:p/>
        </p:txBody>
      </p:sp>
      <p:sp>
        <p:nvSpPr>
          <p:cNvPr id="4" name="Text 2"/>
          <p:cNvSpPr txBox="1"/>
          <p:nvPr/>
        </p:nvSpPr>
        <p:spPr>
          <a:xfrm>
            <a:off x="3749040" y="2834640"/>
            <a:ext cx="7680960" cy="1188720"/>
          </a:xfrm>
          <a:prstGeom prst="rect">
            <a:avLst/>
          </a:prstGeom>
          <a:noFill/>
          <a:ln/>
        </p:spPr>
        <p:txBody>
          <a:bodyPr wrap="square" lIns="0" tIns="0" rIns="0" bIns="0" rtlCol="0" anchor="ctr"/>
          <a:lstStyle/>
          <a:p>
            <a:pPr rtl="1" algn="r" indent="0" marL="0">
              <a:buNone/>
            </a:pPr>
            <a:r>
              <a:rPr lang="en-US" sz="3000" b="1" dirty="0">
                <a:solidFill>
                  <a:srgbClr val="FFFFFF"/>
                </a:solidFill>
                <a:latin typeface="Cambria" pitchFamily="34" charset="0"/>
                <a:ea typeface="Cambria" pitchFamily="34" charset="-122"/>
                <a:cs typeface="Cambria" pitchFamily="34" charset="-120"/>
              </a:rPr>
              <a:t>قرارداد به قرارداد — کامل</a:t>
            </a:r>
            <a:endParaRPr lang="en-US" sz="30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FoundationDAO.sol — 0x1111</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توابع کامل</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66620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تابع</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چه کسی / نصاب</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666206">
                <a:tc>
                  <a:txBody>
                    <a:bodyPr/>
                    <a:lstStyle/>
                    <a:p>
                      <a:pPr algn="r" indent="0" marL="0">
                        <a:buNone/>
                      </a:pPr>
                      <a:r>
                        <a:rPr lang="en-US" sz="1250" dirty="0">
                          <a:solidFill>
                            <a:srgbClr val="1B1B1B"/>
                          </a:solidFill>
                          <a:latin typeface="Courier New" pitchFamily="34" charset="0"/>
                          <a:ea typeface="Courier New" pitchFamily="34" charset="-122"/>
                          <a:cs typeface="Courier New" pitchFamily="34" charset="-120"/>
                        </a:rPr>
                        <a:t>proposeAddMember / proposeRemoveMember</a:t>
                      </a:r>
                      <a:endParaRPr lang="en-US" sz="12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B1B"/>
                          </a:solidFill>
                          <a:latin typeface="Calibri" pitchFamily="34" charset="0"/>
                          <a:ea typeface="Calibri" pitchFamily="34" charset="-122"/>
                          <a:cs typeface="Calibri" pitchFamily="34" charset="-120"/>
                        </a:rPr>
                        <a:t>هر عضو — نصاب دوسوم (۱۰/۱۵)</a:t>
                      </a:r>
                      <a:endParaRPr lang="en-US" sz="12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250" dirty="0">
                          <a:solidFill>
                            <a:srgbClr val="1B1B1B"/>
                          </a:solidFill>
                          <a:latin typeface="Courier New" pitchFamily="34" charset="0"/>
                          <a:ea typeface="Courier New" pitchFamily="34" charset="-122"/>
                          <a:cs typeface="Courier New" pitchFamily="34" charset="-120"/>
                        </a:rPr>
                        <a:t>proposeSendETH</a:t>
                      </a:r>
                      <a:endParaRPr lang="en-US" sz="12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50" dirty="0">
                          <a:solidFill>
                            <a:srgbClr val="1B1B1B"/>
                          </a:solidFill>
                          <a:latin typeface="Calibri" pitchFamily="34" charset="0"/>
                          <a:ea typeface="Calibri" pitchFamily="34" charset="-122"/>
                          <a:cs typeface="Calibri" pitchFamily="34" charset="-120"/>
                        </a:rPr>
                        <a:t>هر عضو — نصاب اکثریت ساده (۸/۱۵)</a:t>
                      </a:r>
                      <a:endParaRPr lang="en-US" sz="12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250" dirty="0">
                          <a:solidFill>
                            <a:srgbClr val="1B1B1B"/>
                          </a:solidFill>
                          <a:latin typeface="Courier New" pitchFamily="34" charset="0"/>
                          <a:ea typeface="Courier New" pitchFamily="34" charset="-122"/>
                          <a:cs typeface="Courier New" pitchFamily="34" charset="-120"/>
                        </a:rPr>
                        <a:t>proposeSendERC20</a:t>
                      </a:r>
                      <a:endParaRPr lang="en-US" sz="12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B1B"/>
                          </a:solidFill>
                          <a:latin typeface="Calibri" pitchFamily="34" charset="0"/>
                          <a:ea typeface="Calibri" pitchFamily="34" charset="-122"/>
                          <a:cs typeface="Calibri" pitchFamily="34" charset="-120"/>
                        </a:rPr>
                        <a:t>هر عضو — نصاب اکثریت ساده (۸/۱۵)</a:t>
                      </a:r>
                      <a:endParaRPr lang="en-US" sz="12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250" dirty="0">
                          <a:solidFill>
                            <a:srgbClr val="1B1B1B"/>
                          </a:solidFill>
                          <a:latin typeface="Courier New" pitchFamily="34" charset="0"/>
                          <a:ea typeface="Courier New" pitchFamily="34" charset="-122"/>
                          <a:cs typeface="Courier New" pitchFamily="34" charset="-120"/>
                        </a:rPr>
                        <a:t>proposeExecute</a:t>
                      </a:r>
                      <a:endParaRPr lang="en-US" sz="12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50" dirty="0">
                          <a:solidFill>
                            <a:srgbClr val="1B1B1B"/>
                          </a:solidFill>
                          <a:latin typeface="Calibri" pitchFamily="34" charset="0"/>
                          <a:ea typeface="Calibri" pitchFamily="34" charset="-122"/>
                          <a:cs typeface="Calibri" pitchFamily="34" charset="-120"/>
                        </a:rPr>
                        <a:t>هر عضو — نصاب اکثریت ساده (۸/۱۵) — فراخوانی دلخواه</a:t>
                      </a:r>
                      <a:endParaRPr lang="en-US" sz="12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250" dirty="0">
                          <a:solidFill>
                            <a:srgbClr val="1B1B1B"/>
                          </a:solidFill>
                          <a:latin typeface="Courier New" pitchFamily="34" charset="0"/>
                          <a:ea typeface="Courier New" pitchFamily="34" charset="-122"/>
                          <a:cs typeface="Courier New" pitchFamily="34" charset="-120"/>
                        </a:rPr>
                        <a:t>vote(proposalId)</a:t>
                      </a:r>
                      <a:endParaRPr lang="en-US" sz="12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B1B"/>
                          </a:solidFill>
                          <a:latin typeface="Calibri" pitchFamily="34" charset="0"/>
                          <a:ea typeface="Calibri" pitchFamily="34" charset="-122"/>
                          <a:cs typeface="Calibri" pitchFamily="34" charset="-120"/>
                        </a:rPr>
                        <a:t>هر عضو — رسیدن به نصاب = اجرای خودکار</a:t>
                      </a:r>
                      <a:endParaRPr lang="en-US" sz="12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250" dirty="0">
                          <a:solidFill>
                            <a:srgbClr val="1B1B1B"/>
                          </a:solidFill>
                          <a:latin typeface="Courier New" pitchFamily="34" charset="0"/>
                          <a:ea typeface="Courier New" pitchFamily="34" charset="-122"/>
                          <a:cs typeface="Courier New" pitchFamily="34" charset="-120"/>
                        </a:rPr>
                        <a:t>getMemberCount / getAllMembers / getProposal / getProposalMeta</a:t>
                      </a:r>
                      <a:endParaRPr lang="en-US" sz="12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50" dirty="0">
                          <a:solidFill>
                            <a:srgbClr val="1B1B1B"/>
                          </a:solidFill>
                          <a:latin typeface="Calibri" pitchFamily="34" charset="0"/>
                          <a:ea typeface="Calibri" pitchFamily="34" charset="-122"/>
                          <a:cs typeface="Calibri" pitchFamily="34" charset="-120"/>
                        </a:rPr>
                        <a:t>view — هرکسی</a:t>
                      </a:r>
                      <a:endParaRPr lang="en-US" sz="12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FoundationDAO — حاکمیت</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نکات حاکمیتی کلیدی</a:t>
            </a:r>
            <a:endParaRPr lang="en-US" sz="2400" dirty="0"/>
          </a:p>
        </p:txBody>
      </p:sp>
      <p:sp>
        <p:nvSpPr>
          <p:cNvPr id="4" name="Shape 2"/>
          <p:cNvSpPr/>
          <p:nvPr/>
        </p:nvSpPr>
        <p:spPr>
          <a:xfrm>
            <a:off x="9966960" y="2409444"/>
            <a:ext cx="621792" cy="621792"/>
          </a:xfrm>
          <a:prstGeom prst="ellipse">
            <a:avLst/>
          </a:prstGeom>
          <a:solidFill>
            <a:srgbClr val="00BFA5"/>
          </a:solidFill>
          <a:ln/>
        </p:spPr>
        <p:txBody>
          <a:bodyPr/>
          <a:p/>
        </p:txBody>
      </p:sp>
      <p:pic>
        <p:nvPicPr>
          <p:cNvPr id="5" name="Image 0" descr="/home/claude/deck2/icons/shield.png">    </p:cNvPr>
          <p:cNvPicPr>
            <a:picLocks noChangeAspect="1"/>
          </p:cNvPicPr>
          <p:nvPr/>
        </p:nvPicPr>
        <p:blipFill>
          <a:blip r:embed="rId1"/>
          <a:stretch>
            <a:fillRect/>
          </a:stretch>
        </p:blipFill>
        <p:spPr>
          <a:xfrm>
            <a:off x="10128626" y="257111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ایزوله از کنترل خروجی — فقط یک ورودی خودکار می‌شناسد</a:t>
            </a:r>
            <a:endParaRPr lang="en-US" sz="1500" dirty="0"/>
          </a:p>
        </p:txBody>
      </p:sp>
      <p:sp>
        <p:nvSpPr>
          <p:cNvPr id="7" name="Text 4"/>
          <p:cNvSpPr txBox="1"/>
          <p:nvPr/>
        </p:nvSpPr>
        <p:spPr>
          <a:xfrm>
            <a:off x="548640" y="1856232"/>
            <a:ext cx="9144000" cy="203911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proposeRequestTreasuryBudget (بودجه‌ی کمپین) کاملاً حذف شد. اتصال بیرونی: چرخش identityOracle (خروجی، proposeExecute) + دریافت خودکار ۱۵٪ کل بلاک‌ریوارد از BlockRewardDistributor (ورودی، بدون فراخوانی بنیاد).</a:t>
            </a:r>
            <a:endParaRPr lang="en-US" sz="1180" dirty="0"/>
          </a:p>
        </p:txBody>
      </p:sp>
      <p:sp>
        <p:nvSpPr>
          <p:cNvPr id="8" name="Shape 5"/>
          <p:cNvSpPr/>
          <p:nvPr/>
        </p:nvSpPr>
        <p:spPr>
          <a:xfrm>
            <a:off x="548640" y="3877056"/>
            <a:ext cx="10881360" cy="0"/>
          </a:xfrm>
          <a:prstGeom prst="line">
            <a:avLst/>
          </a:prstGeom>
          <a:noFill/>
          <a:ln w="12700">
            <a:solidFill>
              <a:srgbClr val="E0E6E7"/>
            </a:solidFill>
            <a:prstDash val="solid"/>
          </a:ln>
        </p:spPr>
        <p:txBody>
          <a:bodyPr/>
          <a:p/>
        </p:txBody>
      </p:sp>
      <p:sp>
        <p:nvSpPr>
          <p:cNvPr id="9" name="Shape 6"/>
          <p:cNvSpPr/>
          <p:nvPr/>
        </p:nvSpPr>
        <p:spPr>
          <a:xfrm>
            <a:off x="9966960" y="4832604"/>
            <a:ext cx="621792" cy="621792"/>
          </a:xfrm>
          <a:prstGeom prst="ellipse">
            <a:avLst/>
          </a:prstGeom>
          <a:solidFill>
            <a:srgbClr val="263238"/>
          </a:solidFill>
          <a:ln/>
        </p:spPr>
        <p:txBody>
          <a:bodyPr/>
          <a:p/>
        </p:txBody>
      </p:sp>
      <p:pic>
        <p:nvPicPr>
          <p:cNvPr id="10" name="Image 1" descr="/home/claude/deck2/icons/key.png">    </p:cNvPr>
          <p:cNvPicPr>
            <a:picLocks noChangeAspect="1"/>
          </p:cNvPicPr>
          <p:nvPr/>
        </p:nvPicPr>
        <p:blipFill>
          <a:blip r:embed="rId2"/>
          <a:stretch>
            <a:fillRect/>
          </a:stretch>
        </p:blipFill>
        <p:spPr>
          <a:xfrm>
            <a:off x="10128626" y="4994270"/>
            <a:ext cx="298460" cy="298460"/>
          </a:xfrm>
          <a:prstGeom prst="rect">
            <a:avLst/>
          </a:prstGeom>
        </p:spPr>
      </p:pic>
      <p:sp>
        <p:nvSpPr>
          <p:cNvPr id="11" name="Text 7"/>
          <p:cNvSpPr txBox="1"/>
          <p:nvPr/>
        </p:nvSpPr>
        <p:spPr>
          <a:xfrm>
            <a:off x="548640" y="393192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proposeExecute تنها مسیر تعامل با قراردادهای دیگر</a:t>
            </a:r>
            <a:endParaRPr lang="en-US" sz="1500" dirty="0"/>
          </a:p>
        </p:txBody>
      </p:sp>
      <p:sp>
        <p:nvSpPr>
          <p:cNvPr id="12" name="Text 8"/>
          <p:cNvSpPr txBox="1"/>
          <p:nvPr/>
        </p:nvSpPr>
        <p:spPr>
          <a:xfrm>
            <a:off x="548640" y="4279392"/>
            <a:ext cx="9144000" cy="203911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استفاده‌شده برای چرخش paymentOracle (SurenSale) و identityOracle (IdentityRegistry) — هردو با نصاب اکثریت ساده.</a:t>
            </a:r>
            <a:endParaRPr lang="en-US" sz="1180" dirty="0"/>
          </a:p>
        </p:txBody>
      </p:sp>
      <p:sp>
        <p:nvSpPr>
          <p:cNvPr id="13" name="Shape 9"/>
          <p:cNvSpPr/>
          <p:nvPr/>
        </p:nvSpPr>
        <p:spPr>
          <a:xfrm>
            <a:off x="429768" y="6446520"/>
            <a:ext cx="310896" cy="310896"/>
          </a:xfrm>
          <a:prstGeom prst="ellipse">
            <a:avLst/>
          </a:prstGeom>
          <a:solidFill>
            <a:srgbClr val="FFFFFF"/>
          </a:solidFill>
          <a:ln/>
        </p:spPr>
        <p:txBody>
          <a:bodyPr/>
          <a:p/>
        </p:txBody>
      </p:sp>
      <p:pic>
        <p:nvPicPr>
          <p:cNvPr id="14" name="Image 2" descr="/home/claude/deck2/assets/logo.png">    </p:cNvPr>
          <p:cNvPicPr>
            <a:picLocks noChangeAspect="1"/>
          </p:cNvPicPr>
          <p:nvPr/>
        </p:nvPicPr>
        <p:blipFill>
          <a:blip r:embed="rId3"/>
          <a:stretch>
            <a:fillRect/>
          </a:stretch>
        </p:blipFill>
        <p:spPr>
          <a:xfrm>
            <a:off x="457200" y="6473952"/>
            <a:ext cx="256032" cy="256032"/>
          </a:xfrm>
          <a:prstGeom prst="rect">
            <a:avLst/>
          </a:prstGeom>
        </p:spPr>
      </p:pic>
      <p:sp>
        <p:nvSpPr>
          <p:cNvPr id="15" name="Text 10"/>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16" name="Text 11"/>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ValidatorsRegistry.sol — 0x3333</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توابع کامل</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58293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تابع</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چه کسی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requestMembership()</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payable — هرکسی، وثیقه+کارمزد طبق منحنی</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recordActivation / recordSuspension / recordPreExitViolation / recordRecovery</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فقط verifier — فقط هنگام تغییر وضعیت (هش شواهد)</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resolveMassFailureCheck / confirmDelivery / fileAppeal / confirmSlash / executeUncontestedSlash</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مسیر معافیت جمعی ← تحویل ← اعتراض ← رأی مجمع (بخشی permissionless)</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requestExit() / withdrawStake()</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خودِ ولیدیتور؛ خروج فوراً وظیفه را پایان می‌دهد؛ برداشت بعد از ۷ روز؛ مبلغ درگیر پرونده محفوظ</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setEntryThresholdBase / setGrowthFactorPerValidator / setMembershipFeeBps</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فقط ValidatorsBoard</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setVerifier(addr)</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فقط ValidatorsBoard</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582930">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پارامترهای امنیتی (slashBps, recoveryPeriod, exitCooldown, ...)</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فقط رأی کامل مجمع ولیدیتورها</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ValidatorsRegistry — نکات فنی</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منحنی اقتصادی و لایوینس</a:t>
            </a:r>
            <a:endParaRPr lang="en-US" sz="2400" dirty="0"/>
          </a:p>
        </p:txBody>
      </p:sp>
      <p:sp>
        <p:nvSpPr>
          <p:cNvPr id="4" name="Shape 2"/>
          <p:cNvSpPr/>
          <p:nvPr/>
        </p:nvSpPr>
        <p:spPr>
          <a:xfrm>
            <a:off x="9966960" y="2005584"/>
            <a:ext cx="621792" cy="621792"/>
          </a:xfrm>
          <a:prstGeom prst="ellipse">
            <a:avLst/>
          </a:prstGeom>
          <a:solidFill>
            <a:srgbClr val="263238"/>
          </a:solidFill>
          <a:ln/>
        </p:spPr>
        <p:txBody>
          <a:bodyPr/>
          <a:p/>
        </p:txBody>
      </p:sp>
      <p:pic>
        <p:nvPicPr>
          <p:cNvPr id="5" name="Image 0" descr="/home/claude/deck2/icons/cubes.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منحنی fixed-point نمایی برای هزینه‌ی ورود</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entryThresholdBase × growthFactorPerValidator^paidValidatorCount — exponentiation-by-squaring، ۱۸ رقم دقت؛ پایه ۵۰۰,۰۰۰ سورن، دوبرابر هر ۴۰ ولیدیتور پرداخت‌کننده (نه ۷ مؤسس رایگان genesis-seeded).</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00BFA5"/>
          </a:solidFill>
          <a:ln/>
        </p:spPr>
        <p:txBody>
          <a:bodyPr/>
          <a:p/>
        </p:txBody>
      </p:sp>
      <p:pic>
        <p:nvPicPr>
          <p:cNvPr id="10" name="Image 1" descr="/home/claude/deck2/icons/sync.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تصمیم‌های وضعیت آف‌چین جایگزین کامل heartbeat/reportLiveness شد</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نسبت ۹۵٪ و همه‌ی بررسی‌ها آف‌چین محاسبه می‌شود؛ روی زنجیره فقط تصمیم تغییر وضعیت + هش شواهد ثبت می‌شود.</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263238"/>
          </a:solidFill>
          <a:ln/>
        </p:spPr>
        <p:txBody>
          <a:bodyPr/>
          <a:p/>
        </p:txBody>
      </p:sp>
      <p:pic>
        <p:nvPicPr>
          <p:cNvPr id="15" name="Image 2" descr="/home/claude/deck2/icons/fingerprint.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verifier اینجا فقط برای تصمیم‌های وضعیت است، نه هویت</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هویت کامل (registerIdentity، KYC) به IdentityRegistry منتقل شد.</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ماشین‌حالت ولیدیتور</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تشخیص و حذف خودکار غیرفعال‌ها — Status enum</a:t>
            </a:r>
            <a:endParaRPr lang="en-US" sz="2400" dirty="0"/>
          </a:p>
        </p:txBody>
      </p:sp>
      <p:sp>
        <p:nvSpPr>
          <p:cNvPr id="4" name="Shape 2"/>
          <p:cNvSpPr/>
          <p:nvPr/>
        </p:nvSpPr>
        <p:spPr>
          <a:xfrm>
            <a:off x="9589770" y="2103120"/>
            <a:ext cx="731520" cy="731520"/>
          </a:xfrm>
          <a:prstGeom prst="ellipse">
            <a:avLst/>
          </a:prstGeom>
          <a:solidFill>
            <a:srgbClr val="263238"/>
          </a:solidFill>
          <a:ln/>
        </p:spPr>
        <p:txBody>
          <a:bodyPr/>
          <a:p/>
        </p:txBody>
      </p:sp>
      <p:pic>
        <p:nvPicPr>
          <p:cNvPr id="5" name="Image 0" descr="/home/claude/deck2/icons/cubes.png">    </p:cNvPr>
          <p:cNvPicPr>
            <a:picLocks noChangeAspect="1"/>
          </p:cNvPicPr>
          <p:nvPr/>
        </p:nvPicPr>
        <p:blipFill>
          <a:blip r:embed="rId1"/>
          <a:stretch>
            <a:fillRect/>
          </a:stretch>
        </p:blipFill>
        <p:spPr>
          <a:xfrm>
            <a:off x="9779965" y="2293315"/>
            <a:ext cx="351130" cy="351130"/>
          </a:xfrm>
          <a:prstGeom prst="rect">
            <a:avLst/>
          </a:prstGeom>
        </p:spPr>
      </p:pic>
      <p:sp>
        <p:nvSpPr>
          <p:cNvPr id="6" name="Shape 3"/>
          <p:cNvSpPr/>
          <p:nvPr/>
        </p:nvSpPr>
        <p:spPr>
          <a:xfrm>
            <a:off x="9571482" y="1965960"/>
            <a:ext cx="329184" cy="329184"/>
          </a:xfrm>
          <a:prstGeom prst="ellipse">
            <a:avLst/>
          </a:prstGeom>
          <a:solidFill>
            <a:srgbClr val="00BFA5"/>
          </a:solidFill>
          <a:ln/>
        </p:spPr>
        <p:txBody>
          <a:bodyPr/>
          <a:p/>
        </p:txBody>
      </p:sp>
      <p:sp>
        <p:nvSpPr>
          <p:cNvPr id="7" name="Text 4"/>
          <p:cNvSpPr txBox="1"/>
          <p:nvPr/>
        </p:nvSpPr>
        <p:spPr>
          <a:xfrm>
            <a:off x="957148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1</a:t>
            </a:r>
            <a:endParaRPr lang="en-US" sz="1300" dirty="0"/>
          </a:p>
        </p:txBody>
      </p:sp>
      <p:sp>
        <p:nvSpPr>
          <p:cNvPr id="8" name="Text 5"/>
          <p:cNvSpPr txBox="1"/>
          <p:nvPr/>
        </p:nvSpPr>
        <p:spPr>
          <a:xfrm>
            <a:off x="870966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Probation (1)</a:t>
            </a:r>
            <a:endParaRPr lang="en-US" sz="1250" dirty="0"/>
          </a:p>
        </p:txBody>
      </p:sp>
      <p:sp>
        <p:nvSpPr>
          <p:cNvPr id="9" name="Text 6"/>
          <p:cNvSpPr txBox="1"/>
          <p:nvPr/>
        </p:nvSpPr>
        <p:spPr>
          <a:xfrm>
            <a:off x="870966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بعد از requestMembership؛ نیازمند حضور در admin_peers</a:t>
            </a:r>
            <a:endParaRPr lang="en-US" sz="1050" dirty="0"/>
          </a:p>
        </p:txBody>
      </p:sp>
      <p:sp>
        <p:nvSpPr>
          <p:cNvPr id="10" name="Shape 7"/>
          <p:cNvSpPr/>
          <p:nvPr/>
        </p:nvSpPr>
        <p:spPr>
          <a:xfrm>
            <a:off x="8481060" y="2468880"/>
            <a:ext cx="228600" cy="0"/>
          </a:xfrm>
          <a:prstGeom prst="line">
            <a:avLst/>
          </a:prstGeom>
          <a:noFill/>
          <a:ln w="19050">
            <a:solidFill>
              <a:srgbClr val="C6D0D2"/>
            </a:solidFill>
            <a:prstDash val="solid"/>
          </a:ln>
        </p:spPr>
        <p:txBody>
          <a:bodyPr/>
          <a:p/>
        </p:txBody>
      </p:sp>
      <p:sp>
        <p:nvSpPr>
          <p:cNvPr id="11" name="Shape 8"/>
          <p:cNvSpPr/>
          <p:nvPr/>
        </p:nvSpPr>
        <p:spPr>
          <a:xfrm>
            <a:off x="6869430" y="2103120"/>
            <a:ext cx="731520" cy="731520"/>
          </a:xfrm>
          <a:prstGeom prst="ellipse">
            <a:avLst/>
          </a:prstGeom>
          <a:solidFill>
            <a:srgbClr val="263238"/>
          </a:solidFill>
          <a:ln/>
        </p:spPr>
        <p:txBody>
          <a:bodyPr/>
          <a:p/>
        </p:txBody>
      </p:sp>
      <p:pic>
        <p:nvPicPr>
          <p:cNvPr id="12" name="Image 1" descr="/home/claude/deck2/icons/shield.png">    </p:cNvPr>
          <p:cNvPicPr>
            <a:picLocks noChangeAspect="1"/>
          </p:cNvPicPr>
          <p:nvPr/>
        </p:nvPicPr>
        <p:blipFill>
          <a:blip r:embed="rId2"/>
          <a:stretch>
            <a:fillRect/>
          </a:stretch>
        </p:blipFill>
        <p:spPr>
          <a:xfrm>
            <a:off x="7059625" y="2293315"/>
            <a:ext cx="351130" cy="351130"/>
          </a:xfrm>
          <a:prstGeom prst="rect">
            <a:avLst/>
          </a:prstGeom>
        </p:spPr>
      </p:pic>
      <p:sp>
        <p:nvSpPr>
          <p:cNvPr id="13" name="Shape 9"/>
          <p:cNvSpPr/>
          <p:nvPr/>
        </p:nvSpPr>
        <p:spPr>
          <a:xfrm>
            <a:off x="6851142" y="1965960"/>
            <a:ext cx="329184" cy="329184"/>
          </a:xfrm>
          <a:prstGeom prst="ellipse">
            <a:avLst/>
          </a:prstGeom>
          <a:solidFill>
            <a:srgbClr val="00BFA5"/>
          </a:solidFill>
          <a:ln/>
        </p:spPr>
        <p:txBody>
          <a:bodyPr/>
          <a:p/>
        </p:txBody>
      </p:sp>
      <p:sp>
        <p:nvSpPr>
          <p:cNvPr id="14" name="Text 10"/>
          <p:cNvSpPr txBox="1"/>
          <p:nvPr/>
        </p:nvSpPr>
        <p:spPr>
          <a:xfrm>
            <a:off x="685114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2</a:t>
            </a:r>
            <a:endParaRPr lang="en-US" sz="1300" dirty="0"/>
          </a:p>
        </p:txBody>
      </p:sp>
      <p:sp>
        <p:nvSpPr>
          <p:cNvPr id="15" name="Text 11"/>
          <p:cNvSpPr txBox="1"/>
          <p:nvPr/>
        </p:nvSpPr>
        <p:spPr>
          <a:xfrm>
            <a:off x="598932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Active (2)</a:t>
            </a:r>
            <a:endParaRPr lang="en-US" sz="1250" dirty="0"/>
          </a:p>
        </p:txBody>
      </p:sp>
      <p:sp>
        <p:nvSpPr>
          <p:cNvPr id="16" name="Text 12"/>
          <p:cNvSpPr txBox="1"/>
          <p:nvPr/>
        </p:nvSpPr>
        <p:spPr>
          <a:xfrm>
            <a:off x="598932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recordActivation بعد از probation و نسبت ۹۵٪+ (محاسبه‌ی آف‌چین)</a:t>
            </a:r>
            <a:endParaRPr lang="en-US" sz="1050" dirty="0"/>
          </a:p>
        </p:txBody>
      </p:sp>
      <p:sp>
        <p:nvSpPr>
          <p:cNvPr id="17" name="Shape 13"/>
          <p:cNvSpPr/>
          <p:nvPr/>
        </p:nvSpPr>
        <p:spPr>
          <a:xfrm>
            <a:off x="5760720" y="2468880"/>
            <a:ext cx="228600" cy="0"/>
          </a:xfrm>
          <a:prstGeom prst="line">
            <a:avLst/>
          </a:prstGeom>
          <a:noFill/>
          <a:ln w="19050">
            <a:solidFill>
              <a:srgbClr val="C6D0D2"/>
            </a:solidFill>
            <a:prstDash val="solid"/>
          </a:ln>
        </p:spPr>
        <p:txBody>
          <a:bodyPr/>
          <a:p/>
        </p:txBody>
      </p:sp>
      <p:sp>
        <p:nvSpPr>
          <p:cNvPr id="18" name="Shape 14"/>
          <p:cNvSpPr/>
          <p:nvPr/>
        </p:nvSpPr>
        <p:spPr>
          <a:xfrm>
            <a:off x="4149090" y="2103120"/>
            <a:ext cx="731520" cy="731520"/>
          </a:xfrm>
          <a:prstGeom prst="ellipse">
            <a:avLst/>
          </a:prstGeom>
          <a:solidFill>
            <a:srgbClr val="263238"/>
          </a:solidFill>
          <a:ln/>
        </p:spPr>
        <p:txBody>
          <a:bodyPr/>
          <a:p/>
        </p:txBody>
      </p:sp>
      <p:pic>
        <p:nvPicPr>
          <p:cNvPr id="19" name="Image 2" descr="/home/claude/deck2/icons/warning.png">    </p:cNvPr>
          <p:cNvPicPr>
            <a:picLocks noChangeAspect="1"/>
          </p:cNvPicPr>
          <p:nvPr/>
        </p:nvPicPr>
        <p:blipFill>
          <a:blip r:embed="rId3"/>
          <a:stretch>
            <a:fillRect/>
          </a:stretch>
        </p:blipFill>
        <p:spPr>
          <a:xfrm>
            <a:off x="4339285" y="2293315"/>
            <a:ext cx="351130" cy="351130"/>
          </a:xfrm>
          <a:prstGeom prst="rect">
            <a:avLst/>
          </a:prstGeom>
        </p:spPr>
      </p:pic>
      <p:sp>
        <p:nvSpPr>
          <p:cNvPr id="20" name="Shape 15"/>
          <p:cNvSpPr/>
          <p:nvPr/>
        </p:nvSpPr>
        <p:spPr>
          <a:xfrm>
            <a:off x="4130802" y="1965960"/>
            <a:ext cx="329184" cy="329184"/>
          </a:xfrm>
          <a:prstGeom prst="ellipse">
            <a:avLst/>
          </a:prstGeom>
          <a:solidFill>
            <a:srgbClr val="00BFA5"/>
          </a:solidFill>
          <a:ln/>
        </p:spPr>
        <p:txBody>
          <a:bodyPr/>
          <a:p/>
        </p:txBody>
      </p:sp>
      <p:sp>
        <p:nvSpPr>
          <p:cNvPr id="21" name="Text 16"/>
          <p:cNvSpPr txBox="1"/>
          <p:nvPr/>
        </p:nvSpPr>
        <p:spPr>
          <a:xfrm>
            <a:off x="413080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3</a:t>
            </a:r>
            <a:endParaRPr lang="en-US" sz="1300" dirty="0"/>
          </a:p>
        </p:txBody>
      </p:sp>
      <p:sp>
        <p:nvSpPr>
          <p:cNvPr id="22" name="Text 17"/>
          <p:cNvSpPr txBox="1"/>
          <p:nvPr/>
        </p:nvSpPr>
        <p:spPr>
          <a:xfrm>
            <a:off x="326898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Demoted (3)</a:t>
            </a:r>
            <a:endParaRPr lang="en-US" sz="1250" dirty="0"/>
          </a:p>
        </p:txBody>
      </p:sp>
      <p:sp>
        <p:nvSpPr>
          <p:cNvPr id="23" name="Text 18"/>
          <p:cNvSpPr txBox="1"/>
          <p:nvPr/>
        </p:nvSpPr>
        <p:spPr>
          <a:xfrm>
            <a:off x="326898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recordSuspension توسط verifier بعد از ۴ ساعت غیرفعالیِ تأییدشده — حذف فوری از مجموعه‌ی فعال</a:t>
            </a:r>
            <a:endParaRPr lang="en-US" sz="1050" dirty="0"/>
          </a:p>
        </p:txBody>
      </p:sp>
      <p:sp>
        <p:nvSpPr>
          <p:cNvPr id="24" name="Shape 19"/>
          <p:cNvSpPr/>
          <p:nvPr/>
        </p:nvSpPr>
        <p:spPr>
          <a:xfrm>
            <a:off x="3040380" y="2468880"/>
            <a:ext cx="228600" cy="0"/>
          </a:xfrm>
          <a:prstGeom prst="line">
            <a:avLst/>
          </a:prstGeom>
          <a:noFill/>
          <a:ln w="19050">
            <a:solidFill>
              <a:srgbClr val="C6D0D2"/>
            </a:solidFill>
            <a:prstDash val="solid"/>
          </a:ln>
        </p:spPr>
        <p:txBody>
          <a:bodyPr/>
          <a:p/>
        </p:txBody>
      </p:sp>
      <p:sp>
        <p:nvSpPr>
          <p:cNvPr id="25" name="Shape 20"/>
          <p:cNvSpPr/>
          <p:nvPr/>
        </p:nvSpPr>
        <p:spPr>
          <a:xfrm>
            <a:off x="1428750" y="2103120"/>
            <a:ext cx="731520" cy="731520"/>
          </a:xfrm>
          <a:prstGeom prst="ellipse">
            <a:avLst/>
          </a:prstGeom>
          <a:solidFill>
            <a:srgbClr val="263238"/>
          </a:solidFill>
          <a:ln/>
        </p:spPr>
        <p:txBody>
          <a:bodyPr/>
          <a:p/>
        </p:txBody>
      </p:sp>
      <p:pic>
        <p:nvPicPr>
          <p:cNvPr id="26" name="Image 3" descr="/home/claude/deck2/icons/sync.png">    </p:cNvPr>
          <p:cNvPicPr>
            <a:picLocks noChangeAspect="1"/>
          </p:cNvPicPr>
          <p:nvPr/>
        </p:nvPicPr>
        <p:blipFill>
          <a:blip r:embed="rId4"/>
          <a:stretch>
            <a:fillRect/>
          </a:stretch>
        </p:blipFill>
        <p:spPr>
          <a:xfrm>
            <a:off x="1618945" y="2293315"/>
            <a:ext cx="351130" cy="351130"/>
          </a:xfrm>
          <a:prstGeom prst="rect">
            <a:avLst/>
          </a:prstGeom>
        </p:spPr>
      </p:pic>
      <p:sp>
        <p:nvSpPr>
          <p:cNvPr id="27" name="Shape 21"/>
          <p:cNvSpPr/>
          <p:nvPr/>
        </p:nvSpPr>
        <p:spPr>
          <a:xfrm>
            <a:off x="1410462" y="1965960"/>
            <a:ext cx="329184" cy="329184"/>
          </a:xfrm>
          <a:prstGeom prst="ellipse">
            <a:avLst/>
          </a:prstGeom>
          <a:solidFill>
            <a:srgbClr val="00BFA5"/>
          </a:solidFill>
          <a:ln/>
        </p:spPr>
        <p:txBody>
          <a:bodyPr/>
          <a:p/>
        </p:txBody>
      </p:sp>
      <p:sp>
        <p:nvSpPr>
          <p:cNvPr id="28" name="Text 22"/>
          <p:cNvSpPr txBox="1"/>
          <p:nvPr/>
        </p:nvSpPr>
        <p:spPr>
          <a:xfrm>
            <a:off x="141046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4</a:t>
            </a:r>
            <a:endParaRPr lang="en-US" sz="1300" dirty="0"/>
          </a:p>
        </p:txBody>
      </p:sp>
      <p:sp>
        <p:nvSpPr>
          <p:cNvPr id="29" name="Text 23"/>
          <p:cNvSpPr txBox="1"/>
          <p:nvPr/>
        </p:nvSpPr>
        <p:spPr>
          <a:xfrm>
            <a:off x="54864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بازگشت یا خروج</a:t>
            </a:r>
            <a:endParaRPr lang="en-US" sz="1250" dirty="0"/>
          </a:p>
        </p:txBody>
      </p:sp>
      <p:sp>
        <p:nvSpPr>
          <p:cNvPr id="30" name="Text 24"/>
          <p:cNvSpPr txBox="1"/>
          <p:nvPr/>
        </p:nvSpPr>
        <p:spPr>
          <a:xfrm>
            <a:off x="54864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recordRecovery حداقل recoveryPeriod بعد، فقط اگر پرونده‌ی معلقی نمانده؛ جریمه‌ی slashBps بلافاصله اجرا نمی‌شود (رخداد جمعی ← تحویل ← اعتراض/رأی)</a:t>
            </a:r>
            <a:endParaRPr lang="en-US" sz="1050" dirty="0"/>
          </a:p>
        </p:txBody>
      </p:sp>
      <p:sp>
        <p:nvSpPr>
          <p:cNvPr id="31" name="Shape 25"/>
          <p:cNvSpPr/>
          <p:nvPr/>
        </p:nvSpPr>
        <p:spPr>
          <a:xfrm>
            <a:off x="429768" y="6446520"/>
            <a:ext cx="310896" cy="310896"/>
          </a:xfrm>
          <a:prstGeom prst="ellipse">
            <a:avLst/>
          </a:prstGeom>
          <a:solidFill>
            <a:srgbClr val="FFFFFF"/>
          </a:solidFill>
          <a:ln/>
        </p:spPr>
        <p:txBody>
          <a:bodyPr/>
          <a:p/>
        </p:txBody>
      </p:sp>
      <p:pic>
        <p:nvPicPr>
          <p:cNvPr id="32" name="Image 4" descr="/home/claude/deck2/assets/logo.png">    </p:cNvPr>
          <p:cNvPicPr>
            <a:picLocks noChangeAspect="1"/>
          </p:cNvPicPr>
          <p:nvPr/>
        </p:nvPicPr>
        <p:blipFill>
          <a:blip r:embed="rId5"/>
          <a:stretch>
            <a:fillRect/>
          </a:stretch>
        </p:blipFill>
        <p:spPr>
          <a:xfrm>
            <a:off x="457200" y="6473952"/>
            <a:ext cx="256032" cy="256032"/>
          </a:xfrm>
          <a:prstGeom prst="rect">
            <a:avLst/>
          </a:prstGeom>
        </p:spPr>
      </p:pic>
      <p:sp>
        <p:nvSpPr>
          <p:cNvPr id="33" name="Text 26"/>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34" name="Text 27"/>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ValidatorsBoard.sol — 0x4444</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توابع کامل</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66620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تابع</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چه کسی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666206">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voteFor(candidate) / unvoteFor(candidate)</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هر ولیدیتور Active با هویت ثبت‌شده</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refreshBoard()</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permissionless — حداکثر هر ۳۰ روز (هیأت خالی: هر زمان)</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clearStaleVotes(validator)</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permissionless — بعد از recoveryPeriod+30 روز Demoted</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proposeRotateOracle / proposeRotateVerifier</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عضو دارای اختیار زنده — رأی داخلی اکثریت</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proposeApproveBudget</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عضو دارای اختیار زنده — حداقل ۳ رأی، در سقف‌های خزانه (تنها مسیر خرج)</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proposeSetEntryThresholdBase / GrowthFactor / MembershipFeeBps</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عضو دارای اختیار زنده — رأی داخلی اکثریت</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ValidatorsBoard — حاکمیت</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۵ صندلی؛ رأی آزاد، ترکیب ماهانه</a:t>
            </a:r>
            <a:endParaRPr lang="en-US" sz="2400" dirty="0"/>
          </a:p>
        </p:txBody>
      </p:sp>
      <p:sp>
        <p:nvSpPr>
          <p:cNvPr id="4" name="Shape 2"/>
          <p:cNvSpPr/>
          <p:nvPr/>
        </p:nvSpPr>
        <p:spPr>
          <a:xfrm>
            <a:off x="9966960" y="2005584"/>
            <a:ext cx="621792" cy="621792"/>
          </a:xfrm>
          <a:prstGeom prst="ellipse">
            <a:avLst/>
          </a:prstGeom>
          <a:solidFill>
            <a:srgbClr val="263238"/>
          </a:solidFill>
          <a:ln/>
        </p:spPr>
        <p:txBody>
          <a:bodyPr/>
          <a:p/>
        </p:txBody>
      </p:sp>
      <p:pic>
        <p:nvPicPr>
          <p:cNvPr id="5" name="Image 0" descr="/home/claude/deck2/icons/sync.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رأی آزاد و دائمی؛ ترکیب عادی هر ۳۰ روز</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refreshBoard() حداکثر هر ۳۰ روز ترکیب را اعمال می‌کند؛ عضو فعلی با صفر رأی هم کرسی‌اش را حفظ می‌کند (حداکثر یک چالشگر با رأی بیشتر جای کم‌رأی‌ترین را می‌گیرد)؛ درخواست خروج اختیار را فوراً قطع و جانشین را فعال می‌کند؛ تعلیق تا بازتعیین ماهانه اختیار را قطع نمی‌کند؛ کمتر از ۳ عضو دارای اختیار = توقف پرداخت</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00BFA5"/>
          </a:solidFill>
          <a:ln/>
        </p:spPr>
        <p:txBody>
          <a:bodyPr/>
          <a:p/>
        </p:txBody>
      </p:sp>
      <p:pic>
        <p:nvPicPr>
          <p:cNvPr id="10" name="Image 1" descr="/home/claude/deck2/icons/shield.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شش اختیار تفویضی — دقیقاً همین‌ها، نه بیشتر</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هیچ پارامتر امنیتی بنیادین (slashBps، recoveryPeriod و مشابه) در اختیار هیأت نیست.</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263238"/>
          </a:solidFill>
          <a:ln/>
        </p:spPr>
        <p:txBody>
          <a:bodyPr/>
          <a:p/>
        </p:txBody>
      </p:sp>
      <p:pic>
        <p:nvPicPr>
          <p:cNvPr id="15" name="Image 2" descr="/home/claude/deck2/icons/fingerprint.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پیش‌نیاز رأی: IDENTITY_REGISTRY.hasIdentity()</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نه دیگر REGISTRY.hasIdentity — این تغییر مستقیم روی این قرارداد اثر گذاشت.</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ValidatorsTreasury.sol — 0x5555</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تنها مسیر خرج: هیأت، در سقف‌های مجمع</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11658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تابع</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مسیر / نصاب</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1165860">
                <a:tc>
                  <a:txBody>
                    <a:bodyPr/>
                    <a:lstStyle/>
                    <a:p>
                      <a:pPr algn="r" indent="0" marL="0">
                        <a:buNone/>
                      </a:pPr>
                      <a:r>
                        <a:rPr lang="en-US" sz="1300" dirty="0">
                          <a:solidFill>
                            <a:srgbClr val="1B1B1B"/>
                          </a:solidFill>
                          <a:latin typeface="Courier New" pitchFamily="34" charset="0"/>
                          <a:ea typeface="Courier New" pitchFamily="34" charset="-122"/>
                          <a:cs typeface="Courier New" pitchFamily="34" charset="-120"/>
                        </a:rPr>
                        <a:t>proposeCapChange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B1B"/>
                          </a:solidFill>
                          <a:latin typeface="Calibri" pitchFamily="34" charset="0"/>
                          <a:ea typeface="Calibri" pitchFamily="34" charset="-122"/>
                          <a:cs typeface="Calibri" pitchFamily="34" charset="-120"/>
                        </a:rPr>
                        <a:t>ولیدیتور Active — رأی مجمع + تأخیر ۷روزه</a:t>
                      </a:r>
                      <a:endParaRPr lang="en-US" sz="13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1165860">
                <a:tc>
                  <a:txBody>
                    <a:bodyPr/>
                    <a:lstStyle/>
                    <a:p>
                      <a:pPr algn="r" indent="0" marL="0">
                        <a:buNone/>
                      </a:pPr>
                      <a:r>
                        <a:rPr lang="en-US" sz="1300" dirty="0">
                          <a:solidFill>
                            <a:srgbClr val="1B1B1B"/>
                          </a:solidFill>
                          <a:latin typeface="Courier New" pitchFamily="34" charset="0"/>
                          <a:ea typeface="Courier New" pitchFamily="34" charset="-122"/>
                          <a:cs typeface="Courier New" pitchFamily="34" charset="-120"/>
                        </a:rPr>
                        <a:t>voteCapChange / applyPendingCapChange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300" dirty="0">
                          <a:solidFill>
                            <a:srgbClr val="1B1B1B"/>
                          </a:solidFill>
                          <a:latin typeface="Calibri" pitchFamily="34" charset="0"/>
                          <a:ea typeface="Calibri" pitchFamily="34" charset="-122"/>
                          <a:cs typeface="Calibri" pitchFamily="34" charset="-120"/>
                        </a:rPr>
                        <a:t>رأی مجمع؛ اعمال فقط بعد از ۷ روز</a:t>
                      </a:r>
                      <a:endParaRPr lang="en-US" sz="13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1165860">
                <a:tc>
                  <a:txBody>
                    <a:bodyPr/>
                    <a:lstStyle/>
                    <a:p>
                      <a:pPr algn="r" indent="0" marL="0">
                        <a:buNone/>
                      </a:pPr>
                      <a:r>
                        <a:rPr lang="en-US" sz="1300" dirty="0">
                          <a:solidFill>
                            <a:srgbClr val="1B1B1B"/>
                          </a:solidFill>
                          <a:latin typeface="Courier New" pitchFamily="34" charset="0"/>
                          <a:ea typeface="Courier New" pitchFamily="34" charset="-122"/>
                          <a:cs typeface="Courier New" pitchFamily="34" charset="-120"/>
                        </a:rPr>
                        <a:t>boardApproveExpenditure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B1B"/>
                          </a:solidFill>
                          <a:latin typeface="Calibri" pitchFamily="34" charset="0"/>
                          <a:ea typeface="Calibri" pitchFamily="34" charset="-122"/>
                          <a:cs typeface="Calibri" pitchFamily="34" charset="-120"/>
                        </a:rPr>
                        <a:t>فقط ValidatorsBoard — هر پرداخت ≤ ۵۰٬۰۰۰ و مجموع ۳۰روزه ≤ ۲۰۰٬۰۰۰ سورن</a:t>
                      </a:r>
                      <a:endParaRPr lang="en-US" sz="13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BlockRewardDistributor.sol — 0x2222</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مکانیزم دریافت و توزیع</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93268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جنبه</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توضیح فنی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932688">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دریافت ریوارد/فی</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اعتبار مستقیم state-trie (miningbeneficiary) — بدون فراخوانی، بدون event</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932688">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distributeRewards(range{from,to}, validators[], blocksMined[], totalRewards, totalFees)</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distributionOracle، هر epoch (~۲۳ ساعت)؛ بازه دقیقاً بعد از lastSettledBlock؛ هر گیرنده everActivated؛ استحقاق تاریخی (N−1) با اوراکل — مرز اعتماد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932688">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تقسیم</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۱۵٪ کل ریوارد → FoundationDAO (ثابت)؛ ۵۰٪ پیش‌فرض کل ریوارد (حکمرانی‌شونده ۴۰-۶۵٪) → مستقیم ولیدیتورها؛ باقی‌مانده → ValidatorsTreasury؛ از فی معمولی ۳۰٪ سوزانده، ۷۰٪+۱۰۰٪ کارمزد عضویت → ولیدیتورها به نسبت بلاک</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932688">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setDistributionOracle</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ValidatorsBoard</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IdentityRegistry.sol — 0x6666</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توابع کامل</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66620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تابع</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چه کسی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666206">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registerIdentity(personType, name)</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هرکسی — خوداظهاری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hasIdentity(addr) / getVerificationStatus(addr)</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view — هرکسی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setPhoneVerified / setTelegramVerified</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identityOracle</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setKycVerified(addr, bool, commitment)</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identityOracle</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666206">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migrateIdentity(oldAddr, newAddr)</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identityOracle — بازیابی بعد از گم‌شدن کلید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666206">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setIdentityOracle(addr)</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FoundationDAO (از طریق proposeExecute)</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IdentityRegistry — معماری سه‌لایه</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ششمین قرارداد ساختاری</a:t>
            </a:r>
            <a:endParaRPr lang="en-US" sz="2400" dirty="0"/>
          </a:p>
        </p:txBody>
      </p:sp>
      <p:sp>
        <p:nvSpPr>
          <p:cNvPr id="4" name="Shape 2"/>
          <p:cNvSpPr/>
          <p:nvPr/>
        </p:nvSpPr>
        <p:spPr>
          <a:xfrm>
            <a:off x="9966960" y="2005584"/>
            <a:ext cx="621792" cy="621792"/>
          </a:xfrm>
          <a:prstGeom prst="ellipse">
            <a:avLst/>
          </a:prstGeom>
          <a:solidFill>
            <a:srgbClr val="263238"/>
          </a:solidFill>
          <a:ln/>
        </p:spPr>
        <p:txBody>
          <a:bodyPr/>
          <a:p/>
        </p:txBody>
      </p:sp>
      <p:pic>
        <p:nvPicPr>
          <p:cNvPr id="5" name="Image 0" descr="/home/claude/deck2/icons/fingerprint.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لایه ۱و۲: خوداظهاری + وریفای موبایل/تلگرام</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منتقل‌شده از ValidatorsRegistry، بدون تغییر منطقی.</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00BFA5"/>
          </a:solidFill>
          <a:ln/>
        </p:spPr>
        <p:txBody>
          <a:bodyPr/>
          <a:p/>
        </p:txBody>
      </p:sp>
      <p:pic>
        <p:nvPicPr>
          <p:cNvPr id="10" name="Image 1" descr="/home/claude/deck2/icons/shield.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لایه ۳: kycVerified + kycCommitment (اختیاری)</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commitment فقط هش نمکین برای اثبات عدم‌دستکاری — هرگز برای matching استفاده نمی‌شود.</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B71C1C"/>
          </a:solidFill>
          <a:ln/>
        </p:spPr>
        <p:txBody>
          <a:bodyPr/>
          <a:p/>
        </p:txBody>
      </p:sp>
      <p:pic>
        <p:nvPicPr>
          <p:cNvPr id="15" name="Image 2" descr="/home/claude/deck2/icons/warning.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کوئری «تطبیق» همیشه API آف‌چین است، هرگز تراکنش</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چون پارامتر ورودی خودِ تراکنش هم در calldata عمومی زنجیره قابل‌مشاهده است.</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SurenSale.sol — قرارداد جدا (نه genesis)</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توابع کامل</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تابع</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چه کسی</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777240">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receive()</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هرکسی — تأمین مالی از FoundationDAO</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777240">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currentPriceMilliToman() (تسویه) / currentPriceToman() (نمایش) / isSaleActive()</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view — مستقل از هر گزارشی، از block.timestamp</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777240">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reportPayment(buyer, tomanAmount, ref)</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paymentOracle — تسویه با currentPriceMilliToman؛ چک processedPayments</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777240">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setPaymentOracle(addr)</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FoundationDAO (از طریق proposeExecute)</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777240">
                <a:tc>
                  <a:txBody>
                    <a:bodyPr/>
                    <a:lstStyle/>
                    <a:p>
                      <a:pPr algn="r" indent="0" marL="0">
                        <a:buNone/>
                      </a:pPr>
                      <a:r>
                        <a:rPr lang="en-US" sz="1200" dirty="0">
                          <a:solidFill>
                            <a:srgbClr val="1B1B1B"/>
                          </a:solidFill>
                          <a:latin typeface="Courier New" pitchFamily="34" charset="0"/>
                          <a:ea typeface="Courier New" pitchFamily="34" charset="-122"/>
                          <a:cs typeface="Courier New" pitchFamily="34" charset="-120"/>
                        </a:rPr>
                        <a:t>sweepUnsold(to)</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B1B"/>
                          </a:solidFill>
                          <a:latin typeface="Calibri" pitchFamily="34" charset="0"/>
                          <a:ea typeface="Calibri" pitchFamily="34" charset="-122"/>
                          <a:cs typeface="Calibri" pitchFamily="34" charset="-120"/>
                        </a:rPr>
                        <a:t>فقط FoundationDAO — فقط بعد از پایان دوره‌ی فروش</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63238"/>
        </a:solidFill>
      </p:bgPr>
    </p:bg>
    <p:spTree>
      <p:nvGrpSpPr>
        <p:cNvPr id="1" name=""/>
        <p:cNvGrpSpPr/>
        <p:nvPr/>
      </p:nvGrpSpPr>
      <p:grpSpPr>
        <a:xfrm>
          <a:off x="0" y="0"/>
          <a:ext cx="0" cy="0"/>
          <a:chOff x="0" y="0"/>
          <a:chExt cx="0" cy="0"/>
        </a:xfrm>
      </p:grpSpPr>
      <p:sp>
        <p:nvSpPr>
          <p:cNvPr id="2" name="Text 0"/>
          <p:cNvSpPr txBox="1"/>
          <p:nvPr/>
        </p:nvSpPr>
        <p:spPr>
          <a:xfrm>
            <a:off x="731520" y="2377440"/>
            <a:ext cx="2743200" cy="1828800"/>
          </a:xfrm>
          <a:prstGeom prst="rect">
            <a:avLst/>
          </a:prstGeom>
          <a:noFill/>
          <a:ln/>
        </p:spPr>
        <p:txBody>
          <a:bodyPr wrap="square" lIns="0" tIns="0" rIns="0" bIns="0" rtlCol="0" anchor="ctr"/>
          <a:lstStyle/>
          <a:p>
            <a:pPr rtl="1" algn="r" indent="0" marL="0">
              <a:buNone/>
            </a:pPr>
            <a:r>
              <a:rPr lang="en-US" sz="9200" b="1" dirty="0">
                <a:solidFill>
                  <a:srgbClr val="3C4A50"/>
                </a:solidFill>
                <a:latin typeface="Arial" pitchFamily="34" charset="0"/>
                <a:ea typeface="Arial" pitchFamily="34" charset="-122"/>
                <a:cs typeface="Arial" pitchFamily="34" charset="-120"/>
              </a:rPr>
              <a:t>3</a:t>
            </a:r>
            <a:endParaRPr lang="en-US" sz="9200" dirty="0"/>
          </a:p>
        </p:txBody>
      </p:sp>
      <p:sp>
        <p:nvSpPr>
          <p:cNvPr id="3" name="Shape 1"/>
          <p:cNvSpPr/>
          <p:nvPr/>
        </p:nvSpPr>
        <p:spPr>
          <a:xfrm>
            <a:off x="3520440" y="2880360"/>
            <a:ext cx="54864" cy="1097280"/>
          </a:xfrm>
          <a:prstGeom prst="rect">
            <a:avLst/>
          </a:prstGeom>
          <a:solidFill>
            <a:srgbClr val="00BFA5"/>
          </a:solidFill>
          <a:ln/>
        </p:spPr>
        <p:txBody>
          <a:bodyPr/>
          <a:p/>
        </p:txBody>
      </p:sp>
      <p:sp>
        <p:nvSpPr>
          <p:cNvPr id="4" name="Text 2"/>
          <p:cNvSpPr txBox="1"/>
          <p:nvPr/>
        </p:nvSpPr>
        <p:spPr>
          <a:xfrm>
            <a:off x="3749040" y="2834640"/>
            <a:ext cx="7680960" cy="1188720"/>
          </a:xfrm>
          <a:prstGeom prst="rect">
            <a:avLst/>
          </a:prstGeom>
          <a:noFill/>
          <a:ln/>
        </p:spPr>
        <p:txBody>
          <a:bodyPr wrap="square" lIns="0" tIns="0" rIns="0" bIns="0" rtlCol="0" anchor="ctr"/>
          <a:lstStyle/>
          <a:p>
            <a:pPr rtl="1" algn="r" indent="0" marL="0">
              <a:buNone/>
            </a:pPr>
            <a:r>
              <a:rPr lang="en-US" sz="3000" b="1" dirty="0">
                <a:solidFill>
                  <a:srgbClr val="FFFFFF"/>
                </a:solidFill>
                <a:latin typeface="Cambria" pitchFamily="34" charset="0"/>
                <a:ea typeface="Cambria" pitchFamily="34" charset="-122"/>
                <a:cs typeface="Cambria" pitchFamily="34" charset="-120"/>
              </a:rPr>
              <a:t>همه‌ی اوراکل‌ها و کلیدگردانی</a:t>
            </a:r>
            <a:endParaRPr lang="en-US" sz="30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چهار کلید عملیاتی مستقل</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نقش، قرارداد میزبان، و مسیر چرخش هرکدام</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2766060"/>
                <a:gridCol w="2766060"/>
                <a:gridCol w="2766060"/>
                <a:gridCol w="2766060"/>
              </a:tblGrid>
              <a:tr h="93268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اوراکل</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قرارداد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نقش</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چرخش توسط</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932688">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distributionOracle</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BlockRewardDistributor</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گزارش توزیع ریوارد/فی</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ValidatorsBoard</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932688">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verifier</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ValidatorsRegistry</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گزارش لایوینس ولیدیتور</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ValidatorsBoard</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932688">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identityOracle</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IdentityRegistry</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وریفای موبایل/تلگرام/KYC</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FoundationDAO</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932688">
                <a:tc>
                  <a:txBody>
                    <a:bodyPr/>
                    <a:lstStyle/>
                    <a:p>
                      <a:pPr algn="r" indent="0" marL="0">
                        <a:buNone/>
                      </a:pPr>
                      <a:r>
                        <a:rPr lang="en-US" sz="1150" dirty="0">
                          <a:solidFill>
                            <a:srgbClr val="1B1B1B"/>
                          </a:solidFill>
                          <a:latin typeface="Courier New" pitchFamily="34" charset="0"/>
                          <a:ea typeface="Courier New" pitchFamily="34" charset="-122"/>
                          <a:cs typeface="Courier New" pitchFamily="34" charset="-120"/>
                        </a:rPr>
                        <a:t>paymentOracle</a:t>
                      </a:r>
                      <a:endParaRPr lang="en-US" sz="115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SurenSale</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گزارش پرداخت تأییدشده</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50" dirty="0">
                          <a:solidFill>
                            <a:srgbClr val="1B1B1B"/>
                          </a:solidFill>
                          <a:latin typeface="Calibri" pitchFamily="34" charset="0"/>
                          <a:ea typeface="Calibri" pitchFamily="34" charset="-122"/>
                          <a:cs typeface="Calibri" pitchFamily="34" charset="-120"/>
                        </a:rPr>
                        <a:t>FoundationDAO</a:t>
                      </a:r>
                      <a:endParaRPr lang="en-US" sz="115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اصل طراحی کلیدها</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چرا این تفکیک عمدی است</a:t>
            </a:r>
            <a:endParaRPr lang="en-US" sz="2400" dirty="0"/>
          </a:p>
        </p:txBody>
      </p:sp>
      <p:sp>
        <p:nvSpPr>
          <p:cNvPr id="4" name="Shape 2"/>
          <p:cNvSpPr/>
          <p:nvPr/>
        </p:nvSpPr>
        <p:spPr>
          <a:xfrm>
            <a:off x="9966960" y="2005584"/>
            <a:ext cx="621792" cy="621792"/>
          </a:xfrm>
          <a:prstGeom prst="ellipse">
            <a:avLst/>
          </a:prstGeom>
          <a:solidFill>
            <a:srgbClr val="263238"/>
          </a:solidFill>
          <a:ln/>
        </p:spPr>
        <p:txBody>
          <a:bodyPr/>
          <a:p/>
        </p:txBody>
      </p:sp>
      <p:pic>
        <p:nvPicPr>
          <p:cNvPr id="5" name="Image 0" descr="/home/claude/deck2/icons/shield.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دو کلید (distributionOracle، verifier) زیر نظر هیأت‌مدیره‌ی ولیدیتورها</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چون هردو مستقیماً به امنیت/اقتصاد شبکه‌ی ولیدیتوری مربوط‌اند.</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00BFA5"/>
          </a:solidFill>
          <a:ln/>
        </p:spPr>
        <p:txBody>
          <a:bodyPr/>
          <a:p/>
        </p:txBody>
      </p:sp>
      <p:pic>
        <p:nvPicPr>
          <p:cNvPr id="10" name="Image 1" descr="/home/claude/deck2/icons/fingerprint.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دو کلید دیگر (identityOracle، paymentOracle) زیر نظر بنیاد</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چون احراز هویت و فروش توکن، مسئولیت بنیاد است، نه امنیت شبکه‌ی ولیدیتوری.</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263238"/>
          </a:solidFill>
          <a:ln/>
        </p:spPr>
        <p:txBody>
          <a:bodyPr/>
          <a:p/>
        </p:txBody>
      </p:sp>
      <p:pic>
        <p:nvPicPr>
          <p:cNvPr id="15" name="Image 2" descr="/home/claude/deck2/icons/key.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هر چهار کلید در HashiCorp Vault — کاملاً جدا از هم</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هیچ‌کدام کلید مشترک ندارند؛ هرکدام policy/token مستقل خودشان را دارند.</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63238"/>
        </a:solidFill>
      </p:bgPr>
    </p:bg>
    <p:spTree>
      <p:nvGrpSpPr>
        <p:cNvPr id="1" name=""/>
        <p:cNvGrpSpPr/>
        <p:nvPr/>
      </p:nvGrpSpPr>
      <p:grpSpPr>
        <a:xfrm>
          <a:off x="0" y="0"/>
          <a:ext cx="0" cy="0"/>
          <a:chOff x="0" y="0"/>
          <a:chExt cx="0" cy="0"/>
        </a:xfrm>
      </p:grpSpPr>
      <p:sp>
        <p:nvSpPr>
          <p:cNvPr id="2" name="Text 0"/>
          <p:cNvSpPr txBox="1"/>
          <p:nvPr/>
        </p:nvSpPr>
        <p:spPr>
          <a:xfrm>
            <a:off x="731520" y="2377440"/>
            <a:ext cx="2743200" cy="1828800"/>
          </a:xfrm>
          <a:prstGeom prst="rect">
            <a:avLst/>
          </a:prstGeom>
          <a:noFill/>
          <a:ln/>
        </p:spPr>
        <p:txBody>
          <a:bodyPr wrap="square" lIns="0" tIns="0" rIns="0" bIns="0" rtlCol="0" anchor="ctr"/>
          <a:lstStyle/>
          <a:p>
            <a:pPr rtl="1" algn="r" indent="0" marL="0">
              <a:buNone/>
            </a:pPr>
            <a:r>
              <a:rPr lang="en-US" sz="9200" b="1" dirty="0">
                <a:solidFill>
                  <a:srgbClr val="3C4A50"/>
                </a:solidFill>
                <a:latin typeface="Arial" pitchFamily="34" charset="0"/>
                <a:ea typeface="Arial" pitchFamily="34" charset="-122"/>
                <a:cs typeface="Arial" pitchFamily="34" charset="-120"/>
              </a:rPr>
              <a:t>4</a:t>
            </a:r>
            <a:endParaRPr lang="en-US" sz="9200" dirty="0"/>
          </a:p>
        </p:txBody>
      </p:sp>
      <p:sp>
        <p:nvSpPr>
          <p:cNvPr id="3" name="Shape 1"/>
          <p:cNvSpPr/>
          <p:nvPr/>
        </p:nvSpPr>
        <p:spPr>
          <a:xfrm>
            <a:off x="3520440" y="2880360"/>
            <a:ext cx="54864" cy="1097280"/>
          </a:xfrm>
          <a:prstGeom prst="rect">
            <a:avLst/>
          </a:prstGeom>
          <a:solidFill>
            <a:srgbClr val="00BFA5"/>
          </a:solidFill>
          <a:ln/>
        </p:spPr>
        <p:txBody>
          <a:bodyPr/>
          <a:p/>
        </p:txBody>
      </p:sp>
      <p:sp>
        <p:nvSpPr>
          <p:cNvPr id="4" name="Text 2"/>
          <p:cNvSpPr txBox="1"/>
          <p:nvPr/>
        </p:nvSpPr>
        <p:spPr>
          <a:xfrm>
            <a:off x="3749040" y="2834640"/>
            <a:ext cx="7680960" cy="1188720"/>
          </a:xfrm>
          <a:prstGeom prst="rect">
            <a:avLst/>
          </a:prstGeom>
          <a:noFill/>
          <a:ln/>
        </p:spPr>
        <p:txBody>
          <a:bodyPr wrap="square" lIns="0" tIns="0" rIns="0" bIns="0" rtlCol="0" anchor="ctr"/>
          <a:lstStyle/>
          <a:p>
            <a:pPr rtl="1" algn="r" indent="0" marL="0">
              <a:buNone/>
            </a:pPr>
            <a:r>
              <a:rPr lang="en-US" sz="3000" b="1" dirty="0">
                <a:solidFill>
                  <a:srgbClr val="FFFFFF"/>
                </a:solidFill>
                <a:latin typeface="Cambria" pitchFamily="34" charset="0"/>
                <a:ea typeface="Cambria" pitchFamily="34" charset="-122"/>
                <a:cs typeface="Cambria" pitchFamily="34" charset="-120"/>
              </a:rPr>
              <a:t>سرویس‌های آف‌چین</a:t>
            </a:r>
            <a:endParaRPr lang="en-US" sz="30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چهار سرویس مستقل</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نقش هرکدام و کلید عملیاتی‌شان</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3688080"/>
                <a:gridCol w="3688080"/>
                <a:gridCol w="3688080"/>
              </a:tblGrid>
              <a:tr h="93268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سرویس</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نقش</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کلید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932688">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RewardRouter</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محاسبه و توزیع دوره‌ای ریوارد/فی</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distributionOracle</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932688">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Verifier</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گزارش liveness و وضعیت ولیدیتور</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verifier</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932688">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PaymentReporter</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گزارش پرداخت تأییدشده به SurenSale</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paymentOracle</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932688">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Identity Service</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eKYC + احراز موبایل/تلگرام + matching API</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identityOracle</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RewardRouter</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جریان کاری هر epoch (~۲۳ ساعت)</a:t>
            </a:r>
            <a:endParaRPr lang="en-US" sz="2400" dirty="0"/>
          </a:p>
        </p:txBody>
      </p:sp>
      <p:sp>
        <p:nvSpPr>
          <p:cNvPr id="4" name="Shape 2"/>
          <p:cNvSpPr/>
          <p:nvPr/>
        </p:nvSpPr>
        <p:spPr>
          <a:xfrm>
            <a:off x="9589770" y="2103120"/>
            <a:ext cx="731520" cy="731520"/>
          </a:xfrm>
          <a:prstGeom prst="ellipse">
            <a:avLst/>
          </a:prstGeom>
          <a:solidFill>
            <a:srgbClr val="263238"/>
          </a:solidFill>
          <a:ln/>
        </p:spPr>
        <p:txBody>
          <a:bodyPr/>
          <a:p/>
        </p:txBody>
      </p:sp>
      <p:pic>
        <p:nvPicPr>
          <p:cNvPr id="5" name="Image 0" descr="/home/claude/deck2/icons/search.png">    </p:cNvPr>
          <p:cNvPicPr>
            <a:picLocks noChangeAspect="1"/>
          </p:cNvPicPr>
          <p:nvPr/>
        </p:nvPicPr>
        <p:blipFill>
          <a:blip r:embed="rId1"/>
          <a:stretch>
            <a:fillRect/>
          </a:stretch>
        </p:blipFill>
        <p:spPr>
          <a:xfrm>
            <a:off x="9779965" y="2293315"/>
            <a:ext cx="351130" cy="351130"/>
          </a:xfrm>
          <a:prstGeom prst="rect">
            <a:avLst/>
          </a:prstGeom>
        </p:spPr>
      </p:pic>
      <p:sp>
        <p:nvSpPr>
          <p:cNvPr id="6" name="Shape 3"/>
          <p:cNvSpPr/>
          <p:nvPr/>
        </p:nvSpPr>
        <p:spPr>
          <a:xfrm>
            <a:off x="9571482" y="1965960"/>
            <a:ext cx="329184" cy="329184"/>
          </a:xfrm>
          <a:prstGeom prst="ellipse">
            <a:avLst/>
          </a:prstGeom>
          <a:solidFill>
            <a:srgbClr val="00BFA5"/>
          </a:solidFill>
          <a:ln/>
        </p:spPr>
        <p:txBody>
          <a:bodyPr/>
          <a:p/>
        </p:txBody>
      </p:sp>
      <p:sp>
        <p:nvSpPr>
          <p:cNvPr id="7" name="Text 4"/>
          <p:cNvSpPr txBox="1"/>
          <p:nvPr/>
        </p:nvSpPr>
        <p:spPr>
          <a:xfrm>
            <a:off x="957148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1</a:t>
            </a:r>
            <a:endParaRPr lang="en-US" sz="1300" dirty="0"/>
          </a:p>
        </p:txBody>
      </p:sp>
      <p:sp>
        <p:nvSpPr>
          <p:cNvPr id="8" name="Text 5"/>
          <p:cNvSpPr txBox="1"/>
          <p:nvPr/>
        </p:nvSpPr>
        <p:spPr>
          <a:xfrm>
            <a:off x="870966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اسکن بلاک‌ها</a:t>
            </a:r>
            <a:endParaRPr lang="en-US" sz="1250" dirty="0"/>
          </a:p>
        </p:txBody>
      </p:sp>
      <p:sp>
        <p:nvSpPr>
          <p:cNvPr id="9" name="Text 6"/>
          <p:cNvSpPr txBox="1"/>
          <p:nvPr/>
        </p:nvSpPr>
        <p:spPr>
          <a:xfrm>
            <a:off x="870966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از lastSettledBlock+1 تا L (آخرین بلاک مهرشده) — بدون margin</a:t>
            </a:r>
            <a:endParaRPr lang="en-US" sz="1050" dirty="0"/>
          </a:p>
        </p:txBody>
      </p:sp>
      <p:sp>
        <p:nvSpPr>
          <p:cNvPr id="10" name="Shape 7"/>
          <p:cNvSpPr/>
          <p:nvPr/>
        </p:nvSpPr>
        <p:spPr>
          <a:xfrm>
            <a:off x="8481060" y="2468880"/>
            <a:ext cx="228600" cy="0"/>
          </a:xfrm>
          <a:prstGeom prst="line">
            <a:avLst/>
          </a:prstGeom>
          <a:noFill/>
          <a:ln w="19050">
            <a:solidFill>
              <a:srgbClr val="C6D0D2"/>
            </a:solidFill>
            <a:prstDash val="solid"/>
          </a:ln>
        </p:spPr>
        <p:txBody>
          <a:bodyPr/>
          <a:p/>
        </p:txBody>
      </p:sp>
      <p:sp>
        <p:nvSpPr>
          <p:cNvPr id="11" name="Shape 8"/>
          <p:cNvSpPr/>
          <p:nvPr/>
        </p:nvSpPr>
        <p:spPr>
          <a:xfrm>
            <a:off x="6869430" y="2103120"/>
            <a:ext cx="731520" cy="731520"/>
          </a:xfrm>
          <a:prstGeom prst="ellipse">
            <a:avLst/>
          </a:prstGeom>
          <a:solidFill>
            <a:srgbClr val="263238"/>
          </a:solidFill>
          <a:ln/>
        </p:spPr>
        <p:txBody>
          <a:bodyPr/>
          <a:p/>
        </p:txBody>
      </p:sp>
      <p:pic>
        <p:nvPicPr>
          <p:cNvPr id="12" name="Image 1" descr="/home/claude/deck2/icons/cubes.png">    </p:cNvPr>
          <p:cNvPicPr>
            <a:picLocks noChangeAspect="1"/>
          </p:cNvPicPr>
          <p:nvPr/>
        </p:nvPicPr>
        <p:blipFill>
          <a:blip r:embed="rId2"/>
          <a:stretch>
            <a:fillRect/>
          </a:stretch>
        </p:blipFill>
        <p:spPr>
          <a:xfrm>
            <a:off x="7059625" y="2293315"/>
            <a:ext cx="351130" cy="351130"/>
          </a:xfrm>
          <a:prstGeom prst="rect">
            <a:avLst/>
          </a:prstGeom>
        </p:spPr>
      </p:pic>
      <p:sp>
        <p:nvSpPr>
          <p:cNvPr id="13" name="Shape 9"/>
          <p:cNvSpPr/>
          <p:nvPr/>
        </p:nvSpPr>
        <p:spPr>
          <a:xfrm>
            <a:off x="6851142" y="1965960"/>
            <a:ext cx="329184" cy="329184"/>
          </a:xfrm>
          <a:prstGeom prst="ellipse">
            <a:avLst/>
          </a:prstGeom>
          <a:solidFill>
            <a:srgbClr val="00BFA5"/>
          </a:solidFill>
          <a:ln/>
        </p:spPr>
        <p:txBody>
          <a:bodyPr/>
          <a:p/>
        </p:txBody>
      </p:sp>
      <p:sp>
        <p:nvSpPr>
          <p:cNvPr id="14" name="Text 10"/>
          <p:cNvSpPr txBox="1"/>
          <p:nvPr/>
        </p:nvSpPr>
        <p:spPr>
          <a:xfrm>
            <a:off x="685114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2</a:t>
            </a:r>
            <a:endParaRPr lang="en-US" sz="1300" dirty="0"/>
          </a:p>
        </p:txBody>
      </p:sp>
      <p:sp>
        <p:nvSpPr>
          <p:cNvPr id="15" name="Text 11"/>
          <p:cNvSpPr txBox="1"/>
          <p:nvPr/>
        </p:nvSpPr>
        <p:spPr>
          <a:xfrm>
            <a:off x="598932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trace_block + receipt</a:t>
            </a:r>
            <a:endParaRPr lang="en-US" sz="1250" dirty="0"/>
          </a:p>
        </p:txBody>
      </p:sp>
      <p:sp>
        <p:nvSpPr>
          <p:cNvPr id="16" name="Text 12"/>
          <p:cNvSpPr txBox="1"/>
          <p:nvPr/>
        </p:nvSpPr>
        <p:spPr>
          <a:xfrm>
            <a:off x="598932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ریوارد از trace؛ فی = gasUsed×(effectiveGasPrice−baseFee)</a:t>
            </a:r>
            <a:endParaRPr lang="en-US" sz="1050" dirty="0"/>
          </a:p>
        </p:txBody>
      </p:sp>
      <p:sp>
        <p:nvSpPr>
          <p:cNvPr id="17" name="Shape 13"/>
          <p:cNvSpPr/>
          <p:nvPr/>
        </p:nvSpPr>
        <p:spPr>
          <a:xfrm>
            <a:off x="5760720" y="2468880"/>
            <a:ext cx="228600" cy="0"/>
          </a:xfrm>
          <a:prstGeom prst="line">
            <a:avLst/>
          </a:prstGeom>
          <a:noFill/>
          <a:ln w="19050">
            <a:solidFill>
              <a:srgbClr val="C6D0D2"/>
            </a:solidFill>
            <a:prstDash val="solid"/>
          </a:ln>
        </p:spPr>
        <p:txBody>
          <a:bodyPr/>
          <a:p/>
        </p:txBody>
      </p:sp>
      <p:sp>
        <p:nvSpPr>
          <p:cNvPr id="18" name="Shape 14"/>
          <p:cNvSpPr/>
          <p:nvPr/>
        </p:nvSpPr>
        <p:spPr>
          <a:xfrm>
            <a:off x="4149090" y="2103120"/>
            <a:ext cx="731520" cy="731520"/>
          </a:xfrm>
          <a:prstGeom prst="ellipse">
            <a:avLst/>
          </a:prstGeom>
          <a:solidFill>
            <a:srgbClr val="263238"/>
          </a:solidFill>
          <a:ln/>
        </p:spPr>
        <p:txBody>
          <a:bodyPr/>
          <a:p/>
        </p:txBody>
      </p:sp>
      <p:pic>
        <p:nvPicPr>
          <p:cNvPr id="19" name="Image 2" descr="/home/claude/deck2/icons/sync.png">    </p:cNvPr>
          <p:cNvPicPr>
            <a:picLocks noChangeAspect="1"/>
          </p:cNvPicPr>
          <p:nvPr/>
        </p:nvPicPr>
        <p:blipFill>
          <a:blip r:embed="rId3"/>
          <a:stretch>
            <a:fillRect/>
          </a:stretch>
        </p:blipFill>
        <p:spPr>
          <a:xfrm>
            <a:off x="4339285" y="2293315"/>
            <a:ext cx="351130" cy="351130"/>
          </a:xfrm>
          <a:prstGeom prst="rect">
            <a:avLst/>
          </a:prstGeom>
        </p:spPr>
      </p:pic>
      <p:sp>
        <p:nvSpPr>
          <p:cNvPr id="20" name="Shape 15"/>
          <p:cNvSpPr/>
          <p:nvPr/>
        </p:nvSpPr>
        <p:spPr>
          <a:xfrm>
            <a:off x="4130802" y="1965960"/>
            <a:ext cx="329184" cy="329184"/>
          </a:xfrm>
          <a:prstGeom prst="ellipse">
            <a:avLst/>
          </a:prstGeom>
          <a:solidFill>
            <a:srgbClr val="00BFA5"/>
          </a:solidFill>
          <a:ln/>
        </p:spPr>
        <p:txBody>
          <a:bodyPr/>
          <a:p/>
        </p:txBody>
      </p:sp>
      <p:sp>
        <p:nvSpPr>
          <p:cNvPr id="21" name="Text 16"/>
          <p:cNvSpPr txBox="1"/>
          <p:nvPr/>
        </p:nvSpPr>
        <p:spPr>
          <a:xfrm>
            <a:off x="413080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3</a:t>
            </a:r>
            <a:endParaRPr lang="en-US" sz="1300" dirty="0"/>
          </a:p>
        </p:txBody>
      </p:sp>
      <p:sp>
        <p:nvSpPr>
          <p:cNvPr id="22" name="Text 17"/>
          <p:cNvSpPr txBox="1"/>
          <p:nvPr/>
        </p:nvSpPr>
        <p:spPr>
          <a:xfrm>
            <a:off x="326898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Aggregate + استحقاق تاریخی</a:t>
            </a:r>
            <a:endParaRPr lang="en-US" sz="1250" dirty="0"/>
          </a:p>
        </p:txBody>
      </p:sp>
      <p:sp>
        <p:nvSpPr>
          <p:cNvPr id="23" name="Text 18"/>
          <p:cNvSpPr txBox="1"/>
          <p:nvPr/>
        </p:nvSpPr>
        <p:spPr>
          <a:xfrm>
            <a:off x="326898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فعال هنگام تولید (N−1)؛ قرارداد everActivated را چک می‌کند</a:t>
            </a:r>
            <a:endParaRPr lang="en-US" sz="1050" dirty="0"/>
          </a:p>
        </p:txBody>
      </p:sp>
      <p:sp>
        <p:nvSpPr>
          <p:cNvPr id="24" name="Shape 19"/>
          <p:cNvSpPr/>
          <p:nvPr/>
        </p:nvSpPr>
        <p:spPr>
          <a:xfrm>
            <a:off x="3040380" y="2468880"/>
            <a:ext cx="228600" cy="0"/>
          </a:xfrm>
          <a:prstGeom prst="line">
            <a:avLst/>
          </a:prstGeom>
          <a:noFill/>
          <a:ln w="19050">
            <a:solidFill>
              <a:srgbClr val="C6D0D2"/>
            </a:solidFill>
            <a:prstDash val="solid"/>
          </a:ln>
        </p:spPr>
        <p:txBody>
          <a:bodyPr/>
          <a:p/>
        </p:txBody>
      </p:sp>
      <p:sp>
        <p:nvSpPr>
          <p:cNvPr id="25" name="Shape 20"/>
          <p:cNvSpPr/>
          <p:nvPr/>
        </p:nvSpPr>
        <p:spPr>
          <a:xfrm>
            <a:off x="1428750" y="2103120"/>
            <a:ext cx="731520" cy="731520"/>
          </a:xfrm>
          <a:prstGeom prst="ellipse">
            <a:avLst/>
          </a:prstGeom>
          <a:solidFill>
            <a:srgbClr val="263238"/>
          </a:solidFill>
          <a:ln/>
        </p:spPr>
        <p:txBody>
          <a:bodyPr/>
          <a:p/>
        </p:txBody>
      </p:sp>
      <p:pic>
        <p:nvPicPr>
          <p:cNvPr id="26" name="Image 3" descr="/home/claude/deck2/icons/key.png">    </p:cNvPr>
          <p:cNvPicPr>
            <a:picLocks noChangeAspect="1"/>
          </p:cNvPicPr>
          <p:nvPr/>
        </p:nvPicPr>
        <p:blipFill>
          <a:blip r:embed="rId4"/>
          <a:stretch>
            <a:fillRect/>
          </a:stretch>
        </p:blipFill>
        <p:spPr>
          <a:xfrm>
            <a:off x="1618945" y="2293315"/>
            <a:ext cx="351130" cy="351130"/>
          </a:xfrm>
          <a:prstGeom prst="rect">
            <a:avLst/>
          </a:prstGeom>
        </p:spPr>
      </p:pic>
      <p:sp>
        <p:nvSpPr>
          <p:cNvPr id="27" name="Shape 21"/>
          <p:cNvSpPr/>
          <p:nvPr/>
        </p:nvSpPr>
        <p:spPr>
          <a:xfrm>
            <a:off x="1410462" y="1965960"/>
            <a:ext cx="329184" cy="329184"/>
          </a:xfrm>
          <a:prstGeom prst="ellipse">
            <a:avLst/>
          </a:prstGeom>
          <a:solidFill>
            <a:srgbClr val="00BFA5"/>
          </a:solidFill>
          <a:ln/>
        </p:spPr>
        <p:txBody>
          <a:bodyPr/>
          <a:p/>
        </p:txBody>
      </p:sp>
      <p:sp>
        <p:nvSpPr>
          <p:cNvPr id="28" name="Text 22"/>
          <p:cNvSpPr txBox="1"/>
          <p:nvPr/>
        </p:nvSpPr>
        <p:spPr>
          <a:xfrm>
            <a:off x="141046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4</a:t>
            </a:r>
            <a:endParaRPr lang="en-US" sz="1300" dirty="0"/>
          </a:p>
        </p:txBody>
      </p:sp>
      <p:sp>
        <p:nvSpPr>
          <p:cNvPr id="29" name="Text 23"/>
          <p:cNvSpPr txBox="1"/>
          <p:nvPr/>
        </p:nvSpPr>
        <p:spPr>
          <a:xfrm>
            <a:off x="54864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distributeRewards()</a:t>
            </a:r>
            <a:endParaRPr lang="en-US" sz="1250" dirty="0"/>
          </a:p>
        </p:txBody>
      </p:sp>
      <p:sp>
        <p:nvSpPr>
          <p:cNvPr id="30" name="Text 24"/>
          <p:cNvSpPr txBox="1"/>
          <p:nvPr/>
        </p:nvSpPr>
        <p:spPr>
          <a:xfrm>
            <a:off x="54864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بازه‌ی دقیق و پیوسته؛ امضا با کلید Vault؛ state فقط بعد از تأیید واقعی commit می‌شود</a:t>
            </a:r>
            <a:endParaRPr lang="en-US" sz="1050" dirty="0"/>
          </a:p>
        </p:txBody>
      </p:sp>
      <p:sp>
        <p:nvSpPr>
          <p:cNvPr id="31" name="Shape 25"/>
          <p:cNvSpPr/>
          <p:nvPr/>
        </p:nvSpPr>
        <p:spPr>
          <a:xfrm>
            <a:off x="429768" y="6446520"/>
            <a:ext cx="310896" cy="310896"/>
          </a:xfrm>
          <a:prstGeom prst="ellipse">
            <a:avLst/>
          </a:prstGeom>
          <a:solidFill>
            <a:srgbClr val="FFFFFF"/>
          </a:solidFill>
          <a:ln/>
        </p:spPr>
        <p:txBody>
          <a:bodyPr/>
          <a:p/>
        </p:txBody>
      </p:sp>
      <p:pic>
        <p:nvPicPr>
          <p:cNvPr id="32" name="Image 4" descr="/home/claude/deck2/assets/logo.png">    </p:cNvPr>
          <p:cNvPicPr>
            <a:picLocks noChangeAspect="1"/>
          </p:cNvPicPr>
          <p:nvPr/>
        </p:nvPicPr>
        <p:blipFill>
          <a:blip r:embed="rId5"/>
          <a:stretch>
            <a:fillRect/>
          </a:stretch>
        </p:blipFill>
        <p:spPr>
          <a:xfrm>
            <a:off x="457200" y="6473952"/>
            <a:ext cx="256032" cy="256032"/>
          </a:xfrm>
          <a:prstGeom prst="rect">
            <a:avLst/>
          </a:prstGeom>
        </p:spPr>
      </p:pic>
      <p:sp>
        <p:nvSpPr>
          <p:cNvPr id="33" name="Text 26"/>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34" name="Text 27"/>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Verifier</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کشف IP از admin_peers، نه خوداظهاری خام</a:t>
            </a:r>
            <a:endParaRPr lang="en-US" sz="2400" dirty="0"/>
          </a:p>
        </p:txBody>
      </p:sp>
      <p:sp>
        <p:nvSpPr>
          <p:cNvPr id="4" name="Shape 2"/>
          <p:cNvSpPr/>
          <p:nvPr/>
        </p:nvSpPr>
        <p:spPr>
          <a:xfrm>
            <a:off x="9966960" y="2005584"/>
            <a:ext cx="621792" cy="621792"/>
          </a:xfrm>
          <a:prstGeom prst="ellipse">
            <a:avLst/>
          </a:prstGeom>
          <a:solidFill>
            <a:srgbClr val="263238"/>
          </a:solidFill>
          <a:ln/>
        </p:spPr>
        <p:txBody>
          <a:bodyPr/>
          <a:p/>
        </p:txBody>
      </p:sp>
      <p:pic>
        <p:nvPicPr>
          <p:cNvPr id="5" name="Image 0" descr="/home/claude/deck2/icons/network.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ولیدیتور فقط nodeID (بخش ثابت enode) را ثبت می‌کند، نه IP</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نود مانیتورینگ verifier با admin_peers، IP فعلی را زنده از لایه‌ی P2P می‌خواند.</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00BFA5"/>
          </a:solidFill>
          <a:ln/>
        </p:spPr>
        <p:txBody>
          <a:bodyPr/>
          <a:p/>
        </p:txBody>
      </p:sp>
      <p:pic>
        <p:nvPicPr>
          <p:cNvPr id="10" name="Image 1" descr="/home/claude/deck2/icons/sync.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الگوریتم دقیق: Probation = حضور در admin_peers، Active = تولید واقعی بلاک</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پنجره‌ی ~۴۸۰۰ بلاک (۴ ساعت)؛ صرف نبود بلاک کافی نیست — فرصت مشارکت و سلامت شبکه هم بررسی می‌شود.</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263238"/>
          </a:solidFill>
          <a:ln/>
        </p:spPr>
        <p:txBody>
          <a:bodyPr/>
          <a:p/>
        </p:txBody>
      </p:sp>
      <p:pic>
        <p:nvPicPr>
          <p:cNvPr id="15" name="Image 2" descr="/home/claude/deck2/icons/shield.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یک Verifier؛ افزونگی فقط برای دسترس‌پذیری: نمونه‌ی polling جانشین + سرویس امضای مشترک (نه چندناظری)</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polling ارزان و تکرارپذیر؛ امضا متمرکز و امن (Vault) — جدا از هم طراحی شده‌اند.</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PaymentReporter</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واسط بین درگاه پرداخت و SurenSale</a:t>
            </a:r>
            <a:endParaRPr lang="en-US" sz="2400" dirty="0"/>
          </a:p>
        </p:txBody>
      </p:sp>
      <p:sp>
        <p:nvSpPr>
          <p:cNvPr id="4" name="Shape 2"/>
          <p:cNvSpPr/>
          <p:nvPr/>
        </p:nvSpPr>
        <p:spPr>
          <a:xfrm>
            <a:off x="9589770" y="2103120"/>
            <a:ext cx="731520" cy="731520"/>
          </a:xfrm>
          <a:prstGeom prst="ellipse">
            <a:avLst/>
          </a:prstGeom>
          <a:solidFill>
            <a:srgbClr val="263238"/>
          </a:solidFill>
          <a:ln/>
        </p:spPr>
        <p:txBody>
          <a:bodyPr/>
          <a:p/>
        </p:txBody>
      </p:sp>
      <p:pic>
        <p:nvPicPr>
          <p:cNvPr id="5" name="Image 0" descr="/home/claude/deck2/icons/money.png">    </p:cNvPr>
          <p:cNvPicPr>
            <a:picLocks noChangeAspect="1"/>
          </p:cNvPicPr>
          <p:nvPr/>
        </p:nvPicPr>
        <p:blipFill>
          <a:blip r:embed="rId1"/>
          <a:stretch>
            <a:fillRect/>
          </a:stretch>
        </p:blipFill>
        <p:spPr>
          <a:xfrm>
            <a:off x="9779965" y="2293315"/>
            <a:ext cx="351130" cy="351130"/>
          </a:xfrm>
          <a:prstGeom prst="rect">
            <a:avLst/>
          </a:prstGeom>
        </p:spPr>
      </p:pic>
      <p:sp>
        <p:nvSpPr>
          <p:cNvPr id="6" name="Shape 3"/>
          <p:cNvSpPr/>
          <p:nvPr/>
        </p:nvSpPr>
        <p:spPr>
          <a:xfrm>
            <a:off x="9571482" y="1965960"/>
            <a:ext cx="329184" cy="329184"/>
          </a:xfrm>
          <a:prstGeom prst="ellipse">
            <a:avLst/>
          </a:prstGeom>
          <a:solidFill>
            <a:srgbClr val="00BFA5"/>
          </a:solidFill>
          <a:ln/>
        </p:spPr>
        <p:txBody>
          <a:bodyPr/>
          <a:p/>
        </p:txBody>
      </p:sp>
      <p:sp>
        <p:nvSpPr>
          <p:cNvPr id="7" name="Text 4"/>
          <p:cNvSpPr txBox="1"/>
          <p:nvPr/>
        </p:nvSpPr>
        <p:spPr>
          <a:xfrm>
            <a:off x="957148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1</a:t>
            </a:r>
            <a:endParaRPr lang="en-US" sz="1300" dirty="0"/>
          </a:p>
        </p:txBody>
      </p:sp>
      <p:sp>
        <p:nvSpPr>
          <p:cNvPr id="8" name="Text 5"/>
          <p:cNvSpPr txBox="1"/>
          <p:nvPr/>
        </p:nvSpPr>
        <p:spPr>
          <a:xfrm>
            <a:off x="870966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دریافت webhook</a:t>
            </a:r>
            <a:endParaRPr lang="en-US" sz="1250" dirty="0"/>
          </a:p>
        </p:txBody>
      </p:sp>
      <p:sp>
        <p:nvSpPr>
          <p:cNvPr id="9" name="Text 6"/>
          <p:cNvSpPr txBox="1"/>
          <p:nvPr/>
        </p:nvSpPr>
        <p:spPr>
          <a:xfrm>
            <a:off x="870966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از درگاه پرداخت بانکی</a:t>
            </a:r>
            <a:endParaRPr lang="en-US" sz="1050" dirty="0"/>
          </a:p>
        </p:txBody>
      </p:sp>
      <p:sp>
        <p:nvSpPr>
          <p:cNvPr id="10" name="Shape 7"/>
          <p:cNvSpPr/>
          <p:nvPr/>
        </p:nvSpPr>
        <p:spPr>
          <a:xfrm>
            <a:off x="8481060" y="2468880"/>
            <a:ext cx="228600" cy="0"/>
          </a:xfrm>
          <a:prstGeom prst="line">
            <a:avLst/>
          </a:prstGeom>
          <a:noFill/>
          <a:ln w="19050">
            <a:solidFill>
              <a:srgbClr val="C6D0D2"/>
            </a:solidFill>
            <a:prstDash val="solid"/>
          </a:ln>
        </p:spPr>
        <p:txBody>
          <a:bodyPr/>
          <a:p/>
        </p:txBody>
      </p:sp>
      <p:sp>
        <p:nvSpPr>
          <p:cNvPr id="11" name="Shape 8"/>
          <p:cNvSpPr/>
          <p:nvPr/>
        </p:nvSpPr>
        <p:spPr>
          <a:xfrm>
            <a:off x="6869430" y="2103120"/>
            <a:ext cx="731520" cy="731520"/>
          </a:xfrm>
          <a:prstGeom prst="ellipse">
            <a:avLst/>
          </a:prstGeom>
          <a:solidFill>
            <a:srgbClr val="263238"/>
          </a:solidFill>
          <a:ln/>
        </p:spPr>
        <p:txBody>
          <a:bodyPr/>
          <a:p/>
        </p:txBody>
      </p:sp>
      <p:pic>
        <p:nvPicPr>
          <p:cNvPr id="12" name="Image 1" descr="/home/claude/deck2/icons/search.png">    </p:cNvPr>
          <p:cNvPicPr>
            <a:picLocks noChangeAspect="1"/>
          </p:cNvPicPr>
          <p:nvPr/>
        </p:nvPicPr>
        <p:blipFill>
          <a:blip r:embed="rId2"/>
          <a:stretch>
            <a:fillRect/>
          </a:stretch>
        </p:blipFill>
        <p:spPr>
          <a:xfrm>
            <a:off x="7059625" y="2293315"/>
            <a:ext cx="351130" cy="351130"/>
          </a:xfrm>
          <a:prstGeom prst="rect">
            <a:avLst/>
          </a:prstGeom>
        </p:spPr>
      </p:pic>
      <p:sp>
        <p:nvSpPr>
          <p:cNvPr id="13" name="Shape 9"/>
          <p:cNvSpPr/>
          <p:nvPr/>
        </p:nvSpPr>
        <p:spPr>
          <a:xfrm>
            <a:off x="6851142" y="1965960"/>
            <a:ext cx="329184" cy="329184"/>
          </a:xfrm>
          <a:prstGeom prst="ellipse">
            <a:avLst/>
          </a:prstGeom>
          <a:solidFill>
            <a:srgbClr val="00BFA5"/>
          </a:solidFill>
          <a:ln/>
        </p:spPr>
        <p:txBody>
          <a:bodyPr/>
          <a:p/>
        </p:txBody>
      </p:sp>
      <p:sp>
        <p:nvSpPr>
          <p:cNvPr id="14" name="Text 10"/>
          <p:cNvSpPr txBox="1"/>
          <p:nvPr/>
        </p:nvSpPr>
        <p:spPr>
          <a:xfrm>
            <a:off x="685114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2</a:t>
            </a:r>
            <a:endParaRPr lang="en-US" sz="1300" dirty="0"/>
          </a:p>
        </p:txBody>
      </p:sp>
      <p:sp>
        <p:nvSpPr>
          <p:cNvPr id="15" name="Text 11"/>
          <p:cNvSpPr txBox="1"/>
          <p:nvPr/>
        </p:nvSpPr>
        <p:spPr>
          <a:xfrm>
            <a:off x="598932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تأیید مستقل مجدد</a:t>
            </a:r>
            <a:endParaRPr lang="en-US" sz="1250" dirty="0"/>
          </a:p>
        </p:txBody>
      </p:sp>
      <p:sp>
        <p:nvSpPr>
          <p:cNvPr id="16" name="Text 12"/>
          <p:cNvSpPr txBox="1"/>
          <p:nvPr/>
        </p:nvSpPr>
        <p:spPr>
          <a:xfrm>
            <a:off x="598932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هرگز فقط به webhook اعتماد نمی‌شود</a:t>
            </a:r>
            <a:endParaRPr lang="en-US" sz="1050" dirty="0"/>
          </a:p>
        </p:txBody>
      </p:sp>
      <p:sp>
        <p:nvSpPr>
          <p:cNvPr id="17" name="Shape 13"/>
          <p:cNvSpPr/>
          <p:nvPr/>
        </p:nvSpPr>
        <p:spPr>
          <a:xfrm>
            <a:off x="5760720" y="2468880"/>
            <a:ext cx="228600" cy="0"/>
          </a:xfrm>
          <a:prstGeom prst="line">
            <a:avLst/>
          </a:prstGeom>
          <a:noFill/>
          <a:ln w="19050">
            <a:solidFill>
              <a:srgbClr val="C6D0D2"/>
            </a:solidFill>
            <a:prstDash val="solid"/>
          </a:ln>
        </p:spPr>
        <p:txBody>
          <a:bodyPr/>
          <a:p/>
        </p:txBody>
      </p:sp>
      <p:sp>
        <p:nvSpPr>
          <p:cNvPr id="18" name="Shape 14"/>
          <p:cNvSpPr/>
          <p:nvPr/>
        </p:nvSpPr>
        <p:spPr>
          <a:xfrm>
            <a:off x="4149090" y="2103120"/>
            <a:ext cx="731520" cy="731520"/>
          </a:xfrm>
          <a:prstGeom prst="ellipse">
            <a:avLst/>
          </a:prstGeom>
          <a:solidFill>
            <a:srgbClr val="263238"/>
          </a:solidFill>
          <a:ln/>
        </p:spPr>
        <p:txBody>
          <a:bodyPr/>
          <a:p/>
        </p:txBody>
      </p:sp>
      <p:pic>
        <p:nvPicPr>
          <p:cNvPr id="19" name="Image 2" descr="/home/claude/deck2/icons/key.png">    </p:cNvPr>
          <p:cNvPicPr>
            <a:picLocks noChangeAspect="1"/>
          </p:cNvPicPr>
          <p:nvPr/>
        </p:nvPicPr>
        <p:blipFill>
          <a:blip r:embed="rId3"/>
          <a:stretch>
            <a:fillRect/>
          </a:stretch>
        </p:blipFill>
        <p:spPr>
          <a:xfrm>
            <a:off x="4339285" y="2293315"/>
            <a:ext cx="351130" cy="351130"/>
          </a:xfrm>
          <a:prstGeom prst="rect">
            <a:avLst/>
          </a:prstGeom>
        </p:spPr>
      </p:pic>
      <p:sp>
        <p:nvSpPr>
          <p:cNvPr id="20" name="Shape 15"/>
          <p:cNvSpPr/>
          <p:nvPr/>
        </p:nvSpPr>
        <p:spPr>
          <a:xfrm>
            <a:off x="4130802" y="1965960"/>
            <a:ext cx="329184" cy="329184"/>
          </a:xfrm>
          <a:prstGeom prst="ellipse">
            <a:avLst/>
          </a:prstGeom>
          <a:solidFill>
            <a:srgbClr val="00BFA5"/>
          </a:solidFill>
          <a:ln/>
        </p:spPr>
        <p:txBody>
          <a:bodyPr/>
          <a:p/>
        </p:txBody>
      </p:sp>
      <p:sp>
        <p:nvSpPr>
          <p:cNvPr id="21" name="Text 16"/>
          <p:cNvSpPr txBox="1"/>
          <p:nvPr/>
        </p:nvSpPr>
        <p:spPr>
          <a:xfrm>
            <a:off x="413080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3</a:t>
            </a:r>
            <a:endParaRPr lang="en-US" sz="1300" dirty="0"/>
          </a:p>
        </p:txBody>
      </p:sp>
      <p:sp>
        <p:nvSpPr>
          <p:cNvPr id="22" name="Text 17"/>
          <p:cNvSpPr txBox="1"/>
          <p:nvPr/>
        </p:nvSpPr>
        <p:spPr>
          <a:xfrm>
            <a:off x="326898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reportPayment()</a:t>
            </a:r>
            <a:endParaRPr lang="en-US" sz="1250" dirty="0"/>
          </a:p>
        </p:txBody>
      </p:sp>
      <p:sp>
        <p:nvSpPr>
          <p:cNvPr id="23" name="Text 18"/>
          <p:cNvSpPr txBox="1"/>
          <p:nvPr/>
        </p:nvSpPr>
        <p:spPr>
          <a:xfrm>
            <a:off x="326898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امضا با کلید Vault، جدا از verifier/distributionOracle</a:t>
            </a:r>
            <a:endParaRPr lang="en-US" sz="1050" dirty="0"/>
          </a:p>
        </p:txBody>
      </p:sp>
      <p:sp>
        <p:nvSpPr>
          <p:cNvPr id="24" name="Shape 19"/>
          <p:cNvSpPr/>
          <p:nvPr/>
        </p:nvSpPr>
        <p:spPr>
          <a:xfrm>
            <a:off x="3040380" y="2468880"/>
            <a:ext cx="228600" cy="0"/>
          </a:xfrm>
          <a:prstGeom prst="line">
            <a:avLst/>
          </a:prstGeom>
          <a:noFill/>
          <a:ln w="19050">
            <a:solidFill>
              <a:srgbClr val="C6D0D2"/>
            </a:solidFill>
            <a:prstDash val="solid"/>
          </a:ln>
        </p:spPr>
        <p:txBody>
          <a:bodyPr/>
          <a:p/>
        </p:txBody>
      </p:sp>
      <p:sp>
        <p:nvSpPr>
          <p:cNvPr id="25" name="Shape 20"/>
          <p:cNvSpPr/>
          <p:nvPr/>
        </p:nvSpPr>
        <p:spPr>
          <a:xfrm>
            <a:off x="1428750" y="2103120"/>
            <a:ext cx="731520" cy="731520"/>
          </a:xfrm>
          <a:prstGeom prst="ellipse">
            <a:avLst/>
          </a:prstGeom>
          <a:solidFill>
            <a:srgbClr val="263238"/>
          </a:solidFill>
          <a:ln/>
        </p:spPr>
        <p:txBody>
          <a:bodyPr/>
          <a:p/>
        </p:txBody>
      </p:sp>
      <p:pic>
        <p:nvPicPr>
          <p:cNvPr id="26" name="Image 3" descr="/home/claude/deck2/icons/warning.png">    </p:cNvPr>
          <p:cNvPicPr>
            <a:picLocks noChangeAspect="1"/>
          </p:cNvPicPr>
          <p:nvPr/>
        </p:nvPicPr>
        <p:blipFill>
          <a:blip r:embed="rId4"/>
          <a:stretch>
            <a:fillRect/>
          </a:stretch>
        </p:blipFill>
        <p:spPr>
          <a:xfrm>
            <a:off x="1618945" y="2293315"/>
            <a:ext cx="351130" cy="351130"/>
          </a:xfrm>
          <a:prstGeom prst="rect">
            <a:avLst/>
          </a:prstGeom>
        </p:spPr>
      </p:pic>
      <p:sp>
        <p:nvSpPr>
          <p:cNvPr id="27" name="Shape 21"/>
          <p:cNvSpPr/>
          <p:nvPr/>
        </p:nvSpPr>
        <p:spPr>
          <a:xfrm>
            <a:off x="1410462" y="1965960"/>
            <a:ext cx="329184" cy="329184"/>
          </a:xfrm>
          <a:prstGeom prst="ellipse">
            <a:avLst/>
          </a:prstGeom>
          <a:solidFill>
            <a:srgbClr val="00BFA5"/>
          </a:solidFill>
          <a:ln/>
        </p:spPr>
        <p:txBody>
          <a:bodyPr/>
          <a:p/>
        </p:txBody>
      </p:sp>
      <p:sp>
        <p:nvSpPr>
          <p:cNvPr id="28" name="Text 22"/>
          <p:cNvSpPr txBox="1"/>
          <p:nvPr/>
        </p:nvSpPr>
        <p:spPr>
          <a:xfrm>
            <a:off x="1410462" y="1956816"/>
            <a:ext cx="329184" cy="329184"/>
          </a:xfrm>
          <a:prstGeom prst="rect">
            <a:avLst/>
          </a:prstGeom>
          <a:noFill/>
          <a:ln/>
        </p:spPr>
        <p:txBody>
          <a:bodyPr wrap="square" lIns="0" tIns="0" rIns="0" bIns="0" rtlCol="0" anchor="ctr"/>
          <a:lstStyle/>
          <a:p>
            <a:pPr algn="ctr" indent="0" marL="0">
              <a:buNone/>
            </a:pPr>
            <a:r>
              <a:rPr lang="en-US" sz="1300" b="1" dirty="0">
                <a:solidFill>
                  <a:srgbClr val="263238"/>
                </a:solidFill>
                <a:latin typeface="Arial" pitchFamily="34" charset="0"/>
                <a:ea typeface="Arial" pitchFamily="34" charset="-122"/>
                <a:cs typeface="Arial" pitchFamily="34" charset="-120"/>
              </a:rPr>
              <a:t>4</a:t>
            </a:r>
            <a:endParaRPr lang="en-US" sz="1300" dirty="0"/>
          </a:p>
        </p:txBody>
      </p:sp>
      <p:sp>
        <p:nvSpPr>
          <p:cNvPr id="29" name="Text 23"/>
          <p:cNvSpPr txBox="1"/>
          <p:nvPr/>
        </p:nvSpPr>
        <p:spPr>
          <a:xfrm>
            <a:off x="548640" y="3063240"/>
            <a:ext cx="2491740" cy="548640"/>
          </a:xfrm>
          <a:prstGeom prst="rect">
            <a:avLst/>
          </a:prstGeom>
          <a:noFill/>
          <a:ln/>
        </p:spPr>
        <p:txBody>
          <a:bodyPr wrap="square" lIns="0" tIns="0" rIns="0" bIns="0" rtlCol="0" anchor="ctr"/>
          <a:lstStyle/>
          <a:p>
            <a:pPr rtl="1" algn="ctr" indent="0" marL="0">
              <a:buNone/>
            </a:pPr>
            <a:r>
              <a:rPr lang="en-US" sz="1250" b="1" dirty="0">
                <a:solidFill>
                  <a:srgbClr val="1B1B1B"/>
                </a:solidFill>
                <a:latin typeface="Calibri" pitchFamily="34" charset="0"/>
                <a:ea typeface="Calibri" pitchFamily="34" charset="-122"/>
                <a:cs typeface="Calibri" pitchFamily="34" charset="-120"/>
              </a:rPr>
              <a:t>خطا = پیجینگ فوری</a:t>
            </a:r>
            <a:endParaRPr lang="en-US" sz="1250" dirty="0"/>
          </a:p>
        </p:txBody>
      </p:sp>
      <p:sp>
        <p:nvSpPr>
          <p:cNvPr id="30" name="Text 24"/>
          <p:cNvSpPr txBox="1"/>
          <p:nvPr/>
        </p:nvSpPr>
        <p:spPr>
          <a:xfrm>
            <a:off x="548640" y="3566160"/>
            <a:ext cx="2491740" cy="1920240"/>
          </a:xfrm>
          <a:prstGeom prst="rect">
            <a:avLst/>
          </a:prstGeom>
          <a:noFill/>
          <a:ln/>
        </p:spPr>
        <p:txBody>
          <a:bodyPr wrap="square" lIns="0" tIns="0" rIns="0" bIns="0" rtlCol="0" anchor="t"/>
          <a:lstStyle/>
          <a:p>
            <a:pPr rtl="1" algn="ctr" indent="0" marL="0">
              <a:buNone/>
            </a:pPr>
            <a:r>
              <a:rPr lang="en-US" sz="1050" dirty="0">
                <a:solidFill>
                  <a:srgbClr val="51616B"/>
                </a:solidFill>
                <a:latin typeface="Calibri" pitchFamily="34" charset="0"/>
                <a:ea typeface="Calibri" pitchFamily="34" charset="-122"/>
                <a:cs typeface="Calibri" pitchFamily="34" charset="-120"/>
              </a:rPr>
              <a:t>سناریوی «پول گرفته، سورن نرفته» نیازمند رسیدگی دستی سریع است</a:t>
            </a:r>
            <a:endParaRPr lang="en-US" sz="1050" dirty="0"/>
          </a:p>
        </p:txBody>
      </p:sp>
      <p:sp>
        <p:nvSpPr>
          <p:cNvPr id="31" name="Shape 25"/>
          <p:cNvSpPr/>
          <p:nvPr/>
        </p:nvSpPr>
        <p:spPr>
          <a:xfrm>
            <a:off x="429768" y="6446520"/>
            <a:ext cx="310896" cy="310896"/>
          </a:xfrm>
          <a:prstGeom prst="ellipse">
            <a:avLst/>
          </a:prstGeom>
          <a:solidFill>
            <a:srgbClr val="FFFFFF"/>
          </a:solidFill>
          <a:ln/>
        </p:spPr>
        <p:txBody>
          <a:bodyPr/>
          <a:p/>
        </p:txBody>
      </p:sp>
      <p:pic>
        <p:nvPicPr>
          <p:cNvPr id="32" name="Image 4" descr="/home/claude/deck2/assets/logo.png">    </p:cNvPr>
          <p:cNvPicPr>
            <a:picLocks noChangeAspect="1"/>
          </p:cNvPicPr>
          <p:nvPr/>
        </p:nvPicPr>
        <p:blipFill>
          <a:blip r:embed="rId5"/>
          <a:stretch>
            <a:fillRect/>
          </a:stretch>
        </p:blipFill>
        <p:spPr>
          <a:xfrm>
            <a:off x="457200" y="6473952"/>
            <a:ext cx="256032" cy="256032"/>
          </a:xfrm>
          <a:prstGeom prst="rect">
            <a:avLst/>
          </a:prstGeom>
        </p:spPr>
      </p:pic>
      <p:sp>
        <p:nvSpPr>
          <p:cNvPr id="33" name="Text 26"/>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34" name="Text 27"/>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Identity Service</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یکپارچه‌سازی eKYC و matching API</a:t>
            </a:r>
            <a:endParaRPr lang="en-US" sz="2400" dirty="0"/>
          </a:p>
        </p:txBody>
      </p:sp>
      <p:sp>
        <p:nvSpPr>
          <p:cNvPr id="4" name="Shape 2"/>
          <p:cNvSpPr/>
          <p:nvPr/>
        </p:nvSpPr>
        <p:spPr>
          <a:xfrm>
            <a:off x="9966960" y="2409444"/>
            <a:ext cx="621792" cy="621792"/>
          </a:xfrm>
          <a:prstGeom prst="ellipse">
            <a:avLst/>
          </a:prstGeom>
          <a:solidFill>
            <a:srgbClr val="00BFA5"/>
          </a:solidFill>
          <a:ln/>
        </p:spPr>
        <p:txBody>
          <a:bodyPr/>
          <a:p/>
        </p:txBody>
      </p:sp>
      <p:pic>
        <p:nvPicPr>
          <p:cNvPr id="5" name="Image 0" descr="/home/claude/deck2/icons/fingerprint.png">    </p:cNvPr>
          <p:cNvPicPr>
            <a:picLocks noChangeAspect="1"/>
          </p:cNvPicPr>
          <p:nvPr/>
        </p:nvPicPr>
        <p:blipFill>
          <a:blip r:embed="rId1"/>
          <a:stretch>
            <a:fillRect/>
          </a:stretch>
        </p:blipFill>
        <p:spPr>
          <a:xfrm>
            <a:off x="10128626" y="257111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کوئری «تطبیق» همیشه API آف‌چین است، هرگز تراکنش</a:t>
            </a:r>
            <a:endParaRPr lang="en-US" sz="1500" dirty="0"/>
          </a:p>
        </p:txBody>
      </p:sp>
      <p:sp>
        <p:nvSpPr>
          <p:cNvPr id="7" name="Text 4"/>
          <p:cNvSpPr txBox="1"/>
          <p:nvPr/>
        </p:nvSpPr>
        <p:spPr>
          <a:xfrm>
            <a:off x="548640" y="1856232"/>
            <a:ext cx="9144000" cy="203911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چون خودِ پارامتر ورودی تراکنش هم در calldata عمومی زنجیره قابل‌مشاهده است.</a:t>
            </a:r>
            <a:endParaRPr lang="en-US" sz="1180" dirty="0"/>
          </a:p>
        </p:txBody>
      </p:sp>
      <p:sp>
        <p:nvSpPr>
          <p:cNvPr id="8" name="Shape 5"/>
          <p:cNvSpPr/>
          <p:nvPr/>
        </p:nvSpPr>
        <p:spPr>
          <a:xfrm>
            <a:off x="548640" y="3877056"/>
            <a:ext cx="10881360" cy="0"/>
          </a:xfrm>
          <a:prstGeom prst="line">
            <a:avLst/>
          </a:prstGeom>
          <a:noFill/>
          <a:ln w="12700">
            <a:solidFill>
              <a:srgbClr val="E0E6E7"/>
            </a:solidFill>
            <a:prstDash val="solid"/>
          </a:ln>
        </p:spPr>
        <p:txBody>
          <a:bodyPr/>
          <a:p/>
        </p:txBody>
      </p:sp>
      <p:sp>
        <p:nvSpPr>
          <p:cNvPr id="9" name="Shape 6"/>
          <p:cNvSpPr/>
          <p:nvPr/>
        </p:nvSpPr>
        <p:spPr>
          <a:xfrm>
            <a:off x="9966960" y="4832604"/>
            <a:ext cx="621792" cy="621792"/>
          </a:xfrm>
          <a:prstGeom prst="ellipse">
            <a:avLst/>
          </a:prstGeom>
          <a:solidFill>
            <a:srgbClr val="263238"/>
          </a:solidFill>
          <a:ln/>
        </p:spPr>
        <p:txBody>
          <a:bodyPr/>
          <a:p/>
        </p:txBody>
      </p:sp>
      <p:pic>
        <p:nvPicPr>
          <p:cNvPr id="10" name="Image 1" descr="/home/claude/deck2/icons/secret.png">    </p:cNvPr>
          <p:cNvPicPr>
            <a:picLocks noChangeAspect="1"/>
          </p:cNvPicPr>
          <p:nvPr/>
        </p:nvPicPr>
        <p:blipFill>
          <a:blip r:embed="rId2"/>
          <a:stretch>
            <a:fillRect/>
          </a:stretch>
        </p:blipFill>
        <p:spPr>
          <a:xfrm>
            <a:off x="10128626" y="4994270"/>
            <a:ext cx="298460" cy="298460"/>
          </a:xfrm>
          <a:prstGeom prst="rect">
            <a:avLst/>
          </a:prstGeom>
        </p:spPr>
      </p:pic>
      <p:sp>
        <p:nvSpPr>
          <p:cNvPr id="11" name="Text 7"/>
          <p:cNvSpPr txBox="1"/>
          <p:nvPr/>
        </p:nvSpPr>
        <p:spPr>
          <a:xfrm>
            <a:off x="548640" y="393192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داده‌ی خام (تصویر، بیومتریک) فقط پیش سرویس‌دهنده‌ی eKYC می‌ماند</a:t>
            </a:r>
            <a:endParaRPr lang="en-US" sz="1500" dirty="0"/>
          </a:p>
        </p:txBody>
      </p:sp>
      <p:sp>
        <p:nvSpPr>
          <p:cNvPr id="12" name="Text 8"/>
          <p:cNvSpPr txBox="1"/>
          <p:nvPr/>
        </p:nvSpPr>
        <p:spPr>
          <a:xfrm>
            <a:off x="548640" y="4279392"/>
            <a:ext cx="9144000" cy="203911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ما فقط نتیجه (verified: true/false) و یک session reference نگه می‌داریم.</a:t>
            </a:r>
            <a:endParaRPr lang="en-US" sz="1180" dirty="0"/>
          </a:p>
        </p:txBody>
      </p:sp>
      <p:sp>
        <p:nvSpPr>
          <p:cNvPr id="13" name="Shape 9"/>
          <p:cNvSpPr/>
          <p:nvPr/>
        </p:nvSpPr>
        <p:spPr>
          <a:xfrm>
            <a:off x="429768" y="6446520"/>
            <a:ext cx="310896" cy="310896"/>
          </a:xfrm>
          <a:prstGeom prst="ellipse">
            <a:avLst/>
          </a:prstGeom>
          <a:solidFill>
            <a:srgbClr val="FFFFFF"/>
          </a:solidFill>
          <a:ln/>
        </p:spPr>
        <p:txBody>
          <a:bodyPr/>
          <a:p/>
        </p:txBody>
      </p:sp>
      <p:pic>
        <p:nvPicPr>
          <p:cNvPr id="14" name="Image 2" descr="/home/claude/deck2/assets/logo.png">    </p:cNvPr>
          <p:cNvPicPr>
            <a:picLocks noChangeAspect="1"/>
          </p:cNvPicPr>
          <p:nvPr/>
        </p:nvPicPr>
        <p:blipFill>
          <a:blip r:embed="rId3"/>
          <a:stretch>
            <a:fillRect/>
          </a:stretch>
        </p:blipFill>
        <p:spPr>
          <a:xfrm>
            <a:off x="457200" y="6473952"/>
            <a:ext cx="256032" cy="256032"/>
          </a:xfrm>
          <a:prstGeom prst="rect">
            <a:avLst/>
          </a:prstGeom>
        </p:spPr>
      </p:pic>
      <p:sp>
        <p:nvSpPr>
          <p:cNvPr id="15" name="Text 10"/>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16" name="Text 11"/>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63238"/>
        </a:solidFill>
      </p:bgPr>
    </p:bg>
    <p:spTree>
      <p:nvGrpSpPr>
        <p:cNvPr id="1" name=""/>
        <p:cNvGrpSpPr/>
        <p:nvPr/>
      </p:nvGrpSpPr>
      <p:grpSpPr>
        <a:xfrm>
          <a:off x="0" y="0"/>
          <a:ext cx="0" cy="0"/>
          <a:chOff x="0" y="0"/>
          <a:chExt cx="0" cy="0"/>
        </a:xfrm>
      </p:grpSpPr>
      <p:sp>
        <p:nvSpPr>
          <p:cNvPr id="2" name="Text 0"/>
          <p:cNvSpPr txBox="1"/>
          <p:nvPr/>
        </p:nvSpPr>
        <p:spPr>
          <a:xfrm>
            <a:off x="731520" y="2377440"/>
            <a:ext cx="2743200" cy="1828800"/>
          </a:xfrm>
          <a:prstGeom prst="rect">
            <a:avLst/>
          </a:prstGeom>
          <a:noFill/>
          <a:ln/>
        </p:spPr>
        <p:txBody>
          <a:bodyPr wrap="square" lIns="0" tIns="0" rIns="0" bIns="0" rtlCol="0" anchor="ctr"/>
          <a:lstStyle/>
          <a:p>
            <a:pPr rtl="1" algn="r" indent="0" marL="0">
              <a:buNone/>
            </a:pPr>
            <a:r>
              <a:rPr lang="en-US" sz="9200" b="1" dirty="0">
                <a:solidFill>
                  <a:srgbClr val="3C4A50"/>
                </a:solidFill>
                <a:latin typeface="Arial" pitchFamily="34" charset="0"/>
                <a:ea typeface="Arial" pitchFamily="34" charset="-122"/>
                <a:cs typeface="Arial" pitchFamily="34" charset="-120"/>
              </a:rPr>
              <a:t>5</a:t>
            </a:r>
            <a:endParaRPr lang="en-US" sz="9200" dirty="0"/>
          </a:p>
        </p:txBody>
      </p:sp>
      <p:sp>
        <p:nvSpPr>
          <p:cNvPr id="3" name="Shape 1"/>
          <p:cNvSpPr/>
          <p:nvPr/>
        </p:nvSpPr>
        <p:spPr>
          <a:xfrm>
            <a:off x="3520440" y="2880360"/>
            <a:ext cx="54864" cy="1097280"/>
          </a:xfrm>
          <a:prstGeom prst="rect">
            <a:avLst/>
          </a:prstGeom>
          <a:solidFill>
            <a:srgbClr val="00BFA5"/>
          </a:solidFill>
          <a:ln/>
        </p:spPr>
        <p:txBody>
          <a:bodyPr/>
          <a:p/>
        </p:txBody>
      </p:sp>
      <p:sp>
        <p:nvSpPr>
          <p:cNvPr id="4" name="Text 2"/>
          <p:cNvSpPr txBox="1"/>
          <p:nvPr/>
        </p:nvSpPr>
        <p:spPr>
          <a:xfrm>
            <a:off x="3749040" y="2834640"/>
            <a:ext cx="7680960" cy="1188720"/>
          </a:xfrm>
          <a:prstGeom prst="rect">
            <a:avLst/>
          </a:prstGeom>
          <a:noFill/>
          <a:ln/>
        </p:spPr>
        <p:txBody>
          <a:bodyPr wrap="square" lIns="0" tIns="0" rIns="0" bIns="0" rtlCol="0" anchor="ctr"/>
          <a:lstStyle/>
          <a:p>
            <a:pPr rtl="1" algn="r" indent="0" marL="0">
              <a:buNone/>
            </a:pPr>
            <a:r>
              <a:rPr lang="en-US" sz="3000" b="1" dirty="0">
                <a:solidFill>
                  <a:srgbClr val="FFFFFF"/>
                </a:solidFill>
                <a:latin typeface="Cambria" pitchFamily="34" charset="0"/>
                <a:ea typeface="Cambria" pitchFamily="34" charset="-122"/>
                <a:cs typeface="Cambria" pitchFamily="34" charset="-120"/>
              </a:rPr>
              <a:t>زیرساخت مشترک</a:t>
            </a:r>
            <a:endParaRPr lang="en-US" sz="30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استاندارد پروژه</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HashiCorp Vault + Docker Compose</a:t>
            </a:r>
            <a:endParaRPr lang="en-US" sz="2400" dirty="0"/>
          </a:p>
        </p:txBody>
      </p:sp>
      <p:sp>
        <p:nvSpPr>
          <p:cNvPr id="4" name="Shape 2"/>
          <p:cNvSpPr/>
          <p:nvPr/>
        </p:nvSpPr>
        <p:spPr>
          <a:xfrm>
            <a:off x="9966960" y="2005584"/>
            <a:ext cx="621792" cy="621792"/>
          </a:xfrm>
          <a:prstGeom prst="ellipse">
            <a:avLst/>
          </a:prstGeom>
          <a:solidFill>
            <a:srgbClr val="00BFA5"/>
          </a:solidFill>
          <a:ln/>
        </p:spPr>
        <p:txBody>
          <a:bodyPr/>
          <a:p/>
        </p:txBody>
      </p:sp>
      <p:pic>
        <p:nvPicPr>
          <p:cNvPr id="5" name="Image 0" descr="/home/claude/deck2/icons/key.png">    </p:cNvPr>
          <p:cNvPicPr>
            <a:picLocks noChangeAspect="1"/>
          </p:cNvPicPr>
          <p:nvPr/>
        </p:nvPicPr>
        <p:blipFill>
          <a:blip r:embed="rId1"/>
          <a:stretch>
            <a:fillRect/>
          </a:stretch>
        </p:blipFill>
        <p:spPr>
          <a:xfrm>
            <a:off x="10128626" y="216725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همه‌ی کلیدهای عملیاتی در Vault — نه env variable خام</a:t>
            </a:r>
            <a:endParaRPr lang="en-US" sz="1500" dirty="0"/>
          </a:p>
        </p:txBody>
      </p:sp>
      <p:sp>
        <p:nvSpPr>
          <p:cNvPr id="7" name="Text 4"/>
          <p:cNvSpPr txBox="1"/>
          <p:nvPr/>
        </p:nvSpPr>
        <p:spPr>
          <a:xfrm>
            <a:off x="548640" y="185623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distributionOracle، verifier، paymentOracle، identityOracle — هرکدام policy/token جدا.</a:t>
            </a:r>
            <a:endParaRPr lang="en-US" sz="1180" dirty="0"/>
          </a:p>
        </p:txBody>
      </p:sp>
      <p:sp>
        <p:nvSpPr>
          <p:cNvPr id="8" name="Shape 5"/>
          <p:cNvSpPr/>
          <p:nvPr/>
        </p:nvSpPr>
        <p:spPr>
          <a:xfrm>
            <a:off x="548640" y="3069336"/>
            <a:ext cx="10881360" cy="0"/>
          </a:xfrm>
          <a:prstGeom prst="line">
            <a:avLst/>
          </a:prstGeom>
          <a:noFill/>
          <a:ln w="12700">
            <a:solidFill>
              <a:srgbClr val="E0E6E7"/>
            </a:solidFill>
            <a:prstDash val="solid"/>
          </a:ln>
        </p:spPr>
        <p:txBody>
          <a:bodyPr/>
          <a:p/>
        </p:txBody>
      </p:sp>
      <p:sp>
        <p:nvSpPr>
          <p:cNvPr id="9" name="Shape 6"/>
          <p:cNvSpPr/>
          <p:nvPr/>
        </p:nvSpPr>
        <p:spPr>
          <a:xfrm>
            <a:off x="9966960" y="3621024"/>
            <a:ext cx="621792" cy="621792"/>
          </a:xfrm>
          <a:prstGeom prst="ellipse">
            <a:avLst/>
          </a:prstGeom>
          <a:solidFill>
            <a:srgbClr val="263238"/>
          </a:solidFill>
          <a:ln/>
        </p:spPr>
        <p:txBody>
          <a:bodyPr/>
          <a:p/>
        </p:txBody>
      </p:sp>
      <p:pic>
        <p:nvPicPr>
          <p:cNvPr id="10" name="Image 1" descr="/home/claude/deck2/icons/docker.png">    </p:cNvPr>
          <p:cNvPicPr>
            <a:picLocks noChangeAspect="1"/>
          </p:cNvPicPr>
          <p:nvPr/>
        </p:nvPicPr>
        <p:blipFill>
          <a:blip r:embed="rId2"/>
          <a:stretch>
            <a:fillRect/>
          </a:stretch>
        </p:blipFill>
        <p:spPr>
          <a:xfrm>
            <a:off x="10128626" y="3782690"/>
            <a:ext cx="298460" cy="298460"/>
          </a:xfrm>
          <a:prstGeom prst="rect">
            <a:avLst/>
          </a:prstGeom>
        </p:spPr>
      </p:pic>
      <p:sp>
        <p:nvSpPr>
          <p:cNvPr id="11" name="Text 7"/>
          <p:cNvSpPr txBox="1"/>
          <p:nvPr/>
        </p:nvSpPr>
        <p:spPr>
          <a:xfrm>
            <a:off x="548640" y="312420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هر سرویس آف‌چین: نود مانیتورینگ/RPC + signer + poller جدا در کانتینر</a:t>
            </a:r>
            <a:endParaRPr lang="en-US" sz="1500" dirty="0"/>
          </a:p>
        </p:txBody>
      </p:sp>
      <p:sp>
        <p:nvSpPr>
          <p:cNvPr id="12" name="Text 8"/>
          <p:cNvSpPr txBox="1"/>
          <p:nvPr/>
        </p:nvSpPr>
        <p:spPr>
          <a:xfrm>
            <a:off x="548640" y="347167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الگوی یکسان در هر چهار سرویس، برای نگه‌داری ساده‌تر و افزونگی مستقل هرکدام.</a:t>
            </a:r>
            <a:endParaRPr lang="en-US" sz="1180" dirty="0"/>
          </a:p>
        </p:txBody>
      </p:sp>
      <p:sp>
        <p:nvSpPr>
          <p:cNvPr id="13" name="Shape 9"/>
          <p:cNvSpPr/>
          <p:nvPr/>
        </p:nvSpPr>
        <p:spPr>
          <a:xfrm>
            <a:off x="548640" y="4684776"/>
            <a:ext cx="10881360" cy="0"/>
          </a:xfrm>
          <a:prstGeom prst="line">
            <a:avLst/>
          </a:prstGeom>
          <a:noFill/>
          <a:ln w="12700">
            <a:solidFill>
              <a:srgbClr val="E0E6E7"/>
            </a:solidFill>
            <a:prstDash val="solid"/>
          </a:ln>
        </p:spPr>
        <p:txBody>
          <a:bodyPr/>
          <a:p/>
        </p:txBody>
      </p:sp>
      <p:sp>
        <p:nvSpPr>
          <p:cNvPr id="14" name="Shape 10"/>
          <p:cNvSpPr/>
          <p:nvPr/>
        </p:nvSpPr>
        <p:spPr>
          <a:xfrm>
            <a:off x="9966960" y="5236464"/>
            <a:ext cx="621792" cy="621792"/>
          </a:xfrm>
          <a:prstGeom prst="ellipse">
            <a:avLst/>
          </a:prstGeom>
          <a:solidFill>
            <a:srgbClr val="263238"/>
          </a:solidFill>
          <a:ln/>
        </p:spPr>
        <p:txBody>
          <a:bodyPr/>
          <a:p/>
        </p:txBody>
      </p:sp>
      <p:pic>
        <p:nvPicPr>
          <p:cNvPr id="15" name="Image 2" descr="/home/claude/deck2/icons/database.png">    </p:cNvPr>
          <p:cNvPicPr>
            <a:picLocks noChangeAspect="1"/>
          </p:cNvPicPr>
          <p:nvPr/>
        </p:nvPicPr>
        <p:blipFill>
          <a:blip r:embed="rId3"/>
          <a:stretch>
            <a:fillRect/>
          </a:stretch>
        </p:blipFill>
        <p:spPr>
          <a:xfrm>
            <a:off x="10128626" y="5398130"/>
            <a:ext cx="298460" cy="298460"/>
          </a:xfrm>
          <a:prstGeom prst="rect">
            <a:avLst/>
          </a:prstGeom>
        </p:spPr>
      </p:pic>
      <p:sp>
        <p:nvSpPr>
          <p:cNvPr id="16" name="Text 11"/>
          <p:cNvSpPr txBox="1"/>
          <p:nvPr/>
        </p:nvSpPr>
        <p:spPr>
          <a:xfrm>
            <a:off x="548640" y="473964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SQLite برای هر سرویس — هماهنگ در کل پروژه</a:t>
            </a:r>
            <a:endParaRPr lang="en-US" sz="1500" dirty="0"/>
          </a:p>
        </p:txBody>
      </p:sp>
      <p:sp>
        <p:nvSpPr>
          <p:cNvPr id="17" name="Text 12"/>
          <p:cNvSpPr txBox="1"/>
          <p:nvPr/>
        </p:nvSpPr>
        <p:spPr>
          <a:xfrm>
            <a:off x="548640" y="5087112"/>
            <a:ext cx="9144000" cy="123139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کافی برای سرویس‌های تک‌پردازشی و زمان‌بندی‌شده.</a:t>
            </a:r>
            <a:endParaRPr lang="en-US" sz="1180" dirty="0"/>
          </a:p>
        </p:txBody>
      </p:sp>
      <p:sp>
        <p:nvSpPr>
          <p:cNvPr id="18" name="Shape 13"/>
          <p:cNvSpPr/>
          <p:nvPr/>
        </p:nvSpPr>
        <p:spPr>
          <a:xfrm>
            <a:off x="429768" y="6446520"/>
            <a:ext cx="310896" cy="310896"/>
          </a:xfrm>
          <a:prstGeom prst="ellipse">
            <a:avLst/>
          </a:prstGeom>
          <a:solidFill>
            <a:srgbClr val="FFFFFF"/>
          </a:solidFill>
          <a:ln/>
        </p:spPr>
        <p:txBody>
          <a:bodyPr/>
          <a:p/>
        </p:txBody>
      </p:sp>
      <p:pic>
        <p:nvPicPr>
          <p:cNvPr id="19" name="Image 3" descr="/home/claude/deck2/assets/logo.png">    </p:cNvPr>
          <p:cNvPicPr>
            <a:picLocks noChangeAspect="1"/>
          </p:cNvPicPr>
          <p:nvPr/>
        </p:nvPicPr>
        <p:blipFill>
          <a:blip r:embed="rId4"/>
          <a:stretch>
            <a:fillRect/>
          </a:stretch>
        </p:blipFill>
        <p:spPr>
          <a:xfrm>
            <a:off x="457200" y="6473952"/>
            <a:ext cx="256032" cy="256032"/>
          </a:xfrm>
          <a:prstGeom prst="rect">
            <a:avLst/>
          </a:prstGeom>
        </p:spPr>
      </p:pic>
      <p:sp>
        <p:nvSpPr>
          <p:cNvPr id="20" name="Text 1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21" name="Text 1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ابزار genesis + بلاک اکسپلورر</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زیرساخت راه‌اندازی و شفافیت</a:t>
            </a:r>
            <a:endParaRPr lang="en-US" sz="2400" dirty="0"/>
          </a:p>
        </p:txBody>
      </p:sp>
      <p:sp>
        <p:nvSpPr>
          <p:cNvPr id="4" name="Shape 2"/>
          <p:cNvSpPr/>
          <p:nvPr/>
        </p:nvSpPr>
        <p:spPr>
          <a:xfrm>
            <a:off x="9966960" y="2409444"/>
            <a:ext cx="621792" cy="621792"/>
          </a:xfrm>
          <a:prstGeom prst="ellipse">
            <a:avLst/>
          </a:prstGeom>
          <a:solidFill>
            <a:srgbClr val="263238"/>
          </a:solidFill>
          <a:ln/>
        </p:spPr>
        <p:txBody>
          <a:bodyPr/>
          <a:p/>
        </p:txBody>
      </p:sp>
      <p:pic>
        <p:nvPicPr>
          <p:cNvPr id="5" name="Image 0" descr="/home/claude/deck2/icons/cubes.png">    </p:cNvPr>
          <p:cNvPicPr>
            <a:picLocks noChangeAspect="1"/>
          </p:cNvPicPr>
          <p:nvPr/>
        </p:nvPicPr>
        <p:blipFill>
          <a:blip r:embed="rId1"/>
          <a:stretch>
            <a:fillRect/>
          </a:stretch>
        </p:blipFill>
        <p:spPr>
          <a:xfrm>
            <a:off x="10128626" y="2571110"/>
            <a:ext cx="298460" cy="298460"/>
          </a:xfrm>
          <a:prstGeom prst="rect">
            <a:avLst/>
          </a:prstGeom>
        </p:spPr>
      </p:pic>
      <p:sp>
        <p:nvSpPr>
          <p:cNvPr id="6" name="Text 3"/>
          <p:cNvSpPr txBox="1"/>
          <p:nvPr/>
        </p:nvSpPr>
        <p:spPr>
          <a:xfrm>
            <a:off x="548640" y="150876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ابزار production ساخت genesis.json — هنوز پیاده‌سازی نشده؛ آزمون‌های Besu با اسکریپت آزمایشی بودند</a:t>
            </a:r>
            <a:endParaRPr lang="en-US" sz="1500" dirty="0"/>
          </a:p>
        </p:txBody>
      </p:sp>
      <p:sp>
        <p:nvSpPr>
          <p:cNvPr id="7" name="Text 4"/>
          <p:cNvSpPr txBox="1"/>
          <p:nvPr/>
        </p:nvSpPr>
        <p:spPr>
          <a:xfrm>
            <a:off x="548640" y="1856232"/>
            <a:ext cx="9144000" cy="203911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برای ۳ قرارداد (FoundationDAO, ValidatorsRegistry, ValidatorsBoard): دیپلوی روی زنجیره‌ی موقت (Anvil/Hardhat)، استخراج storage. برای ۳ قرارداد دیگر (BlockRewardDistributor, ValidatorsTreasury, IdentityRegistry): نوشتن مستقیم اسکالرها در alloc، بدون شبیه‌سازی.</a:t>
            </a:r>
            <a:endParaRPr lang="en-US" sz="1180" dirty="0"/>
          </a:p>
        </p:txBody>
      </p:sp>
      <p:sp>
        <p:nvSpPr>
          <p:cNvPr id="8" name="Shape 5"/>
          <p:cNvSpPr/>
          <p:nvPr/>
        </p:nvSpPr>
        <p:spPr>
          <a:xfrm>
            <a:off x="548640" y="3877056"/>
            <a:ext cx="10881360" cy="0"/>
          </a:xfrm>
          <a:prstGeom prst="line">
            <a:avLst/>
          </a:prstGeom>
          <a:noFill/>
          <a:ln w="12700">
            <a:solidFill>
              <a:srgbClr val="E0E6E7"/>
            </a:solidFill>
            <a:prstDash val="solid"/>
          </a:ln>
        </p:spPr>
        <p:txBody>
          <a:bodyPr/>
          <a:p/>
        </p:txBody>
      </p:sp>
      <p:sp>
        <p:nvSpPr>
          <p:cNvPr id="9" name="Shape 6"/>
          <p:cNvSpPr/>
          <p:nvPr/>
        </p:nvSpPr>
        <p:spPr>
          <a:xfrm>
            <a:off x="9966960" y="4832604"/>
            <a:ext cx="621792" cy="621792"/>
          </a:xfrm>
          <a:prstGeom prst="ellipse">
            <a:avLst/>
          </a:prstGeom>
          <a:solidFill>
            <a:srgbClr val="00BFA5"/>
          </a:solidFill>
          <a:ln/>
        </p:spPr>
        <p:txBody>
          <a:bodyPr/>
          <a:p/>
        </p:txBody>
      </p:sp>
      <p:pic>
        <p:nvPicPr>
          <p:cNvPr id="10" name="Image 1" descr="/home/claude/deck2/icons/search.png">    </p:cNvPr>
          <p:cNvPicPr>
            <a:picLocks noChangeAspect="1"/>
          </p:cNvPicPr>
          <p:nvPr/>
        </p:nvPicPr>
        <p:blipFill>
          <a:blip r:embed="rId2"/>
          <a:stretch>
            <a:fillRect/>
          </a:stretch>
        </p:blipFill>
        <p:spPr>
          <a:xfrm>
            <a:off x="10128626" y="4994270"/>
            <a:ext cx="298460" cy="298460"/>
          </a:xfrm>
          <a:prstGeom prst="rect">
            <a:avLst/>
          </a:prstGeom>
        </p:spPr>
      </p:pic>
      <p:sp>
        <p:nvSpPr>
          <p:cNvPr id="11" name="Text 7"/>
          <p:cNvSpPr txBox="1"/>
          <p:nvPr/>
        </p:nvSpPr>
        <p:spPr>
          <a:xfrm>
            <a:off x="548640" y="3931920"/>
            <a:ext cx="9144000" cy="365760"/>
          </a:xfrm>
          <a:prstGeom prst="rect">
            <a:avLst/>
          </a:prstGeom>
          <a:noFill/>
          <a:ln/>
        </p:spPr>
        <p:txBody>
          <a:bodyPr wrap="square" lIns="0" tIns="0" rIns="0" bIns="0" rtlCol="0" anchor="ctr"/>
          <a:lstStyle/>
          <a:p>
            <a:pPr rtl="1" algn="r" indent="0" marL="0">
              <a:buNone/>
            </a:pPr>
            <a:r>
              <a:rPr lang="en-US" sz="1500" b="1" dirty="0">
                <a:solidFill>
                  <a:srgbClr val="1B1B1B"/>
                </a:solidFill>
                <a:latin typeface="Calibri" pitchFamily="34" charset="0"/>
                <a:ea typeface="Calibri" pitchFamily="34" charset="-122"/>
                <a:cs typeface="Calibri" pitchFamily="34" charset="-120"/>
              </a:rPr>
              <a:t>بلاک اکسپلورر: Blockscout — فقط پیکربندی، نه توسعه</a:t>
            </a:r>
            <a:endParaRPr lang="en-US" sz="1500" dirty="0"/>
          </a:p>
        </p:txBody>
      </p:sp>
      <p:sp>
        <p:nvSpPr>
          <p:cNvPr id="12" name="Text 8"/>
          <p:cNvSpPr txBox="1"/>
          <p:nvPr/>
        </p:nvSpPr>
        <p:spPr>
          <a:xfrm>
            <a:off x="548640" y="4279392"/>
            <a:ext cx="9144000" cy="2039112"/>
          </a:xfrm>
          <a:prstGeom prst="rect">
            <a:avLst/>
          </a:prstGeom>
          <a:noFill/>
          <a:ln/>
        </p:spPr>
        <p:txBody>
          <a:bodyPr wrap="square" lIns="0" tIns="0" rIns="0" bIns="0" rtlCol="0" anchor="t"/>
          <a:lstStyle/>
          <a:p>
            <a:pPr rtl="1" algn="r" indent="0" marL="0">
              <a:buNone/>
            </a:pPr>
            <a:r>
              <a:rPr lang="en-US" sz="1180" dirty="0">
                <a:solidFill>
                  <a:srgbClr val="51616B"/>
                </a:solidFill>
                <a:latin typeface="Calibri" pitchFamily="34" charset="0"/>
                <a:ea typeface="Calibri" pitchFamily="34" charset="-122"/>
                <a:cs typeface="Calibri" pitchFamily="34" charset="-120"/>
              </a:rPr>
              <a:t>اتصال به RPC سور، chainId=262، verify کردن سورس هر شش قرارداد.</a:t>
            </a:r>
            <a:endParaRPr lang="en-US" sz="1180" dirty="0"/>
          </a:p>
        </p:txBody>
      </p:sp>
      <p:sp>
        <p:nvSpPr>
          <p:cNvPr id="13" name="Shape 9"/>
          <p:cNvSpPr/>
          <p:nvPr/>
        </p:nvSpPr>
        <p:spPr>
          <a:xfrm>
            <a:off x="429768" y="6446520"/>
            <a:ext cx="310896" cy="310896"/>
          </a:xfrm>
          <a:prstGeom prst="ellipse">
            <a:avLst/>
          </a:prstGeom>
          <a:solidFill>
            <a:srgbClr val="FFFFFF"/>
          </a:solidFill>
          <a:ln/>
        </p:spPr>
        <p:txBody>
          <a:bodyPr/>
          <a:p/>
        </p:txBody>
      </p:sp>
      <p:pic>
        <p:nvPicPr>
          <p:cNvPr id="14" name="Image 2" descr="/home/claude/deck2/assets/logo.png">    </p:cNvPr>
          <p:cNvPicPr>
            <a:picLocks noChangeAspect="1"/>
          </p:cNvPicPr>
          <p:nvPr/>
        </p:nvPicPr>
        <p:blipFill>
          <a:blip r:embed="rId3"/>
          <a:stretch>
            <a:fillRect/>
          </a:stretch>
        </p:blipFill>
        <p:spPr>
          <a:xfrm>
            <a:off x="457200" y="6473952"/>
            <a:ext cx="256032" cy="256032"/>
          </a:xfrm>
          <a:prstGeom prst="rect">
            <a:avLst/>
          </a:prstGeom>
        </p:spPr>
      </p:pic>
      <p:sp>
        <p:nvSpPr>
          <p:cNvPr id="15" name="Text 10"/>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16" name="Text 11"/>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63238"/>
        </a:solidFill>
      </p:bgPr>
    </p:bg>
    <p:spTree>
      <p:nvGrpSpPr>
        <p:cNvPr id="1" name=""/>
        <p:cNvGrpSpPr/>
        <p:nvPr/>
      </p:nvGrpSpPr>
      <p:grpSpPr>
        <a:xfrm>
          <a:off x="0" y="0"/>
          <a:ext cx="0" cy="0"/>
          <a:chOff x="0" y="0"/>
          <a:chExt cx="0" cy="0"/>
        </a:xfrm>
      </p:grpSpPr>
      <p:sp>
        <p:nvSpPr>
          <p:cNvPr id="2" name="Text 0"/>
          <p:cNvSpPr txBox="1"/>
          <p:nvPr/>
        </p:nvSpPr>
        <p:spPr>
          <a:xfrm>
            <a:off x="731520" y="2377440"/>
            <a:ext cx="2743200" cy="1828800"/>
          </a:xfrm>
          <a:prstGeom prst="rect">
            <a:avLst/>
          </a:prstGeom>
          <a:noFill/>
          <a:ln/>
        </p:spPr>
        <p:txBody>
          <a:bodyPr wrap="square" lIns="0" tIns="0" rIns="0" bIns="0" rtlCol="0" anchor="ctr"/>
          <a:lstStyle/>
          <a:p>
            <a:pPr rtl="1" algn="r" indent="0" marL="0">
              <a:buNone/>
            </a:pPr>
            <a:r>
              <a:rPr lang="en-US" sz="9200" b="1" dirty="0">
                <a:solidFill>
                  <a:srgbClr val="3C4A50"/>
                </a:solidFill>
                <a:latin typeface="Arial" pitchFamily="34" charset="0"/>
                <a:ea typeface="Arial" pitchFamily="34" charset="-122"/>
                <a:cs typeface="Arial" pitchFamily="34" charset="-120"/>
              </a:rPr>
              <a:t>6</a:t>
            </a:r>
            <a:endParaRPr lang="en-US" sz="9200" dirty="0"/>
          </a:p>
        </p:txBody>
      </p:sp>
      <p:sp>
        <p:nvSpPr>
          <p:cNvPr id="3" name="Shape 1"/>
          <p:cNvSpPr/>
          <p:nvPr/>
        </p:nvSpPr>
        <p:spPr>
          <a:xfrm>
            <a:off x="3520440" y="2880360"/>
            <a:ext cx="54864" cy="1097280"/>
          </a:xfrm>
          <a:prstGeom prst="rect">
            <a:avLst/>
          </a:prstGeom>
          <a:solidFill>
            <a:srgbClr val="00BFA5"/>
          </a:solidFill>
          <a:ln/>
        </p:spPr>
        <p:txBody>
          <a:bodyPr/>
          <a:p/>
        </p:txBody>
      </p:sp>
      <p:sp>
        <p:nvSpPr>
          <p:cNvPr id="4" name="Text 2"/>
          <p:cNvSpPr txBox="1"/>
          <p:nvPr/>
        </p:nvSpPr>
        <p:spPr>
          <a:xfrm>
            <a:off x="3749040" y="2834640"/>
            <a:ext cx="7680960" cy="1188720"/>
          </a:xfrm>
          <a:prstGeom prst="rect">
            <a:avLst/>
          </a:prstGeom>
          <a:noFill/>
          <a:ln/>
        </p:spPr>
        <p:txBody>
          <a:bodyPr wrap="square" lIns="0" tIns="0" rIns="0" bIns="0" rtlCol="0" anchor="ctr"/>
          <a:lstStyle/>
          <a:p>
            <a:pPr rtl="1" algn="r" indent="0" marL="0">
              <a:buNone/>
            </a:pPr>
            <a:r>
              <a:rPr lang="en-US" sz="3000" b="1" dirty="0">
                <a:solidFill>
                  <a:srgbClr val="FFFFFF"/>
                </a:solidFill>
                <a:latin typeface="Cambria" pitchFamily="34" charset="0"/>
                <a:ea typeface="Cambria" pitchFamily="34" charset="-122"/>
                <a:cs typeface="Cambria" pitchFamily="34" charset="-120"/>
              </a:rPr>
              <a:t>امنیت</a:t>
            </a:r>
            <a:endParaRPr lang="en-US" sz="3000" dirty="0"/>
          </a:p>
        </p:txBody>
      </p:sp>
      <p:sp>
        <p:nvSpPr>
          <p:cNvPr id="5" name="Shape 3"/>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4"/>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5"/>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یافته‌ی بررسی دستی اولیه</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reentrancy در FoundationDAO — بدون nonReentrant، ولی امن</a:t>
            </a:r>
            <a:endParaRPr lang="en-US" sz="2400" dirty="0"/>
          </a:p>
        </p:txBody>
      </p:sp>
      <p:sp>
        <p:nvSpPr>
          <p:cNvPr id="4" name="Shape 2"/>
          <p:cNvSpPr/>
          <p:nvPr/>
        </p:nvSpPr>
        <p:spPr>
          <a:xfrm>
            <a:off x="548640" y="1691640"/>
            <a:ext cx="5394960" cy="4572000"/>
          </a:xfrm>
          <a:prstGeom prst="roundRect">
            <a:avLst>
              <a:gd name="adj" fmla="val 1200"/>
            </a:avLst>
          </a:prstGeom>
          <a:solidFill>
            <a:srgbClr val="263238"/>
          </a:solidFill>
          <a:ln/>
        </p:spPr>
        <p:txBody>
          <a:bodyPr/>
          <a:p/>
        </p:txBody>
      </p:sp>
      <p:sp>
        <p:nvSpPr>
          <p:cNvPr id="5" name="Text 3"/>
          <p:cNvSpPr txBox="1"/>
          <p:nvPr/>
        </p:nvSpPr>
        <p:spPr>
          <a:xfrm>
            <a:off x="777240" y="1828800"/>
            <a:ext cx="4937760" cy="4297680"/>
          </a:xfrm>
          <a:prstGeom prst="rect">
            <a:avLst/>
          </a:prstGeom>
          <a:noFill/>
          <a:ln/>
        </p:spPr>
        <p:txBody>
          <a:bodyPr wrap="square" lIns="0" tIns="0" rIns="0" bIns="0" rtlCol="0" anchor="t"/>
          <a:lstStyle/>
          <a:p>
            <a:pPr algn="l" indent="0" marL="0">
              <a:buNone/>
            </a:pPr>
            <a:r>
              <a:rPr lang="en-US" sz="1150" dirty="0">
                <a:solidFill>
                  <a:srgbClr val="00BFA5"/>
                </a:solidFill>
                <a:latin typeface="Courier New" pitchFamily="34" charset="0"/>
                <a:ea typeface="Courier New" pitchFamily="34" charset="-122"/>
                <a:cs typeface="Courier New" pitchFamily="34" charset="-120"/>
              </a:rPr>
              <a:t>function _vote(...) private {</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require(</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p.status == Pending</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if (p.votes &gt;= required) {</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_execute(p);</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 status -&gt; Executed</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 BEFORE external .call</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  }</a:t>
            </a:r>
            <a:endParaRPr lang="en-US" sz="1150" dirty="0"/>
          </a:p>
          <a:p>
            <a:pPr algn="l" indent="0" marL="0">
              <a:buNone/>
            </a:pPr>
            <a:r>
              <a:rPr lang="en-US" sz="1150" dirty="0">
                <a:solidFill>
                  <a:srgbClr val="00BFA5"/>
                </a:solidFill>
                <a:latin typeface="Courier New" pitchFamily="34" charset="0"/>
                <a:ea typeface="Courier New" pitchFamily="34" charset="-122"/>
                <a:cs typeface="Courier New" pitchFamily="34" charset="-120"/>
              </a:rPr>
              <a:t>}</a:t>
            </a:r>
            <a:endParaRPr lang="en-US" sz="115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rtl="1" algn="r" indent="0" marL="0">
              <a:spcAft>
                <a:spcPts val="1400"/>
              </a:spcAft>
              <a:buNone/>
            </a:pPr>
            <a:r>
              <a:rPr lang="en-US" sz="1250" dirty="0">
                <a:solidFill>
                  <a:srgbClr val="1B1B1B"/>
                </a:solidFill>
                <a:latin typeface="Calibri" pitchFamily="34" charset="0"/>
                <a:ea typeface="Calibri" pitchFamily="34" charset="-122"/>
                <a:cs typeface="Calibri" pitchFamily="34" charset="-120"/>
              </a:rPr>
              <a:t>◆  ۹ محل .call{value...} در کل مجموعه — همه require(success) دارند</a:t>
            </a:r>
            <a:endParaRPr lang="en-US" sz="1250" dirty="0"/>
          </a:p>
          <a:p>
            <a:pPr rtl="1" algn="r" indent="0" marL="0">
              <a:spcAft>
                <a:spcPts val="1400"/>
              </a:spcAft>
              <a:buNone/>
            </a:pPr>
            <a:r>
              <a:rPr lang="en-US" sz="1250" dirty="0">
                <a:solidFill>
                  <a:srgbClr val="1B1B1B"/>
                </a:solidFill>
                <a:latin typeface="Calibri" pitchFamily="34" charset="0"/>
                <a:ea typeface="Calibri" pitchFamily="34" charset="-122"/>
                <a:cs typeface="Calibri" pitchFamily="34" charset="-120"/>
              </a:rPr>
              <a:t>◆  FoundationDAO بدون nonReentrant، ولی CEI pattern درست رعایت شده</a:t>
            </a:r>
            <a:endParaRPr lang="en-US" sz="1250" dirty="0"/>
          </a:p>
          <a:p>
            <a:pPr rtl="1" algn="r" indent="0" marL="0">
              <a:spcAft>
                <a:spcPts val="1400"/>
              </a:spcAft>
              <a:buNone/>
            </a:pPr>
            <a:r>
              <a:rPr lang="en-US" sz="1250" dirty="0">
                <a:solidFill>
                  <a:srgbClr val="1B1B1B"/>
                </a:solidFill>
                <a:latin typeface="Calibri" pitchFamily="34" charset="0"/>
                <a:ea typeface="Calibri" pitchFamily="34" charset="-122"/>
                <a:cs typeface="Calibri" pitchFamily="34" charset="-120"/>
              </a:rPr>
              <a:t>◆  ValidatorsRegistry/Treasury/BlockRewardDistributor از nonReentrant استفاده می‌کنند</a:t>
            </a:r>
            <a:endParaRPr lang="en-US" sz="1250" dirty="0"/>
          </a:p>
          <a:p>
            <a:pPr rtl="1" algn="r" indent="0" marL="0">
              <a:spcAft>
                <a:spcPts val="1400"/>
              </a:spcAft>
              <a:buNone/>
            </a:pPr>
            <a:r>
              <a:rPr lang="en-US" sz="1250" dirty="0">
                <a:solidFill>
                  <a:srgbClr val="1B1B1B"/>
                </a:solidFill>
                <a:latin typeface="Calibri" pitchFamily="34" charset="0"/>
                <a:ea typeface="Calibri" pitchFamily="34" charset="-122"/>
                <a:cs typeface="Calibri" pitchFamily="34" charset="-120"/>
              </a:rPr>
              <a:t>◆  این فقط یک الگو بود — دامنه‌ی کامل حسابرسی رسمی باید ادامه یابد</a:t>
            </a:r>
            <a:endParaRPr lang="en-US" sz="1250" dirty="0"/>
          </a:p>
        </p:txBody>
      </p:sp>
      <p:sp>
        <p:nvSpPr>
          <p:cNvPr id="7" name="Shape 5"/>
          <p:cNvSpPr/>
          <p:nvPr/>
        </p:nvSpPr>
        <p:spPr>
          <a:xfrm>
            <a:off x="429768" y="6446520"/>
            <a:ext cx="310896" cy="310896"/>
          </a:xfrm>
          <a:prstGeom prst="ellipse">
            <a:avLst/>
          </a:prstGeom>
          <a:solidFill>
            <a:srgbClr val="FFFFFF"/>
          </a:solidFill>
          <a:ln/>
        </p:spPr>
        <p:txBody>
          <a:bodyPr/>
          <a:p/>
        </p:txBody>
      </p:sp>
      <p:pic>
        <p:nvPicPr>
          <p:cNvPr id="8"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9" name="Text 6"/>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10" name="Text 7"/>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64240" cy="320040"/>
          </a:xfrm>
          <a:prstGeom prst="rect">
            <a:avLst/>
          </a:prstGeom>
          <a:noFill/>
          <a:ln/>
        </p:spPr>
        <p:txBody>
          <a:bodyPr wrap="square" lIns="0" tIns="0" rIns="0" bIns="0" rtlCol="0" anchor="ctr"/>
          <a:lstStyle/>
          <a:p>
            <a:pPr rtl="1" algn="r" indent="0" marL="0">
              <a:buNone/>
            </a:pPr>
            <a:r>
              <a:rPr lang="en-US" sz="1250" b="1" spc="150" kern="0" dirty="0">
                <a:solidFill>
                  <a:srgbClr val="00897B"/>
                </a:solidFill>
                <a:latin typeface="Calibri" pitchFamily="34" charset="0"/>
                <a:ea typeface="Calibri" pitchFamily="34" charset="-122"/>
                <a:cs typeface="Calibri" pitchFamily="34" charset="-120"/>
              </a:rPr>
              <a:t>برای تیم فنی</a:t>
            </a:r>
            <a:endParaRPr lang="en-US" sz="1250" dirty="0"/>
          </a:p>
        </p:txBody>
      </p:sp>
      <p:sp>
        <p:nvSpPr>
          <p:cNvPr id="3" name="Text 1"/>
          <p:cNvSpPr txBox="1"/>
          <p:nvPr/>
        </p:nvSpPr>
        <p:spPr>
          <a:xfrm>
            <a:off x="548640" y="576072"/>
            <a:ext cx="11064240" cy="685800"/>
          </a:xfrm>
          <a:prstGeom prst="rect">
            <a:avLst/>
          </a:prstGeom>
          <a:noFill/>
          <a:ln/>
        </p:spPr>
        <p:txBody>
          <a:bodyPr wrap="square" lIns="0" tIns="0" rIns="0" bIns="0" rtlCol="0" anchor="ctr"/>
          <a:lstStyle/>
          <a:p>
            <a:pPr rtl="1" algn="r" indent="0" marL="0">
              <a:buNone/>
            </a:pPr>
            <a:r>
              <a:rPr lang="en-US" sz="2400" b="1" dirty="0">
                <a:solidFill>
                  <a:srgbClr val="1B1B1B"/>
                </a:solidFill>
                <a:latin typeface="Cambria" pitchFamily="34" charset="0"/>
                <a:ea typeface="Cambria" pitchFamily="34" charset="-122"/>
                <a:cs typeface="Cambria" pitchFamily="34" charset="-120"/>
              </a:rPr>
              <a:t>سؤالات فنی باز</a:t>
            </a:r>
            <a:endParaRPr lang="en-US" sz="2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4663440"/>
        </p:xfrm>
        <a:graphic>
          <a:graphicData uri="http://schemas.openxmlformats.org/drawingml/2006/table">
            <a:tbl>
              <a:tblPr/>
              <a:tblGrid>
                <a:gridCol w="5532120"/>
                <a:gridCol w="553212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مورد</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وضعیت</a:t>
                      </a:r>
                      <a:endParaRPr lang="en-US" sz="12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263238"/>
                    </a:solidFill>
                  </a:tcPr>
                </a:tc>
              </a:tr>
              <a:tr h="777240">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نصاب دوسوم برای چرخش paymentOracle اگر مبالغ بزرگ‌تر شد</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نیازمند تغییر کد FoundationDAO</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777240">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عدد دقیق CONFIRMATIONS برای RewardRouter</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حل شد — حذف کامل (QBFT نهایی‌شدن فوری)</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777240">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یکسان‌سازی کتابخانه (viem/ethers.js) بین سرویس‌ها</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حل شد — هر دو روی viem یکسان شدند</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r h="777240">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اجرای واقعی ابزار genesis.json</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هنوز انجام نشده (T02)؛ آزمون‌های Besu با اسکریپت آزمایشی؛ کد فعلی روی Besu آزموده نشده</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2F5F5"/>
                    </a:solidFill>
                  </a:tcPr>
                </a:tc>
              </a:tr>
              <a:tr h="777240">
                <a:tc>
                  <a:txBody>
                    <a:bodyPr/>
                    <a:lstStyle/>
                    <a:p>
                      <a:pPr algn="r" indent="0" marL="0">
                        <a:buNone/>
                      </a:pPr>
                      <a:r>
                        <a:rPr lang="en-US" sz="1100" dirty="0">
                          <a:solidFill>
                            <a:srgbClr val="1B1B1B"/>
                          </a:solidFill>
                          <a:latin typeface="Courier New" pitchFamily="34" charset="0"/>
                          <a:ea typeface="Courier New" pitchFamily="34" charset="-122"/>
                          <a:cs typeface="Courier New" pitchFamily="34" charset="-120"/>
                        </a:rPr>
                        <a:t>انتخاب شرکت حسابرسی امنیتی</a:t>
                      </a:r>
                      <a:endParaRPr lang="en-US" sz="1100" dirty="0">
                        <a:latin typeface="Courier New" charset="0"/>
                        <a:ea typeface="Courier New" charset="0"/>
                        <a:cs typeface="Courier New"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1B1B"/>
                          </a:solidFill>
                          <a:latin typeface="Calibri" pitchFamily="34" charset="0"/>
                          <a:ea typeface="Calibri" pitchFamily="34" charset="-122"/>
                          <a:cs typeface="Calibri" pitchFamily="34" charset="-120"/>
                        </a:rPr>
                        <a:t>باز — sur-security-audit-plan.md</a:t>
                      </a:r>
                      <a:endParaRPr lang="en-US" sz="1100" dirty="0">
                        <a:latin typeface="Calibri" charset="0"/>
                        <a:ea typeface="Calibri" charset="0"/>
                        <a:cs typeface="Calibri" charset="0"/>
                      </a:endParaRPr>
                    </a:p>
                  </a:txBody>
                  <a:tcPr marL="91440" marR="91440" marT="45720" marB="45720" anchor="ctr">
                    <a:lnL w="6350" cap="flat" cmpd="sng" algn="ctr">
                      <a:solidFill>
                        <a:srgbClr val="E0E6E7"/>
                      </a:solidFill>
                      <a:prstDash val="solid"/>
                      <a:round/>
                      <a:headEnd type="none" w="med" len="med"/>
                      <a:tailEnd type="none" w="med" len="med"/>
                    </a:lnL>
                    <a:lnR w="6350" cap="flat" cmpd="sng" algn="ctr">
                      <a:solidFill>
                        <a:srgbClr val="E0E6E7"/>
                      </a:solidFill>
                      <a:prstDash val="solid"/>
                      <a:round/>
                      <a:headEnd type="none" w="med" len="med"/>
                      <a:tailEnd type="none" w="med" len="med"/>
                    </a:lnR>
                    <a:lnT w="6350" cap="flat" cmpd="sng" algn="ctr">
                      <a:solidFill>
                        <a:srgbClr val="E0E6E7"/>
                      </a:solidFill>
                      <a:prstDash val="solid"/>
                      <a:round/>
                      <a:headEnd type="none" w="med" len="med"/>
                      <a:tailEnd type="none" w="med" len="med"/>
                    </a:lnT>
                    <a:lnB w="6350" cap="flat" cmpd="sng" algn="ctr">
                      <a:solidFill>
                        <a:srgbClr val="E0E6E7"/>
                      </a:solidFill>
                      <a:prstDash val="solid"/>
                      <a:round/>
                      <a:headEnd type="none" w="med" len="med"/>
                      <a:tailEnd type="none" w="med" len="med"/>
                    </a:lnB>
                    <a:solidFill>
                      <a:srgbClr val="FFFFFF"/>
                    </a:solidFill>
                  </a:tcPr>
                </a:tc>
              </a:tr>
            </a:tbl>
          </a:graphicData>
        </a:graphic>
      </p:graphicFrame>
      <p:sp>
        <p:nvSpPr>
          <p:cNvPr id="5" name="Shape 2"/>
          <p:cNvSpPr/>
          <p:nvPr/>
        </p:nvSpPr>
        <p:spPr>
          <a:xfrm>
            <a:off x="429768" y="6446520"/>
            <a:ext cx="310896" cy="310896"/>
          </a:xfrm>
          <a:prstGeom prst="ellipse">
            <a:avLst/>
          </a:prstGeom>
          <a:solidFill>
            <a:srgbClr val="FFFFFF"/>
          </a:solidFill>
          <a:ln/>
        </p:spPr>
        <p:txBody>
          <a:bodyPr/>
          <a:p/>
        </p:txBody>
      </p:sp>
      <p:pic>
        <p:nvPicPr>
          <p:cNvPr id="6" name="Image 0" descr="/home/claude/deck2/assets/logo.png">    </p:cNvPr>
          <p:cNvPicPr>
            <a:picLocks noChangeAspect="1"/>
          </p:cNvPicPr>
          <p:nvPr/>
        </p:nvPicPr>
        <p:blipFill>
          <a:blip r:embed="rId1"/>
          <a:stretch>
            <a:fillRect/>
          </a:stretch>
        </p:blipFill>
        <p:spPr>
          <a:xfrm>
            <a:off x="457200" y="6473952"/>
            <a:ext cx="256032" cy="256032"/>
          </a:xfrm>
          <a:prstGeom prst="rect">
            <a:avLst/>
          </a:prstGeom>
        </p:spPr>
      </p:pic>
      <p:sp>
        <p:nvSpPr>
          <p:cNvPr id="7" name="Text 3"/>
          <p:cNvSpPr txBox="1"/>
          <p:nvPr/>
        </p:nvSpPr>
        <p:spPr>
          <a:xfrm>
            <a:off x="804672" y="6537960"/>
            <a:ext cx="694944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پیاده‌سازی فنی طرح جدید سور — تیم فنی بنیاد</a:t>
            </a:r>
            <a:endParaRPr lang="en-US" sz="1000" dirty="0"/>
          </a:p>
        </p:txBody>
      </p:sp>
      <p:sp>
        <p:nvSpPr>
          <p:cNvPr id="8" name="Text 4"/>
          <p:cNvSpPr txBox="1"/>
          <p:nvPr/>
        </p:nvSpPr>
        <p:spPr>
          <a:xfrm>
            <a:off x="11430000" y="6537960"/>
            <a:ext cx="365760" cy="274320"/>
          </a:xfrm>
          <a:prstGeom prst="rect">
            <a:avLst/>
          </a:prstGeom>
          <a:noFill/>
          <a:ln/>
        </p:spPr>
        <p:txBody>
          <a:bodyPr wrap="square" lIns="0" tIns="0" rIns="0" bIns="0" rtlCol="0" anchor="ctr"/>
          <a:lstStyle/>
          <a:p>
            <a:pPr rtl="1" algn="r" indent="0" marL="0">
              <a:buNone/>
            </a:pPr>
            <a:r>
              <a:rPr lang="en-US" sz="1000" dirty="0">
                <a:solidFill>
                  <a:srgbClr val="8FA3A8"/>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63238"/>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BFA5"/>
          </a:solidFill>
          <a:ln/>
        </p:spPr>
        <p:txBody>
          <a:bodyPr/>
          <a:p/>
        </p:txBody>
      </p:sp>
      <p:sp>
        <p:nvSpPr>
          <p:cNvPr id="3" name="Shape 1"/>
          <p:cNvSpPr/>
          <p:nvPr/>
        </p:nvSpPr>
        <p:spPr>
          <a:xfrm>
            <a:off x="10332720" y="411480"/>
            <a:ext cx="1371600" cy="1371600"/>
          </a:xfrm>
          <a:prstGeom prst="ellipse">
            <a:avLst/>
          </a:prstGeom>
          <a:solidFill>
            <a:srgbClr val="FFFFFF"/>
          </a:solidFill>
          <a:ln/>
        </p:spPr>
        <p:txBody>
          <a:bodyPr/>
          <a:p/>
        </p:txBody>
      </p:sp>
      <p:pic>
        <p:nvPicPr>
          <p:cNvPr id="4" name="Image 0" descr="/home/claude/deck2/assets/logo.png">    </p:cNvPr>
          <p:cNvPicPr>
            <a:picLocks noChangeAspect="1"/>
          </p:cNvPicPr>
          <p:nvPr/>
        </p:nvPicPr>
        <p:blipFill>
          <a:blip r:embed="rId1"/>
          <a:stretch>
            <a:fillRect/>
          </a:stretch>
        </p:blipFill>
        <p:spPr>
          <a:xfrm>
            <a:off x="10515600" y="594360"/>
            <a:ext cx="1005840" cy="1005840"/>
          </a:xfrm>
          <a:prstGeom prst="rect">
            <a:avLst/>
          </a:prstGeom>
        </p:spPr>
      </p:pic>
      <p:sp>
        <p:nvSpPr>
          <p:cNvPr id="5" name="Text 2"/>
          <p:cNvSpPr txBox="1"/>
          <p:nvPr/>
        </p:nvSpPr>
        <p:spPr>
          <a:xfrm>
            <a:off x="914400" y="2651760"/>
            <a:ext cx="10332720" cy="1097280"/>
          </a:xfrm>
          <a:prstGeom prst="rect">
            <a:avLst/>
          </a:prstGeom>
          <a:noFill/>
          <a:ln/>
        </p:spPr>
        <p:txBody>
          <a:bodyPr wrap="square" lIns="0" tIns="0" rIns="0" bIns="0" rtlCol="0" anchor="ctr"/>
          <a:lstStyle/>
          <a:p>
            <a:pPr rtl="1" algn="r" indent="0" marL="0">
              <a:buNone/>
            </a:pPr>
            <a:r>
              <a:rPr lang="en-US" sz="3200" b="1" dirty="0">
                <a:solidFill>
                  <a:srgbClr val="FFFFFF"/>
                </a:solidFill>
                <a:latin typeface="Cambria" pitchFamily="34" charset="0"/>
                <a:ea typeface="Cambria" pitchFamily="34" charset="-122"/>
                <a:cs typeface="Cambria" pitchFamily="34" charset="-120"/>
              </a:rPr>
              <a:t>جمع‌بندی</a:t>
            </a:r>
            <a:endParaRPr lang="en-US" sz="3200" dirty="0"/>
          </a:p>
        </p:txBody>
      </p:sp>
      <p:sp>
        <p:nvSpPr>
          <p:cNvPr id="6" name="Text 3"/>
          <p:cNvSpPr txBox="1"/>
          <p:nvPr/>
        </p:nvSpPr>
        <p:spPr>
          <a:xfrm>
            <a:off x="914400" y="3657600"/>
            <a:ext cx="10332720" cy="731520"/>
          </a:xfrm>
          <a:prstGeom prst="rect">
            <a:avLst/>
          </a:prstGeom>
          <a:noFill/>
          <a:ln/>
        </p:spPr>
        <p:txBody>
          <a:bodyPr wrap="square" lIns="0" tIns="0" rIns="0" bIns="0" rtlCol="0" anchor="ctr"/>
          <a:lstStyle/>
          <a:p>
            <a:pPr rtl="1" algn="r" indent="0" marL="0">
              <a:buNone/>
            </a:pPr>
            <a:r>
              <a:rPr lang="en-US" sz="1400" dirty="0">
                <a:solidFill>
                  <a:srgbClr val="B0BEC5"/>
                </a:solidFill>
                <a:latin typeface="Calibri" pitchFamily="34" charset="0"/>
                <a:ea typeface="Calibri" pitchFamily="34" charset="-122"/>
                <a:cs typeface="Calibri" pitchFamily="34" charset="-120"/>
              </a:rPr>
              <a:t>جزئیات کامل هر سرویس/قرارداد در پوشه‌های contracts/ و offchain-services/ موجود است — آماده‌ی شروع پیاده‌سازی هستیم.</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2026-08-28T12:08:50Z</dcterms:created>
  <dcterms:modified xsi:type="dcterms:W3CDTF">2026-08-28T12:08:50Z</dcterms:modified>
</cp:coreProperties>
</file>