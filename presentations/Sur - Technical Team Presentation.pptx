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3238"/>
        </a:solidFill>
      </p:bgPr>
    </p:bg>
    <p:spTree>
      <p:nvGrpSpPr>
        <p:cNvPr id="1" name=""/>
        <p:cNvGrpSpPr/>
        <p:nvPr/>
      </p:nvGrpSpPr>
      <p:grpSpPr>
        <a:xfrm>
          <a:off x="0" y="0"/>
          <a:ext cx="0" cy="0"/>
          <a:chOff x="0" y="0"/>
          <a:chExt cx="0" cy="0"/>
        </a:xfrm>
      </p:grpSpPr>
      <p:sp>
        <p:nvSpPr>
          <p:cNvPr id="2" name="Shape 0"/>
          <p:cNvSpPr/>
          <p:nvPr/>
        </p:nvSpPr>
        <p:spPr>
          <a:xfrm>
            <a:off x="8961120" y="0"/>
            <a:ext cx="3227832" cy="6858000"/>
          </a:xfrm>
          <a:prstGeom prst="rect">
            <a:avLst/>
          </a:prstGeom>
          <a:solidFill>
            <a:srgbClr val="37474F"/>
          </a:solidFill>
          <a:ln/>
        </p:spPr>
        <p:txBody>
          <a:bodyPr/>
          <a:p/>
        </p:txBody>
      </p:sp>
      <p:sp>
        <p:nvSpPr>
          <p:cNvPr id="3" name="Shape 1"/>
          <p:cNvSpPr/>
          <p:nvPr/>
        </p:nvSpPr>
        <p:spPr>
          <a:xfrm>
            <a:off x="9326880" y="914400"/>
            <a:ext cx="411480" cy="411480"/>
          </a:xfrm>
          <a:prstGeom prst="rect">
            <a:avLst/>
          </a:prstGeom>
          <a:solidFill>
            <a:srgbClr val="00BFA5"/>
          </a:solidFill>
          <a:ln/>
        </p:spPr>
        <p:txBody>
          <a:bodyPr/>
          <a:p/>
        </p:txBody>
      </p:sp>
      <p:sp>
        <p:nvSpPr>
          <p:cNvPr id="4" name="Shape 2"/>
          <p:cNvSpPr/>
          <p:nvPr/>
        </p:nvSpPr>
        <p:spPr>
          <a:xfrm>
            <a:off x="10012680" y="2103120"/>
            <a:ext cx="411480" cy="411480"/>
          </a:xfrm>
          <a:prstGeom prst="rect">
            <a:avLst/>
          </a:prstGeom>
          <a:solidFill>
            <a:srgbClr val="00BFA5"/>
          </a:solidFill>
          <a:ln/>
        </p:spPr>
        <p:txBody>
          <a:bodyPr/>
          <a:p/>
        </p:txBody>
      </p:sp>
      <p:sp>
        <p:nvSpPr>
          <p:cNvPr id="5" name="Shape 3"/>
          <p:cNvSpPr/>
          <p:nvPr/>
        </p:nvSpPr>
        <p:spPr>
          <a:xfrm>
            <a:off x="10698480" y="3291840"/>
            <a:ext cx="411480" cy="411480"/>
          </a:xfrm>
          <a:prstGeom prst="rect">
            <a:avLst/>
          </a:prstGeom>
          <a:solidFill>
            <a:srgbClr val="00BFA5"/>
          </a:solidFill>
          <a:ln/>
        </p:spPr>
        <p:txBody>
          <a:bodyPr/>
          <a:p/>
        </p:txBody>
      </p:sp>
      <p:sp>
        <p:nvSpPr>
          <p:cNvPr id="6" name="Shape 4"/>
          <p:cNvSpPr/>
          <p:nvPr/>
        </p:nvSpPr>
        <p:spPr>
          <a:xfrm>
            <a:off x="11384280" y="4480560"/>
            <a:ext cx="411480" cy="411480"/>
          </a:xfrm>
          <a:prstGeom prst="rect">
            <a:avLst/>
          </a:prstGeom>
          <a:solidFill>
            <a:srgbClr val="00BFA5"/>
          </a:solidFill>
          <a:ln/>
        </p:spPr>
        <p:txBody>
          <a:bodyPr/>
          <a:p/>
        </p:txBody>
      </p:sp>
      <p:sp>
        <p:nvSpPr>
          <p:cNvPr id="7" name="Shape 5"/>
          <p:cNvSpPr/>
          <p:nvPr/>
        </p:nvSpPr>
        <p:spPr>
          <a:xfrm>
            <a:off x="9509760" y="5120640"/>
            <a:ext cx="1188720" cy="1188720"/>
          </a:xfrm>
          <a:prstGeom prst="ellipse">
            <a:avLst/>
          </a:prstGeom>
          <a:solidFill>
            <a:srgbClr val="FFFFFF"/>
          </a:solidFill>
          <a:ln/>
        </p:spPr>
        <p:txBody>
          <a:bodyPr/>
          <a:p/>
        </p:txBody>
      </p:sp>
      <p:pic>
        <p:nvPicPr>
          <p:cNvPr id="8" name="Image 0" descr="/home/claude/deck2/assets/logo.png">    </p:cNvPr>
          <p:cNvPicPr>
            <a:picLocks noChangeAspect="1"/>
          </p:cNvPicPr>
          <p:nvPr/>
        </p:nvPicPr>
        <p:blipFill>
          <a:blip r:embed="rId1"/>
          <a:stretch>
            <a:fillRect/>
          </a:stretch>
        </p:blipFill>
        <p:spPr>
          <a:xfrm>
            <a:off x="9665208" y="5276088"/>
            <a:ext cx="877824" cy="877824"/>
          </a:xfrm>
          <a:prstGeom prst="rect">
            <a:avLst/>
          </a:prstGeom>
        </p:spPr>
      </p:pic>
      <p:sp>
        <p:nvSpPr>
          <p:cNvPr id="9" name="Text 6"/>
          <p:cNvSpPr txBox="1"/>
          <p:nvPr/>
        </p:nvSpPr>
        <p:spPr>
          <a:xfrm>
            <a:off x="731520" y="2286000"/>
            <a:ext cx="7955280" cy="457200"/>
          </a:xfrm>
          <a:prstGeom prst="rect">
            <a:avLst/>
          </a:prstGeom>
          <a:noFill/>
          <a:ln/>
        </p:spPr>
        <p:txBody>
          <a:bodyPr wrap="square" lIns="0" tIns="0" rIns="0" bIns="0" rtlCol="0" anchor="ctr"/>
          <a:lstStyle/>
          <a:p>
            <a:pPr rtl="1" algn="r" indent="0" marL="0">
              <a:buNone/>
            </a:pPr>
            <a:r>
              <a:rPr lang="en-US" sz="1600" b="1" spc="200" kern="0" dirty="0">
                <a:solidFill>
                  <a:srgbClr val="00BFA5"/>
                </a:solidFill>
                <a:latin typeface="Calibri" pitchFamily="34" charset="0"/>
                <a:ea typeface="Calibri" pitchFamily="34" charset="-122"/>
                <a:cs typeface="Calibri" pitchFamily="34" charset="-120"/>
              </a:rPr>
              <a:t>ارائه به تیم فنی بنیاد</a:t>
            </a:r>
            <a:endParaRPr lang="en-US" sz="1600" dirty="0"/>
          </a:p>
        </p:txBody>
      </p:sp>
      <p:sp>
        <p:nvSpPr>
          <p:cNvPr id="10" name="Text 7"/>
          <p:cNvSpPr txBox="1"/>
          <p:nvPr/>
        </p:nvSpPr>
        <p:spPr>
          <a:xfrm>
            <a:off x="731520" y="2743200"/>
            <a:ext cx="7955280" cy="1463040"/>
          </a:xfrm>
          <a:prstGeom prst="rect">
            <a:avLst/>
          </a:prstGeom>
          <a:noFill/>
          <a:ln/>
        </p:spPr>
        <p:txBody>
          <a:bodyPr wrap="square" lIns="0" tIns="0" rIns="0" bIns="0" rtlCol="0" anchor="ctr"/>
          <a:lstStyle/>
          <a:p>
            <a:pPr rtl="1" algn="r" indent="0" marL="0">
              <a:buNone/>
            </a:pPr>
            <a:r>
              <a:rPr lang="en-US" sz="3800" b="1" dirty="0">
                <a:solidFill>
                  <a:srgbClr val="FFFFFF"/>
                </a:solidFill>
                <a:latin typeface="Cambria" pitchFamily="34" charset="0"/>
                <a:ea typeface="Cambria" pitchFamily="34" charset="-122"/>
                <a:cs typeface="Cambria" pitchFamily="34" charset="-120"/>
              </a:rPr>
              <a:t>پیاده‌سازی فنی طرح جدید سور</a:t>
            </a:r>
            <a:endParaRPr lang="en-US" sz="3800" dirty="0"/>
          </a:p>
        </p:txBody>
      </p:sp>
      <p:sp>
        <p:nvSpPr>
          <p:cNvPr id="11" name="Text 8"/>
          <p:cNvSpPr txBox="1"/>
          <p:nvPr/>
        </p:nvSpPr>
        <p:spPr>
          <a:xfrm>
            <a:off x="731520" y="4206240"/>
            <a:ext cx="7955280" cy="731520"/>
          </a:xfrm>
          <a:prstGeom prst="rect">
            <a:avLst/>
          </a:prstGeom>
          <a:noFill/>
          <a:ln/>
        </p:spPr>
        <p:txBody>
          <a:bodyPr wrap="square" lIns="0" tIns="0" rIns="0" bIns="0" rtlCol="0" anchor="ctr"/>
          <a:lstStyle/>
          <a:p>
            <a:pPr rtl="1" algn="r" indent="0" marL="0">
              <a:buNone/>
            </a:pPr>
            <a:r>
              <a:rPr lang="en-US" sz="1500" dirty="0">
                <a:solidFill>
                  <a:srgbClr val="B0BEC5"/>
                </a:solidFill>
                <a:latin typeface="Calibri" pitchFamily="34" charset="0"/>
                <a:ea typeface="Calibri" pitchFamily="34" charset="-122"/>
                <a:cs typeface="Calibri" pitchFamily="34" charset="-120"/>
              </a:rPr>
              <a:t>هر هشت قرارداد، چهار اوراکل، چهار سرویس آف‌چین — کامل و جامع</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نمای کلی</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دستور جلسه</a:t>
            </a:r>
            <a:endParaRPr lang="en-US" sz="2400" dirty="0"/>
          </a:p>
        </p:txBody>
      </p:sp>
      <p:sp>
        <p:nvSpPr>
          <p:cNvPr id="4" name="Text 2"/>
          <p:cNvSpPr txBox="1"/>
          <p:nvPr/>
        </p:nvSpPr>
        <p:spPr>
          <a:xfrm>
            <a:off x="548640" y="1691640"/>
            <a:ext cx="10881360" cy="4572000"/>
          </a:xfrm>
          <a:prstGeom prst="rect">
            <a:avLst/>
          </a:prstGeom>
          <a:noFill/>
          <a:ln/>
        </p:spPr>
        <p:txBody>
          <a:bodyPr wrap="square" lIns="0" tIns="0" rIns="0" bIns="0" rtlCol="0" anchor="t"/>
          <a:lstStyle/>
          <a:p>
            <a:pPr rtl="1" algn="r" indent="0" marL="0">
              <a:spcAft>
                <a:spcPts val="1300"/>
              </a:spcAft>
              <a:buNone/>
            </a:pPr>
            <a:r>
              <a:rPr lang="en-US" sz="1400" dirty="0">
                <a:solidFill>
                  <a:srgbClr val="1B1B1B"/>
                </a:solidFill>
                <a:latin typeface="Calibri" pitchFamily="34" charset="0"/>
                <a:ea typeface="Calibri" pitchFamily="34" charset="-122"/>
                <a:cs typeface="Calibri" pitchFamily="34" charset="-120"/>
              </a:rPr>
              <a:t>◆  معماری کلی: شش قرارداد ساختاری genesis-injected</a:t>
            </a:r>
            <a:endParaRPr lang="en-US" sz="1400" dirty="0"/>
          </a:p>
          <a:p>
            <a:pPr rtl="1" algn="r" indent="0" marL="0">
              <a:spcAft>
                <a:spcPts val="1300"/>
              </a:spcAft>
              <a:buNone/>
            </a:pPr>
            <a:r>
              <a:rPr lang="en-US" sz="1400" dirty="0">
                <a:solidFill>
                  <a:srgbClr val="1B1B1B"/>
                </a:solidFill>
                <a:latin typeface="Calibri" pitchFamily="34" charset="0"/>
                <a:ea typeface="Calibri" pitchFamily="34" charset="-122"/>
                <a:cs typeface="Calibri" pitchFamily="34" charset="-120"/>
              </a:rPr>
              <a:t>◆  بررسی کامل هر قرارداد: توابع، حاکمیت، نقاط اعتماد</a:t>
            </a:r>
            <a:endParaRPr lang="en-US" sz="1400" dirty="0"/>
          </a:p>
          <a:p>
            <a:pPr rtl="1" algn="r" indent="0" marL="0">
              <a:spcAft>
                <a:spcPts val="1300"/>
              </a:spcAft>
              <a:buNone/>
            </a:pPr>
            <a:r>
              <a:rPr lang="en-US" sz="1400" dirty="0">
                <a:solidFill>
                  <a:srgbClr val="1B1B1B"/>
                </a:solidFill>
                <a:latin typeface="Calibri" pitchFamily="34" charset="0"/>
                <a:ea typeface="Calibri" pitchFamily="34" charset="-122"/>
                <a:cs typeface="Calibri" pitchFamily="34" charset="-120"/>
              </a:rPr>
              <a:t>◆  همه‌ی اوراکل‌ها و مکانیزم کلیدگردانی هرکدام</a:t>
            </a:r>
            <a:endParaRPr lang="en-US" sz="1400" dirty="0"/>
          </a:p>
          <a:p>
            <a:pPr rtl="1" algn="r" indent="0" marL="0">
              <a:spcAft>
                <a:spcPts val="1300"/>
              </a:spcAft>
              <a:buNone/>
            </a:pPr>
            <a:r>
              <a:rPr lang="en-US" sz="1400" dirty="0">
                <a:solidFill>
                  <a:srgbClr val="1B1B1B"/>
                </a:solidFill>
                <a:latin typeface="Calibri" pitchFamily="34" charset="0"/>
                <a:ea typeface="Calibri" pitchFamily="34" charset="-122"/>
                <a:cs typeface="Calibri" pitchFamily="34" charset="-120"/>
              </a:rPr>
              <a:t>◆  چهار سرویس آف‌چین و جریان کاری هرکدام</a:t>
            </a:r>
            <a:endParaRPr lang="en-US" sz="1400" dirty="0"/>
          </a:p>
          <a:p>
            <a:pPr rtl="1" algn="r" indent="0" marL="0">
              <a:spcAft>
                <a:spcPts val="1300"/>
              </a:spcAft>
              <a:buNone/>
            </a:pPr>
            <a:r>
              <a:rPr lang="en-US" sz="1400" dirty="0">
                <a:solidFill>
                  <a:srgbClr val="1B1B1B"/>
                </a:solidFill>
                <a:latin typeface="Calibri" pitchFamily="34" charset="0"/>
                <a:ea typeface="Calibri" pitchFamily="34" charset="-122"/>
                <a:cs typeface="Calibri" pitchFamily="34" charset="-120"/>
              </a:rPr>
              <a:t>◆  زیرساخت مشترک: Vault، Docker، ابزار genesis</a:t>
            </a:r>
            <a:endParaRPr lang="en-US" sz="1400" dirty="0"/>
          </a:p>
          <a:p>
            <a:pPr rtl="1" algn="r" indent="0" marL="0">
              <a:spcAft>
                <a:spcPts val="1300"/>
              </a:spcAft>
              <a:buNone/>
            </a:pPr>
            <a:r>
              <a:rPr lang="en-US" sz="1400" dirty="0">
                <a:solidFill>
                  <a:srgbClr val="1B1B1B"/>
                </a:solidFill>
                <a:latin typeface="Calibri" pitchFamily="34" charset="0"/>
                <a:ea typeface="Calibri" pitchFamily="34" charset="-122"/>
                <a:cs typeface="Calibri" pitchFamily="34" charset="-120"/>
              </a:rPr>
              <a:t>◆  امنیت: یافته‌های بررسی اولیه و سؤالات باز فنی</a:t>
            </a:r>
            <a:endParaRPr lang="en-US" sz="1400" dirty="0"/>
          </a:p>
        </p:txBody>
      </p:sp>
      <p:sp>
        <p:nvSpPr>
          <p:cNvPr id="5" name="Shape 3"/>
          <p:cNvSpPr/>
          <p:nvPr/>
        </p:nvSpPr>
        <p:spPr>
          <a:xfrm>
            <a:off x="429768" y="6446520"/>
            <a:ext cx="310896" cy="310896"/>
          </a:xfrm>
          <a:prstGeom prst="ellipse">
            <a:avLst/>
          </a:prstGeom>
          <a:solidFill>
            <a:srgbClr val="FFFFFF"/>
          </a:solidFill>
          <a:ln/>
        </p:spPr>
        <p:txBody>
          <a:bodyPr/>
          <a:p/>
        </p:txBody>
      </p:sp>
      <p:pic>
        <p:nvPicPr>
          <p:cNvPr id="6" name="Image 0" descr="/home/claude/deck2/assets/logo.png">    </p:cNvPr>
          <p:cNvPicPr>
            <a:picLocks noChangeAspect="1"/>
          </p:cNvPicPr>
          <p:nvPr/>
        </p:nvPicPr>
        <p:blipFill>
          <a:blip r:embed="rId1"/>
          <a:stretch>
            <a:fillRect/>
          </a:stretch>
        </p:blipFill>
        <p:spPr>
          <a:xfrm>
            <a:off x="457200" y="6473952"/>
            <a:ext cx="256032" cy="256032"/>
          </a:xfrm>
          <a:prstGeom prst="rect">
            <a:avLst/>
          </a:prstGeom>
        </p:spPr>
      </p:pic>
      <p:sp>
        <p:nvSpPr>
          <p:cNvPr id="7" name="Text 4"/>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8" name="Text 5"/>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63238"/>
        </a:solidFill>
      </p:bgPr>
    </p:bg>
    <p:spTree>
      <p:nvGrpSpPr>
        <p:cNvPr id="1" name=""/>
        <p:cNvGrpSpPr/>
        <p:nvPr/>
      </p:nvGrpSpPr>
      <p:grpSpPr>
        <a:xfrm>
          <a:off x="0" y="0"/>
          <a:ext cx="0" cy="0"/>
          <a:chOff x="0" y="0"/>
          <a:chExt cx="0" cy="0"/>
        </a:xfrm>
      </p:grpSpPr>
      <p:sp>
        <p:nvSpPr>
          <p:cNvPr id="2" name="Text 0"/>
          <p:cNvSpPr txBox="1"/>
          <p:nvPr/>
        </p:nvSpPr>
        <p:spPr>
          <a:xfrm>
            <a:off x="731520" y="2377440"/>
            <a:ext cx="2743200" cy="1828800"/>
          </a:xfrm>
          <a:prstGeom prst="rect">
            <a:avLst/>
          </a:prstGeom>
          <a:noFill/>
          <a:ln/>
        </p:spPr>
        <p:txBody>
          <a:bodyPr wrap="square" lIns="0" tIns="0" rIns="0" bIns="0" rtlCol="0" anchor="ctr"/>
          <a:lstStyle/>
          <a:p>
            <a:pPr rtl="1" algn="r" indent="0" marL="0">
              <a:buNone/>
            </a:pPr>
            <a:r>
              <a:rPr lang="en-US" sz="9200" b="1" dirty="0">
                <a:solidFill>
                  <a:srgbClr val="3C4A50"/>
                </a:solidFill>
                <a:latin typeface="Arial" pitchFamily="34" charset="0"/>
                <a:ea typeface="Arial" pitchFamily="34" charset="-122"/>
                <a:cs typeface="Arial" pitchFamily="34" charset="-120"/>
              </a:rPr>
              <a:t>1</a:t>
            </a:r>
            <a:endParaRPr lang="en-US" sz="9200" dirty="0"/>
          </a:p>
        </p:txBody>
      </p:sp>
      <p:sp>
        <p:nvSpPr>
          <p:cNvPr id="3" name="Shape 1"/>
          <p:cNvSpPr/>
          <p:nvPr/>
        </p:nvSpPr>
        <p:spPr>
          <a:xfrm>
            <a:off x="3520440" y="2880360"/>
            <a:ext cx="54864" cy="1097280"/>
          </a:xfrm>
          <a:prstGeom prst="rect">
            <a:avLst/>
          </a:prstGeom>
          <a:solidFill>
            <a:srgbClr val="00BFA5"/>
          </a:solidFill>
          <a:ln/>
        </p:spPr>
        <p:txBody>
          <a:bodyPr/>
          <a:p/>
        </p:txBody>
      </p:sp>
      <p:sp>
        <p:nvSpPr>
          <p:cNvPr id="4" name="Text 2"/>
          <p:cNvSpPr txBox="1"/>
          <p:nvPr/>
        </p:nvSpPr>
        <p:spPr>
          <a:xfrm>
            <a:off x="3749040" y="2834640"/>
            <a:ext cx="7680960" cy="1188720"/>
          </a:xfrm>
          <a:prstGeom prst="rect">
            <a:avLst/>
          </a:prstGeom>
          <a:noFill/>
          <a:ln/>
        </p:spPr>
        <p:txBody>
          <a:bodyPr wrap="square" lIns="0" tIns="0" rIns="0" bIns="0" rtlCol="0" anchor="ctr"/>
          <a:lstStyle/>
          <a:p>
            <a:pPr rtl="1" algn="r" indent="0" marL="0">
              <a:buNone/>
            </a:pPr>
            <a:r>
              <a:rPr lang="en-US" sz="3000" b="1" dirty="0">
                <a:solidFill>
                  <a:srgbClr val="FFFFFF"/>
                </a:solidFill>
                <a:latin typeface="Cambria" pitchFamily="34" charset="0"/>
                <a:ea typeface="Cambria" pitchFamily="34" charset="-122"/>
                <a:cs typeface="Cambria" pitchFamily="34" charset="-120"/>
              </a:rPr>
              <a:t>معماری کلی: شش قرارداد genesis</a:t>
            </a:r>
            <a:endParaRPr lang="en-US" sz="3000" dirty="0"/>
          </a:p>
        </p:txBody>
      </p:sp>
      <p:sp>
        <p:nvSpPr>
          <p:cNvPr id="5" name="Shape 3"/>
          <p:cNvSpPr/>
          <p:nvPr/>
        </p:nvSpPr>
        <p:spPr>
          <a:xfrm>
            <a:off x="429768" y="6446520"/>
            <a:ext cx="310896" cy="310896"/>
          </a:xfrm>
          <a:prstGeom prst="ellipse">
            <a:avLst/>
          </a:prstGeom>
          <a:solidFill>
            <a:srgbClr val="FFFFFF"/>
          </a:solidFill>
          <a:ln/>
        </p:spPr>
        <p:txBody>
          <a:bodyPr/>
          <a:p/>
        </p:txBody>
      </p:sp>
      <p:pic>
        <p:nvPicPr>
          <p:cNvPr id="6" name="Image 0" descr="/home/claude/deck2/assets/logo.png">    </p:cNvPr>
          <p:cNvPicPr>
            <a:picLocks noChangeAspect="1"/>
          </p:cNvPicPr>
          <p:nvPr/>
        </p:nvPicPr>
        <p:blipFill>
          <a:blip r:embed="rId1"/>
          <a:stretch>
            <a:fillRect/>
          </a:stretch>
        </p:blipFill>
        <p:spPr>
          <a:xfrm>
            <a:off x="457200" y="6473952"/>
            <a:ext cx="256032" cy="256032"/>
          </a:xfrm>
          <a:prstGeom prst="rect">
            <a:avLst/>
          </a:prstGeom>
        </p:spPr>
      </p:pic>
      <p:sp>
        <p:nvSpPr>
          <p:cNvPr id="7" name="Text 4"/>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8" name="Text 5"/>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آدرس‌های ثابت</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شش قرارداد ساختاری و وابستگی‌ها</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663440"/>
        </p:xfrm>
        <a:graphic>
          <a:graphicData uri="http://schemas.openxmlformats.org/drawingml/2006/table">
            <a:tbl>
              <a:tblPr/>
              <a:tblGrid>
                <a:gridCol w="3688080"/>
                <a:gridCol w="3688080"/>
                <a:gridCol w="3688080"/>
              </a:tblGrid>
              <a:tr h="666206">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قرارداد</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آدرس</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می‌شناسد</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r>
              <a:tr h="666206">
                <a:tc>
                  <a:txBody>
                    <a:bodyPr/>
                    <a:lstStyle/>
                    <a:p>
                      <a:pPr algn="r" indent="0" marL="0">
                        <a:buNone/>
                      </a:pPr>
                      <a:r>
                        <a:rPr lang="en-US" sz="1100" dirty="0">
                          <a:solidFill>
                            <a:srgbClr val="1B1B1B"/>
                          </a:solidFill>
                          <a:latin typeface="Courier New" pitchFamily="34" charset="0"/>
                          <a:ea typeface="Courier New" pitchFamily="34" charset="-122"/>
                          <a:cs typeface="Courier New" pitchFamily="34" charset="-120"/>
                        </a:rPr>
                        <a:t>FoundationDAO</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1B1B"/>
                          </a:solidFill>
                          <a:latin typeface="Calibri" pitchFamily="34" charset="0"/>
                          <a:ea typeface="Calibri" pitchFamily="34" charset="-122"/>
                          <a:cs typeface="Calibri" pitchFamily="34" charset="-120"/>
                        </a:rPr>
                        <a:t>0x1111</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100" dirty="0">
                          <a:solidFill>
                            <a:srgbClr val="1B1B1B"/>
                          </a:solidFill>
                          <a:latin typeface="Calibri" pitchFamily="34" charset="0"/>
                          <a:ea typeface="Calibri" pitchFamily="34" charset="-122"/>
                          <a:cs typeface="Calibri" pitchFamily="34" charset="-120"/>
                        </a:rPr>
                        <a:t>— (کاملاً ایزوله)</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666206">
                <a:tc>
                  <a:txBody>
                    <a:bodyPr/>
                    <a:lstStyle/>
                    <a:p>
                      <a:pPr algn="r" indent="0" marL="0">
                        <a:buNone/>
                      </a:pPr>
                      <a:r>
                        <a:rPr lang="en-US" sz="1100" dirty="0">
                          <a:solidFill>
                            <a:srgbClr val="1B1B1B"/>
                          </a:solidFill>
                          <a:latin typeface="Courier New" pitchFamily="34" charset="0"/>
                          <a:ea typeface="Courier New" pitchFamily="34" charset="-122"/>
                          <a:cs typeface="Courier New" pitchFamily="34" charset="-120"/>
                        </a:rPr>
                        <a:t>BlockRewardDistributor</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algn="ctr" indent="0" marL="0">
                        <a:buNone/>
                      </a:pPr>
                      <a:r>
                        <a:rPr lang="en-US" sz="1100" dirty="0">
                          <a:solidFill>
                            <a:srgbClr val="1B1B1B"/>
                          </a:solidFill>
                          <a:latin typeface="Calibri" pitchFamily="34" charset="0"/>
                          <a:ea typeface="Calibri" pitchFamily="34" charset="-122"/>
                          <a:cs typeface="Calibri" pitchFamily="34" charset="-120"/>
                        </a:rPr>
                        <a:t>0x2222</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algn="ctr" indent="0" marL="0">
                        <a:buNone/>
                      </a:pPr>
                      <a:r>
                        <a:rPr lang="en-US" sz="1100" dirty="0">
                          <a:solidFill>
                            <a:srgbClr val="1B1B1B"/>
                          </a:solidFill>
                          <a:latin typeface="Calibri" pitchFamily="34" charset="0"/>
                          <a:ea typeface="Calibri" pitchFamily="34" charset="-122"/>
                          <a:cs typeface="Calibri" pitchFamily="34" charset="-120"/>
                        </a:rPr>
                        <a:t>Registry, Treasury, Board</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r h="666206">
                <a:tc>
                  <a:txBody>
                    <a:bodyPr/>
                    <a:lstStyle/>
                    <a:p>
                      <a:pPr algn="r" indent="0" marL="0">
                        <a:buNone/>
                      </a:pPr>
                      <a:r>
                        <a:rPr lang="en-US" sz="1100" dirty="0">
                          <a:solidFill>
                            <a:srgbClr val="1B1B1B"/>
                          </a:solidFill>
                          <a:latin typeface="Courier New" pitchFamily="34" charset="0"/>
                          <a:ea typeface="Courier New" pitchFamily="34" charset="-122"/>
                          <a:cs typeface="Courier New" pitchFamily="34" charset="-120"/>
                        </a:rPr>
                        <a:t>ValidatorsRegistry</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1B1B"/>
                          </a:solidFill>
                          <a:latin typeface="Calibri" pitchFamily="34" charset="0"/>
                          <a:ea typeface="Calibri" pitchFamily="34" charset="-122"/>
                          <a:cs typeface="Calibri" pitchFamily="34" charset="-120"/>
                        </a:rPr>
                        <a:t>0x3333</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1B1B"/>
                          </a:solidFill>
                          <a:latin typeface="Calibri" pitchFamily="34" charset="0"/>
                          <a:ea typeface="Calibri" pitchFamily="34" charset="-122"/>
                          <a:cs typeface="Calibri" pitchFamily="34" charset="-120"/>
                        </a:rPr>
                        <a:t>Treasury</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666206">
                <a:tc>
                  <a:txBody>
                    <a:bodyPr/>
                    <a:lstStyle/>
                    <a:p>
                      <a:pPr algn="r" indent="0" marL="0">
                        <a:buNone/>
                      </a:pPr>
                      <a:r>
                        <a:rPr lang="en-US" sz="1100" dirty="0">
                          <a:solidFill>
                            <a:srgbClr val="1B1B1B"/>
                          </a:solidFill>
                          <a:latin typeface="Courier New" pitchFamily="34" charset="0"/>
                          <a:ea typeface="Courier New" pitchFamily="34" charset="-122"/>
                          <a:cs typeface="Courier New" pitchFamily="34" charset="-120"/>
                        </a:rPr>
                        <a:t>ValidatorsBoard</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algn="ctr" indent="0" marL="0">
                        <a:buNone/>
                      </a:pPr>
                      <a:r>
                        <a:rPr lang="en-US" sz="1100" dirty="0">
                          <a:solidFill>
                            <a:srgbClr val="1B1B1B"/>
                          </a:solidFill>
                          <a:latin typeface="Calibri" pitchFamily="34" charset="0"/>
                          <a:ea typeface="Calibri" pitchFamily="34" charset="-122"/>
                          <a:cs typeface="Calibri" pitchFamily="34" charset="-120"/>
                        </a:rPr>
                        <a:t>0x4444</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algn="ctr" indent="0" marL="0">
                        <a:buNone/>
                      </a:pPr>
                      <a:r>
                        <a:rPr lang="en-US" sz="1100" dirty="0">
                          <a:solidFill>
                            <a:srgbClr val="1B1B1B"/>
                          </a:solidFill>
                          <a:latin typeface="Calibri" pitchFamily="34" charset="0"/>
                          <a:ea typeface="Calibri" pitchFamily="34" charset="-122"/>
                          <a:cs typeface="Calibri" pitchFamily="34" charset="-120"/>
                        </a:rPr>
                        <a:t>Registry, Distributor, Treasury, IdentityRegistry</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r h="666206">
                <a:tc>
                  <a:txBody>
                    <a:bodyPr/>
                    <a:lstStyle/>
                    <a:p>
                      <a:pPr algn="r" indent="0" marL="0">
                        <a:buNone/>
                      </a:pPr>
                      <a:r>
                        <a:rPr lang="en-US" sz="1100" dirty="0">
                          <a:solidFill>
                            <a:srgbClr val="1B1B1B"/>
                          </a:solidFill>
                          <a:latin typeface="Courier New" pitchFamily="34" charset="0"/>
                          <a:ea typeface="Courier New" pitchFamily="34" charset="-122"/>
                          <a:cs typeface="Courier New" pitchFamily="34" charset="-120"/>
                        </a:rPr>
                        <a:t>ValidatorsTreasury</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1B1B"/>
                          </a:solidFill>
                          <a:latin typeface="Calibri" pitchFamily="34" charset="0"/>
                          <a:ea typeface="Calibri" pitchFamily="34" charset="-122"/>
                          <a:cs typeface="Calibri" pitchFamily="34" charset="-120"/>
                        </a:rPr>
                        <a:t>0x5555</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1B1B"/>
                          </a:solidFill>
                          <a:latin typeface="Calibri" pitchFamily="34" charset="0"/>
                          <a:ea typeface="Calibri" pitchFamily="34" charset="-122"/>
                          <a:cs typeface="Calibri" pitchFamily="34" charset="-120"/>
                        </a:rPr>
                        <a:t>Registry, Board</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666206">
                <a:tc>
                  <a:txBody>
                    <a:bodyPr/>
                    <a:lstStyle/>
                    <a:p>
                      <a:pPr algn="r" indent="0" marL="0">
                        <a:buNone/>
                      </a:pPr>
                      <a:r>
                        <a:rPr lang="en-US" sz="1100" dirty="0">
                          <a:solidFill>
                            <a:srgbClr val="1B1B1B"/>
                          </a:solidFill>
                          <a:latin typeface="Courier New" pitchFamily="34" charset="0"/>
                          <a:ea typeface="Courier New" pitchFamily="34" charset="-122"/>
                          <a:cs typeface="Courier New" pitchFamily="34" charset="-120"/>
                        </a:rPr>
                        <a:t>IdentityRegistry</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algn="ctr" indent="0" marL="0">
                        <a:buNone/>
                      </a:pPr>
                      <a:r>
                        <a:rPr lang="en-US" sz="1100" dirty="0">
                          <a:solidFill>
                            <a:srgbClr val="1B1B1B"/>
                          </a:solidFill>
                          <a:latin typeface="Calibri" pitchFamily="34" charset="0"/>
                          <a:ea typeface="Calibri" pitchFamily="34" charset="-122"/>
                          <a:cs typeface="Calibri" pitchFamily="34" charset="-120"/>
                        </a:rPr>
                        <a:t>0x6666</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100" dirty="0">
                          <a:solidFill>
                            <a:srgbClr val="1B1B1B"/>
                          </a:solidFill>
                          <a:latin typeface="Calibri" pitchFamily="34" charset="0"/>
                          <a:ea typeface="Calibri" pitchFamily="34" charset="-122"/>
                          <a:cs typeface="Calibri" pitchFamily="34" charset="-120"/>
                        </a:rPr>
                        <a:t>FoundationDAO (فقط چرخش کلید)</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bl>
          </a:graphicData>
        </a:graphic>
      </p:graphicFrame>
      <p:sp>
        <p:nvSpPr>
          <p:cNvPr id="5" name="Shape 2"/>
          <p:cNvSpPr/>
          <p:nvPr/>
        </p:nvSpPr>
        <p:spPr>
          <a:xfrm>
            <a:off x="429768" y="6446520"/>
            <a:ext cx="310896" cy="310896"/>
          </a:xfrm>
          <a:prstGeom prst="ellipse">
            <a:avLst/>
          </a:prstGeom>
          <a:solidFill>
            <a:srgbClr val="FFFFFF"/>
          </a:solidFill>
          <a:ln/>
        </p:spPr>
        <p:txBody>
          <a:bodyPr/>
          <a:p/>
        </p:txBody>
      </p:sp>
      <p:pic>
        <p:nvPicPr>
          <p:cNvPr id="6" name="Image 0" descr="/home/claude/deck2/assets/logo.png">    </p:cNvPr>
          <p:cNvPicPr>
            <a:picLocks noChangeAspect="1"/>
          </p:cNvPicPr>
          <p:nvPr/>
        </p:nvPicPr>
        <p:blipFill>
          <a:blip r:embed="rId1"/>
          <a:stretch>
            <a:fillRect/>
          </a:stretch>
        </p:blipFill>
        <p:spPr>
          <a:xfrm>
            <a:off x="457200" y="6473952"/>
            <a:ext cx="256032" cy="256032"/>
          </a:xfrm>
          <a:prstGeom prst="rect">
            <a:avLst/>
          </a:prstGeom>
        </p:spPr>
      </p:pic>
      <p:sp>
        <p:nvSpPr>
          <p:cNvPr id="7" name="Text 3"/>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8" name="Text 4"/>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دیپلوی genesis-injected</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چرا این قراردادها با تراکنش عادی دیپلوی نمی‌شوند</a:t>
            </a:r>
            <a:endParaRPr lang="en-US" sz="2400" dirty="0"/>
          </a:p>
        </p:txBody>
      </p:sp>
      <p:sp>
        <p:nvSpPr>
          <p:cNvPr id="4" name="Shape 2"/>
          <p:cNvSpPr/>
          <p:nvPr/>
        </p:nvSpPr>
        <p:spPr>
          <a:xfrm>
            <a:off x="9966960" y="2005584"/>
            <a:ext cx="621792" cy="621792"/>
          </a:xfrm>
          <a:prstGeom prst="ellipse">
            <a:avLst/>
          </a:prstGeom>
          <a:solidFill>
            <a:srgbClr val="263238"/>
          </a:solidFill>
          <a:ln/>
        </p:spPr>
        <p:txBody>
          <a:bodyPr/>
          <a:p/>
        </p:txBody>
      </p:sp>
      <p:pic>
        <p:nvPicPr>
          <p:cNvPr id="5" name="Image 0" descr="/home/claude/deck2/icons/code.png">    </p:cNvPr>
          <p:cNvPicPr>
            <a:picLocks noChangeAspect="1"/>
          </p:cNvPicPr>
          <p:nvPr/>
        </p:nvPicPr>
        <p:blipFill>
          <a:blip r:embed="rId1"/>
          <a:stretch>
            <a:fillRect/>
          </a:stretch>
        </p:blipFill>
        <p:spPr>
          <a:xfrm>
            <a:off x="10128626" y="2167250"/>
            <a:ext cx="298460" cy="298460"/>
          </a:xfrm>
          <a:prstGeom prst="rect">
            <a:avLst/>
          </a:prstGeom>
        </p:spPr>
      </p:pic>
      <p:sp>
        <p:nvSpPr>
          <p:cNvPr id="6" name="Text 3"/>
          <p:cNvSpPr txBox="1"/>
          <p:nvPr/>
        </p:nvSpPr>
        <p:spPr>
          <a:xfrm>
            <a:off x="548640" y="150876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constructor هرگز واقعاً روی زنجیره‌ی اصلی اجرا نمی‌شود</a:t>
            </a:r>
            <a:endParaRPr lang="en-US" sz="1500" dirty="0"/>
          </a:p>
        </p:txBody>
      </p:sp>
      <p:sp>
        <p:nvSpPr>
          <p:cNvPr id="7" name="Text 4"/>
          <p:cNvSpPr txBox="1"/>
          <p:nvPr/>
        </p:nvSpPr>
        <p:spPr>
          <a:xfrm>
            <a:off x="548640" y="1856232"/>
            <a:ext cx="9144000" cy="123139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برای ۳ قرارداد با mapping/آرایه‌ی پیچیده (FoundationDAO, ValidatorsRegistry, ValidatorsBoard) روی یک زنجیره‌ی موقت شبیه‌سازی می‌شود؛ ۳ قرارداد دیگر (BlockRewardDistributor, ValidatorsTreasury, IdentityRegistry) با نوشتن مستقیم مقادیر اسکالر در alloc، بدون شبیه‌سازی. در هردو حالت فقط code و storage نهایی در alloc بلاک genesis تزریق می‌شود.</a:t>
            </a:r>
            <a:endParaRPr lang="en-US" sz="1180" dirty="0"/>
          </a:p>
        </p:txBody>
      </p:sp>
      <p:sp>
        <p:nvSpPr>
          <p:cNvPr id="8" name="Shape 5"/>
          <p:cNvSpPr/>
          <p:nvPr/>
        </p:nvSpPr>
        <p:spPr>
          <a:xfrm>
            <a:off x="548640" y="3069336"/>
            <a:ext cx="10881360" cy="0"/>
          </a:xfrm>
          <a:prstGeom prst="line">
            <a:avLst/>
          </a:prstGeom>
          <a:noFill/>
          <a:ln w="12700">
            <a:solidFill>
              <a:srgbClr val="E0E6E7"/>
            </a:solidFill>
            <a:prstDash val="solid"/>
          </a:ln>
        </p:spPr>
        <p:txBody>
          <a:bodyPr/>
          <a:p/>
        </p:txBody>
      </p:sp>
      <p:sp>
        <p:nvSpPr>
          <p:cNvPr id="9" name="Shape 6"/>
          <p:cNvSpPr/>
          <p:nvPr/>
        </p:nvSpPr>
        <p:spPr>
          <a:xfrm>
            <a:off x="9966960" y="3621024"/>
            <a:ext cx="621792" cy="621792"/>
          </a:xfrm>
          <a:prstGeom prst="ellipse">
            <a:avLst/>
          </a:prstGeom>
          <a:solidFill>
            <a:srgbClr val="00BFA5"/>
          </a:solidFill>
          <a:ln/>
        </p:spPr>
        <p:txBody>
          <a:bodyPr/>
          <a:p/>
        </p:txBody>
      </p:sp>
      <p:pic>
        <p:nvPicPr>
          <p:cNvPr id="10" name="Image 1" descr="/home/claude/deck2/icons/link.png">    </p:cNvPr>
          <p:cNvPicPr>
            <a:picLocks noChangeAspect="1"/>
          </p:cNvPicPr>
          <p:nvPr/>
        </p:nvPicPr>
        <p:blipFill>
          <a:blip r:embed="rId2"/>
          <a:stretch>
            <a:fillRect/>
          </a:stretch>
        </p:blipFill>
        <p:spPr>
          <a:xfrm>
            <a:off x="10128626" y="3782690"/>
            <a:ext cx="298460" cy="298460"/>
          </a:xfrm>
          <a:prstGeom prst="rect">
            <a:avLst/>
          </a:prstGeom>
        </p:spPr>
      </p:pic>
      <p:sp>
        <p:nvSpPr>
          <p:cNvPr id="11" name="Text 7"/>
          <p:cNvSpPr txBox="1"/>
          <p:nvPr/>
        </p:nvSpPr>
        <p:spPr>
          <a:xfrm>
            <a:off x="548640" y="312420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بدون نیاز به wire() بعد از دیپلوی</a:t>
            </a:r>
            <a:endParaRPr lang="en-US" sz="1500" dirty="0"/>
          </a:p>
        </p:txBody>
      </p:sp>
      <p:sp>
        <p:nvSpPr>
          <p:cNvPr id="12" name="Text 8"/>
          <p:cNvSpPr txBox="1"/>
          <p:nvPr/>
        </p:nvSpPr>
        <p:spPr>
          <a:xfrm>
            <a:off x="548640" y="3471672"/>
            <a:ext cx="9144000" cy="123139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چون آدرس هر شش قرارداد از قبل معلوم است (SurAddresses.sol)، هرکدام آدرس بقیه را مستقیم constant می‌کنند.</a:t>
            </a:r>
            <a:endParaRPr lang="en-US" sz="1180" dirty="0"/>
          </a:p>
        </p:txBody>
      </p:sp>
      <p:sp>
        <p:nvSpPr>
          <p:cNvPr id="13" name="Shape 9"/>
          <p:cNvSpPr/>
          <p:nvPr/>
        </p:nvSpPr>
        <p:spPr>
          <a:xfrm>
            <a:off x="548640" y="4684776"/>
            <a:ext cx="10881360" cy="0"/>
          </a:xfrm>
          <a:prstGeom prst="line">
            <a:avLst/>
          </a:prstGeom>
          <a:noFill/>
          <a:ln w="12700">
            <a:solidFill>
              <a:srgbClr val="E0E6E7"/>
            </a:solidFill>
            <a:prstDash val="solid"/>
          </a:ln>
        </p:spPr>
        <p:txBody>
          <a:bodyPr/>
          <a:p/>
        </p:txBody>
      </p:sp>
      <p:sp>
        <p:nvSpPr>
          <p:cNvPr id="14" name="Shape 10"/>
          <p:cNvSpPr/>
          <p:nvPr/>
        </p:nvSpPr>
        <p:spPr>
          <a:xfrm>
            <a:off x="9966960" y="5236464"/>
            <a:ext cx="621792" cy="621792"/>
          </a:xfrm>
          <a:prstGeom prst="ellipse">
            <a:avLst/>
          </a:prstGeom>
          <a:solidFill>
            <a:srgbClr val="B71C1C"/>
          </a:solidFill>
          <a:ln/>
        </p:spPr>
        <p:txBody>
          <a:bodyPr/>
          <a:p/>
        </p:txBody>
      </p:sp>
      <p:pic>
        <p:nvPicPr>
          <p:cNvPr id="15" name="Image 2" descr="/home/claude/deck2/icons/warning.png">    </p:cNvPr>
          <p:cNvPicPr>
            <a:picLocks noChangeAspect="1"/>
          </p:cNvPicPr>
          <p:nvPr/>
        </p:nvPicPr>
        <p:blipFill>
          <a:blip r:embed="rId3"/>
          <a:stretch>
            <a:fillRect/>
          </a:stretch>
        </p:blipFill>
        <p:spPr>
          <a:xfrm>
            <a:off x="10128626" y="5398130"/>
            <a:ext cx="298460" cy="298460"/>
          </a:xfrm>
          <a:prstGeom prst="rect">
            <a:avLst/>
          </a:prstGeom>
        </p:spPr>
      </p:pic>
      <p:sp>
        <p:nvSpPr>
          <p:cNvPr id="16" name="Text 11"/>
          <p:cNvSpPr txBox="1"/>
          <p:nvPr/>
        </p:nvSpPr>
        <p:spPr>
          <a:xfrm>
            <a:off x="548640" y="473964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block.timestamp داخل constructor قابل‌اتکا نیست</a:t>
            </a:r>
            <a:endParaRPr lang="en-US" sz="1500" dirty="0"/>
          </a:p>
        </p:txBody>
      </p:sp>
      <p:sp>
        <p:nvSpPr>
          <p:cNvPr id="17" name="Text 12"/>
          <p:cNvSpPr txBox="1"/>
          <p:nvPr/>
        </p:nvSpPr>
        <p:spPr>
          <a:xfrm>
            <a:off x="548640" y="5087112"/>
            <a:ext cx="9144000" cy="123139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باید مستقیم داخل سورس constructor فایل کمکی هاردکد شود (نه به‌عنوان آرگومان — این فایل‌ها بدون آرگومان دیپلوی می‌شوند).</a:t>
            </a:r>
            <a:endParaRPr lang="en-US" sz="1180" dirty="0"/>
          </a:p>
        </p:txBody>
      </p:sp>
      <p:sp>
        <p:nvSpPr>
          <p:cNvPr id="18" name="Shape 13"/>
          <p:cNvSpPr/>
          <p:nvPr/>
        </p:nvSpPr>
        <p:spPr>
          <a:xfrm>
            <a:off x="429768" y="6446520"/>
            <a:ext cx="310896" cy="310896"/>
          </a:xfrm>
          <a:prstGeom prst="ellipse">
            <a:avLst/>
          </a:prstGeom>
          <a:solidFill>
            <a:srgbClr val="FFFFFF"/>
          </a:solidFill>
          <a:ln/>
        </p:spPr>
        <p:txBody>
          <a:bodyPr/>
          <a:p/>
        </p:txBody>
      </p:sp>
      <p:pic>
        <p:nvPicPr>
          <p:cNvPr id="19" name="Image 3" descr="/home/claude/deck2/assets/logo.png">    </p:cNvPr>
          <p:cNvPicPr>
            <a:picLocks noChangeAspect="1"/>
          </p:cNvPicPr>
          <p:nvPr/>
        </p:nvPicPr>
        <p:blipFill>
          <a:blip r:embed="rId4"/>
          <a:stretch>
            <a:fillRect/>
          </a:stretch>
        </p:blipFill>
        <p:spPr>
          <a:xfrm>
            <a:off x="457200" y="6473952"/>
            <a:ext cx="256032" cy="256032"/>
          </a:xfrm>
          <a:prstGeom prst="rect">
            <a:avLst/>
          </a:prstGeom>
        </p:spPr>
      </p:pic>
      <p:sp>
        <p:nvSpPr>
          <p:cNvPr id="20" name="Text 14"/>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21" name="Text 15"/>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63238"/>
        </a:solidFill>
      </p:bgPr>
    </p:bg>
    <p:spTree>
      <p:nvGrpSpPr>
        <p:cNvPr id="1" name=""/>
        <p:cNvGrpSpPr/>
        <p:nvPr/>
      </p:nvGrpSpPr>
      <p:grpSpPr>
        <a:xfrm>
          <a:off x="0" y="0"/>
          <a:ext cx="0" cy="0"/>
          <a:chOff x="0" y="0"/>
          <a:chExt cx="0" cy="0"/>
        </a:xfrm>
      </p:grpSpPr>
      <p:sp>
        <p:nvSpPr>
          <p:cNvPr id="2" name="Text 0"/>
          <p:cNvSpPr txBox="1"/>
          <p:nvPr/>
        </p:nvSpPr>
        <p:spPr>
          <a:xfrm>
            <a:off x="731520" y="2377440"/>
            <a:ext cx="2743200" cy="1828800"/>
          </a:xfrm>
          <a:prstGeom prst="rect">
            <a:avLst/>
          </a:prstGeom>
          <a:noFill/>
          <a:ln/>
        </p:spPr>
        <p:txBody>
          <a:bodyPr wrap="square" lIns="0" tIns="0" rIns="0" bIns="0" rtlCol="0" anchor="ctr"/>
          <a:lstStyle/>
          <a:p>
            <a:pPr rtl="1" algn="r" indent="0" marL="0">
              <a:buNone/>
            </a:pPr>
            <a:r>
              <a:rPr lang="en-US" sz="9200" b="1" dirty="0">
                <a:solidFill>
                  <a:srgbClr val="3C4A50"/>
                </a:solidFill>
                <a:latin typeface="Arial" pitchFamily="34" charset="0"/>
                <a:ea typeface="Arial" pitchFamily="34" charset="-122"/>
                <a:cs typeface="Arial" pitchFamily="34" charset="-120"/>
              </a:rPr>
              <a:t>2</a:t>
            </a:r>
            <a:endParaRPr lang="en-US" sz="9200" dirty="0"/>
          </a:p>
        </p:txBody>
      </p:sp>
      <p:sp>
        <p:nvSpPr>
          <p:cNvPr id="3" name="Shape 1"/>
          <p:cNvSpPr/>
          <p:nvPr/>
        </p:nvSpPr>
        <p:spPr>
          <a:xfrm>
            <a:off x="3520440" y="2880360"/>
            <a:ext cx="54864" cy="1097280"/>
          </a:xfrm>
          <a:prstGeom prst="rect">
            <a:avLst/>
          </a:prstGeom>
          <a:solidFill>
            <a:srgbClr val="00BFA5"/>
          </a:solidFill>
          <a:ln/>
        </p:spPr>
        <p:txBody>
          <a:bodyPr/>
          <a:p/>
        </p:txBody>
      </p:sp>
      <p:sp>
        <p:nvSpPr>
          <p:cNvPr id="4" name="Text 2"/>
          <p:cNvSpPr txBox="1"/>
          <p:nvPr/>
        </p:nvSpPr>
        <p:spPr>
          <a:xfrm>
            <a:off x="3749040" y="2834640"/>
            <a:ext cx="7680960" cy="1188720"/>
          </a:xfrm>
          <a:prstGeom prst="rect">
            <a:avLst/>
          </a:prstGeom>
          <a:noFill/>
          <a:ln/>
        </p:spPr>
        <p:txBody>
          <a:bodyPr wrap="square" lIns="0" tIns="0" rIns="0" bIns="0" rtlCol="0" anchor="ctr"/>
          <a:lstStyle/>
          <a:p>
            <a:pPr rtl="1" algn="r" indent="0" marL="0">
              <a:buNone/>
            </a:pPr>
            <a:r>
              <a:rPr lang="en-US" sz="3000" b="1" dirty="0">
                <a:solidFill>
                  <a:srgbClr val="FFFFFF"/>
                </a:solidFill>
                <a:latin typeface="Cambria" pitchFamily="34" charset="0"/>
                <a:ea typeface="Cambria" pitchFamily="34" charset="-122"/>
                <a:cs typeface="Cambria" pitchFamily="34" charset="-120"/>
              </a:rPr>
              <a:t>قرارداد به قرارداد — کامل</a:t>
            </a:r>
            <a:endParaRPr lang="en-US" sz="3000" dirty="0"/>
          </a:p>
        </p:txBody>
      </p:sp>
      <p:sp>
        <p:nvSpPr>
          <p:cNvPr id="5" name="Shape 3"/>
          <p:cNvSpPr/>
          <p:nvPr/>
        </p:nvSpPr>
        <p:spPr>
          <a:xfrm>
            <a:off x="429768" y="6446520"/>
            <a:ext cx="310896" cy="310896"/>
          </a:xfrm>
          <a:prstGeom prst="ellipse">
            <a:avLst/>
          </a:prstGeom>
          <a:solidFill>
            <a:srgbClr val="FFFFFF"/>
          </a:solidFill>
          <a:ln/>
        </p:spPr>
        <p:txBody>
          <a:bodyPr/>
          <a:p/>
        </p:txBody>
      </p:sp>
      <p:pic>
        <p:nvPicPr>
          <p:cNvPr id="6" name="Image 0" descr="/home/claude/deck2/assets/logo.png">    </p:cNvPr>
          <p:cNvPicPr>
            <a:picLocks noChangeAspect="1"/>
          </p:cNvPicPr>
          <p:nvPr/>
        </p:nvPicPr>
        <p:blipFill>
          <a:blip r:embed="rId1"/>
          <a:stretch>
            <a:fillRect/>
          </a:stretch>
        </p:blipFill>
        <p:spPr>
          <a:xfrm>
            <a:off x="457200" y="6473952"/>
            <a:ext cx="256032" cy="256032"/>
          </a:xfrm>
          <a:prstGeom prst="rect">
            <a:avLst/>
          </a:prstGeom>
        </p:spPr>
      </p:pic>
      <p:sp>
        <p:nvSpPr>
          <p:cNvPr id="7" name="Text 4"/>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8" name="Text 5"/>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FoundationDAO.sol — 0x1111</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توابع کامل</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663440"/>
        </p:xfrm>
        <a:graphic>
          <a:graphicData uri="http://schemas.openxmlformats.org/drawingml/2006/table">
            <a:tbl>
              <a:tblPr/>
              <a:tblGrid>
                <a:gridCol w="5532120"/>
                <a:gridCol w="5532120"/>
              </a:tblGrid>
              <a:tr h="666206">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تابع</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چه کسی / نصاب</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r>
              <a:tr h="666206">
                <a:tc>
                  <a:txBody>
                    <a:bodyPr/>
                    <a:lstStyle/>
                    <a:p>
                      <a:pPr algn="r" indent="0" marL="0">
                        <a:buNone/>
                      </a:pPr>
                      <a:r>
                        <a:rPr lang="en-US" sz="1250" dirty="0">
                          <a:solidFill>
                            <a:srgbClr val="1B1B1B"/>
                          </a:solidFill>
                          <a:latin typeface="Courier New" pitchFamily="34" charset="0"/>
                          <a:ea typeface="Courier New" pitchFamily="34" charset="-122"/>
                          <a:cs typeface="Courier New" pitchFamily="34" charset="-120"/>
                        </a:rPr>
                        <a:t>proposeAddMember / proposeRemoveMember</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250" dirty="0">
                          <a:solidFill>
                            <a:srgbClr val="1B1B1B"/>
                          </a:solidFill>
                          <a:latin typeface="Calibri" pitchFamily="34" charset="0"/>
                          <a:ea typeface="Calibri" pitchFamily="34" charset="-122"/>
                          <a:cs typeface="Calibri" pitchFamily="34" charset="-120"/>
                        </a:rPr>
                        <a:t>هر عضو — نصاب دوسوم (۱۰/۱۵)</a:t>
                      </a:r>
                      <a:endParaRPr lang="en-US" sz="12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666206">
                <a:tc>
                  <a:txBody>
                    <a:bodyPr/>
                    <a:lstStyle/>
                    <a:p>
                      <a:pPr algn="r" indent="0" marL="0">
                        <a:buNone/>
                      </a:pPr>
                      <a:r>
                        <a:rPr lang="en-US" sz="1250" dirty="0">
                          <a:solidFill>
                            <a:srgbClr val="1B1B1B"/>
                          </a:solidFill>
                          <a:latin typeface="Courier New" pitchFamily="34" charset="0"/>
                          <a:ea typeface="Courier New" pitchFamily="34" charset="-122"/>
                          <a:cs typeface="Courier New" pitchFamily="34" charset="-120"/>
                        </a:rPr>
                        <a:t>proposeSendETH</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250" dirty="0">
                          <a:solidFill>
                            <a:srgbClr val="1B1B1B"/>
                          </a:solidFill>
                          <a:latin typeface="Calibri" pitchFamily="34" charset="0"/>
                          <a:ea typeface="Calibri" pitchFamily="34" charset="-122"/>
                          <a:cs typeface="Calibri" pitchFamily="34" charset="-120"/>
                        </a:rPr>
                        <a:t>هر عضو — نصاب اکثریت ساده (۸/۱۵)</a:t>
                      </a:r>
                      <a:endParaRPr lang="en-US" sz="12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r h="666206">
                <a:tc>
                  <a:txBody>
                    <a:bodyPr/>
                    <a:lstStyle/>
                    <a:p>
                      <a:pPr algn="r" indent="0" marL="0">
                        <a:buNone/>
                      </a:pPr>
                      <a:r>
                        <a:rPr lang="en-US" sz="1250" dirty="0">
                          <a:solidFill>
                            <a:srgbClr val="1B1B1B"/>
                          </a:solidFill>
                          <a:latin typeface="Courier New" pitchFamily="34" charset="0"/>
                          <a:ea typeface="Courier New" pitchFamily="34" charset="-122"/>
                          <a:cs typeface="Courier New" pitchFamily="34" charset="-120"/>
                        </a:rPr>
                        <a:t>proposeSendERC20</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250" dirty="0">
                          <a:solidFill>
                            <a:srgbClr val="1B1B1B"/>
                          </a:solidFill>
                          <a:latin typeface="Calibri" pitchFamily="34" charset="0"/>
                          <a:ea typeface="Calibri" pitchFamily="34" charset="-122"/>
                          <a:cs typeface="Calibri" pitchFamily="34" charset="-120"/>
                        </a:rPr>
                        <a:t>هر عضو — نصاب اکثریت ساده (۸/۱۵)</a:t>
                      </a:r>
                      <a:endParaRPr lang="en-US" sz="12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666206">
                <a:tc>
                  <a:txBody>
                    <a:bodyPr/>
                    <a:lstStyle/>
                    <a:p>
                      <a:pPr algn="r" indent="0" marL="0">
                        <a:buNone/>
                      </a:pPr>
                      <a:r>
                        <a:rPr lang="en-US" sz="1250" dirty="0">
                          <a:solidFill>
                            <a:srgbClr val="1B1B1B"/>
                          </a:solidFill>
                          <a:latin typeface="Courier New" pitchFamily="34" charset="0"/>
                          <a:ea typeface="Courier New" pitchFamily="34" charset="-122"/>
                          <a:cs typeface="Courier New" pitchFamily="34" charset="-120"/>
                        </a:rPr>
                        <a:t>proposeExecute</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250" dirty="0">
                          <a:solidFill>
                            <a:srgbClr val="1B1B1B"/>
                          </a:solidFill>
                          <a:latin typeface="Calibri" pitchFamily="34" charset="0"/>
                          <a:ea typeface="Calibri" pitchFamily="34" charset="-122"/>
                          <a:cs typeface="Calibri" pitchFamily="34" charset="-120"/>
                        </a:rPr>
                        <a:t>هر عضو — نصاب اکثریت ساده (۸/۱۵) — فراخوانی دلخواه</a:t>
                      </a:r>
                      <a:endParaRPr lang="en-US" sz="12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r h="666206">
                <a:tc>
                  <a:txBody>
                    <a:bodyPr/>
                    <a:lstStyle/>
                    <a:p>
                      <a:pPr algn="r" indent="0" marL="0">
                        <a:buNone/>
                      </a:pPr>
                      <a:r>
                        <a:rPr lang="en-US" sz="1250" dirty="0">
                          <a:solidFill>
                            <a:srgbClr val="1B1B1B"/>
                          </a:solidFill>
                          <a:latin typeface="Courier New" pitchFamily="34" charset="0"/>
                          <a:ea typeface="Courier New" pitchFamily="34" charset="-122"/>
                          <a:cs typeface="Courier New" pitchFamily="34" charset="-120"/>
                        </a:rPr>
                        <a:t>vote(proposalId)</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250" dirty="0">
                          <a:solidFill>
                            <a:srgbClr val="1B1B1B"/>
                          </a:solidFill>
                          <a:latin typeface="Calibri" pitchFamily="34" charset="0"/>
                          <a:ea typeface="Calibri" pitchFamily="34" charset="-122"/>
                          <a:cs typeface="Calibri" pitchFamily="34" charset="-120"/>
                        </a:rPr>
                        <a:t>هر عضو — رسیدن به نصاب = اجرای خودکار</a:t>
                      </a:r>
                      <a:endParaRPr lang="en-US" sz="12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666206">
                <a:tc>
                  <a:txBody>
                    <a:bodyPr/>
                    <a:lstStyle/>
                    <a:p>
                      <a:pPr algn="r" indent="0" marL="0">
                        <a:buNone/>
                      </a:pPr>
                      <a:r>
                        <a:rPr lang="en-US" sz="1250" dirty="0">
                          <a:solidFill>
                            <a:srgbClr val="1B1B1B"/>
                          </a:solidFill>
                          <a:latin typeface="Courier New" pitchFamily="34" charset="0"/>
                          <a:ea typeface="Courier New" pitchFamily="34" charset="-122"/>
                          <a:cs typeface="Courier New" pitchFamily="34" charset="-120"/>
                        </a:rPr>
                        <a:t>getMemberCount / getAllMembers / getProposal / getProposalMeta</a:t>
                      </a:r>
                      <a:endParaRPr lang="en-US" sz="125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250" dirty="0">
                          <a:solidFill>
                            <a:srgbClr val="1B1B1B"/>
                          </a:solidFill>
                          <a:latin typeface="Calibri" pitchFamily="34" charset="0"/>
                          <a:ea typeface="Calibri" pitchFamily="34" charset="-122"/>
                          <a:cs typeface="Calibri" pitchFamily="34" charset="-120"/>
                        </a:rPr>
                        <a:t>view — هرکسی</a:t>
                      </a:r>
                      <a:endParaRPr lang="en-US" sz="12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bl>
          </a:graphicData>
        </a:graphic>
      </p:graphicFrame>
      <p:sp>
        <p:nvSpPr>
          <p:cNvPr id="5" name="Shape 2"/>
          <p:cNvSpPr/>
          <p:nvPr/>
        </p:nvSpPr>
        <p:spPr>
          <a:xfrm>
            <a:off x="429768" y="6446520"/>
            <a:ext cx="310896" cy="310896"/>
          </a:xfrm>
          <a:prstGeom prst="ellipse">
            <a:avLst/>
          </a:prstGeom>
          <a:solidFill>
            <a:srgbClr val="FFFFFF"/>
          </a:solidFill>
          <a:ln/>
        </p:spPr>
        <p:txBody>
          <a:bodyPr/>
          <a:p/>
        </p:txBody>
      </p:sp>
      <p:pic>
        <p:nvPicPr>
          <p:cNvPr id="6" name="Image 0" descr="/home/claude/deck2/assets/logo.png">    </p:cNvPr>
          <p:cNvPicPr>
            <a:picLocks noChangeAspect="1"/>
          </p:cNvPicPr>
          <p:nvPr/>
        </p:nvPicPr>
        <p:blipFill>
          <a:blip r:embed="rId1"/>
          <a:stretch>
            <a:fillRect/>
          </a:stretch>
        </p:blipFill>
        <p:spPr>
          <a:xfrm>
            <a:off x="457200" y="6473952"/>
            <a:ext cx="256032" cy="256032"/>
          </a:xfrm>
          <a:prstGeom prst="rect">
            <a:avLst/>
          </a:prstGeom>
        </p:spPr>
      </p:pic>
      <p:sp>
        <p:nvSpPr>
          <p:cNvPr id="7" name="Text 3"/>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8" name="Text 4"/>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FoundationDAO — حاکمیت</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نکات حاکمیتی کلیدی</a:t>
            </a:r>
            <a:endParaRPr lang="en-US" sz="2400" dirty="0"/>
          </a:p>
        </p:txBody>
      </p:sp>
      <p:sp>
        <p:nvSpPr>
          <p:cNvPr id="4" name="Shape 2"/>
          <p:cNvSpPr/>
          <p:nvPr/>
        </p:nvSpPr>
        <p:spPr>
          <a:xfrm>
            <a:off x="9966960" y="2409444"/>
            <a:ext cx="621792" cy="621792"/>
          </a:xfrm>
          <a:prstGeom prst="ellipse">
            <a:avLst/>
          </a:prstGeom>
          <a:solidFill>
            <a:srgbClr val="00BFA5"/>
          </a:solidFill>
          <a:ln/>
        </p:spPr>
        <p:txBody>
          <a:bodyPr/>
          <a:p/>
        </p:txBody>
      </p:sp>
      <p:pic>
        <p:nvPicPr>
          <p:cNvPr id="5" name="Image 0" descr="/home/claude/deck2/icons/shield.png">    </p:cNvPr>
          <p:cNvPicPr>
            <a:picLocks noChangeAspect="1"/>
          </p:cNvPicPr>
          <p:nvPr/>
        </p:nvPicPr>
        <p:blipFill>
          <a:blip r:embed="rId1"/>
          <a:stretch>
            <a:fillRect/>
          </a:stretch>
        </p:blipFill>
        <p:spPr>
          <a:xfrm>
            <a:off x="10128626" y="2571110"/>
            <a:ext cx="298460" cy="298460"/>
          </a:xfrm>
          <a:prstGeom prst="rect">
            <a:avLst/>
          </a:prstGeom>
        </p:spPr>
      </p:pic>
      <p:sp>
        <p:nvSpPr>
          <p:cNvPr id="6" name="Text 3"/>
          <p:cNvSpPr txBox="1"/>
          <p:nvPr/>
        </p:nvSpPr>
        <p:spPr>
          <a:xfrm>
            <a:off x="548640" y="150876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ایزوله از کنترل خروجی — فقط یک ورودی خودکار می‌شناسد</a:t>
            </a:r>
            <a:endParaRPr lang="en-US" sz="1500" dirty="0"/>
          </a:p>
        </p:txBody>
      </p:sp>
      <p:sp>
        <p:nvSpPr>
          <p:cNvPr id="7" name="Text 4"/>
          <p:cNvSpPr txBox="1"/>
          <p:nvPr/>
        </p:nvSpPr>
        <p:spPr>
          <a:xfrm>
            <a:off x="548640" y="1856232"/>
            <a:ext cx="9144000" cy="203911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proposeRequestTreasuryBudget (بودجه‌ی کمپین) کاملاً حذف شد. اتصال بیرونی: چرخش identityOracle (خروجی، proposeExecute) + دریافت خودکار ۱۵٪ کل بلاک‌ریوارد از BlockRewardDistributor (ورودی، بدون فراخوانی بنیاد).</a:t>
            </a:r>
            <a:endParaRPr lang="en-US" sz="1180" dirty="0"/>
          </a:p>
        </p:txBody>
      </p:sp>
      <p:sp>
        <p:nvSpPr>
          <p:cNvPr id="8" name="Shape 5"/>
          <p:cNvSpPr/>
          <p:nvPr/>
        </p:nvSpPr>
        <p:spPr>
          <a:xfrm>
            <a:off x="548640" y="3877056"/>
            <a:ext cx="10881360" cy="0"/>
          </a:xfrm>
          <a:prstGeom prst="line">
            <a:avLst/>
          </a:prstGeom>
          <a:noFill/>
          <a:ln w="12700">
            <a:solidFill>
              <a:srgbClr val="E0E6E7"/>
            </a:solidFill>
            <a:prstDash val="solid"/>
          </a:ln>
        </p:spPr>
        <p:txBody>
          <a:bodyPr/>
          <a:p/>
        </p:txBody>
      </p:sp>
      <p:sp>
        <p:nvSpPr>
          <p:cNvPr id="9" name="Shape 6"/>
          <p:cNvSpPr/>
          <p:nvPr/>
        </p:nvSpPr>
        <p:spPr>
          <a:xfrm>
            <a:off x="9966960" y="4832604"/>
            <a:ext cx="621792" cy="621792"/>
          </a:xfrm>
          <a:prstGeom prst="ellipse">
            <a:avLst/>
          </a:prstGeom>
          <a:solidFill>
            <a:srgbClr val="263238"/>
          </a:solidFill>
          <a:ln/>
        </p:spPr>
        <p:txBody>
          <a:bodyPr/>
          <a:p/>
        </p:txBody>
      </p:sp>
      <p:pic>
        <p:nvPicPr>
          <p:cNvPr id="10" name="Image 1" descr="/home/claude/deck2/icons/key.png">    </p:cNvPr>
          <p:cNvPicPr>
            <a:picLocks noChangeAspect="1"/>
          </p:cNvPicPr>
          <p:nvPr/>
        </p:nvPicPr>
        <p:blipFill>
          <a:blip r:embed="rId2"/>
          <a:stretch>
            <a:fillRect/>
          </a:stretch>
        </p:blipFill>
        <p:spPr>
          <a:xfrm>
            <a:off x="10128626" y="4994270"/>
            <a:ext cx="298460" cy="298460"/>
          </a:xfrm>
          <a:prstGeom prst="rect">
            <a:avLst/>
          </a:prstGeom>
        </p:spPr>
      </p:pic>
      <p:sp>
        <p:nvSpPr>
          <p:cNvPr id="11" name="Text 7"/>
          <p:cNvSpPr txBox="1"/>
          <p:nvPr/>
        </p:nvSpPr>
        <p:spPr>
          <a:xfrm>
            <a:off x="548640" y="393192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proposeExecute تنها مسیر تعامل با قراردادهای دیگر</a:t>
            </a:r>
            <a:endParaRPr lang="en-US" sz="1500" dirty="0"/>
          </a:p>
        </p:txBody>
      </p:sp>
      <p:sp>
        <p:nvSpPr>
          <p:cNvPr id="12" name="Text 8"/>
          <p:cNvSpPr txBox="1"/>
          <p:nvPr/>
        </p:nvSpPr>
        <p:spPr>
          <a:xfrm>
            <a:off x="548640" y="4279392"/>
            <a:ext cx="9144000" cy="203911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استفاده‌شده برای چرخش paymentOracle (SurenSale) و identityOracle (IdentityRegistry) — هردو با نصاب اکثریت ساده.</a:t>
            </a:r>
            <a:endParaRPr lang="en-US" sz="1180" dirty="0"/>
          </a:p>
        </p:txBody>
      </p:sp>
      <p:sp>
        <p:nvSpPr>
          <p:cNvPr id="13" name="Shape 9"/>
          <p:cNvSpPr/>
          <p:nvPr/>
        </p:nvSpPr>
        <p:spPr>
          <a:xfrm>
            <a:off x="429768" y="6446520"/>
            <a:ext cx="310896" cy="310896"/>
          </a:xfrm>
          <a:prstGeom prst="ellipse">
            <a:avLst/>
          </a:prstGeom>
          <a:solidFill>
            <a:srgbClr val="FFFFFF"/>
          </a:solidFill>
          <a:ln/>
        </p:spPr>
        <p:txBody>
          <a:bodyPr/>
          <a:p/>
        </p:txBody>
      </p:sp>
      <p:pic>
        <p:nvPicPr>
          <p:cNvPr id="14" name="Image 2" descr="/home/claude/deck2/assets/logo.png">    </p:cNvPr>
          <p:cNvPicPr>
            <a:picLocks noChangeAspect="1"/>
          </p:cNvPicPr>
          <p:nvPr/>
        </p:nvPicPr>
        <p:blipFill>
          <a:blip r:embed="rId3"/>
          <a:stretch>
            <a:fillRect/>
          </a:stretch>
        </p:blipFill>
        <p:spPr>
          <a:xfrm>
            <a:off x="457200" y="6473952"/>
            <a:ext cx="256032" cy="256032"/>
          </a:xfrm>
          <a:prstGeom prst="rect">
            <a:avLst/>
          </a:prstGeom>
        </p:spPr>
      </p:pic>
      <p:sp>
        <p:nvSpPr>
          <p:cNvPr id="15" name="Text 10"/>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16" name="Text 11"/>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ValidatorsRegistry.sol — 0x3333</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توابع کامل</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663440"/>
        </p:xfrm>
        <a:graphic>
          <a:graphicData uri="http://schemas.openxmlformats.org/drawingml/2006/table">
            <a:tbl>
              <a:tblPr/>
              <a:tblGrid>
                <a:gridCol w="5532120"/>
                <a:gridCol w="5532120"/>
              </a:tblGrid>
              <a:tr h="582930">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تابع</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چه کسی</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r>
              <a:tr h="582930">
                <a:tc>
                  <a:txBody>
                    <a:bodyPr/>
                    <a:lstStyle/>
                    <a:p>
                      <a:pPr algn="r" indent="0" marL="0">
                        <a:buNone/>
                      </a:pPr>
                      <a:r>
                        <a:rPr lang="en-US" sz="1150" dirty="0">
                          <a:solidFill>
                            <a:srgbClr val="1B1B1B"/>
                          </a:solidFill>
                          <a:latin typeface="Courier New" pitchFamily="34" charset="0"/>
                          <a:ea typeface="Courier New" pitchFamily="34" charset="-122"/>
                          <a:cs typeface="Courier New" pitchFamily="34" charset="-120"/>
                        </a:rPr>
                        <a:t>requestMembership()</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150" dirty="0">
                          <a:solidFill>
                            <a:srgbClr val="1B1B1B"/>
                          </a:solidFill>
                          <a:latin typeface="Calibri" pitchFamily="34" charset="0"/>
                          <a:ea typeface="Calibri" pitchFamily="34" charset="-122"/>
                          <a:cs typeface="Calibri" pitchFamily="34" charset="-120"/>
                        </a:rPr>
                        <a:t>payable — هرکسی، وثیقه+کارمزد طبق منحنی</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582930">
                <a:tc>
                  <a:txBody>
                    <a:bodyPr/>
                    <a:lstStyle/>
                    <a:p>
                      <a:pPr algn="r" indent="0" marL="0">
                        <a:buNone/>
                      </a:pPr>
                      <a:r>
                        <a:rPr lang="en-US" sz="1150" dirty="0">
                          <a:solidFill>
                            <a:srgbClr val="1B1B1B"/>
                          </a:solidFill>
                          <a:latin typeface="Courier New" pitchFamily="34" charset="0"/>
                          <a:ea typeface="Courier New" pitchFamily="34" charset="-122"/>
                          <a:cs typeface="Courier New" pitchFamily="34" charset="-120"/>
                        </a:rPr>
                        <a:t>recordActivation / recordSuspension / recordPreExitViolation / recordRecovery</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150" dirty="0">
                          <a:solidFill>
                            <a:srgbClr val="1B1B1B"/>
                          </a:solidFill>
                          <a:latin typeface="Calibri" pitchFamily="34" charset="0"/>
                          <a:ea typeface="Calibri" pitchFamily="34" charset="-122"/>
                          <a:cs typeface="Calibri" pitchFamily="34" charset="-120"/>
                        </a:rPr>
                        <a:t>فقط verifier — فقط هنگام تغییر وضعیت (هش شواهد)</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r h="582930">
                <a:tc>
                  <a:txBody>
                    <a:bodyPr/>
                    <a:lstStyle/>
                    <a:p>
                      <a:pPr algn="r" indent="0" marL="0">
                        <a:buNone/>
                      </a:pPr>
                      <a:r>
                        <a:rPr lang="en-US" sz="1150" dirty="0">
                          <a:solidFill>
                            <a:srgbClr val="1B1B1B"/>
                          </a:solidFill>
                          <a:latin typeface="Courier New" pitchFamily="34" charset="0"/>
                          <a:ea typeface="Courier New" pitchFamily="34" charset="-122"/>
                          <a:cs typeface="Courier New" pitchFamily="34" charset="-120"/>
                        </a:rPr>
                        <a:t>resolveMassFailureCheck / confirmDelivery / fileAppeal / confirmSlash / executeUncontestedSlash</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150" dirty="0">
                          <a:solidFill>
                            <a:srgbClr val="1B1B1B"/>
                          </a:solidFill>
                          <a:latin typeface="Calibri" pitchFamily="34" charset="0"/>
                          <a:ea typeface="Calibri" pitchFamily="34" charset="-122"/>
                          <a:cs typeface="Calibri" pitchFamily="34" charset="-120"/>
                        </a:rPr>
                        <a:t>مسیر معافیت جمعی ← تحویل ← اعتراض ← رأی مجمع (بخشی permissionless)</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582930">
                <a:tc>
                  <a:txBody>
                    <a:bodyPr/>
                    <a:lstStyle/>
                    <a:p>
                      <a:pPr algn="r" indent="0" marL="0">
                        <a:buNone/>
                      </a:pPr>
                      <a:r>
                        <a:rPr lang="en-US" sz="1150" dirty="0">
                          <a:solidFill>
                            <a:srgbClr val="1B1B1B"/>
                          </a:solidFill>
                          <a:latin typeface="Courier New" pitchFamily="34" charset="0"/>
                          <a:ea typeface="Courier New" pitchFamily="34" charset="-122"/>
                          <a:cs typeface="Courier New" pitchFamily="34" charset="-120"/>
                        </a:rPr>
                        <a:t>requestExit() / withdrawStake()</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150" dirty="0">
                          <a:solidFill>
                            <a:srgbClr val="1B1B1B"/>
                          </a:solidFill>
                          <a:latin typeface="Calibri" pitchFamily="34" charset="0"/>
                          <a:ea typeface="Calibri" pitchFamily="34" charset="-122"/>
                          <a:cs typeface="Calibri" pitchFamily="34" charset="-120"/>
                        </a:rPr>
                        <a:t>خودِ ولیدیتور؛ خروج فوراً وظیفه را پایان می‌دهد؛ برداشت بعد از ۷ روز؛ مبلغ درگیر پرونده محفوظ</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r h="582930">
                <a:tc>
                  <a:txBody>
                    <a:bodyPr/>
                    <a:lstStyle/>
                    <a:p>
                      <a:pPr algn="r" indent="0" marL="0">
                        <a:buNone/>
                      </a:pPr>
                      <a:r>
                        <a:rPr lang="en-US" sz="1150" dirty="0">
                          <a:solidFill>
                            <a:srgbClr val="1B1B1B"/>
                          </a:solidFill>
                          <a:latin typeface="Courier New" pitchFamily="34" charset="0"/>
                          <a:ea typeface="Courier New" pitchFamily="34" charset="-122"/>
                          <a:cs typeface="Courier New" pitchFamily="34" charset="-120"/>
                        </a:rPr>
                        <a:t>setEntryThresholdBase / setGrowthFactorPerValidator / setMembershipFeeBps</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150" dirty="0">
                          <a:solidFill>
                            <a:srgbClr val="1B1B1B"/>
                          </a:solidFill>
                          <a:latin typeface="Calibri" pitchFamily="34" charset="0"/>
                          <a:ea typeface="Calibri" pitchFamily="34" charset="-122"/>
                          <a:cs typeface="Calibri" pitchFamily="34" charset="-120"/>
                        </a:rPr>
                        <a:t>فقط ValidatorsBoard</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582930">
                <a:tc>
                  <a:txBody>
                    <a:bodyPr/>
                    <a:lstStyle/>
                    <a:p>
                      <a:pPr algn="r" indent="0" marL="0">
                        <a:buNone/>
                      </a:pPr>
                      <a:r>
                        <a:rPr lang="en-US" sz="1150" dirty="0">
                          <a:solidFill>
                            <a:srgbClr val="1B1B1B"/>
                          </a:solidFill>
                          <a:latin typeface="Courier New" pitchFamily="34" charset="0"/>
                          <a:ea typeface="Courier New" pitchFamily="34" charset="-122"/>
                          <a:cs typeface="Courier New" pitchFamily="34" charset="-120"/>
                        </a:rPr>
                        <a:t>setVerifier(addr)</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150" dirty="0">
                          <a:solidFill>
                            <a:srgbClr val="1B1B1B"/>
                          </a:solidFill>
                          <a:latin typeface="Calibri" pitchFamily="34" charset="0"/>
                          <a:ea typeface="Calibri" pitchFamily="34" charset="-122"/>
                          <a:cs typeface="Calibri" pitchFamily="34" charset="-120"/>
                        </a:rPr>
                        <a:t>فقط ValidatorsBoard</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r h="582930">
                <a:tc>
                  <a:txBody>
                    <a:bodyPr/>
                    <a:lstStyle/>
                    <a:p>
                      <a:pPr algn="r" indent="0" marL="0">
                        <a:buNone/>
                      </a:pPr>
                      <a:r>
                        <a:rPr lang="en-US" sz="1150" dirty="0">
                          <a:solidFill>
                            <a:srgbClr val="1B1B1B"/>
                          </a:solidFill>
                          <a:latin typeface="Courier New" pitchFamily="34" charset="0"/>
                          <a:ea typeface="Courier New" pitchFamily="34" charset="-122"/>
                          <a:cs typeface="Courier New" pitchFamily="34" charset="-120"/>
                        </a:rPr>
                        <a:t>پارامترهای امنیتی (slashBps, recoveryPeriod, exitCooldown, ...)</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150" dirty="0">
                          <a:solidFill>
                            <a:srgbClr val="1B1B1B"/>
                          </a:solidFill>
                          <a:latin typeface="Calibri" pitchFamily="34" charset="0"/>
                          <a:ea typeface="Calibri" pitchFamily="34" charset="-122"/>
                          <a:cs typeface="Calibri" pitchFamily="34" charset="-120"/>
                        </a:rPr>
                        <a:t>فقط رأی کامل مجمع ولیدیتورها</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bl>
          </a:graphicData>
        </a:graphic>
      </p:graphicFrame>
      <p:sp>
        <p:nvSpPr>
          <p:cNvPr id="5" name="Shape 2"/>
          <p:cNvSpPr/>
          <p:nvPr/>
        </p:nvSpPr>
        <p:spPr>
          <a:xfrm>
            <a:off x="429768" y="6446520"/>
            <a:ext cx="310896" cy="310896"/>
          </a:xfrm>
          <a:prstGeom prst="ellipse">
            <a:avLst/>
          </a:prstGeom>
          <a:solidFill>
            <a:srgbClr val="FFFFFF"/>
          </a:solidFill>
          <a:ln/>
        </p:spPr>
        <p:txBody>
          <a:bodyPr/>
          <a:p/>
        </p:txBody>
      </p:sp>
      <p:pic>
        <p:nvPicPr>
          <p:cNvPr id="6" name="Image 0" descr="/home/claude/deck2/assets/logo.png">    </p:cNvPr>
          <p:cNvPicPr>
            <a:picLocks noChangeAspect="1"/>
          </p:cNvPicPr>
          <p:nvPr/>
        </p:nvPicPr>
        <p:blipFill>
          <a:blip r:embed="rId1"/>
          <a:stretch>
            <a:fillRect/>
          </a:stretch>
        </p:blipFill>
        <p:spPr>
          <a:xfrm>
            <a:off x="457200" y="6473952"/>
            <a:ext cx="256032" cy="256032"/>
          </a:xfrm>
          <a:prstGeom prst="rect">
            <a:avLst/>
          </a:prstGeom>
        </p:spPr>
      </p:pic>
      <p:sp>
        <p:nvSpPr>
          <p:cNvPr id="7" name="Text 3"/>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8" name="Text 4"/>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ValidatorsRegistry — نکات فنی</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منحنی اقتصادی و لایوینس</a:t>
            </a:r>
            <a:endParaRPr lang="en-US" sz="2400" dirty="0"/>
          </a:p>
        </p:txBody>
      </p:sp>
      <p:sp>
        <p:nvSpPr>
          <p:cNvPr id="4" name="Shape 2"/>
          <p:cNvSpPr/>
          <p:nvPr/>
        </p:nvSpPr>
        <p:spPr>
          <a:xfrm>
            <a:off x="9966960" y="2005584"/>
            <a:ext cx="621792" cy="621792"/>
          </a:xfrm>
          <a:prstGeom prst="ellipse">
            <a:avLst/>
          </a:prstGeom>
          <a:solidFill>
            <a:srgbClr val="263238"/>
          </a:solidFill>
          <a:ln/>
        </p:spPr>
        <p:txBody>
          <a:bodyPr/>
          <a:p/>
        </p:txBody>
      </p:sp>
      <p:pic>
        <p:nvPicPr>
          <p:cNvPr id="5" name="Image 0" descr="/home/claude/deck2/icons/cubes.png">    </p:cNvPr>
          <p:cNvPicPr>
            <a:picLocks noChangeAspect="1"/>
          </p:cNvPicPr>
          <p:nvPr/>
        </p:nvPicPr>
        <p:blipFill>
          <a:blip r:embed="rId1"/>
          <a:stretch>
            <a:fillRect/>
          </a:stretch>
        </p:blipFill>
        <p:spPr>
          <a:xfrm>
            <a:off x="10128626" y="2167250"/>
            <a:ext cx="298460" cy="298460"/>
          </a:xfrm>
          <a:prstGeom prst="rect">
            <a:avLst/>
          </a:prstGeom>
        </p:spPr>
      </p:pic>
      <p:sp>
        <p:nvSpPr>
          <p:cNvPr id="6" name="Text 3"/>
          <p:cNvSpPr txBox="1"/>
          <p:nvPr/>
        </p:nvSpPr>
        <p:spPr>
          <a:xfrm>
            <a:off x="548640" y="150876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منحنی fixed-point نمایی برای هزینه‌ی ورود</a:t>
            </a:r>
            <a:endParaRPr lang="en-US" sz="1500" dirty="0"/>
          </a:p>
        </p:txBody>
      </p:sp>
      <p:sp>
        <p:nvSpPr>
          <p:cNvPr id="7" name="Text 4"/>
          <p:cNvSpPr txBox="1"/>
          <p:nvPr/>
        </p:nvSpPr>
        <p:spPr>
          <a:xfrm>
            <a:off x="548640" y="1856232"/>
            <a:ext cx="9144000" cy="123139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entryThresholdBase × growthFactorPerValidator^paidValidatorCount — exponentiation-by-squaring، ۱۸ رقم دقت؛ پایه ۵۰۰,۰۰۰ سورن، دوبرابر هر ۴۰ ولیدیتور پرداخت‌کننده (نه ۷ مؤسس رایگان genesis-seeded).</a:t>
            </a:r>
            <a:endParaRPr lang="en-US" sz="1180" dirty="0"/>
          </a:p>
        </p:txBody>
      </p:sp>
      <p:sp>
        <p:nvSpPr>
          <p:cNvPr id="8" name="Shape 5"/>
          <p:cNvSpPr/>
          <p:nvPr/>
        </p:nvSpPr>
        <p:spPr>
          <a:xfrm>
            <a:off x="548640" y="3069336"/>
            <a:ext cx="10881360" cy="0"/>
          </a:xfrm>
          <a:prstGeom prst="line">
            <a:avLst/>
          </a:prstGeom>
          <a:noFill/>
          <a:ln w="12700">
            <a:solidFill>
              <a:srgbClr val="E0E6E7"/>
            </a:solidFill>
            <a:prstDash val="solid"/>
          </a:ln>
        </p:spPr>
        <p:txBody>
          <a:bodyPr/>
          <a:p/>
        </p:txBody>
      </p:sp>
      <p:sp>
        <p:nvSpPr>
          <p:cNvPr id="9" name="Shape 6"/>
          <p:cNvSpPr/>
          <p:nvPr/>
        </p:nvSpPr>
        <p:spPr>
          <a:xfrm>
            <a:off x="9966960" y="3621024"/>
            <a:ext cx="621792" cy="621792"/>
          </a:xfrm>
          <a:prstGeom prst="ellipse">
            <a:avLst/>
          </a:prstGeom>
          <a:solidFill>
            <a:srgbClr val="00BFA5"/>
          </a:solidFill>
          <a:ln/>
        </p:spPr>
        <p:txBody>
          <a:bodyPr/>
          <a:p/>
        </p:txBody>
      </p:sp>
      <p:pic>
        <p:nvPicPr>
          <p:cNvPr id="10" name="Image 1" descr="/home/claude/deck2/icons/sync.png">    </p:cNvPr>
          <p:cNvPicPr>
            <a:picLocks noChangeAspect="1"/>
          </p:cNvPicPr>
          <p:nvPr/>
        </p:nvPicPr>
        <p:blipFill>
          <a:blip r:embed="rId2"/>
          <a:stretch>
            <a:fillRect/>
          </a:stretch>
        </p:blipFill>
        <p:spPr>
          <a:xfrm>
            <a:off x="10128626" y="3782690"/>
            <a:ext cx="298460" cy="298460"/>
          </a:xfrm>
          <a:prstGeom prst="rect">
            <a:avLst/>
          </a:prstGeom>
        </p:spPr>
      </p:pic>
      <p:sp>
        <p:nvSpPr>
          <p:cNvPr id="11" name="Text 7"/>
          <p:cNvSpPr txBox="1"/>
          <p:nvPr/>
        </p:nvSpPr>
        <p:spPr>
          <a:xfrm>
            <a:off x="548640" y="312420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تصمیم‌های وضعیت آف‌چین جایگزین کامل heartbeat/reportLiveness شد</a:t>
            </a:r>
            <a:endParaRPr lang="en-US" sz="1500" dirty="0"/>
          </a:p>
        </p:txBody>
      </p:sp>
      <p:sp>
        <p:nvSpPr>
          <p:cNvPr id="12" name="Text 8"/>
          <p:cNvSpPr txBox="1"/>
          <p:nvPr/>
        </p:nvSpPr>
        <p:spPr>
          <a:xfrm>
            <a:off x="548640" y="3471672"/>
            <a:ext cx="9144000" cy="123139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نسبت ۹۵٪ و همه‌ی بررسی‌ها آف‌چین محاسبه می‌شود؛ روی زنجیره فقط تصمیم تغییر وضعیت + هش شواهد ثبت می‌شود.</a:t>
            </a:r>
            <a:endParaRPr lang="en-US" sz="1180" dirty="0"/>
          </a:p>
        </p:txBody>
      </p:sp>
      <p:sp>
        <p:nvSpPr>
          <p:cNvPr id="13" name="Shape 9"/>
          <p:cNvSpPr/>
          <p:nvPr/>
        </p:nvSpPr>
        <p:spPr>
          <a:xfrm>
            <a:off x="548640" y="4684776"/>
            <a:ext cx="10881360" cy="0"/>
          </a:xfrm>
          <a:prstGeom prst="line">
            <a:avLst/>
          </a:prstGeom>
          <a:noFill/>
          <a:ln w="12700">
            <a:solidFill>
              <a:srgbClr val="E0E6E7"/>
            </a:solidFill>
            <a:prstDash val="solid"/>
          </a:ln>
        </p:spPr>
        <p:txBody>
          <a:bodyPr/>
          <a:p/>
        </p:txBody>
      </p:sp>
      <p:sp>
        <p:nvSpPr>
          <p:cNvPr id="14" name="Shape 10"/>
          <p:cNvSpPr/>
          <p:nvPr/>
        </p:nvSpPr>
        <p:spPr>
          <a:xfrm>
            <a:off x="9966960" y="5236464"/>
            <a:ext cx="621792" cy="621792"/>
          </a:xfrm>
          <a:prstGeom prst="ellipse">
            <a:avLst/>
          </a:prstGeom>
          <a:solidFill>
            <a:srgbClr val="263238"/>
          </a:solidFill>
          <a:ln/>
        </p:spPr>
        <p:txBody>
          <a:bodyPr/>
          <a:p/>
        </p:txBody>
      </p:sp>
      <p:pic>
        <p:nvPicPr>
          <p:cNvPr id="15" name="Image 2" descr="/home/claude/deck2/icons/fingerprint.png">    </p:cNvPr>
          <p:cNvPicPr>
            <a:picLocks noChangeAspect="1"/>
          </p:cNvPicPr>
          <p:nvPr/>
        </p:nvPicPr>
        <p:blipFill>
          <a:blip r:embed="rId3"/>
          <a:stretch>
            <a:fillRect/>
          </a:stretch>
        </p:blipFill>
        <p:spPr>
          <a:xfrm>
            <a:off x="10128626" y="5398130"/>
            <a:ext cx="298460" cy="298460"/>
          </a:xfrm>
          <a:prstGeom prst="rect">
            <a:avLst/>
          </a:prstGeom>
        </p:spPr>
      </p:pic>
      <p:sp>
        <p:nvSpPr>
          <p:cNvPr id="16" name="Text 11"/>
          <p:cNvSpPr txBox="1"/>
          <p:nvPr/>
        </p:nvSpPr>
        <p:spPr>
          <a:xfrm>
            <a:off x="548640" y="473964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verifier اینجا فقط برای تصمیم‌های وضعیت است، نه هویت</a:t>
            </a:r>
            <a:endParaRPr lang="en-US" sz="1500" dirty="0"/>
          </a:p>
        </p:txBody>
      </p:sp>
      <p:sp>
        <p:nvSpPr>
          <p:cNvPr id="17" name="Text 12"/>
          <p:cNvSpPr txBox="1"/>
          <p:nvPr/>
        </p:nvSpPr>
        <p:spPr>
          <a:xfrm>
            <a:off x="548640" y="5087112"/>
            <a:ext cx="9144000" cy="123139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هویت کامل (registerIdentity، KYC) به IdentityRegistry منتقل شد.</a:t>
            </a:r>
            <a:endParaRPr lang="en-US" sz="1180" dirty="0"/>
          </a:p>
        </p:txBody>
      </p:sp>
      <p:sp>
        <p:nvSpPr>
          <p:cNvPr id="18" name="Shape 13"/>
          <p:cNvSpPr/>
          <p:nvPr/>
        </p:nvSpPr>
        <p:spPr>
          <a:xfrm>
            <a:off x="429768" y="6446520"/>
            <a:ext cx="310896" cy="310896"/>
          </a:xfrm>
          <a:prstGeom prst="ellipse">
            <a:avLst/>
          </a:prstGeom>
          <a:solidFill>
            <a:srgbClr val="FFFFFF"/>
          </a:solidFill>
          <a:ln/>
        </p:spPr>
        <p:txBody>
          <a:bodyPr/>
          <a:p/>
        </p:txBody>
      </p:sp>
      <p:pic>
        <p:nvPicPr>
          <p:cNvPr id="19" name="Image 3" descr="/home/claude/deck2/assets/logo.png">    </p:cNvPr>
          <p:cNvPicPr>
            <a:picLocks noChangeAspect="1"/>
          </p:cNvPicPr>
          <p:nvPr/>
        </p:nvPicPr>
        <p:blipFill>
          <a:blip r:embed="rId4"/>
          <a:stretch>
            <a:fillRect/>
          </a:stretch>
        </p:blipFill>
        <p:spPr>
          <a:xfrm>
            <a:off x="457200" y="6473952"/>
            <a:ext cx="256032" cy="256032"/>
          </a:xfrm>
          <a:prstGeom prst="rect">
            <a:avLst/>
          </a:prstGeom>
        </p:spPr>
      </p:pic>
      <p:sp>
        <p:nvSpPr>
          <p:cNvPr id="20" name="Text 14"/>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21" name="Text 15"/>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ماشین‌حالت ولیدیتور</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تشخیص و حذف خودکار غیرفعال‌ها — Status enum</a:t>
            </a:r>
            <a:endParaRPr lang="en-US" sz="2400" dirty="0"/>
          </a:p>
        </p:txBody>
      </p:sp>
      <p:sp>
        <p:nvSpPr>
          <p:cNvPr id="4" name="Shape 2"/>
          <p:cNvSpPr/>
          <p:nvPr/>
        </p:nvSpPr>
        <p:spPr>
          <a:xfrm>
            <a:off x="9589770" y="2103120"/>
            <a:ext cx="731520" cy="731520"/>
          </a:xfrm>
          <a:prstGeom prst="ellipse">
            <a:avLst/>
          </a:prstGeom>
          <a:solidFill>
            <a:srgbClr val="263238"/>
          </a:solidFill>
          <a:ln/>
        </p:spPr>
        <p:txBody>
          <a:bodyPr/>
          <a:p/>
        </p:txBody>
      </p:sp>
      <p:pic>
        <p:nvPicPr>
          <p:cNvPr id="5" name="Image 0" descr="/home/claude/deck2/icons/cubes.png">    </p:cNvPr>
          <p:cNvPicPr>
            <a:picLocks noChangeAspect="1"/>
          </p:cNvPicPr>
          <p:nvPr/>
        </p:nvPicPr>
        <p:blipFill>
          <a:blip r:embed="rId1"/>
          <a:stretch>
            <a:fillRect/>
          </a:stretch>
        </p:blipFill>
        <p:spPr>
          <a:xfrm>
            <a:off x="9779965" y="2293315"/>
            <a:ext cx="351130" cy="351130"/>
          </a:xfrm>
          <a:prstGeom prst="rect">
            <a:avLst/>
          </a:prstGeom>
        </p:spPr>
      </p:pic>
      <p:sp>
        <p:nvSpPr>
          <p:cNvPr id="6" name="Shape 3"/>
          <p:cNvSpPr/>
          <p:nvPr/>
        </p:nvSpPr>
        <p:spPr>
          <a:xfrm>
            <a:off x="9571482" y="1965960"/>
            <a:ext cx="329184" cy="329184"/>
          </a:xfrm>
          <a:prstGeom prst="ellipse">
            <a:avLst/>
          </a:prstGeom>
          <a:solidFill>
            <a:srgbClr val="00BFA5"/>
          </a:solidFill>
          <a:ln/>
        </p:spPr>
        <p:txBody>
          <a:bodyPr/>
          <a:p/>
        </p:txBody>
      </p:sp>
      <p:sp>
        <p:nvSpPr>
          <p:cNvPr id="7" name="Text 4"/>
          <p:cNvSpPr txBox="1"/>
          <p:nvPr/>
        </p:nvSpPr>
        <p:spPr>
          <a:xfrm>
            <a:off x="9571482" y="1956816"/>
            <a:ext cx="329184" cy="329184"/>
          </a:xfrm>
          <a:prstGeom prst="rect">
            <a:avLst/>
          </a:prstGeom>
          <a:noFill/>
          <a:ln/>
        </p:spPr>
        <p:txBody>
          <a:bodyPr wrap="square" lIns="0" tIns="0" rIns="0" bIns="0" rtlCol="0" anchor="ctr"/>
          <a:lstStyle/>
          <a:p>
            <a:pPr algn="ctr" indent="0" marL="0">
              <a:buNone/>
            </a:pPr>
            <a:r>
              <a:rPr lang="en-US" sz="1300" b="1" dirty="0">
                <a:solidFill>
                  <a:srgbClr val="263238"/>
                </a:solidFill>
                <a:latin typeface="Arial" pitchFamily="34" charset="0"/>
                <a:ea typeface="Arial" pitchFamily="34" charset="-122"/>
                <a:cs typeface="Arial" pitchFamily="34" charset="-120"/>
              </a:rPr>
              <a:t>1</a:t>
            </a:r>
            <a:endParaRPr lang="en-US" sz="1300" dirty="0"/>
          </a:p>
        </p:txBody>
      </p:sp>
      <p:sp>
        <p:nvSpPr>
          <p:cNvPr id="8" name="Text 5"/>
          <p:cNvSpPr txBox="1"/>
          <p:nvPr/>
        </p:nvSpPr>
        <p:spPr>
          <a:xfrm>
            <a:off x="8709660" y="3063240"/>
            <a:ext cx="2491740" cy="548640"/>
          </a:xfrm>
          <a:prstGeom prst="rect">
            <a:avLst/>
          </a:prstGeom>
          <a:noFill/>
          <a:ln/>
        </p:spPr>
        <p:txBody>
          <a:bodyPr wrap="square" lIns="0" tIns="0" rIns="0" bIns="0" rtlCol="0" anchor="ctr"/>
          <a:lstStyle/>
          <a:p>
            <a:pPr rtl="1" algn="ctr" indent="0" marL="0">
              <a:buNone/>
            </a:pPr>
            <a:r>
              <a:rPr lang="en-US" sz="1250" b="1" dirty="0">
                <a:solidFill>
                  <a:srgbClr val="1B1B1B"/>
                </a:solidFill>
                <a:latin typeface="Calibri" pitchFamily="34" charset="0"/>
                <a:ea typeface="Calibri" pitchFamily="34" charset="-122"/>
                <a:cs typeface="Calibri" pitchFamily="34" charset="-120"/>
              </a:rPr>
              <a:t>Probation (1)</a:t>
            </a:r>
            <a:endParaRPr lang="en-US" sz="1250" dirty="0"/>
          </a:p>
        </p:txBody>
      </p:sp>
      <p:sp>
        <p:nvSpPr>
          <p:cNvPr id="9" name="Text 6"/>
          <p:cNvSpPr txBox="1"/>
          <p:nvPr/>
        </p:nvSpPr>
        <p:spPr>
          <a:xfrm>
            <a:off x="8709660" y="3566160"/>
            <a:ext cx="2491740" cy="1920240"/>
          </a:xfrm>
          <a:prstGeom prst="rect">
            <a:avLst/>
          </a:prstGeom>
          <a:noFill/>
          <a:ln/>
        </p:spPr>
        <p:txBody>
          <a:bodyPr wrap="square" lIns="0" tIns="0" rIns="0" bIns="0" rtlCol="0" anchor="t"/>
          <a:lstStyle/>
          <a:p>
            <a:pPr rtl="1" algn="ctr" indent="0" marL="0">
              <a:buNone/>
            </a:pPr>
            <a:r>
              <a:rPr lang="en-US" sz="1050" dirty="0">
                <a:solidFill>
                  <a:srgbClr val="51616B"/>
                </a:solidFill>
                <a:latin typeface="Calibri" pitchFamily="34" charset="0"/>
                <a:ea typeface="Calibri" pitchFamily="34" charset="-122"/>
                <a:cs typeface="Calibri" pitchFamily="34" charset="-120"/>
              </a:rPr>
              <a:t>بعد از requestMembership؛ نیازمند حضور در admin_peers</a:t>
            </a:r>
            <a:endParaRPr lang="en-US" sz="1050" dirty="0"/>
          </a:p>
        </p:txBody>
      </p:sp>
      <p:sp>
        <p:nvSpPr>
          <p:cNvPr id="10" name="Shape 7"/>
          <p:cNvSpPr/>
          <p:nvPr/>
        </p:nvSpPr>
        <p:spPr>
          <a:xfrm>
            <a:off x="8481060" y="2468880"/>
            <a:ext cx="228600" cy="0"/>
          </a:xfrm>
          <a:prstGeom prst="line">
            <a:avLst/>
          </a:prstGeom>
          <a:noFill/>
          <a:ln w="19050">
            <a:solidFill>
              <a:srgbClr val="C6D0D2"/>
            </a:solidFill>
            <a:prstDash val="solid"/>
          </a:ln>
        </p:spPr>
        <p:txBody>
          <a:bodyPr/>
          <a:p/>
        </p:txBody>
      </p:sp>
      <p:sp>
        <p:nvSpPr>
          <p:cNvPr id="11" name="Shape 8"/>
          <p:cNvSpPr/>
          <p:nvPr/>
        </p:nvSpPr>
        <p:spPr>
          <a:xfrm>
            <a:off x="6869430" y="2103120"/>
            <a:ext cx="731520" cy="731520"/>
          </a:xfrm>
          <a:prstGeom prst="ellipse">
            <a:avLst/>
          </a:prstGeom>
          <a:solidFill>
            <a:srgbClr val="263238"/>
          </a:solidFill>
          <a:ln/>
        </p:spPr>
        <p:txBody>
          <a:bodyPr/>
          <a:p/>
        </p:txBody>
      </p:sp>
      <p:pic>
        <p:nvPicPr>
          <p:cNvPr id="12" name="Image 1" descr="/home/claude/deck2/icons/shield.png">    </p:cNvPr>
          <p:cNvPicPr>
            <a:picLocks noChangeAspect="1"/>
          </p:cNvPicPr>
          <p:nvPr/>
        </p:nvPicPr>
        <p:blipFill>
          <a:blip r:embed="rId2"/>
          <a:stretch>
            <a:fillRect/>
          </a:stretch>
        </p:blipFill>
        <p:spPr>
          <a:xfrm>
            <a:off x="7059625" y="2293315"/>
            <a:ext cx="351130" cy="351130"/>
          </a:xfrm>
          <a:prstGeom prst="rect">
            <a:avLst/>
          </a:prstGeom>
        </p:spPr>
      </p:pic>
      <p:sp>
        <p:nvSpPr>
          <p:cNvPr id="13" name="Shape 9"/>
          <p:cNvSpPr/>
          <p:nvPr/>
        </p:nvSpPr>
        <p:spPr>
          <a:xfrm>
            <a:off x="6851142" y="1965960"/>
            <a:ext cx="329184" cy="329184"/>
          </a:xfrm>
          <a:prstGeom prst="ellipse">
            <a:avLst/>
          </a:prstGeom>
          <a:solidFill>
            <a:srgbClr val="00BFA5"/>
          </a:solidFill>
          <a:ln/>
        </p:spPr>
        <p:txBody>
          <a:bodyPr/>
          <a:p/>
        </p:txBody>
      </p:sp>
      <p:sp>
        <p:nvSpPr>
          <p:cNvPr id="14" name="Text 10"/>
          <p:cNvSpPr txBox="1"/>
          <p:nvPr/>
        </p:nvSpPr>
        <p:spPr>
          <a:xfrm>
            <a:off x="6851142" y="1956816"/>
            <a:ext cx="329184" cy="329184"/>
          </a:xfrm>
          <a:prstGeom prst="rect">
            <a:avLst/>
          </a:prstGeom>
          <a:noFill/>
          <a:ln/>
        </p:spPr>
        <p:txBody>
          <a:bodyPr wrap="square" lIns="0" tIns="0" rIns="0" bIns="0" rtlCol="0" anchor="ctr"/>
          <a:lstStyle/>
          <a:p>
            <a:pPr algn="ctr" indent="0" marL="0">
              <a:buNone/>
            </a:pPr>
            <a:r>
              <a:rPr lang="en-US" sz="1300" b="1" dirty="0">
                <a:solidFill>
                  <a:srgbClr val="263238"/>
                </a:solidFill>
                <a:latin typeface="Arial" pitchFamily="34" charset="0"/>
                <a:ea typeface="Arial" pitchFamily="34" charset="-122"/>
                <a:cs typeface="Arial" pitchFamily="34" charset="-120"/>
              </a:rPr>
              <a:t>2</a:t>
            </a:r>
            <a:endParaRPr lang="en-US" sz="1300" dirty="0"/>
          </a:p>
        </p:txBody>
      </p:sp>
      <p:sp>
        <p:nvSpPr>
          <p:cNvPr id="15" name="Text 11"/>
          <p:cNvSpPr txBox="1"/>
          <p:nvPr/>
        </p:nvSpPr>
        <p:spPr>
          <a:xfrm>
            <a:off x="5989320" y="3063240"/>
            <a:ext cx="2491740" cy="548640"/>
          </a:xfrm>
          <a:prstGeom prst="rect">
            <a:avLst/>
          </a:prstGeom>
          <a:noFill/>
          <a:ln/>
        </p:spPr>
        <p:txBody>
          <a:bodyPr wrap="square" lIns="0" tIns="0" rIns="0" bIns="0" rtlCol="0" anchor="ctr"/>
          <a:lstStyle/>
          <a:p>
            <a:pPr rtl="1" algn="ctr" indent="0" marL="0">
              <a:buNone/>
            </a:pPr>
            <a:r>
              <a:rPr lang="en-US" sz="1250" b="1" dirty="0">
                <a:solidFill>
                  <a:srgbClr val="1B1B1B"/>
                </a:solidFill>
                <a:latin typeface="Calibri" pitchFamily="34" charset="0"/>
                <a:ea typeface="Calibri" pitchFamily="34" charset="-122"/>
                <a:cs typeface="Calibri" pitchFamily="34" charset="-120"/>
              </a:rPr>
              <a:t>Active (2)</a:t>
            </a:r>
            <a:endParaRPr lang="en-US" sz="1250" dirty="0"/>
          </a:p>
        </p:txBody>
      </p:sp>
      <p:sp>
        <p:nvSpPr>
          <p:cNvPr id="16" name="Text 12"/>
          <p:cNvSpPr txBox="1"/>
          <p:nvPr/>
        </p:nvSpPr>
        <p:spPr>
          <a:xfrm>
            <a:off x="5989320" y="3566160"/>
            <a:ext cx="2491740" cy="1920240"/>
          </a:xfrm>
          <a:prstGeom prst="rect">
            <a:avLst/>
          </a:prstGeom>
          <a:noFill/>
          <a:ln/>
        </p:spPr>
        <p:txBody>
          <a:bodyPr wrap="square" lIns="0" tIns="0" rIns="0" bIns="0" rtlCol="0" anchor="t"/>
          <a:lstStyle/>
          <a:p>
            <a:pPr rtl="1" algn="ctr" indent="0" marL="0">
              <a:buNone/>
            </a:pPr>
            <a:r>
              <a:rPr lang="en-US" sz="1050" dirty="0">
                <a:solidFill>
                  <a:srgbClr val="51616B"/>
                </a:solidFill>
                <a:latin typeface="Calibri" pitchFamily="34" charset="0"/>
                <a:ea typeface="Calibri" pitchFamily="34" charset="-122"/>
                <a:cs typeface="Calibri" pitchFamily="34" charset="-120"/>
              </a:rPr>
              <a:t>recordActivation بعد از probation و نسبت ۹۵٪+ (محاسبه‌ی آف‌چین)</a:t>
            </a:r>
            <a:endParaRPr lang="en-US" sz="1050" dirty="0"/>
          </a:p>
        </p:txBody>
      </p:sp>
      <p:sp>
        <p:nvSpPr>
          <p:cNvPr id="17" name="Shape 13"/>
          <p:cNvSpPr/>
          <p:nvPr/>
        </p:nvSpPr>
        <p:spPr>
          <a:xfrm>
            <a:off x="5760720" y="2468880"/>
            <a:ext cx="228600" cy="0"/>
          </a:xfrm>
          <a:prstGeom prst="line">
            <a:avLst/>
          </a:prstGeom>
          <a:noFill/>
          <a:ln w="19050">
            <a:solidFill>
              <a:srgbClr val="C6D0D2"/>
            </a:solidFill>
            <a:prstDash val="solid"/>
          </a:ln>
        </p:spPr>
        <p:txBody>
          <a:bodyPr/>
          <a:p/>
        </p:txBody>
      </p:sp>
      <p:sp>
        <p:nvSpPr>
          <p:cNvPr id="18" name="Shape 14"/>
          <p:cNvSpPr/>
          <p:nvPr/>
        </p:nvSpPr>
        <p:spPr>
          <a:xfrm>
            <a:off x="4149090" y="2103120"/>
            <a:ext cx="731520" cy="731520"/>
          </a:xfrm>
          <a:prstGeom prst="ellipse">
            <a:avLst/>
          </a:prstGeom>
          <a:solidFill>
            <a:srgbClr val="263238"/>
          </a:solidFill>
          <a:ln/>
        </p:spPr>
        <p:txBody>
          <a:bodyPr/>
          <a:p/>
        </p:txBody>
      </p:sp>
      <p:pic>
        <p:nvPicPr>
          <p:cNvPr id="19" name="Image 2" descr="/home/claude/deck2/icons/warning.png">    </p:cNvPr>
          <p:cNvPicPr>
            <a:picLocks noChangeAspect="1"/>
          </p:cNvPicPr>
          <p:nvPr/>
        </p:nvPicPr>
        <p:blipFill>
          <a:blip r:embed="rId3"/>
          <a:stretch>
            <a:fillRect/>
          </a:stretch>
        </p:blipFill>
        <p:spPr>
          <a:xfrm>
            <a:off x="4339285" y="2293315"/>
            <a:ext cx="351130" cy="351130"/>
          </a:xfrm>
          <a:prstGeom prst="rect">
            <a:avLst/>
          </a:prstGeom>
        </p:spPr>
      </p:pic>
      <p:sp>
        <p:nvSpPr>
          <p:cNvPr id="20" name="Shape 15"/>
          <p:cNvSpPr/>
          <p:nvPr/>
        </p:nvSpPr>
        <p:spPr>
          <a:xfrm>
            <a:off x="4130802" y="1965960"/>
            <a:ext cx="329184" cy="329184"/>
          </a:xfrm>
          <a:prstGeom prst="ellipse">
            <a:avLst/>
          </a:prstGeom>
          <a:solidFill>
            <a:srgbClr val="00BFA5"/>
          </a:solidFill>
          <a:ln/>
        </p:spPr>
        <p:txBody>
          <a:bodyPr/>
          <a:p/>
        </p:txBody>
      </p:sp>
      <p:sp>
        <p:nvSpPr>
          <p:cNvPr id="21" name="Text 16"/>
          <p:cNvSpPr txBox="1"/>
          <p:nvPr/>
        </p:nvSpPr>
        <p:spPr>
          <a:xfrm>
            <a:off x="4130802" y="1956816"/>
            <a:ext cx="329184" cy="329184"/>
          </a:xfrm>
          <a:prstGeom prst="rect">
            <a:avLst/>
          </a:prstGeom>
          <a:noFill/>
          <a:ln/>
        </p:spPr>
        <p:txBody>
          <a:bodyPr wrap="square" lIns="0" tIns="0" rIns="0" bIns="0" rtlCol="0" anchor="ctr"/>
          <a:lstStyle/>
          <a:p>
            <a:pPr algn="ctr" indent="0" marL="0">
              <a:buNone/>
            </a:pPr>
            <a:r>
              <a:rPr lang="en-US" sz="1300" b="1" dirty="0">
                <a:solidFill>
                  <a:srgbClr val="263238"/>
                </a:solidFill>
                <a:latin typeface="Arial" pitchFamily="34" charset="0"/>
                <a:ea typeface="Arial" pitchFamily="34" charset="-122"/>
                <a:cs typeface="Arial" pitchFamily="34" charset="-120"/>
              </a:rPr>
              <a:t>3</a:t>
            </a:r>
            <a:endParaRPr lang="en-US" sz="1300" dirty="0"/>
          </a:p>
        </p:txBody>
      </p:sp>
      <p:sp>
        <p:nvSpPr>
          <p:cNvPr id="22" name="Text 17"/>
          <p:cNvSpPr txBox="1"/>
          <p:nvPr/>
        </p:nvSpPr>
        <p:spPr>
          <a:xfrm>
            <a:off x="3268980" y="3063240"/>
            <a:ext cx="2491740" cy="548640"/>
          </a:xfrm>
          <a:prstGeom prst="rect">
            <a:avLst/>
          </a:prstGeom>
          <a:noFill/>
          <a:ln/>
        </p:spPr>
        <p:txBody>
          <a:bodyPr wrap="square" lIns="0" tIns="0" rIns="0" bIns="0" rtlCol="0" anchor="ctr"/>
          <a:lstStyle/>
          <a:p>
            <a:pPr rtl="1" algn="ctr" indent="0" marL="0">
              <a:buNone/>
            </a:pPr>
            <a:r>
              <a:rPr lang="en-US" sz="1250" b="1" dirty="0">
                <a:solidFill>
                  <a:srgbClr val="1B1B1B"/>
                </a:solidFill>
                <a:latin typeface="Calibri" pitchFamily="34" charset="0"/>
                <a:ea typeface="Calibri" pitchFamily="34" charset="-122"/>
                <a:cs typeface="Calibri" pitchFamily="34" charset="-120"/>
              </a:rPr>
              <a:t>Demoted (3)</a:t>
            </a:r>
            <a:endParaRPr lang="en-US" sz="1250" dirty="0"/>
          </a:p>
        </p:txBody>
      </p:sp>
      <p:sp>
        <p:nvSpPr>
          <p:cNvPr id="23" name="Text 18"/>
          <p:cNvSpPr txBox="1"/>
          <p:nvPr/>
        </p:nvSpPr>
        <p:spPr>
          <a:xfrm>
            <a:off x="3268980" y="3566160"/>
            <a:ext cx="2491740" cy="1920240"/>
          </a:xfrm>
          <a:prstGeom prst="rect">
            <a:avLst/>
          </a:prstGeom>
          <a:noFill/>
          <a:ln/>
        </p:spPr>
        <p:txBody>
          <a:bodyPr wrap="square" lIns="0" tIns="0" rIns="0" bIns="0" rtlCol="0" anchor="t"/>
          <a:lstStyle/>
          <a:p>
            <a:pPr rtl="1" algn="ctr" indent="0" marL="0">
              <a:buNone/>
            </a:pPr>
            <a:r>
              <a:rPr lang="en-US" sz="1050" dirty="0">
                <a:solidFill>
                  <a:srgbClr val="51616B"/>
                </a:solidFill>
                <a:latin typeface="Calibri" pitchFamily="34" charset="0"/>
                <a:ea typeface="Calibri" pitchFamily="34" charset="-122"/>
                <a:cs typeface="Calibri" pitchFamily="34" charset="-120"/>
              </a:rPr>
              <a:t>recordSuspension توسط verifier بعد از ۴ ساعت غیرفعالیِ تأییدشده — حذف فوری از مجموعه‌ی فعال</a:t>
            </a:r>
            <a:endParaRPr lang="en-US" sz="1050" dirty="0"/>
          </a:p>
        </p:txBody>
      </p:sp>
      <p:sp>
        <p:nvSpPr>
          <p:cNvPr id="24" name="Shape 19"/>
          <p:cNvSpPr/>
          <p:nvPr/>
        </p:nvSpPr>
        <p:spPr>
          <a:xfrm>
            <a:off x="3040380" y="2468880"/>
            <a:ext cx="228600" cy="0"/>
          </a:xfrm>
          <a:prstGeom prst="line">
            <a:avLst/>
          </a:prstGeom>
          <a:noFill/>
          <a:ln w="19050">
            <a:solidFill>
              <a:srgbClr val="C6D0D2"/>
            </a:solidFill>
            <a:prstDash val="solid"/>
          </a:ln>
        </p:spPr>
        <p:txBody>
          <a:bodyPr/>
          <a:p/>
        </p:txBody>
      </p:sp>
      <p:sp>
        <p:nvSpPr>
          <p:cNvPr id="25" name="Shape 20"/>
          <p:cNvSpPr/>
          <p:nvPr/>
        </p:nvSpPr>
        <p:spPr>
          <a:xfrm>
            <a:off x="1428750" y="2103120"/>
            <a:ext cx="731520" cy="731520"/>
          </a:xfrm>
          <a:prstGeom prst="ellipse">
            <a:avLst/>
          </a:prstGeom>
          <a:solidFill>
            <a:srgbClr val="263238"/>
          </a:solidFill>
          <a:ln/>
        </p:spPr>
        <p:txBody>
          <a:bodyPr/>
          <a:p/>
        </p:txBody>
      </p:sp>
      <p:pic>
        <p:nvPicPr>
          <p:cNvPr id="26" name="Image 3" descr="/home/claude/deck2/icons/sync.png">    </p:cNvPr>
          <p:cNvPicPr>
            <a:picLocks noChangeAspect="1"/>
          </p:cNvPicPr>
          <p:nvPr/>
        </p:nvPicPr>
        <p:blipFill>
          <a:blip r:embed="rId4"/>
          <a:stretch>
            <a:fillRect/>
          </a:stretch>
        </p:blipFill>
        <p:spPr>
          <a:xfrm>
            <a:off x="1618945" y="2293315"/>
            <a:ext cx="351130" cy="351130"/>
          </a:xfrm>
          <a:prstGeom prst="rect">
            <a:avLst/>
          </a:prstGeom>
        </p:spPr>
      </p:pic>
      <p:sp>
        <p:nvSpPr>
          <p:cNvPr id="27" name="Shape 21"/>
          <p:cNvSpPr/>
          <p:nvPr/>
        </p:nvSpPr>
        <p:spPr>
          <a:xfrm>
            <a:off x="1410462" y="1965960"/>
            <a:ext cx="329184" cy="329184"/>
          </a:xfrm>
          <a:prstGeom prst="ellipse">
            <a:avLst/>
          </a:prstGeom>
          <a:solidFill>
            <a:srgbClr val="00BFA5"/>
          </a:solidFill>
          <a:ln/>
        </p:spPr>
        <p:txBody>
          <a:bodyPr/>
          <a:p/>
        </p:txBody>
      </p:sp>
      <p:sp>
        <p:nvSpPr>
          <p:cNvPr id="28" name="Text 22"/>
          <p:cNvSpPr txBox="1"/>
          <p:nvPr/>
        </p:nvSpPr>
        <p:spPr>
          <a:xfrm>
            <a:off x="1410462" y="1956816"/>
            <a:ext cx="329184" cy="329184"/>
          </a:xfrm>
          <a:prstGeom prst="rect">
            <a:avLst/>
          </a:prstGeom>
          <a:noFill/>
          <a:ln/>
        </p:spPr>
        <p:txBody>
          <a:bodyPr wrap="square" lIns="0" tIns="0" rIns="0" bIns="0" rtlCol="0" anchor="ctr"/>
          <a:lstStyle/>
          <a:p>
            <a:pPr algn="ctr" indent="0" marL="0">
              <a:buNone/>
            </a:pPr>
            <a:r>
              <a:rPr lang="en-US" sz="1300" b="1" dirty="0">
                <a:solidFill>
                  <a:srgbClr val="263238"/>
                </a:solidFill>
                <a:latin typeface="Arial" pitchFamily="34" charset="0"/>
                <a:ea typeface="Arial" pitchFamily="34" charset="-122"/>
                <a:cs typeface="Arial" pitchFamily="34" charset="-120"/>
              </a:rPr>
              <a:t>4</a:t>
            </a:r>
            <a:endParaRPr lang="en-US" sz="1300" dirty="0"/>
          </a:p>
        </p:txBody>
      </p:sp>
      <p:sp>
        <p:nvSpPr>
          <p:cNvPr id="29" name="Text 23"/>
          <p:cNvSpPr txBox="1"/>
          <p:nvPr/>
        </p:nvSpPr>
        <p:spPr>
          <a:xfrm>
            <a:off x="548640" y="3063240"/>
            <a:ext cx="2491740" cy="548640"/>
          </a:xfrm>
          <a:prstGeom prst="rect">
            <a:avLst/>
          </a:prstGeom>
          <a:noFill/>
          <a:ln/>
        </p:spPr>
        <p:txBody>
          <a:bodyPr wrap="square" lIns="0" tIns="0" rIns="0" bIns="0" rtlCol="0" anchor="ctr"/>
          <a:lstStyle/>
          <a:p>
            <a:pPr rtl="1" algn="ctr" indent="0" marL="0">
              <a:buNone/>
            </a:pPr>
            <a:r>
              <a:rPr lang="en-US" sz="1250" b="1" dirty="0">
                <a:solidFill>
                  <a:srgbClr val="1B1B1B"/>
                </a:solidFill>
                <a:latin typeface="Calibri" pitchFamily="34" charset="0"/>
                <a:ea typeface="Calibri" pitchFamily="34" charset="-122"/>
                <a:cs typeface="Calibri" pitchFamily="34" charset="-120"/>
              </a:rPr>
              <a:t>بازگشت یا خروج</a:t>
            </a:r>
            <a:endParaRPr lang="en-US" sz="1250" dirty="0"/>
          </a:p>
        </p:txBody>
      </p:sp>
      <p:sp>
        <p:nvSpPr>
          <p:cNvPr id="30" name="Text 24"/>
          <p:cNvSpPr txBox="1"/>
          <p:nvPr/>
        </p:nvSpPr>
        <p:spPr>
          <a:xfrm>
            <a:off x="548640" y="3566160"/>
            <a:ext cx="2491740" cy="1920240"/>
          </a:xfrm>
          <a:prstGeom prst="rect">
            <a:avLst/>
          </a:prstGeom>
          <a:noFill/>
          <a:ln/>
        </p:spPr>
        <p:txBody>
          <a:bodyPr wrap="square" lIns="0" tIns="0" rIns="0" bIns="0" rtlCol="0" anchor="t"/>
          <a:lstStyle/>
          <a:p>
            <a:pPr rtl="1" algn="ctr" indent="0" marL="0">
              <a:buNone/>
            </a:pPr>
            <a:r>
              <a:rPr lang="en-US" sz="1050" dirty="0">
                <a:solidFill>
                  <a:srgbClr val="51616B"/>
                </a:solidFill>
                <a:latin typeface="Calibri" pitchFamily="34" charset="0"/>
                <a:ea typeface="Calibri" pitchFamily="34" charset="-122"/>
                <a:cs typeface="Calibri" pitchFamily="34" charset="-120"/>
              </a:rPr>
              <a:t>recordRecovery حداقل recoveryPeriod بعد، فقط اگر پرونده‌ی معلقی نمانده؛ جریمه‌ی slashBps بلافاصله اجرا نمی‌شود (رخداد جمعی ← تحویل ← اعتراض/رأی)</a:t>
            </a:r>
            <a:endParaRPr lang="en-US" sz="1050" dirty="0"/>
          </a:p>
        </p:txBody>
      </p:sp>
      <p:sp>
        <p:nvSpPr>
          <p:cNvPr id="31" name="Shape 25"/>
          <p:cNvSpPr/>
          <p:nvPr/>
        </p:nvSpPr>
        <p:spPr>
          <a:xfrm>
            <a:off x="429768" y="6446520"/>
            <a:ext cx="310896" cy="310896"/>
          </a:xfrm>
          <a:prstGeom prst="ellipse">
            <a:avLst/>
          </a:prstGeom>
          <a:solidFill>
            <a:srgbClr val="FFFFFF"/>
          </a:solidFill>
          <a:ln/>
        </p:spPr>
        <p:txBody>
          <a:bodyPr/>
          <a:p/>
        </p:txBody>
      </p:sp>
      <p:pic>
        <p:nvPicPr>
          <p:cNvPr id="32" name="Image 4" descr="/home/claude/deck2/assets/logo.png">    </p:cNvPr>
          <p:cNvPicPr>
            <a:picLocks noChangeAspect="1"/>
          </p:cNvPicPr>
          <p:nvPr/>
        </p:nvPicPr>
        <p:blipFill>
          <a:blip r:embed="rId5"/>
          <a:stretch>
            <a:fillRect/>
          </a:stretch>
        </p:blipFill>
        <p:spPr>
          <a:xfrm>
            <a:off x="457200" y="6473952"/>
            <a:ext cx="256032" cy="256032"/>
          </a:xfrm>
          <a:prstGeom prst="rect">
            <a:avLst/>
          </a:prstGeom>
        </p:spPr>
      </p:pic>
      <p:sp>
        <p:nvSpPr>
          <p:cNvPr id="33" name="Text 26"/>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34" name="Text 27"/>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ValidatorsBoard.sol — 0x4444</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توابع کامل</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663440"/>
        </p:xfrm>
        <a:graphic>
          <a:graphicData uri="http://schemas.openxmlformats.org/drawingml/2006/table">
            <a:tbl>
              <a:tblPr/>
              <a:tblGrid>
                <a:gridCol w="5532120"/>
                <a:gridCol w="5532120"/>
              </a:tblGrid>
              <a:tr h="666206">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تابع</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چه کسی</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r>
              <a:tr h="666206">
                <a:tc>
                  <a:txBody>
                    <a:bodyPr/>
                    <a:lstStyle/>
                    <a:p>
                      <a:pPr algn="r" indent="0" marL="0">
                        <a:buNone/>
                      </a:pPr>
                      <a:r>
                        <a:rPr lang="en-US" sz="1150" dirty="0">
                          <a:solidFill>
                            <a:srgbClr val="1B1B1B"/>
                          </a:solidFill>
                          <a:latin typeface="Courier New" pitchFamily="34" charset="0"/>
                          <a:ea typeface="Courier New" pitchFamily="34" charset="-122"/>
                          <a:cs typeface="Courier New" pitchFamily="34" charset="-120"/>
                        </a:rPr>
                        <a:t>voteFor(candidate) / unvoteFor(candidate)</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150" dirty="0">
                          <a:solidFill>
                            <a:srgbClr val="1B1B1B"/>
                          </a:solidFill>
                          <a:latin typeface="Calibri" pitchFamily="34" charset="0"/>
                          <a:ea typeface="Calibri" pitchFamily="34" charset="-122"/>
                          <a:cs typeface="Calibri" pitchFamily="34" charset="-120"/>
                        </a:rPr>
                        <a:t>هر ولیدیتور Active با هویت ثبت‌شده</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666206">
                <a:tc>
                  <a:txBody>
                    <a:bodyPr/>
                    <a:lstStyle/>
                    <a:p>
                      <a:pPr algn="r" indent="0" marL="0">
                        <a:buNone/>
                      </a:pPr>
                      <a:r>
                        <a:rPr lang="en-US" sz="1150" dirty="0">
                          <a:solidFill>
                            <a:srgbClr val="1B1B1B"/>
                          </a:solidFill>
                          <a:latin typeface="Courier New" pitchFamily="34" charset="0"/>
                          <a:ea typeface="Courier New" pitchFamily="34" charset="-122"/>
                          <a:cs typeface="Courier New" pitchFamily="34" charset="-120"/>
                        </a:rPr>
                        <a:t>refreshBoard()</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150" dirty="0">
                          <a:solidFill>
                            <a:srgbClr val="1B1B1B"/>
                          </a:solidFill>
                          <a:latin typeface="Calibri" pitchFamily="34" charset="0"/>
                          <a:ea typeface="Calibri" pitchFamily="34" charset="-122"/>
                          <a:cs typeface="Calibri" pitchFamily="34" charset="-120"/>
                        </a:rPr>
                        <a:t>permissionless — حداکثر هر ۳۰ روز (هیأت خالی: هر زمان)</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r h="666206">
                <a:tc>
                  <a:txBody>
                    <a:bodyPr/>
                    <a:lstStyle/>
                    <a:p>
                      <a:pPr algn="r" indent="0" marL="0">
                        <a:buNone/>
                      </a:pPr>
                      <a:r>
                        <a:rPr lang="en-US" sz="1150" dirty="0">
                          <a:solidFill>
                            <a:srgbClr val="1B1B1B"/>
                          </a:solidFill>
                          <a:latin typeface="Courier New" pitchFamily="34" charset="0"/>
                          <a:ea typeface="Courier New" pitchFamily="34" charset="-122"/>
                          <a:cs typeface="Courier New" pitchFamily="34" charset="-120"/>
                        </a:rPr>
                        <a:t>clearStaleVotes(validator)</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150" dirty="0">
                          <a:solidFill>
                            <a:srgbClr val="1B1B1B"/>
                          </a:solidFill>
                          <a:latin typeface="Calibri" pitchFamily="34" charset="0"/>
                          <a:ea typeface="Calibri" pitchFamily="34" charset="-122"/>
                          <a:cs typeface="Calibri" pitchFamily="34" charset="-120"/>
                        </a:rPr>
                        <a:t>permissionless — بعد از recoveryPeriod+30 روز Demoted</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666206">
                <a:tc>
                  <a:txBody>
                    <a:bodyPr/>
                    <a:lstStyle/>
                    <a:p>
                      <a:pPr algn="r" indent="0" marL="0">
                        <a:buNone/>
                      </a:pPr>
                      <a:r>
                        <a:rPr lang="en-US" sz="1150" dirty="0">
                          <a:solidFill>
                            <a:srgbClr val="1B1B1B"/>
                          </a:solidFill>
                          <a:latin typeface="Courier New" pitchFamily="34" charset="0"/>
                          <a:ea typeface="Courier New" pitchFamily="34" charset="-122"/>
                          <a:cs typeface="Courier New" pitchFamily="34" charset="-120"/>
                        </a:rPr>
                        <a:t>proposeRotateOracle / proposeRotateVerifier</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150" dirty="0">
                          <a:solidFill>
                            <a:srgbClr val="1B1B1B"/>
                          </a:solidFill>
                          <a:latin typeface="Calibri" pitchFamily="34" charset="0"/>
                          <a:ea typeface="Calibri" pitchFamily="34" charset="-122"/>
                          <a:cs typeface="Calibri" pitchFamily="34" charset="-120"/>
                        </a:rPr>
                        <a:t>عضو دارای اختیار زنده — رأی داخلی اکثریت</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r h="666206">
                <a:tc>
                  <a:txBody>
                    <a:bodyPr/>
                    <a:lstStyle/>
                    <a:p>
                      <a:pPr algn="r" indent="0" marL="0">
                        <a:buNone/>
                      </a:pPr>
                      <a:r>
                        <a:rPr lang="en-US" sz="1150" dirty="0">
                          <a:solidFill>
                            <a:srgbClr val="1B1B1B"/>
                          </a:solidFill>
                          <a:latin typeface="Courier New" pitchFamily="34" charset="0"/>
                          <a:ea typeface="Courier New" pitchFamily="34" charset="-122"/>
                          <a:cs typeface="Courier New" pitchFamily="34" charset="-120"/>
                        </a:rPr>
                        <a:t>proposeApproveBudget</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150" dirty="0">
                          <a:solidFill>
                            <a:srgbClr val="1B1B1B"/>
                          </a:solidFill>
                          <a:latin typeface="Calibri" pitchFamily="34" charset="0"/>
                          <a:ea typeface="Calibri" pitchFamily="34" charset="-122"/>
                          <a:cs typeface="Calibri" pitchFamily="34" charset="-120"/>
                        </a:rPr>
                        <a:t>عضو دارای اختیار زنده — حداقل ۳ رأی، در سقف‌های خزانه (تنها مسیر خرج)</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666206">
                <a:tc>
                  <a:txBody>
                    <a:bodyPr/>
                    <a:lstStyle/>
                    <a:p>
                      <a:pPr algn="r" indent="0" marL="0">
                        <a:buNone/>
                      </a:pPr>
                      <a:r>
                        <a:rPr lang="en-US" sz="1150" dirty="0">
                          <a:solidFill>
                            <a:srgbClr val="1B1B1B"/>
                          </a:solidFill>
                          <a:latin typeface="Courier New" pitchFamily="34" charset="0"/>
                          <a:ea typeface="Courier New" pitchFamily="34" charset="-122"/>
                          <a:cs typeface="Courier New" pitchFamily="34" charset="-120"/>
                        </a:rPr>
                        <a:t>proposeSetEntryThresholdBase / GrowthFactor / MembershipFeeBps</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150" dirty="0">
                          <a:solidFill>
                            <a:srgbClr val="1B1B1B"/>
                          </a:solidFill>
                          <a:latin typeface="Calibri" pitchFamily="34" charset="0"/>
                          <a:ea typeface="Calibri" pitchFamily="34" charset="-122"/>
                          <a:cs typeface="Calibri" pitchFamily="34" charset="-120"/>
                        </a:rPr>
                        <a:t>عضو دارای اختیار زنده — رأی داخلی اکثریت</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bl>
          </a:graphicData>
        </a:graphic>
      </p:graphicFrame>
      <p:sp>
        <p:nvSpPr>
          <p:cNvPr id="5" name="Shape 2"/>
          <p:cNvSpPr/>
          <p:nvPr/>
        </p:nvSpPr>
        <p:spPr>
          <a:xfrm>
            <a:off x="429768" y="6446520"/>
            <a:ext cx="310896" cy="310896"/>
          </a:xfrm>
          <a:prstGeom prst="ellipse">
            <a:avLst/>
          </a:prstGeom>
          <a:solidFill>
            <a:srgbClr val="FFFFFF"/>
          </a:solidFill>
          <a:ln/>
        </p:spPr>
        <p:txBody>
          <a:bodyPr/>
          <a:p/>
        </p:txBody>
      </p:sp>
      <p:pic>
        <p:nvPicPr>
          <p:cNvPr id="6" name="Image 0" descr="/home/claude/deck2/assets/logo.png">    </p:cNvPr>
          <p:cNvPicPr>
            <a:picLocks noChangeAspect="1"/>
          </p:cNvPicPr>
          <p:nvPr/>
        </p:nvPicPr>
        <p:blipFill>
          <a:blip r:embed="rId1"/>
          <a:stretch>
            <a:fillRect/>
          </a:stretch>
        </p:blipFill>
        <p:spPr>
          <a:xfrm>
            <a:off x="457200" y="6473952"/>
            <a:ext cx="256032" cy="256032"/>
          </a:xfrm>
          <a:prstGeom prst="rect">
            <a:avLst/>
          </a:prstGeom>
        </p:spPr>
      </p:pic>
      <p:sp>
        <p:nvSpPr>
          <p:cNvPr id="7" name="Text 3"/>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8" name="Text 4"/>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ValidatorsBoard — حاکمیت</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۵ صندلی؛ رأی آزاد، ترکیب ماهانه</a:t>
            </a:r>
            <a:endParaRPr lang="en-US" sz="2400" dirty="0"/>
          </a:p>
        </p:txBody>
      </p:sp>
      <p:sp>
        <p:nvSpPr>
          <p:cNvPr id="4" name="Shape 2"/>
          <p:cNvSpPr/>
          <p:nvPr/>
        </p:nvSpPr>
        <p:spPr>
          <a:xfrm>
            <a:off x="9966960" y="2005584"/>
            <a:ext cx="621792" cy="621792"/>
          </a:xfrm>
          <a:prstGeom prst="ellipse">
            <a:avLst/>
          </a:prstGeom>
          <a:solidFill>
            <a:srgbClr val="263238"/>
          </a:solidFill>
          <a:ln/>
        </p:spPr>
        <p:txBody>
          <a:bodyPr/>
          <a:p/>
        </p:txBody>
      </p:sp>
      <p:pic>
        <p:nvPicPr>
          <p:cNvPr id="5" name="Image 0" descr="/home/claude/deck2/icons/sync.png">    </p:cNvPr>
          <p:cNvPicPr>
            <a:picLocks noChangeAspect="1"/>
          </p:cNvPicPr>
          <p:nvPr/>
        </p:nvPicPr>
        <p:blipFill>
          <a:blip r:embed="rId1"/>
          <a:stretch>
            <a:fillRect/>
          </a:stretch>
        </p:blipFill>
        <p:spPr>
          <a:xfrm>
            <a:off x="10128626" y="2167250"/>
            <a:ext cx="298460" cy="298460"/>
          </a:xfrm>
          <a:prstGeom prst="rect">
            <a:avLst/>
          </a:prstGeom>
        </p:spPr>
      </p:pic>
      <p:sp>
        <p:nvSpPr>
          <p:cNvPr id="6" name="Text 3"/>
          <p:cNvSpPr txBox="1"/>
          <p:nvPr/>
        </p:nvSpPr>
        <p:spPr>
          <a:xfrm>
            <a:off x="548640" y="150876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رأی آزاد و دائمی؛ ترکیب عادی هر ۳۰ روز</a:t>
            </a:r>
            <a:endParaRPr lang="en-US" sz="1500" dirty="0"/>
          </a:p>
        </p:txBody>
      </p:sp>
      <p:sp>
        <p:nvSpPr>
          <p:cNvPr id="7" name="Text 4"/>
          <p:cNvSpPr txBox="1"/>
          <p:nvPr/>
        </p:nvSpPr>
        <p:spPr>
          <a:xfrm>
            <a:off x="548640" y="1856232"/>
            <a:ext cx="9144000" cy="123139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refreshBoard() حداکثر هر ۳۰ روز ترکیب را اعمال می‌کند؛ عضو فعلی با صفر رأی هم کرسی‌اش را حفظ می‌کند (حداکثر یک چالشگر با رأی بیشتر جای کم‌رأی‌ترین را می‌گیرد)؛ درخواست خروج اختیار را فوراً قطع و جانشین را فعال می‌کند؛ تعلیق تا بازتعیین ماهانه اختیار را قطع نمی‌کند؛ کمتر از ۳ عضو دارای اختیار = توقف پرداخت</a:t>
            </a:r>
            <a:endParaRPr lang="en-US" sz="1180" dirty="0"/>
          </a:p>
        </p:txBody>
      </p:sp>
      <p:sp>
        <p:nvSpPr>
          <p:cNvPr id="8" name="Shape 5"/>
          <p:cNvSpPr/>
          <p:nvPr/>
        </p:nvSpPr>
        <p:spPr>
          <a:xfrm>
            <a:off x="548640" y="3069336"/>
            <a:ext cx="10881360" cy="0"/>
          </a:xfrm>
          <a:prstGeom prst="line">
            <a:avLst/>
          </a:prstGeom>
          <a:noFill/>
          <a:ln w="12700">
            <a:solidFill>
              <a:srgbClr val="E0E6E7"/>
            </a:solidFill>
            <a:prstDash val="solid"/>
          </a:ln>
        </p:spPr>
        <p:txBody>
          <a:bodyPr/>
          <a:p/>
        </p:txBody>
      </p:sp>
      <p:sp>
        <p:nvSpPr>
          <p:cNvPr id="9" name="Shape 6"/>
          <p:cNvSpPr/>
          <p:nvPr/>
        </p:nvSpPr>
        <p:spPr>
          <a:xfrm>
            <a:off x="9966960" y="3621024"/>
            <a:ext cx="621792" cy="621792"/>
          </a:xfrm>
          <a:prstGeom prst="ellipse">
            <a:avLst/>
          </a:prstGeom>
          <a:solidFill>
            <a:srgbClr val="00BFA5"/>
          </a:solidFill>
          <a:ln/>
        </p:spPr>
        <p:txBody>
          <a:bodyPr/>
          <a:p/>
        </p:txBody>
      </p:sp>
      <p:pic>
        <p:nvPicPr>
          <p:cNvPr id="10" name="Image 1" descr="/home/claude/deck2/icons/shield.png">    </p:cNvPr>
          <p:cNvPicPr>
            <a:picLocks noChangeAspect="1"/>
          </p:cNvPicPr>
          <p:nvPr/>
        </p:nvPicPr>
        <p:blipFill>
          <a:blip r:embed="rId2"/>
          <a:stretch>
            <a:fillRect/>
          </a:stretch>
        </p:blipFill>
        <p:spPr>
          <a:xfrm>
            <a:off x="10128626" y="3782690"/>
            <a:ext cx="298460" cy="298460"/>
          </a:xfrm>
          <a:prstGeom prst="rect">
            <a:avLst/>
          </a:prstGeom>
        </p:spPr>
      </p:pic>
      <p:sp>
        <p:nvSpPr>
          <p:cNvPr id="11" name="Text 7"/>
          <p:cNvSpPr txBox="1"/>
          <p:nvPr/>
        </p:nvSpPr>
        <p:spPr>
          <a:xfrm>
            <a:off x="548640" y="312420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شش اختیار تفویضی — دقیقاً همین‌ها، نه بیشتر</a:t>
            </a:r>
            <a:endParaRPr lang="en-US" sz="1500" dirty="0"/>
          </a:p>
        </p:txBody>
      </p:sp>
      <p:sp>
        <p:nvSpPr>
          <p:cNvPr id="12" name="Text 8"/>
          <p:cNvSpPr txBox="1"/>
          <p:nvPr/>
        </p:nvSpPr>
        <p:spPr>
          <a:xfrm>
            <a:off x="548640" y="3471672"/>
            <a:ext cx="9144000" cy="123139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هیچ پارامتر امنیتی بنیادین (slashBps، recoveryPeriod و مشابه) در اختیار هیأت نیست.</a:t>
            </a:r>
            <a:endParaRPr lang="en-US" sz="1180" dirty="0"/>
          </a:p>
        </p:txBody>
      </p:sp>
      <p:sp>
        <p:nvSpPr>
          <p:cNvPr id="13" name="Shape 9"/>
          <p:cNvSpPr/>
          <p:nvPr/>
        </p:nvSpPr>
        <p:spPr>
          <a:xfrm>
            <a:off x="548640" y="4684776"/>
            <a:ext cx="10881360" cy="0"/>
          </a:xfrm>
          <a:prstGeom prst="line">
            <a:avLst/>
          </a:prstGeom>
          <a:noFill/>
          <a:ln w="12700">
            <a:solidFill>
              <a:srgbClr val="E0E6E7"/>
            </a:solidFill>
            <a:prstDash val="solid"/>
          </a:ln>
        </p:spPr>
        <p:txBody>
          <a:bodyPr/>
          <a:p/>
        </p:txBody>
      </p:sp>
      <p:sp>
        <p:nvSpPr>
          <p:cNvPr id="14" name="Shape 10"/>
          <p:cNvSpPr/>
          <p:nvPr/>
        </p:nvSpPr>
        <p:spPr>
          <a:xfrm>
            <a:off x="9966960" y="5236464"/>
            <a:ext cx="621792" cy="621792"/>
          </a:xfrm>
          <a:prstGeom prst="ellipse">
            <a:avLst/>
          </a:prstGeom>
          <a:solidFill>
            <a:srgbClr val="263238"/>
          </a:solidFill>
          <a:ln/>
        </p:spPr>
        <p:txBody>
          <a:bodyPr/>
          <a:p/>
        </p:txBody>
      </p:sp>
      <p:pic>
        <p:nvPicPr>
          <p:cNvPr id="15" name="Image 2" descr="/home/claude/deck2/icons/fingerprint.png">    </p:cNvPr>
          <p:cNvPicPr>
            <a:picLocks noChangeAspect="1"/>
          </p:cNvPicPr>
          <p:nvPr/>
        </p:nvPicPr>
        <p:blipFill>
          <a:blip r:embed="rId3"/>
          <a:stretch>
            <a:fillRect/>
          </a:stretch>
        </p:blipFill>
        <p:spPr>
          <a:xfrm>
            <a:off x="10128626" y="5398130"/>
            <a:ext cx="298460" cy="298460"/>
          </a:xfrm>
          <a:prstGeom prst="rect">
            <a:avLst/>
          </a:prstGeom>
        </p:spPr>
      </p:pic>
      <p:sp>
        <p:nvSpPr>
          <p:cNvPr id="16" name="Text 11"/>
          <p:cNvSpPr txBox="1"/>
          <p:nvPr/>
        </p:nvSpPr>
        <p:spPr>
          <a:xfrm>
            <a:off x="548640" y="473964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پیش‌نیاز رأی: IDENTITY_REGISTRY.hasIdentity()</a:t>
            </a:r>
            <a:endParaRPr lang="en-US" sz="1500" dirty="0"/>
          </a:p>
        </p:txBody>
      </p:sp>
      <p:sp>
        <p:nvSpPr>
          <p:cNvPr id="17" name="Text 12"/>
          <p:cNvSpPr txBox="1"/>
          <p:nvPr/>
        </p:nvSpPr>
        <p:spPr>
          <a:xfrm>
            <a:off x="548640" y="5087112"/>
            <a:ext cx="9144000" cy="123139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نه دیگر REGISTRY.hasIdentity — این تغییر مستقیم روی این قرارداد اثر گذاشت.</a:t>
            </a:r>
            <a:endParaRPr lang="en-US" sz="1180" dirty="0"/>
          </a:p>
        </p:txBody>
      </p:sp>
      <p:sp>
        <p:nvSpPr>
          <p:cNvPr id="18" name="Shape 13"/>
          <p:cNvSpPr/>
          <p:nvPr/>
        </p:nvSpPr>
        <p:spPr>
          <a:xfrm>
            <a:off x="429768" y="6446520"/>
            <a:ext cx="310896" cy="310896"/>
          </a:xfrm>
          <a:prstGeom prst="ellipse">
            <a:avLst/>
          </a:prstGeom>
          <a:solidFill>
            <a:srgbClr val="FFFFFF"/>
          </a:solidFill>
          <a:ln/>
        </p:spPr>
        <p:txBody>
          <a:bodyPr/>
          <a:p/>
        </p:txBody>
      </p:sp>
      <p:pic>
        <p:nvPicPr>
          <p:cNvPr id="19" name="Image 3" descr="/home/claude/deck2/assets/logo.png">    </p:cNvPr>
          <p:cNvPicPr>
            <a:picLocks noChangeAspect="1"/>
          </p:cNvPicPr>
          <p:nvPr/>
        </p:nvPicPr>
        <p:blipFill>
          <a:blip r:embed="rId4"/>
          <a:stretch>
            <a:fillRect/>
          </a:stretch>
        </p:blipFill>
        <p:spPr>
          <a:xfrm>
            <a:off x="457200" y="6473952"/>
            <a:ext cx="256032" cy="256032"/>
          </a:xfrm>
          <a:prstGeom prst="rect">
            <a:avLst/>
          </a:prstGeom>
        </p:spPr>
      </p:pic>
      <p:sp>
        <p:nvSpPr>
          <p:cNvPr id="20" name="Text 14"/>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21" name="Text 15"/>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ValidatorsTreasury.sol — 0x5555</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تنها مسیر خرج: هیأت، در سقف‌های مجمع</a:t>
            </a:r>
            <a:endParaRPr lang="en-US" sz="2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663440"/>
        </p:xfrm>
        <a:graphic>
          <a:graphicData uri="http://schemas.openxmlformats.org/drawingml/2006/table">
            <a:tbl>
              <a:tblPr/>
              <a:tblGrid>
                <a:gridCol w="5532120"/>
                <a:gridCol w="5532120"/>
              </a:tblGrid>
              <a:tr h="1165860">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تابع</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مسیر / نصاب</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r>
              <a:tr h="1165860">
                <a:tc>
                  <a:txBody>
                    <a:bodyPr/>
                    <a:lstStyle/>
                    <a:p>
                      <a:pPr algn="r" indent="0" marL="0">
                        <a:buNone/>
                      </a:pPr>
                      <a:r>
                        <a:rPr lang="en-US" sz="1300" dirty="0">
                          <a:solidFill>
                            <a:srgbClr val="1B1B1B"/>
                          </a:solidFill>
                          <a:latin typeface="Courier New" pitchFamily="34" charset="0"/>
                          <a:ea typeface="Courier New" pitchFamily="34" charset="-122"/>
                          <a:cs typeface="Courier New" pitchFamily="34" charset="-120"/>
                        </a:rPr>
                        <a:t>proposeCapChange</a:t>
                      </a:r>
                      <a:endParaRPr lang="en-US" sz="13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300" dirty="0">
                          <a:solidFill>
                            <a:srgbClr val="1B1B1B"/>
                          </a:solidFill>
                          <a:latin typeface="Calibri" pitchFamily="34" charset="0"/>
                          <a:ea typeface="Calibri" pitchFamily="34" charset="-122"/>
                          <a:cs typeface="Calibri" pitchFamily="34" charset="-120"/>
                        </a:rPr>
                        <a:t>ولیدیتور Active — رأی مجمع + تأخیر ۷روزه</a:t>
                      </a:r>
                      <a:endParaRPr lang="en-US" sz="13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1165860">
                <a:tc>
                  <a:txBody>
                    <a:bodyPr/>
                    <a:lstStyle/>
                    <a:p>
                      <a:pPr algn="r" indent="0" marL="0">
                        <a:buNone/>
                      </a:pPr>
                      <a:r>
                        <a:rPr lang="en-US" sz="1300" dirty="0">
                          <a:solidFill>
                            <a:srgbClr val="1B1B1B"/>
                          </a:solidFill>
                          <a:latin typeface="Courier New" pitchFamily="34" charset="0"/>
                          <a:ea typeface="Courier New" pitchFamily="34" charset="-122"/>
                          <a:cs typeface="Courier New" pitchFamily="34" charset="-120"/>
                        </a:rPr>
                        <a:t>voteCapChange / applyPendingCapChange</a:t>
                      </a:r>
                      <a:endParaRPr lang="en-US" sz="13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300" dirty="0">
                          <a:solidFill>
                            <a:srgbClr val="1B1B1B"/>
                          </a:solidFill>
                          <a:latin typeface="Calibri" pitchFamily="34" charset="0"/>
                          <a:ea typeface="Calibri" pitchFamily="34" charset="-122"/>
                          <a:cs typeface="Calibri" pitchFamily="34" charset="-120"/>
                        </a:rPr>
                        <a:t>رأی مجمع؛ اعمال فقط بعد از ۷ روز</a:t>
                      </a:r>
                      <a:endParaRPr lang="en-US" sz="13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r h="1165860">
                <a:tc>
                  <a:txBody>
                    <a:bodyPr/>
                    <a:lstStyle/>
                    <a:p>
                      <a:pPr algn="r" indent="0" marL="0">
                        <a:buNone/>
                      </a:pPr>
                      <a:r>
                        <a:rPr lang="en-US" sz="1300" dirty="0">
                          <a:solidFill>
                            <a:srgbClr val="1B1B1B"/>
                          </a:solidFill>
                          <a:latin typeface="Courier New" pitchFamily="34" charset="0"/>
                          <a:ea typeface="Courier New" pitchFamily="34" charset="-122"/>
                          <a:cs typeface="Courier New" pitchFamily="34" charset="-120"/>
                        </a:rPr>
                        <a:t>boardApproveExpenditure</a:t>
                      </a:r>
                      <a:endParaRPr lang="en-US" sz="13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300" dirty="0">
                          <a:solidFill>
                            <a:srgbClr val="1B1B1B"/>
                          </a:solidFill>
                          <a:latin typeface="Calibri" pitchFamily="34" charset="0"/>
                          <a:ea typeface="Calibri" pitchFamily="34" charset="-122"/>
                          <a:cs typeface="Calibri" pitchFamily="34" charset="-120"/>
                        </a:rPr>
                        <a:t>فقط ValidatorsBoard — هر پرداخت ≤ ۵۰٬۰۰۰ و مجموع ۳۰روزه ≤ ۲۰۰٬۰۰۰ سورن</a:t>
                      </a:r>
                      <a:endParaRPr lang="en-US" sz="13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bl>
          </a:graphicData>
        </a:graphic>
      </p:graphicFrame>
      <p:sp>
        <p:nvSpPr>
          <p:cNvPr id="5" name="Shape 2"/>
          <p:cNvSpPr/>
          <p:nvPr/>
        </p:nvSpPr>
        <p:spPr>
          <a:xfrm>
            <a:off x="429768" y="6446520"/>
            <a:ext cx="310896" cy="310896"/>
          </a:xfrm>
          <a:prstGeom prst="ellipse">
            <a:avLst/>
          </a:prstGeom>
          <a:solidFill>
            <a:srgbClr val="FFFFFF"/>
          </a:solidFill>
          <a:ln/>
        </p:spPr>
        <p:txBody>
          <a:bodyPr/>
          <a:p/>
        </p:txBody>
      </p:sp>
      <p:pic>
        <p:nvPicPr>
          <p:cNvPr id="6" name="Image 0" descr="/home/claude/deck2/assets/logo.png">    </p:cNvPr>
          <p:cNvPicPr>
            <a:picLocks noChangeAspect="1"/>
          </p:cNvPicPr>
          <p:nvPr/>
        </p:nvPicPr>
        <p:blipFill>
          <a:blip r:embed="rId1"/>
          <a:stretch>
            <a:fillRect/>
          </a:stretch>
        </p:blipFill>
        <p:spPr>
          <a:xfrm>
            <a:off x="457200" y="6473952"/>
            <a:ext cx="256032" cy="256032"/>
          </a:xfrm>
          <a:prstGeom prst="rect">
            <a:avLst/>
          </a:prstGeom>
        </p:spPr>
      </p:pic>
      <p:sp>
        <p:nvSpPr>
          <p:cNvPr id="7" name="Text 3"/>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8" name="Text 4"/>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BlockRewardDistributor.sol — 0x2222</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مکانیزم دریافت و توزیع</a:t>
            </a:r>
            <a:endParaRPr lang="en-US" sz="2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663440"/>
        </p:xfrm>
        <a:graphic>
          <a:graphicData uri="http://schemas.openxmlformats.org/drawingml/2006/table">
            <a:tbl>
              <a:tblPr/>
              <a:tblGrid>
                <a:gridCol w="5532120"/>
                <a:gridCol w="5532120"/>
              </a:tblGrid>
              <a:tr h="932688">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جنبه</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توضیح فنی</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r>
              <a:tr h="932688">
                <a:tc>
                  <a:txBody>
                    <a:bodyPr/>
                    <a:lstStyle/>
                    <a:p>
                      <a:pPr algn="r" indent="0" marL="0">
                        <a:buNone/>
                      </a:pPr>
                      <a:r>
                        <a:rPr lang="en-US" sz="1200" dirty="0">
                          <a:solidFill>
                            <a:srgbClr val="1B1B1B"/>
                          </a:solidFill>
                          <a:latin typeface="Courier New" pitchFamily="34" charset="0"/>
                          <a:ea typeface="Courier New" pitchFamily="34" charset="-122"/>
                          <a:cs typeface="Courier New" pitchFamily="34" charset="-120"/>
                        </a:rPr>
                        <a:t>دریافت ریوارد/فی</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200" dirty="0">
                          <a:solidFill>
                            <a:srgbClr val="1B1B1B"/>
                          </a:solidFill>
                          <a:latin typeface="Calibri" pitchFamily="34" charset="0"/>
                          <a:ea typeface="Calibri" pitchFamily="34" charset="-122"/>
                          <a:cs typeface="Calibri" pitchFamily="34" charset="-120"/>
                        </a:rPr>
                        <a:t>اعتبار مستقیم state-trie (miningbeneficiary) — بدون فراخوانی، بدون event</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932688">
                <a:tc>
                  <a:txBody>
                    <a:bodyPr/>
                    <a:lstStyle/>
                    <a:p>
                      <a:pPr algn="r" indent="0" marL="0">
                        <a:buNone/>
                      </a:pPr>
                      <a:r>
                        <a:rPr lang="en-US" sz="1200" dirty="0">
                          <a:solidFill>
                            <a:srgbClr val="1B1B1B"/>
                          </a:solidFill>
                          <a:latin typeface="Courier New" pitchFamily="34" charset="0"/>
                          <a:ea typeface="Courier New" pitchFamily="34" charset="-122"/>
                          <a:cs typeface="Courier New" pitchFamily="34" charset="-120"/>
                        </a:rPr>
                        <a:t>distributeRewards(range{from,to}, validators[], blocksMined[], totalRewards, totalFees)</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200" dirty="0">
                          <a:solidFill>
                            <a:srgbClr val="1B1B1B"/>
                          </a:solidFill>
                          <a:latin typeface="Calibri" pitchFamily="34" charset="0"/>
                          <a:ea typeface="Calibri" pitchFamily="34" charset="-122"/>
                          <a:cs typeface="Calibri" pitchFamily="34" charset="-120"/>
                        </a:rPr>
                        <a:t>فقط distributionOracle، هر epoch (~۲۳ ساعت)؛ بازه دقیقاً بعد از lastSettledBlock؛ هر گیرنده everActivated؛ استحقاق تاریخی (N−1) با اوراکل — مرز اعتماد</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r h="932688">
                <a:tc>
                  <a:txBody>
                    <a:bodyPr/>
                    <a:lstStyle/>
                    <a:p>
                      <a:pPr algn="r" indent="0" marL="0">
                        <a:buNone/>
                      </a:pPr>
                      <a:r>
                        <a:rPr lang="en-US" sz="1200" dirty="0">
                          <a:solidFill>
                            <a:srgbClr val="1B1B1B"/>
                          </a:solidFill>
                          <a:latin typeface="Courier New" pitchFamily="34" charset="0"/>
                          <a:ea typeface="Courier New" pitchFamily="34" charset="-122"/>
                          <a:cs typeface="Courier New" pitchFamily="34" charset="-120"/>
                        </a:rPr>
                        <a:t>تقسیم</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200" dirty="0">
                          <a:solidFill>
                            <a:srgbClr val="1B1B1B"/>
                          </a:solidFill>
                          <a:latin typeface="Calibri" pitchFamily="34" charset="0"/>
                          <a:ea typeface="Calibri" pitchFamily="34" charset="-122"/>
                          <a:cs typeface="Calibri" pitchFamily="34" charset="-120"/>
                        </a:rPr>
                        <a:t>۱۵٪ کل ریوارد → FoundationDAO (ثابت)؛ ۵۰٪ پیش‌فرض کل ریوارد (حکمرانی‌شونده ۴۰-۶۵٪) → مستقیم ولیدیتورها؛ باقی‌مانده → ValidatorsTreasury؛ از فی معمولی ۳۰٪ سوزانده، ۷۰٪+۱۰۰٪ کارمزد عضویت → ولیدیتورها به نسبت بلاک</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932688">
                <a:tc>
                  <a:txBody>
                    <a:bodyPr/>
                    <a:lstStyle/>
                    <a:p>
                      <a:pPr algn="r" indent="0" marL="0">
                        <a:buNone/>
                      </a:pPr>
                      <a:r>
                        <a:rPr lang="en-US" sz="1200" dirty="0">
                          <a:solidFill>
                            <a:srgbClr val="1B1B1B"/>
                          </a:solidFill>
                          <a:latin typeface="Courier New" pitchFamily="34" charset="0"/>
                          <a:ea typeface="Courier New" pitchFamily="34" charset="-122"/>
                          <a:cs typeface="Courier New" pitchFamily="34" charset="-120"/>
                        </a:rPr>
                        <a:t>setDistributionOracle</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200" dirty="0">
                          <a:solidFill>
                            <a:srgbClr val="1B1B1B"/>
                          </a:solidFill>
                          <a:latin typeface="Calibri" pitchFamily="34" charset="0"/>
                          <a:ea typeface="Calibri" pitchFamily="34" charset="-122"/>
                          <a:cs typeface="Calibri" pitchFamily="34" charset="-120"/>
                        </a:rPr>
                        <a:t>فقط ValidatorsBoard</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bl>
          </a:graphicData>
        </a:graphic>
      </p:graphicFrame>
      <p:sp>
        <p:nvSpPr>
          <p:cNvPr id="5" name="Shape 2"/>
          <p:cNvSpPr/>
          <p:nvPr/>
        </p:nvSpPr>
        <p:spPr>
          <a:xfrm>
            <a:off x="429768" y="6446520"/>
            <a:ext cx="310896" cy="310896"/>
          </a:xfrm>
          <a:prstGeom prst="ellipse">
            <a:avLst/>
          </a:prstGeom>
          <a:solidFill>
            <a:srgbClr val="FFFFFF"/>
          </a:solidFill>
          <a:ln/>
        </p:spPr>
        <p:txBody>
          <a:bodyPr/>
          <a:p/>
        </p:txBody>
      </p:sp>
      <p:pic>
        <p:nvPicPr>
          <p:cNvPr id="6" name="Image 0" descr="/home/claude/deck2/assets/logo.png">    </p:cNvPr>
          <p:cNvPicPr>
            <a:picLocks noChangeAspect="1"/>
          </p:cNvPicPr>
          <p:nvPr/>
        </p:nvPicPr>
        <p:blipFill>
          <a:blip r:embed="rId1"/>
          <a:stretch>
            <a:fillRect/>
          </a:stretch>
        </p:blipFill>
        <p:spPr>
          <a:xfrm>
            <a:off x="457200" y="6473952"/>
            <a:ext cx="256032" cy="256032"/>
          </a:xfrm>
          <a:prstGeom prst="rect">
            <a:avLst/>
          </a:prstGeom>
        </p:spPr>
      </p:pic>
      <p:sp>
        <p:nvSpPr>
          <p:cNvPr id="7" name="Text 3"/>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8" name="Text 4"/>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IdentityRegistry.sol — 0x6666</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توابع کامل</a:t>
            </a:r>
            <a:endParaRPr lang="en-US" sz="2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663440"/>
        </p:xfrm>
        <a:graphic>
          <a:graphicData uri="http://schemas.openxmlformats.org/drawingml/2006/table">
            <a:tbl>
              <a:tblPr/>
              <a:tblGrid>
                <a:gridCol w="5532120"/>
                <a:gridCol w="5532120"/>
              </a:tblGrid>
              <a:tr h="666206">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تابع</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چه کسی</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r>
              <a:tr h="666206">
                <a:tc>
                  <a:txBody>
                    <a:bodyPr/>
                    <a:lstStyle/>
                    <a:p>
                      <a:pPr algn="r" indent="0" marL="0">
                        <a:buNone/>
                      </a:pPr>
                      <a:r>
                        <a:rPr lang="en-US" sz="1200" dirty="0">
                          <a:solidFill>
                            <a:srgbClr val="1B1B1B"/>
                          </a:solidFill>
                          <a:latin typeface="Courier New" pitchFamily="34" charset="0"/>
                          <a:ea typeface="Courier New" pitchFamily="34" charset="-122"/>
                          <a:cs typeface="Courier New" pitchFamily="34" charset="-120"/>
                        </a:rPr>
                        <a:t>registerIdentity(personType, name)</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200" dirty="0">
                          <a:solidFill>
                            <a:srgbClr val="1B1B1B"/>
                          </a:solidFill>
                          <a:latin typeface="Calibri" pitchFamily="34" charset="0"/>
                          <a:ea typeface="Calibri" pitchFamily="34" charset="-122"/>
                          <a:cs typeface="Calibri" pitchFamily="34" charset="-120"/>
                        </a:rPr>
                        <a:t>هرکسی — خوداظهاری</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666206">
                <a:tc>
                  <a:txBody>
                    <a:bodyPr/>
                    <a:lstStyle/>
                    <a:p>
                      <a:pPr algn="r" indent="0" marL="0">
                        <a:buNone/>
                      </a:pPr>
                      <a:r>
                        <a:rPr lang="en-US" sz="1200" dirty="0">
                          <a:solidFill>
                            <a:srgbClr val="1B1B1B"/>
                          </a:solidFill>
                          <a:latin typeface="Courier New" pitchFamily="34" charset="0"/>
                          <a:ea typeface="Courier New" pitchFamily="34" charset="-122"/>
                          <a:cs typeface="Courier New" pitchFamily="34" charset="-120"/>
                        </a:rPr>
                        <a:t>hasIdentity(addr) / getVerificationStatus(addr)</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200" dirty="0">
                          <a:solidFill>
                            <a:srgbClr val="1B1B1B"/>
                          </a:solidFill>
                          <a:latin typeface="Calibri" pitchFamily="34" charset="0"/>
                          <a:ea typeface="Calibri" pitchFamily="34" charset="-122"/>
                          <a:cs typeface="Calibri" pitchFamily="34" charset="-120"/>
                        </a:rPr>
                        <a:t>view — هرکسی</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r h="666206">
                <a:tc>
                  <a:txBody>
                    <a:bodyPr/>
                    <a:lstStyle/>
                    <a:p>
                      <a:pPr algn="r" indent="0" marL="0">
                        <a:buNone/>
                      </a:pPr>
                      <a:r>
                        <a:rPr lang="en-US" sz="1200" dirty="0">
                          <a:solidFill>
                            <a:srgbClr val="1B1B1B"/>
                          </a:solidFill>
                          <a:latin typeface="Courier New" pitchFamily="34" charset="0"/>
                          <a:ea typeface="Courier New" pitchFamily="34" charset="-122"/>
                          <a:cs typeface="Courier New" pitchFamily="34" charset="-120"/>
                        </a:rPr>
                        <a:t>setPhoneVerified / setTelegramVerified</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200" dirty="0">
                          <a:solidFill>
                            <a:srgbClr val="1B1B1B"/>
                          </a:solidFill>
                          <a:latin typeface="Calibri" pitchFamily="34" charset="0"/>
                          <a:ea typeface="Calibri" pitchFamily="34" charset="-122"/>
                          <a:cs typeface="Calibri" pitchFamily="34" charset="-120"/>
                        </a:rPr>
                        <a:t>فقط identityOracle</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666206">
                <a:tc>
                  <a:txBody>
                    <a:bodyPr/>
                    <a:lstStyle/>
                    <a:p>
                      <a:pPr algn="r" indent="0" marL="0">
                        <a:buNone/>
                      </a:pPr>
                      <a:r>
                        <a:rPr lang="en-US" sz="1200" dirty="0">
                          <a:solidFill>
                            <a:srgbClr val="1B1B1B"/>
                          </a:solidFill>
                          <a:latin typeface="Courier New" pitchFamily="34" charset="0"/>
                          <a:ea typeface="Courier New" pitchFamily="34" charset="-122"/>
                          <a:cs typeface="Courier New" pitchFamily="34" charset="-120"/>
                        </a:rPr>
                        <a:t>setKycVerified(addr, bool, commitment)</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200" dirty="0">
                          <a:solidFill>
                            <a:srgbClr val="1B1B1B"/>
                          </a:solidFill>
                          <a:latin typeface="Calibri" pitchFamily="34" charset="0"/>
                          <a:ea typeface="Calibri" pitchFamily="34" charset="-122"/>
                          <a:cs typeface="Calibri" pitchFamily="34" charset="-120"/>
                        </a:rPr>
                        <a:t>فقط identityOracle</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r h="666206">
                <a:tc>
                  <a:txBody>
                    <a:bodyPr/>
                    <a:lstStyle/>
                    <a:p>
                      <a:pPr algn="r" indent="0" marL="0">
                        <a:buNone/>
                      </a:pPr>
                      <a:r>
                        <a:rPr lang="en-US" sz="1200" dirty="0">
                          <a:solidFill>
                            <a:srgbClr val="1B1B1B"/>
                          </a:solidFill>
                          <a:latin typeface="Courier New" pitchFamily="34" charset="0"/>
                          <a:ea typeface="Courier New" pitchFamily="34" charset="-122"/>
                          <a:cs typeface="Courier New" pitchFamily="34" charset="-120"/>
                        </a:rPr>
                        <a:t>migrateIdentity(oldAddr, newAddr)</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200" dirty="0">
                          <a:solidFill>
                            <a:srgbClr val="1B1B1B"/>
                          </a:solidFill>
                          <a:latin typeface="Calibri" pitchFamily="34" charset="0"/>
                          <a:ea typeface="Calibri" pitchFamily="34" charset="-122"/>
                          <a:cs typeface="Calibri" pitchFamily="34" charset="-120"/>
                        </a:rPr>
                        <a:t>فقط identityOracle — بازیابی بعد از گم‌شدن کلید</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666206">
                <a:tc>
                  <a:txBody>
                    <a:bodyPr/>
                    <a:lstStyle/>
                    <a:p>
                      <a:pPr algn="r" indent="0" marL="0">
                        <a:buNone/>
                      </a:pPr>
                      <a:r>
                        <a:rPr lang="en-US" sz="1200" dirty="0">
                          <a:solidFill>
                            <a:srgbClr val="1B1B1B"/>
                          </a:solidFill>
                          <a:latin typeface="Courier New" pitchFamily="34" charset="0"/>
                          <a:ea typeface="Courier New" pitchFamily="34" charset="-122"/>
                          <a:cs typeface="Courier New" pitchFamily="34" charset="-120"/>
                        </a:rPr>
                        <a:t>setIdentityOracle(addr)</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200" dirty="0">
                          <a:solidFill>
                            <a:srgbClr val="1B1B1B"/>
                          </a:solidFill>
                          <a:latin typeface="Calibri" pitchFamily="34" charset="0"/>
                          <a:ea typeface="Calibri" pitchFamily="34" charset="-122"/>
                          <a:cs typeface="Calibri" pitchFamily="34" charset="-120"/>
                        </a:rPr>
                        <a:t>فقط FoundationDAO (از طریق proposeExecute)</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bl>
          </a:graphicData>
        </a:graphic>
      </p:graphicFrame>
      <p:sp>
        <p:nvSpPr>
          <p:cNvPr id="5" name="Shape 2"/>
          <p:cNvSpPr/>
          <p:nvPr/>
        </p:nvSpPr>
        <p:spPr>
          <a:xfrm>
            <a:off x="429768" y="6446520"/>
            <a:ext cx="310896" cy="310896"/>
          </a:xfrm>
          <a:prstGeom prst="ellipse">
            <a:avLst/>
          </a:prstGeom>
          <a:solidFill>
            <a:srgbClr val="FFFFFF"/>
          </a:solidFill>
          <a:ln/>
        </p:spPr>
        <p:txBody>
          <a:bodyPr/>
          <a:p/>
        </p:txBody>
      </p:sp>
      <p:pic>
        <p:nvPicPr>
          <p:cNvPr id="6" name="Image 0" descr="/home/claude/deck2/assets/logo.png">    </p:cNvPr>
          <p:cNvPicPr>
            <a:picLocks noChangeAspect="1"/>
          </p:cNvPicPr>
          <p:nvPr/>
        </p:nvPicPr>
        <p:blipFill>
          <a:blip r:embed="rId1"/>
          <a:stretch>
            <a:fillRect/>
          </a:stretch>
        </p:blipFill>
        <p:spPr>
          <a:xfrm>
            <a:off x="457200" y="6473952"/>
            <a:ext cx="256032" cy="256032"/>
          </a:xfrm>
          <a:prstGeom prst="rect">
            <a:avLst/>
          </a:prstGeom>
        </p:spPr>
      </p:pic>
      <p:sp>
        <p:nvSpPr>
          <p:cNvPr id="7" name="Text 3"/>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8" name="Text 4"/>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IdentityRegistry — معماری سه‌لایه</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ششمین قرارداد ساختاری</a:t>
            </a:r>
            <a:endParaRPr lang="en-US" sz="2400" dirty="0"/>
          </a:p>
        </p:txBody>
      </p:sp>
      <p:sp>
        <p:nvSpPr>
          <p:cNvPr id="4" name="Shape 2"/>
          <p:cNvSpPr/>
          <p:nvPr/>
        </p:nvSpPr>
        <p:spPr>
          <a:xfrm>
            <a:off x="9966960" y="2005584"/>
            <a:ext cx="621792" cy="621792"/>
          </a:xfrm>
          <a:prstGeom prst="ellipse">
            <a:avLst/>
          </a:prstGeom>
          <a:solidFill>
            <a:srgbClr val="263238"/>
          </a:solidFill>
          <a:ln/>
        </p:spPr>
        <p:txBody>
          <a:bodyPr/>
          <a:p/>
        </p:txBody>
      </p:sp>
      <p:pic>
        <p:nvPicPr>
          <p:cNvPr id="5" name="Image 0" descr="/home/claude/deck2/icons/fingerprint.png">    </p:cNvPr>
          <p:cNvPicPr>
            <a:picLocks noChangeAspect="1"/>
          </p:cNvPicPr>
          <p:nvPr/>
        </p:nvPicPr>
        <p:blipFill>
          <a:blip r:embed="rId1"/>
          <a:stretch>
            <a:fillRect/>
          </a:stretch>
        </p:blipFill>
        <p:spPr>
          <a:xfrm>
            <a:off x="10128626" y="2167250"/>
            <a:ext cx="298460" cy="298460"/>
          </a:xfrm>
          <a:prstGeom prst="rect">
            <a:avLst/>
          </a:prstGeom>
        </p:spPr>
      </p:pic>
      <p:sp>
        <p:nvSpPr>
          <p:cNvPr id="6" name="Text 3"/>
          <p:cNvSpPr txBox="1"/>
          <p:nvPr/>
        </p:nvSpPr>
        <p:spPr>
          <a:xfrm>
            <a:off x="548640" y="150876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لایه ۱و۲: خوداظهاری + وریفای موبایل/تلگرام</a:t>
            </a:r>
            <a:endParaRPr lang="en-US" sz="1500" dirty="0"/>
          </a:p>
        </p:txBody>
      </p:sp>
      <p:sp>
        <p:nvSpPr>
          <p:cNvPr id="7" name="Text 4"/>
          <p:cNvSpPr txBox="1"/>
          <p:nvPr/>
        </p:nvSpPr>
        <p:spPr>
          <a:xfrm>
            <a:off x="548640" y="1856232"/>
            <a:ext cx="9144000" cy="123139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منتقل‌شده از ValidatorsRegistry، بدون تغییر منطقی.</a:t>
            </a:r>
            <a:endParaRPr lang="en-US" sz="1180" dirty="0"/>
          </a:p>
        </p:txBody>
      </p:sp>
      <p:sp>
        <p:nvSpPr>
          <p:cNvPr id="8" name="Shape 5"/>
          <p:cNvSpPr/>
          <p:nvPr/>
        </p:nvSpPr>
        <p:spPr>
          <a:xfrm>
            <a:off x="548640" y="3069336"/>
            <a:ext cx="10881360" cy="0"/>
          </a:xfrm>
          <a:prstGeom prst="line">
            <a:avLst/>
          </a:prstGeom>
          <a:noFill/>
          <a:ln w="12700">
            <a:solidFill>
              <a:srgbClr val="E0E6E7"/>
            </a:solidFill>
            <a:prstDash val="solid"/>
          </a:ln>
        </p:spPr>
        <p:txBody>
          <a:bodyPr/>
          <a:p/>
        </p:txBody>
      </p:sp>
      <p:sp>
        <p:nvSpPr>
          <p:cNvPr id="9" name="Shape 6"/>
          <p:cNvSpPr/>
          <p:nvPr/>
        </p:nvSpPr>
        <p:spPr>
          <a:xfrm>
            <a:off x="9966960" y="3621024"/>
            <a:ext cx="621792" cy="621792"/>
          </a:xfrm>
          <a:prstGeom prst="ellipse">
            <a:avLst/>
          </a:prstGeom>
          <a:solidFill>
            <a:srgbClr val="00BFA5"/>
          </a:solidFill>
          <a:ln/>
        </p:spPr>
        <p:txBody>
          <a:bodyPr/>
          <a:p/>
        </p:txBody>
      </p:sp>
      <p:pic>
        <p:nvPicPr>
          <p:cNvPr id="10" name="Image 1" descr="/home/claude/deck2/icons/shield.png">    </p:cNvPr>
          <p:cNvPicPr>
            <a:picLocks noChangeAspect="1"/>
          </p:cNvPicPr>
          <p:nvPr/>
        </p:nvPicPr>
        <p:blipFill>
          <a:blip r:embed="rId2"/>
          <a:stretch>
            <a:fillRect/>
          </a:stretch>
        </p:blipFill>
        <p:spPr>
          <a:xfrm>
            <a:off x="10128626" y="3782690"/>
            <a:ext cx="298460" cy="298460"/>
          </a:xfrm>
          <a:prstGeom prst="rect">
            <a:avLst/>
          </a:prstGeom>
        </p:spPr>
      </p:pic>
      <p:sp>
        <p:nvSpPr>
          <p:cNvPr id="11" name="Text 7"/>
          <p:cNvSpPr txBox="1"/>
          <p:nvPr/>
        </p:nvSpPr>
        <p:spPr>
          <a:xfrm>
            <a:off x="548640" y="312420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لایه ۳: kycVerified + kycCommitment (اختیاری)</a:t>
            </a:r>
            <a:endParaRPr lang="en-US" sz="1500" dirty="0"/>
          </a:p>
        </p:txBody>
      </p:sp>
      <p:sp>
        <p:nvSpPr>
          <p:cNvPr id="12" name="Text 8"/>
          <p:cNvSpPr txBox="1"/>
          <p:nvPr/>
        </p:nvSpPr>
        <p:spPr>
          <a:xfrm>
            <a:off x="548640" y="3471672"/>
            <a:ext cx="9144000" cy="123139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commitment فقط هش نمکین برای اثبات عدم‌دستکاری — هرگز برای matching استفاده نمی‌شود.</a:t>
            </a:r>
            <a:endParaRPr lang="en-US" sz="1180" dirty="0"/>
          </a:p>
        </p:txBody>
      </p:sp>
      <p:sp>
        <p:nvSpPr>
          <p:cNvPr id="13" name="Shape 9"/>
          <p:cNvSpPr/>
          <p:nvPr/>
        </p:nvSpPr>
        <p:spPr>
          <a:xfrm>
            <a:off x="548640" y="4684776"/>
            <a:ext cx="10881360" cy="0"/>
          </a:xfrm>
          <a:prstGeom prst="line">
            <a:avLst/>
          </a:prstGeom>
          <a:noFill/>
          <a:ln w="12700">
            <a:solidFill>
              <a:srgbClr val="E0E6E7"/>
            </a:solidFill>
            <a:prstDash val="solid"/>
          </a:ln>
        </p:spPr>
        <p:txBody>
          <a:bodyPr/>
          <a:p/>
        </p:txBody>
      </p:sp>
      <p:sp>
        <p:nvSpPr>
          <p:cNvPr id="14" name="Shape 10"/>
          <p:cNvSpPr/>
          <p:nvPr/>
        </p:nvSpPr>
        <p:spPr>
          <a:xfrm>
            <a:off x="9966960" y="5236464"/>
            <a:ext cx="621792" cy="621792"/>
          </a:xfrm>
          <a:prstGeom prst="ellipse">
            <a:avLst/>
          </a:prstGeom>
          <a:solidFill>
            <a:srgbClr val="B71C1C"/>
          </a:solidFill>
          <a:ln/>
        </p:spPr>
        <p:txBody>
          <a:bodyPr/>
          <a:p/>
        </p:txBody>
      </p:sp>
      <p:pic>
        <p:nvPicPr>
          <p:cNvPr id="15" name="Image 2" descr="/home/claude/deck2/icons/warning.png">    </p:cNvPr>
          <p:cNvPicPr>
            <a:picLocks noChangeAspect="1"/>
          </p:cNvPicPr>
          <p:nvPr/>
        </p:nvPicPr>
        <p:blipFill>
          <a:blip r:embed="rId3"/>
          <a:stretch>
            <a:fillRect/>
          </a:stretch>
        </p:blipFill>
        <p:spPr>
          <a:xfrm>
            <a:off x="10128626" y="5398130"/>
            <a:ext cx="298460" cy="298460"/>
          </a:xfrm>
          <a:prstGeom prst="rect">
            <a:avLst/>
          </a:prstGeom>
        </p:spPr>
      </p:pic>
      <p:sp>
        <p:nvSpPr>
          <p:cNvPr id="16" name="Text 11"/>
          <p:cNvSpPr txBox="1"/>
          <p:nvPr/>
        </p:nvSpPr>
        <p:spPr>
          <a:xfrm>
            <a:off x="548640" y="473964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کوئری «تطبیق» همیشه API آف‌چین است، هرگز تراکنش</a:t>
            </a:r>
            <a:endParaRPr lang="en-US" sz="1500" dirty="0"/>
          </a:p>
        </p:txBody>
      </p:sp>
      <p:sp>
        <p:nvSpPr>
          <p:cNvPr id="17" name="Text 12"/>
          <p:cNvSpPr txBox="1"/>
          <p:nvPr/>
        </p:nvSpPr>
        <p:spPr>
          <a:xfrm>
            <a:off x="548640" y="5087112"/>
            <a:ext cx="9144000" cy="123139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چون پارامتر ورودی خودِ تراکنش هم در calldata عمومی زنجیره قابل‌مشاهده است.</a:t>
            </a:r>
            <a:endParaRPr lang="en-US" sz="1180" dirty="0"/>
          </a:p>
        </p:txBody>
      </p:sp>
      <p:sp>
        <p:nvSpPr>
          <p:cNvPr id="18" name="Shape 13"/>
          <p:cNvSpPr/>
          <p:nvPr/>
        </p:nvSpPr>
        <p:spPr>
          <a:xfrm>
            <a:off x="429768" y="6446520"/>
            <a:ext cx="310896" cy="310896"/>
          </a:xfrm>
          <a:prstGeom prst="ellipse">
            <a:avLst/>
          </a:prstGeom>
          <a:solidFill>
            <a:srgbClr val="FFFFFF"/>
          </a:solidFill>
          <a:ln/>
        </p:spPr>
        <p:txBody>
          <a:bodyPr/>
          <a:p/>
        </p:txBody>
      </p:sp>
      <p:pic>
        <p:nvPicPr>
          <p:cNvPr id="19" name="Image 3" descr="/home/claude/deck2/assets/logo.png">    </p:cNvPr>
          <p:cNvPicPr>
            <a:picLocks noChangeAspect="1"/>
          </p:cNvPicPr>
          <p:nvPr/>
        </p:nvPicPr>
        <p:blipFill>
          <a:blip r:embed="rId4"/>
          <a:stretch>
            <a:fillRect/>
          </a:stretch>
        </p:blipFill>
        <p:spPr>
          <a:xfrm>
            <a:off x="457200" y="6473952"/>
            <a:ext cx="256032" cy="256032"/>
          </a:xfrm>
          <a:prstGeom prst="rect">
            <a:avLst/>
          </a:prstGeom>
        </p:spPr>
      </p:pic>
      <p:sp>
        <p:nvSpPr>
          <p:cNvPr id="20" name="Text 14"/>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21" name="Text 15"/>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SurenSale.sol — قرارداد جدا (نه genesis)</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توابع کامل</a:t>
            </a:r>
            <a:endParaRPr lang="en-US" sz="2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663440"/>
        </p:xfrm>
        <a:graphic>
          <a:graphicData uri="http://schemas.openxmlformats.org/drawingml/2006/table">
            <a:tbl>
              <a:tblPr/>
              <a:tblGrid>
                <a:gridCol w="5532120"/>
                <a:gridCol w="5532120"/>
              </a:tblGrid>
              <a:tr h="777240">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تابع</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چه کسی</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r>
              <a:tr h="777240">
                <a:tc>
                  <a:txBody>
                    <a:bodyPr/>
                    <a:lstStyle/>
                    <a:p>
                      <a:pPr algn="r" indent="0" marL="0">
                        <a:buNone/>
                      </a:pPr>
                      <a:r>
                        <a:rPr lang="en-US" sz="1200" dirty="0">
                          <a:solidFill>
                            <a:srgbClr val="1B1B1B"/>
                          </a:solidFill>
                          <a:latin typeface="Courier New" pitchFamily="34" charset="0"/>
                          <a:ea typeface="Courier New" pitchFamily="34" charset="-122"/>
                          <a:cs typeface="Courier New" pitchFamily="34" charset="-120"/>
                        </a:rPr>
                        <a:t>receive()</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200" dirty="0">
                          <a:solidFill>
                            <a:srgbClr val="1B1B1B"/>
                          </a:solidFill>
                          <a:latin typeface="Calibri" pitchFamily="34" charset="0"/>
                          <a:ea typeface="Calibri" pitchFamily="34" charset="-122"/>
                          <a:cs typeface="Calibri" pitchFamily="34" charset="-120"/>
                        </a:rPr>
                        <a:t>هرکسی — تأمین مالی از FoundationDAO</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777240">
                <a:tc>
                  <a:txBody>
                    <a:bodyPr/>
                    <a:lstStyle/>
                    <a:p>
                      <a:pPr algn="r" indent="0" marL="0">
                        <a:buNone/>
                      </a:pPr>
                      <a:r>
                        <a:rPr lang="en-US" sz="1200" dirty="0">
                          <a:solidFill>
                            <a:srgbClr val="1B1B1B"/>
                          </a:solidFill>
                          <a:latin typeface="Courier New" pitchFamily="34" charset="0"/>
                          <a:ea typeface="Courier New" pitchFamily="34" charset="-122"/>
                          <a:cs typeface="Courier New" pitchFamily="34" charset="-120"/>
                        </a:rPr>
                        <a:t>currentPriceMilliToman() [settlement] / currentPriceToman() [display] / isSaleActive()</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200" dirty="0">
                          <a:solidFill>
                            <a:srgbClr val="1B1B1B"/>
                          </a:solidFill>
                          <a:latin typeface="Calibri" pitchFamily="34" charset="0"/>
                          <a:ea typeface="Calibri" pitchFamily="34" charset="-122"/>
                          <a:cs typeface="Calibri" pitchFamily="34" charset="-120"/>
                        </a:rPr>
                        <a:t>view — مستقل از هر گزارشی، از block.timestamp</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r h="777240">
                <a:tc>
                  <a:txBody>
                    <a:bodyPr/>
                    <a:lstStyle/>
                    <a:p>
                      <a:pPr algn="r" indent="0" marL="0">
                        <a:buNone/>
                      </a:pPr>
                      <a:r>
                        <a:rPr lang="en-US" sz="1200" dirty="0">
                          <a:solidFill>
                            <a:srgbClr val="1B1B1B"/>
                          </a:solidFill>
                          <a:latin typeface="Courier New" pitchFamily="34" charset="0"/>
                          <a:ea typeface="Courier New" pitchFamily="34" charset="-122"/>
                          <a:cs typeface="Courier New" pitchFamily="34" charset="-120"/>
                        </a:rPr>
                        <a:t>reportPayment(buyer, tomanAmount, ref)</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200" dirty="0">
                          <a:solidFill>
                            <a:srgbClr val="1B1B1B"/>
                          </a:solidFill>
                          <a:latin typeface="Calibri" pitchFamily="34" charset="0"/>
                          <a:ea typeface="Calibri" pitchFamily="34" charset="-122"/>
                          <a:cs typeface="Calibri" pitchFamily="34" charset="-120"/>
                        </a:rPr>
                        <a:t>فقط paymentOracle — تسویه با currentPriceMilliToman؛ چک processedPayments</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777240">
                <a:tc>
                  <a:txBody>
                    <a:bodyPr/>
                    <a:lstStyle/>
                    <a:p>
                      <a:pPr algn="r" indent="0" marL="0">
                        <a:buNone/>
                      </a:pPr>
                      <a:r>
                        <a:rPr lang="en-US" sz="1200" dirty="0">
                          <a:solidFill>
                            <a:srgbClr val="1B1B1B"/>
                          </a:solidFill>
                          <a:latin typeface="Courier New" pitchFamily="34" charset="0"/>
                          <a:ea typeface="Courier New" pitchFamily="34" charset="-122"/>
                          <a:cs typeface="Courier New" pitchFamily="34" charset="-120"/>
                        </a:rPr>
                        <a:t>setPaymentOracle(addr)</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200" dirty="0">
                          <a:solidFill>
                            <a:srgbClr val="1B1B1B"/>
                          </a:solidFill>
                          <a:latin typeface="Calibri" pitchFamily="34" charset="0"/>
                          <a:ea typeface="Calibri" pitchFamily="34" charset="-122"/>
                          <a:cs typeface="Calibri" pitchFamily="34" charset="-120"/>
                        </a:rPr>
                        <a:t>فقط FoundationDAO (از طریق proposeExecute)</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r h="777240">
                <a:tc>
                  <a:txBody>
                    <a:bodyPr/>
                    <a:lstStyle/>
                    <a:p>
                      <a:pPr algn="r" indent="0" marL="0">
                        <a:buNone/>
                      </a:pPr>
                      <a:r>
                        <a:rPr lang="en-US" sz="1200" dirty="0">
                          <a:solidFill>
                            <a:srgbClr val="1B1B1B"/>
                          </a:solidFill>
                          <a:latin typeface="Courier New" pitchFamily="34" charset="0"/>
                          <a:ea typeface="Courier New" pitchFamily="34" charset="-122"/>
                          <a:cs typeface="Courier New" pitchFamily="34" charset="-120"/>
                        </a:rPr>
                        <a:t>sweepUnsold(to)</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200" dirty="0">
                          <a:solidFill>
                            <a:srgbClr val="1B1B1B"/>
                          </a:solidFill>
                          <a:latin typeface="Calibri" pitchFamily="34" charset="0"/>
                          <a:ea typeface="Calibri" pitchFamily="34" charset="-122"/>
                          <a:cs typeface="Calibri" pitchFamily="34" charset="-120"/>
                        </a:rPr>
                        <a:t>فقط FoundationDAO — فقط بعد از پایان دوره‌ی فروش</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bl>
          </a:graphicData>
        </a:graphic>
      </p:graphicFrame>
      <p:sp>
        <p:nvSpPr>
          <p:cNvPr id="5" name="Shape 2"/>
          <p:cNvSpPr/>
          <p:nvPr/>
        </p:nvSpPr>
        <p:spPr>
          <a:xfrm>
            <a:off x="429768" y="6446520"/>
            <a:ext cx="310896" cy="310896"/>
          </a:xfrm>
          <a:prstGeom prst="ellipse">
            <a:avLst/>
          </a:prstGeom>
          <a:solidFill>
            <a:srgbClr val="FFFFFF"/>
          </a:solidFill>
          <a:ln/>
        </p:spPr>
        <p:txBody>
          <a:bodyPr/>
          <a:p/>
        </p:txBody>
      </p:sp>
      <p:pic>
        <p:nvPicPr>
          <p:cNvPr id="6" name="Image 0" descr="/home/claude/deck2/assets/logo.png">    </p:cNvPr>
          <p:cNvPicPr>
            <a:picLocks noChangeAspect="1"/>
          </p:cNvPicPr>
          <p:nvPr/>
        </p:nvPicPr>
        <p:blipFill>
          <a:blip r:embed="rId1"/>
          <a:stretch>
            <a:fillRect/>
          </a:stretch>
        </p:blipFill>
        <p:spPr>
          <a:xfrm>
            <a:off x="457200" y="6473952"/>
            <a:ext cx="256032" cy="256032"/>
          </a:xfrm>
          <a:prstGeom prst="rect">
            <a:avLst/>
          </a:prstGeom>
        </p:spPr>
      </p:pic>
      <p:sp>
        <p:nvSpPr>
          <p:cNvPr id="7" name="Text 3"/>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8" name="Text 4"/>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63238"/>
        </a:solidFill>
      </p:bgPr>
    </p:bg>
    <p:spTree>
      <p:nvGrpSpPr>
        <p:cNvPr id="1" name=""/>
        <p:cNvGrpSpPr/>
        <p:nvPr/>
      </p:nvGrpSpPr>
      <p:grpSpPr>
        <a:xfrm>
          <a:off x="0" y="0"/>
          <a:ext cx="0" cy="0"/>
          <a:chOff x="0" y="0"/>
          <a:chExt cx="0" cy="0"/>
        </a:xfrm>
      </p:grpSpPr>
      <p:sp>
        <p:nvSpPr>
          <p:cNvPr id="2" name="Text 0"/>
          <p:cNvSpPr txBox="1"/>
          <p:nvPr/>
        </p:nvSpPr>
        <p:spPr>
          <a:xfrm>
            <a:off x="731520" y="2377440"/>
            <a:ext cx="2743200" cy="1828800"/>
          </a:xfrm>
          <a:prstGeom prst="rect">
            <a:avLst/>
          </a:prstGeom>
          <a:noFill/>
          <a:ln/>
        </p:spPr>
        <p:txBody>
          <a:bodyPr wrap="square" lIns="0" tIns="0" rIns="0" bIns="0" rtlCol="0" anchor="ctr"/>
          <a:lstStyle/>
          <a:p>
            <a:pPr rtl="1" algn="r" indent="0" marL="0">
              <a:buNone/>
            </a:pPr>
            <a:r>
              <a:rPr lang="en-US" sz="9200" b="1" dirty="0">
                <a:solidFill>
                  <a:srgbClr val="3C4A50"/>
                </a:solidFill>
                <a:latin typeface="Arial" pitchFamily="34" charset="0"/>
                <a:ea typeface="Arial" pitchFamily="34" charset="-122"/>
                <a:cs typeface="Arial" pitchFamily="34" charset="-120"/>
              </a:rPr>
              <a:t>3</a:t>
            </a:r>
            <a:endParaRPr lang="en-US" sz="9200" dirty="0"/>
          </a:p>
        </p:txBody>
      </p:sp>
      <p:sp>
        <p:nvSpPr>
          <p:cNvPr id="3" name="Shape 1"/>
          <p:cNvSpPr/>
          <p:nvPr/>
        </p:nvSpPr>
        <p:spPr>
          <a:xfrm>
            <a:off x="3520440" y="2880360"/>
            <a:ext cx="54864" cy="1097280"/>
          </a:xfrm>
          <a:prstGeom prst="rect">
            <a:avLst/>
          </a:prstGeom>
          <a:solidFill>
            <a:srgbClr val="00BFA5"/>
          </a:solidFill>
          <a:ln/>
        </p:spPr>
        <p:txBody>
          <a:bodyPr/>
          <a:p/>
        </p:txBody>
      </p:sp>
      <p:sp>
        <p:nvSpPr>
          <p:cNvPr id="4" name="Text 2"/>
          <p:cNvSpPr txBox="1"/>
          <p:nvPr/>
        </p:nvSpPr>
        <p:spPr>
          <a:xfrm>
            <a:off x="3749040" y="2834640"/>
            <a:ext cx="7680960" cy="1188720"/>
          </a:xfrm>
          <a:prstGeom prst="rect">
            <a:avLst/>
          </a:prstGeom>
          <a:noFill/>
          <a:ln/>
        </p:spPr>
        <p:txBody>
          <a:bodyPr wrap="square" lIns="0" tIns="0" rIns="0" bIns="0" rtlCol="0" anchor="ctr"/>
          <a:lstStyle/>
          <a:p>
            <a:pPr rtl="1" algn="r" indent="0" marL="0">
              <a:buNone/>
            </a:pPr>
            <a:r>
              <a:rPr lang="en-US" sz="3000" b="1" dirty="0">
                <a:solidFill>
                  <a:srgbClr val="FFFFFF"/>
                </a:solidFill>
                <a:latin typeface="Cambria" pitchFamily="34" charset="0"/>
                <a:ea typeface="Cambria" pitchFamily="34" charset="-122"/>
                <a:cs typeface="Cambria" pitchFamily="34" charset="-120"/>
              </a:rPr>
              <a:t>همه‌ی اوراکل‌ها و کلیدگردانی</a:t>
            </a:r>
            <a:endParaRPr lang="en-US" sz="3000" dirty="0"/>
          </a:p>
        </p:txBody>
      </p:sp>
      <p:sp>
        <p:nvSpPr>
          <p:cNvPr id="5" name="Shape 3"/>
          <p:cNvSpPr/>
          <p:nvPr/>
        </p:nvSpPr>
        <p:spPr>
          <a:xfrm>
            <a:off x="429768" y="6446520"/>
            <a:ext cx="310896" cy="310896"/>
          </a:xfrm>
          <a:prstGeom prst="ellipse">
            <a:avLst/>
          </a:prstGeom>
          <a:solidFill>
            <a:srgbClr val="FFFFFF"/>
          </a:solidFill>
          <a:ln/>
        </p:spPr>
        <p:txBody>
          <a:bodyPr/>
          <a:p/>
        </p:txBody>
      </p:sp>
      <p:pic>
        <p:nvPicPr>
          <p:cNvPr id="6" name="Image 0" descr="/home/claude/deck2/assets/logo.png">    </p:cNvPr>
          <p:cNvPicPr>
            <a:picLocks noChangeAspect="1"/>
          </p:cNvPicPr>
          <p:nvPr/>
        </p:nvPicPr>
        <p:blipFill>
          <a:blip r:embed="rId1"/>
          <a:stretch>
            <a:fillRect/>
          </a:stretch>
        </p:blipFill>
        <p:spPr>
          <a:xfrm>
            <a:off x="457200" y="6473952"/>
            <a:ext cx="256032" cy="256032"/>
          </a:xfrm>
          <a:prstGeom prst="rect">
            <a:avLst/>
          </a:prstGeom>
        </p:spPr>
      </p:pic>
      <p:sp>
        <p:nvSpPr>
          <p:cNvPr id="7" name="Text 4"/>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8" name="Text 5"/>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چهار کلید عملیاتی مستقل</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نقش، قرارداد میزبان، و مسیر چرخش هرکدام</a:t>
            </a:r>
            <a:endParaRPr lang="en-US" sz="2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663440"/>
        </p:xfrm>
        <a:graphic>
          <a:graphicData uri="http://schemas.openxmlformats.org/drawingml/2006/table">
            <a:tbl>
              <a:tblPr/>
              <a:tblGrid>
                <a:gridCol w="2766060"/>
                <a:gridCol w="2766060"/>
                <a:gridCol w="2766060"/>
                <a:gridCol w="2766060"/>
              </a:tblGrid>
              <a:tr h="932688">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اوراکل</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قرارداد</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نقش</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چرخش توسط</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r>
              <a:tr h="932688">
                <a:tc>
                  <a:txBody>
                    <a:bodyPr/>
                    <a:lstStyle/>
                    <a:p>
                      <a:pPr algn="r" indent="0" marL="0">
                        <a:buNone/>
                      </a:pPr>
                      <a:r>
                        <a:rPr lang="en-US" sz="1150" dirty="0">
                          <a:solidFill>
                            <a:srgbClr val="1B1B1B"/>
                          </a:solidFill>
                          <a:latin typeface="Courier New" pitchFamily="34" charset="0"/>
                          <a:ea typeface="Courier New" pitchFamily="34" charset="-122"/>
                          <a:cs typeface="Courier New" pitchFamily="34" charset="-120"/>
                        </a:rPr>
                        <a:t>distributionOracle</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1B1B"/>
                          </a:solidFill>
                          <a:latin typeface="Calibri" pitchFamily="34" charset="0"/>
                          <a:ea typeface="Calibri" pitchFamily="34" charset="-122"/>
                          <a:cs typeface="Calibri" pitchFamily="34" charset="-120"/>
                        </a:rPr>
                        <a:t>BlockRewardDistributor</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150" dirty="0">
                          <a:solidFill>
                            <a:srgbClr val="1B1B1B"/>
                          </a:solidFill>
                          <a:latin typeface="Calibri" pitchFamily="34" charset="0"/>
                          <a:ea typeface="Calibri" pitchFamily="34" charset="-122"/>
                          <a:cs typeface="Calibri" pitchFamily="34" charset="-120"/>
                        </a:rPr>
                        <a:t>گزارش توزیع ریوارد/فی</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1B1B"/>
                          </a:solidFill>
                          <a:latin typeface="Calibri" pitchFamily="34" charset="0"/>
                          <a:ea typeface="Calibri" pitchFamily="34" charset="-122"/>
                          <a:cs typeface="Calibri" pitchFamily="34" charset="-120"/>
                        </a:rPr>
                        <a:t>ValidatorsBoard</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932688">
                <a:tc>
                  <a:txBody>
                    <a:bodyPr/>
                    <a:lstStyle/>
                    <a:p>
                      <a:pPr algn="r" indent="0" marL="0">
                        <a:buNone/>
                      </a:pPr>
                      <a:r>
                        <a:rPr lang="en-US" sz="1150" dirty="0">
                          <a:solidFill>
                            <a:srgbClr val="1B1B1B"/>
                          </a:solidFill>
                          <a:latin typeface="Courier New" pitchFamily="34" charset="0"/>
                          <a:ea typeface="Courier New" pitchFamily="34" charset="-122"/>
                          <a:cs typeface="Courier New" pitchFamily="34" charset="-120"/>
                        </a:rPr>
                        <a:t>verifier</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algn="ctr" indent="0" marL="0">
                        <a:buNone/>
                      </a:pPr>
                      <a:r>
                        <a:rPr lang="en-US" sz="1150" dirty="0">
                          <a:solidFill>
                            <a:srgbClr val="1B1B1B"/>
                          </a:solidFill>
                          <a:latin typeface="Calibri" pitchFamily="34" charset="0"/>
                          <a:ea typeface="Calibri" pitchFamily="34" charset="-122"/>
                          <a:cs typeface="Calibri" pitchFamily="34" charset="-120"/>
                        </a:rPr>
                        <a:t>ValidatorsRegistry</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150" dirty="0">
                          <a:solidFill>
                            <a:srgbClr val="1B1B1B"/>
                          </a:solidFill>
                          <a:latin typeface="Calibri" pitchFamily="34" charset="0"/>
                          <a:ea typeface="Calibri" pitchFamily="34" charset="-122"/>
                          <a:cs typeface="Calibri" pitchFamily="34" charset="-120"/>
                        </a:rPr>
                        <a:t>گزارش لایوینس ولیدیتور</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algn="ctr" indent="0" marL="0">
                        <a:buNone/>
                      </a:pPr>
                      <a:r>
                        <a:rPr lang="en-US" sz="1150" dirty="0">
                          <a:solidFill>
                            <a:srgbClr val="1B1B1B"/>
                          </a:solidFill>
                          <a:latin typeface="Calibri" pitchFamily="34" charset="0"/>
                          <a:ea typeface="Calibri" pitchFamily="34" charset="-122"/>
                          <a:cs typeface="Calibri" pitchFamily="34" charset="-120"/>
                        </a:rPr>
                        <a:t>ValidatorsBoard</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r h="932688">
                <a:tc>
                  <a:txBody>
                    <a:bodyPr/>
                    <a:lstStyle/>
                    <a:p>
                      <a:pPr algn="r" indent="0" marL="0">
                        <a:buNone/>
                      </a:pPr>
                      <a:r>
                        <a:rPr lang="en-US" sz="1150" dirty="0">
                          <a:solidFill>
                            <a:srgbClr val="1B1B1B"/>
                          </a:solidFill>
                          <a:latin typeface="Courier New" pitchFamily="34" charset="0"/>
                          <a:ea typeface="Courier New" pitchFamily="34" charset="-122"/>
                          <a:cs typeface="Courier New" pitchFamily="34" charset="-120"/>
                        </a:rPr>
                        <a:t>identityOracle</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1B1B"/>
                          </a:solidFill>
                          <a:latin typeface="Calibri" pitchFamily="34" charset="0"/>
                          <a:ea typeface="Calibri" pitchFamily="34" charset="-122"/>
                          <a:cs typeface="Calibri" pitchFamily="34" charset="-120"/>
                        </a:rPr>
                        <a:t>IdentityRegistry</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150" dirty="0">
                          <a:solidFill>
                            <a:srgbClr val="1B1B1B"/>
                          </a:solidFill>
                          <a:latin typeface="Calibri" pitchFamily="34" charset="0"/>
                          <a:ea typeface="Calibri" pitchFamily="34" charset="-122"/>
                          <a:cs typeface="Calibri" pitchFamily="34" charset="-120"/>
                        </a:rPr>
                        <a:t>وریفای موبایل/تلگرام/KYC</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1B1B"/>
                          </a:solidFill>
                          <a:latin typeface="Calibri" pitchFamily="34" charset="0"/>
                          <a:ea typeface="Calibri" pitchFamily="34" charset="-122"/>
                          <a:cs typeface="Calibri" pitchFamily="34" charset="-120"/>
                        </a:rPr>
                        <a:t>FoundationDAO</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932688">
                <a:tc>
                  <a:txBody>
                    <a:bodyPr/>
                    <a:lstStyle/>
                    <a:p>
                      <a:pPr algn="r" indent="0" marL="0">
                        <a:buNone/>
                      </a:pPr>
                      <a:r>
                        <a:rPr lang="en-US" sz="1150" dirty="0">
                          <a:solidFill>
                            <a:srgbClr val="1B1B1B"/>
                          </a:solidFill>
                          <a:latin typeface="Courier New" pitchFamily="34" charset="0"/>
                          <a:ea typeface="Courier New" pitchFamily="34" charset="-122"/>
                          <a:cs typeface="Courier New" pitchFamily="34" charset="-120"/>
                        </a:rPr>
                        <a:t>paymentOracle</a:t>
                      </a:r>
                      <a:endParaRPr lang="en-US" sz="115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algn="ctr" indent="0" marL="0">
                        <a:buNone/>
                      </a:pPr>
                      <a:r>
                        <a:rPr lang="en-US" sz="1150" dirty="0">
                          <a:solidFill>
                            <a:srgbClr val="1B1B1B"/>
                          </a:solidFill>
                          <a:latin typeface="Calibri" pitchFamily="34" charset="0"/>
                          <a:ea typeface="Calibri" pitchFamily="34" charset="-122"/>
                          <a:cs typeface="Calibri" pitchFamily="34" charset="-120"/>
                        </a:rPr>
                        <a:t>SurenSale</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150" dirty="0">
                          <a:solidFill>
                            <a:srgbClr val="1B1B1B"/>
                          </a:solidFill>
                          <a:latin typeface="Calibri" pitchFamily="34" charset="0"/>
                          <a:ea typeface="Calibri" pitchFamily="34" charset="-122"/>
                          <a:cs typeface="Calibri" pitchFamily="34" charset="-120"/>
                        </a:rPr>
                        <a:t>گزارش پرداخت تأییدشده</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algn="ctr" indent="0" marL="0">
                        <a:buNone/>
                      </a:pPr>
                      <a:r>
                        <a:rPr lang="en-US" sz="1150" dirty="0">
                          <a:solidFill>
                            <a:srgbClr val="1B1B1B"/>
                          </a:solidFill>
                          <a:latin typeface="Calibri" pitchFamily="34" charset="0"/>
                          <a:ea typeface="Calibri" pitchFamily="34" charset="-122"/>
                          <a:cs typeface="Calibri" pitchFamily="34" charset="-120"/>
                        </a:rPr>
                        <a:t>FoundationDAO</a:t>
                      </a:r>
                      <a:endParaRPr lang="en-US" sz="115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bl>
          </a:graphicData>
        </a:graphic>
      </p:graphicFrame>
      <p:sp>
        <p:nvSpPr>
          <p:cNvPr id="5" name="Shape 2"/>
          <p:cNvSpPr/>
          <p:nvPr/>
        </p:nvSpPr>
        <p:spPr>
          <a:xfrm>
            <a:off x="429768" y="6446520"/>
            <a:ext cx="310896" cy="310896"/>
          </a:xfrm>
          <a:prstGeom prst="ellipse">
            <a:avLst/>
          </a:prstGeom>
          <a:solidFill>
            <a:srgbClr val="FFFFFF"/>
          </a:solidFill>
          <a:ln/>
        </p:spPr>
        <p:txBody>
          <a:bodyPr/>
          <a:p/>
        </p:txBody>
      </p:sp>
      <p:pic>
        <p:nvPicPr>
          <p:cNvPr id="6" name="Image 0" descr="/home/claude/deck2/assets/logo.png">    </p:cNvPr>
          <p:cNvPicPr>
            <a:picLocks noChangeAspect="1"/>
          </p:cNvPicPr>
          <p:nvPr/>
        </p:nvPicPr>
        <p:blipFill>
          <a:blip r:embed="rId1"/>
          <a:stretch>
            <a:fillRect/>
          </a:stretch>
        </p:blipFill>
        <p:spPr>
          <a:xfrm>
            <a:off x="457200" y="6473952"/>
            <a:ext cx="256032" cy="256032"/>
          </a:xfrm>
          <a:prstGeom prst="rect">
            <a:avLst/>
          </a:prstGeom>
        </p:spPr>
      </p:pic>
      <p:sp>
        <p:nvSpPr>
          <p:cNvPr id="7" name="Text 3"/>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8" name="Text 4"/>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اصل طراحی کلیدها</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چرا این تفکیک عمدی است</a:t>
            </a:r>
            <a:endParaRPr lang="en-US" sz="2400" dirty="0"/>
          </a:p>
        </p:txBody>
      </p:sp>
      <p:sp>
        <p:nvSpPr>
          <p:cNvPr id="4" name="Shape 2"/>
          <p:cNvSpPr/>
          <p:nvPr/>
        </p:nvSpPr>
        <p:spPr>
          <a:xfrm>
            <a:off x="9966960" y="2005584"/>
            <a:ext cx="621792" cy="621792"/>
          </a:xfrm>
          <a:prstGeom prst="ellipse">
            <a:avLst/>
          </a:prstGeom>
          <a:solidFill>
            <a:srgbClr val="263238"/>
          </a:solidFill>
          <a:ln/>
        </p:spPr>
        <p:txBody>
          <a:bodyPr/>
          <a:p/>
        </p:txBody>
      </p:sp>
      <p:pic>
        <p:nvPicPr>
          <p:cNvPr id="5" name="Image 0" descr="/home/claude/deck2/icons/shield.png">    </p:cNvPr>
          <p:cNvPicPr>
            <a:picLocks noChangeAspect="1"/>
          </p:cNvPicPr>
          <p:nvPr/>
        </p:nvPicPr>
        <p:blipFill>
          <a:blip r:embed="rId1"/>
          <a:stretch>
            <a:fillRect/>
          </a:stretch>
        </p:blipFill>
        <p:spPr>
          <a:xfrm>
            <a:off x="10128626" y="2167250"/>
            <a:ext cx="298460" cy="298460"/>
          </a:xfrm>
          <a:prstGeom prst="rect">
            <a:avLst/>
          </a:prstGeom>
        </p:spPr>
      </p:pic>
      <p:sp>
        <p:nvSpPr>
          <p:cNvPr id="6" name="Text 3"/>
          <p:cNvSpPr txBox="1"/>
          <p:nvPr/>
        </p:nvSpPr>
        <p:spPr>
          <a:xfrm>
            <a:off x="548640" y="150876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دو کلید (distributionOracle، verifier) زیر نظر هیأت‌مدیره‌ی ولیدیتورها</a:t>
            </a:r>
            <a:endParaRPr lang="en-US" sz="1500" dirty="0"/>
          </a:p>
        </p:txBody>
      </p:sp>
      <p:sp>
        <p:nvSpPr>
          <p:cNvPr id="7" name="Text 4"/>
          <p:cNvSpPr txBox="1"/>
          <p:nvPr/>
        </p:nvSpPr>
        <p:spPr>
          <a:xfrm>
            <a:off x="548640" y="1856232"/>
            <a:ext cx="9144000" cy="123139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چون هردو مستقیماً به امنیت/اقتصاد شبکه‌ی ولیدیتوری مربوط‌اند.</a:t>
            </a:r>
            <a:endParaRPr lang="en-US" sz="1180" dirty="0"/>
          </a:p>
        </p:txBody>
      </p:sp>
      <p:sp>
        <p:nvSpPr>
          <p:cNvPr id="8" name="Shape 5"/>
          <p:cNvSpPr/>
          <p:nvPr/>
        </p:nvSpPr>
        <p:spPr>
          <a:xfrm>
            <a:off x="548640" y="3069336"/>
            <a:ext cx="10881360" cy="0"/>
          </a:xfrm>
          <a:prstGeom prst="line">
            <a:avLst/>
          </a:prstGeom>
          <a:noFill/>
          <a:ln w="12700">
            <a:solidFill>
              <a:srgbClr val="E0E6E7"/>
            </a:solidFill>
            <a:prstDash val="solid"/>
          </a:ln>
        </p:spPr>
        <p:txBody>
          <a:bodyPr/>
          <a:p/>
        </p:txBody>
      </p:sp>
      <p:sp>
        <p:nvSpPr>
          <p:cNvPr id="9" name="Shape 6"/>
          <p:cNvSpPr/>
          <p:nvPr/>
        </p:nvSpPr>
        <p:spPr>
          <a:xfrm>
            <a:off x="9966960" y="3621024"/>
            <a:ext cx="621792" cy="621792"/>
          </a:xfrm>
          <a:prstGeom prst="ellipse">
            <a:avLst/>
          </a:prstGeom>
          <a:solidFill>
            <a:srgbClr val="00BFA5"/>
          </a:solidFill>
          <a:ln/>
        </p:spPr>
        <p:txBody>
          <a:bodyPr/>
          <a:p/>
        </p:txBody>
      </p:sp>
      <p:pic>
        <p:nvPicPr>
          <p:cNvPr id="10" name="Image 1" descr="/home/claude/deck2/icons/fingerprint.png">    </p:cNvPr>
          <p:cNvPicPr>
            <a:picLocks noChangeAspect="1"/>
          </p:cNvPicPr>
          <p:nvPr/>
        </p:nvPicPr>
        <p:blipFill>
          <a:blip r:embed="rId2"/>
          <a:stretch>
            <a:fillRect/>
          </a:stretch>
        </p:blipFill>
        <p:spPr>
          <a:xfrm>
            <a:off x="10128626" y="3782690"/>
            <a:ext cx="298460" cy="298460"/>
          </a:xfrm>
          <a:prstGeom prst="rect">
            <a:avLst/>
          </a:prstGeom>
        </p:spPr>
      </p:pic>
      <p:sp>
        <p:nvSpPr>
          <p:cNvPr id="11" name="Text 7"/>
          <p:cNvSpPr txBox="1"/>
          <p:nvPr/>
        </p:nvSpPr>
        <p:spPr>
          <a:xfrm>
            <a:off x="548640" y="312420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دو کلید دیگر (identityOracle، paymentOracle) زیر نظر بنیاد</a:t>
            </a:r>
            <a:endParaRPr lang="en-US" sz="1500" dirty="0"/>
          </a:p>
        </p:txBody>
      </p:sp>
      <p:sp>
        <p:nvSpPr>
          <p:cNvPr id="12" name="Text 8"/>
          <p:cNvSpPr txBox="1"/>
          <p:nvPr/>
        </p:nvSpPr>
        <p:spPr>
          <a:xfrm>
            <a:off x="548640" y="3471672"/>
            <a:ext cx="9144000" cy="123139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چون احراز هویت و فروش توکن، مسئولیت بنیاد است، نه امنیت شبکه‌ی ولیدیتوری.</a:t>
            </a:r>
            <a:endParaRPr lang="en-US" sz="1180" dirty="0"/>
          </a:p>
        </p:txBody>
      </p:sp>
      <p:sp>
        <p:nvSpPr>
          <p:cNvPr id="13" name="Shape 9"/>
          <p:cNvSpPr/>
          <p:nvPr/>
        </p:nvSpPr>
        <p:spPr>
          <a:xfrm>
            <a:off x="548640" y="4684776"/>
            <a:ext cx="10881360" cy="0"/>
          </a:xfrm>
          <a:prstGeom prst="line">
            <a:avLst/>
          </a:prstGeom>
          <a:noFill/>
          <a:ln w="12700">
            <a:solidFill>
              <a:srgbClr val="E0E6E7"/>
            </a:solidFill>
            <a:prstDash val="solid"/>
          </a:ln>
        </p:spPr>
        <p:txBody>
          <a:bodyPr/>
          <a:p/>
        </p:txBody>
      </p:sp>
      <p:sp>
        <p:nvSpPr>
          <p:cNvPr id="14" name="Shape 10"/>
          <p:cNvSpPr/>
          <p:nvPr/>
        </p:nvSpPr>
        <p:spPr>
          <a:xfrm>
            <a:off x="9966960" y="5236464"/>
            <a:ext cx="621792" cy="621792"/>
          </a:xfrm>
          <a:prstGeom prst="ellipse">
            <a:avLst/>
          </a:prstGeom>
          <a:solidFill>
            <a:srgbClr val="263238"/>
          </a:solidFill>
          <a:ln/>
        </p:spPr>
        <p:txBody>
          <a:bodyPr/>
          <a:p/>
        </p:txBody>
      </p:sp>
      <p:pic>
        <p:nvPicPr>
          <p:cNvPr id="15" name="Image 2" descr="/home/claude/deck2/icons/key.png">    </p:cNvPr>
          <p:cNvPicPr>
            <a:picLocks noChangeAspect="1"/>
          </p:cNvPicPr>
          <p:nvPr/>
        </p:nvPicPr>
        <p:blipFill>
          <a:blip r:embed="rId3"/>
          <a:stretch>
            <a:fillRect/>
          </a:stretch>
        </p:blipFill>
        <p:spPr>
          <a:xfrm>
            <a:off x="10128626" y="5398130"/>
            <a:ext cx="298460" cy="298460"/>
          </a:xfrm>
          <a:prstGeom prst="rect">
            <a:avLst/>
          </a:prstGeom>
        </p:spPr>
      </p:pic>
      <p:sp>
        <p:nvSpPr>
          <p:cNvPr id="16" name="Text 11"/>
          <p:cNvSpPr txBox="1"/>
          <p:nvPr/>
        </p:nvSpPr>
        <p:spPr>
          <a:xfrm>
            <a:off x="548640" y="473964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هر چهار کلید در HashiCorp Vault — کاملاً جدا از هم</a:t>
            </a:r>
            <a:endParaRPr lang="en-US" sz="1500" dirty="0"/>
          </a:p>
        </p:txBody>
      </p:sp>
      <p:sp>
        <p:nvSpPr>
          <p:cNvPr id="17" name="Text 12"/>
          <p:cNvSpPr txBox="1"/>
          <p:nvPr/>
        </p:nvSpPr>
        <p:spPr>
          <a:xfrm>
            <a:off x="548640" y="5087112"/>
            <a:ext cx="9144000" cy="123139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هیچ‌کدام کلید مشترک ندارند؛ هرکدام policy/token مستقل خودشان را دارند.</a:t>
            </a:r>
            <a:endParaRPr lang="en-US" sz="1180" dirty="0"/>
          </a:p>
        </p:txBody>
      </p:sp>
      <p:sp>
        <p:nvSpPr>
          <p:cNvPr id="18" name="Shape 13"/>
          <p:cNvSpPr/>
          <p:nvPr/>
        </p:nvSpPr>
        <p:spPr>
          <a:xfrm>
            <a:off x="429768" y="6446520"/>
            <a:ext cx="310896" cy="310896"/>
          </a:xfrm>
          <a:prstGeom prst="ellipse">
            <a:avLst/>
          </a:prstGeom>
          <a:solidFill>
            <a:srgbClr val="FFFFFF"/>
          </a:solidFill>
          <a:ln/>
        </p:spPr>
        <p:txBody>
          <a:bodyPr/>
          <a:p/>
        </p:txBody>
      </p:sp>
      <p:pic>
        <p:nvPicPr>
          <p:cNvPr id="19" name="Image 3" descr="/home/claude/deck2/assets/logo.png">    </p:cNvPr>
          <p:cNvPicPr>
            <a:picLocks noChangeAspect="1"/>
          </p:cNvPicPr>
          <p:nvPr/>
        </p:nvPicPr>
        <p:blipFill>
          <a:blip r:embed="rId4"/>
          <a:stretch>
            <a:fillRect/>
          </a:stretch>
        </p:blipFill>
        <p:spPr>
          <a:xfrm>
            <a:off x="457200" y="6473952"/>
            <a:ext cx="256032" cy="256032"/>
          </a:xfrm>
          <a:prstGeom prst="rect">
            <a:avLst/>
          </a:prstGeom>
        </p:spPr>
      </p:pic>
      <p:sp>
        <p:nvSpPr>
          <p:cNvPr id="20" name="Text 14"/>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21" name="Text 15"/>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63238"/>
        </a:solidFill>
      </p:bgPr>
    </p:bg>
    <p:spTree>
      <p:nvGrpSpPr>
        <p:cNvPr id="1" name=""/>
        <p:cNvGrpSpPr/>
        <p:nvPr/>
      </p:nvGrpSpPr>
      <p:grpSpPr>
        <a:xfrm>
          <a:off x="0" y="0"/>
          <a:ext cx="0" cy="0"/>
          <a:chOff x="0" y="0"/>
          <a:chExt cx="0" cy="0"/>
        </a:xfrm>
      </p:grpSpPr>
      <p:sp>
        <p:nvSpPr>
          <p:cNvPr id="2" name="Text 0"/>
          <p:cNvSpPr txBox="1"/>
          <p:nvPr/>
        </p:nvSpPr>
        <p:spPr>
          <a:xfrm>
            <a:off x="731520" y="2377440"/>
            <a:ext cx="2743200" cy="1828800"/>
          </a:xfrm>
          <a:prstGeom prst="rect">
            <a:avLst/>
          </a:prstGeom>
          <a:noFill/>
          <a:ln/>
        </p:spPr>
        <p:txBody>
          <a:bodyPr wrap="square" lIns="0" tIns="0" rIns="0" bIns="0" rtlCol="0" anchor="ctr"/>
          <a:lstStyle/>
          <a:p>
            <a:pPr rtl="1" algn="r" indent="0" marL="0">
              <a:buNone/>
            </a:pPr>
            <a:r>
              <a:rPr lang="en-US" sz="9200" b="1" dirty="0">
                <a:solidFill>
                  <a:srgbClr val="3C4A50"/>
                </a:solidFill>
                <a:latin typeface="Arial" pitchFamily="34" charset="0"/>
                <a:ea typeface="Arial" pitchFamily="34" charset="-122"/>
                <a:cs typeface="Arial" pitchFamily="34" charset="-120"/>
              </a:rPr>
              <a:t>4</a:t>
            </a:r>
            <a:endParaRPr lang="en-US" sz="9200" dirty="0"/>
          </a:p>
        </p:txBody>
      </p:sp>
      <p:sp>
        <p:nvSpPr>
          <p:cNvPr id="3" name="Shape 1"/>
          <p:cNvSpPr/>
          <p:nvPr/>
        </p:nvSpPr>
        <p:spPr>
          <a:xfrm>
            <a:off x="3520440" y="2880360"/>
            <a:ext cx="54864" cy="1097280"/>
          </a:xfrm>
          <a:prstGeom prst="rect">
            <a:avLst/>
          </a:prstGeom>
          <a:solidFill>
            <a:srgbClr val="00BFA5"/>
          </a:solidFill>
          <a:ln/>
        </p:spPr>
        <p:txBody>
          <a:bodyPr/>
          <a:p/>
        </p:txBody>
      </p:sp>
      <p:sp>
        <p:nvSpPr>
          <p:cNvPr id="4" name="Text 2"/>
          <p:cNvSpPr txBox="1"/>
          <p:nvPr/>
        </p:nvSpPr>
        <p:spPr>
          <a:xfrm>
            <a:off x="3749040" y="2834640"/>
            <a:ext cx="7680960" cy="1188720"/>
          </a:xfrm>
          <a:prstGeom prst="rect">
            <a:avLst/>
          </a:prstGeom>
          <a:noFill/>
          <a:ln/>
        </p:spPr>
        <p:txBody>
          <a:bodyPr wrap="square" lIns="0" tIns="0" rIns="0" bIns="0" rtlCol="0" anchor="ctr"/>
          <a:lstStyle/>
          <a:p>
            <a:pPr rtl="1" algn="r" indent="0" marL="0">
              <a:buNone/>
            </a:pPr>
            <a:r>
              <a:rPr lang="en-US" sz="3000" b="1" dirty="0">
                <a:solidFill>
                  <a:srgbClr val="FFFFFF"/>
                </a:solidFill>
                <a:latin typeface="Cambria" pitchFamily="34" charset="0"/>
                <a:ea typeface="Cambria" pitchFamily="34" charset="-122"/>
                <a:cs typeface="Cambria" pitchFamily="34" charset="-120"/>
              </a:rPr>
              <a:t>سرویس‌های آف‌چین</a:t>
            </a:r>
            <a:endParaRPr lang="en-US" sz="3000" dirty="0"/>
          </a:p>
        </p:txBody>
      </p:sp>
      <p:sp>
        <p:nvSpPr>
          <p:cNvPr id="5" name="Shape 3"/>
          <p:cNvSpPr/>
          <p:nvPr/>
        </p:nvSpPr>
        <p:spPr>
          <a:xfrm>
            <a:off x="429768" y="6446520"/>
            <a:ext cx="310896" cy="310896"/>
          </a:xfrm>
          <a:prstGeom prst="ellipse">
            <a:avLst/>
          </a:prstGeom>
          <a:solidFill>
            <a:srgbClr val="FFFFFF"/>
          </a:solidFill>
          <a:ln/>
        </p:spPr>
        <p:txBody>
          <a:bodyPr/>
          <a:p/>
        </p:txBody>
      </p:sp>
      <p:pic>
        <p:nvPicPr>
          <p:cNvPr id="6" name="Image 0" descr="/home/claude/deck2/assets/logo.png">    </p:cNvPr>
          <p:cNvPicPr>
            <a:picLocks noChangeAspect="1"/>
          </p:cNvPicPr>
          <p:nvPr/>
        </p:nvPicPr>
        <p:blipFill>
          <a:blip r:embed="rId1"/>
          <a:stretch>
            <a:fillRect/>
          </a:stretch>
        </p:blipFill>
        <p:spPr>
          <a:xfrm>
            <a:off x="457200" y="6473952"/>
            <a:ext cx="256032" cy="256032"/>
          </a:xfrm>
          <a:prstGeom prst="rect">
            <a:avLst/>
          </a:prstGeom>
        </p:spPr>
      </p:pic>
      <p:sp>
        <p:nvSpPr>
          <p:cNvPr id="7" name="Text 4"/>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8" name="Text 5"/>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چهار سرویس مستقل</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نقش هرکدام و کلید عملیاتی‌شان</a:t>
            </a:r>
            <a:endParaRPr lang="en-US" sz="2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663440"/>
        </p:xfrm>
        <a:graphic>
          <a:graphicData uri="http://schemas.openxmlformats.org/drawingml/2006/table">
            <a:tbl>
              <a:tblPr/>
              <a:tblGrid>
                <a:gridCol w="3688080"/>
                <a:gridCol w="3688080"/>
                <a:gridCol w="3688080"/>
              </a:tblGrid>
              <a:tr h="932688">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سرویس</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نقش</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کلید</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r>
              <a:tr h="932688">
                <a:tc>
                  <a:txBody>
                    <a:bodyPr/>
                    <a:lstStyle/>
                    <a:p>
                      <a:pPr algn="r" indent="0" marL="0">
                        <a:buNone/>
                      </a:pPr>
                      <a:r>
                        <a:rPr lang="en-US" sz="1100" dirty="0">
                          <a:solidFill>
                            <a:srgbClr val="1B1B1B"/>
                          </a:solidFill>
                          <a:latin typeface="Courier New" pitchFamily="34" charset="0"/>
                          <a:ea typeface="Courier New" pitchFamily="34" charset="-122"/>
                          <a:cs typeface="Courier New" pitchFamily="34" charset="-120"/>
                        </a:rPr>
                        <a:t>RewardRouter</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100" dirty="0">
                          <a:solidFill>
                            <a:srgbClr val="1B1B1B"/>
                          </a:solidFill>
                          <a:latin typeface="Calibri" pitchFamily="34" charset="0"/>
                          <a:ea typeface="Calibri" pitchFamily="34" charset="-122"/>
                          <a:cs typeface="Calibri" pitchFamily="34" charset="-120"/>
                        </a:rPr>
                        <a:t>محاسبه و توزیع دوره‌ای ریوارد/فی</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1B1B"/>
                          </a:solidFill>
                          <a:latin typeface="Calibri" pitchFamily="34" charset="0"/>
                          <a:ea typeface="Calibri" pitchFamily="34" charset="-122"/>
                          <a:cs typeface="Calibri" pitchFamily="34" charset="-120"/>
                        </a:rPr>
                        <a:t>distributionOracle</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932688">
                <a:tc>
                  <a:txBody>
                    <a:bodyPr/>
                    <a:lstStyle/>
                    <a:p>
                      <a:pPr algn="r" indent="0" marL="0">
                        <a:buNone/>
                      </a:pPr>
                      <a:r>
                        <a:rPr lang="en-US" sz="1100" dirty="0">
                          <a:solidFill>
                            <a:srgbClr val="1B1B1B"/>
                          </a:solidFill>
                          <a:latin typeface="Courier New" pitchFamily="34" charset="0"/>
                          <a:ea typeface="Courier New" pitchFamily="34" charset="-122"/>
                          <a:cs typeface="Courier New" pitchFamily="34" charset="-120"/>
                        </a:rPr>
                        <a:t>Verifier</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100" dirty="0">
                          <a:solidFill>
                            <a:srgbClr val="1B1B1B"/>
                          </a:solidFill>
                          <a:latin typeface="Calibri" pitchFamily="34" charset="0"/>
                          <a:ea typeface="Calibri" pitchFamily="34" charset="-122"/>
                          <a:cs typeface="Calibri" pitchFamily="34" charset="-120"/>
                        </a:rPr>
                        <a:t>گزارش liveness و وضعیت ولیدیتور</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algn="ctr" indent="0" marL="0">
                        <a:buNone/>
                      </a:pPr>
                      <a:r>
                        <a:rPr lang="en-US" sz="1100" dirty="0">
                          <a:solidFill>
                            <a:srgbClr val="1B1B1B"/>
                          </a:solidFill>
                          <a:latin typeface="Calibri" pitchFamily="34" charset="0"/>
                          <a:ea typeface="Calibri" pitchFamily="34" charset="-122"/>
                          <a:cs typeface="Calibri" pitchFamily="34" charset="-120"/>
                        </a:rPr>
                        <a:t>verifier</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r h="932688">
                <a:tc>
                  <a:txBody>
                    <a:bodyPr/>
                    <a:lstStyle/>
                    <a:p>
                      <a:pPr algn="r" indent="0" marL="0">
                        <a:buNone/>
                      </a:pPr>
                      <a:r>
                        <a:rPr lang="en-US" sz="1100" dirty="0">
                          <a:solidFill>
                            <a:srgbClr val="1B1B1B"/>
                          </a:solidFill>
                          <a:latin typeface="Courier New" pitchFamily="34" charset="0"/>
                          <a:ea typeface="Courier New" pitchFamily="34" charset="-122"/>
                          <a:cs typeface="Courier New" pitchFamily="34" charset="-120"/>
                        </a:rPr>
                        <a:t>PaymentReporter</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100" dirty="0">
                          <a:solidFill>
                            <a:srgbClr val="1B1B1B"/>
                          </a:solidFill>
                          <a:latin typeface="Calibri" pitchFamily="34" charset="0"/>
                          <a:ea typeface="Calibri" pitchFamily="34" charset="-122"/>
                          <a:cs typeface="Calibri" pitchFamily="34" charset="-120"/>
                        </a:rPr>
                        <a:t>گزارش پرداخت تأییدشده به SurenSale</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1B1B"/>
                          </a:solidFill>
                          <a:latin typeface="Calibri" pitchFamily="34" charset="0"/>
                          <a:ea typeface="Calibri" pitchFamily="34" charset="-122"/>
                          <a:cs typeface="Calibri" pitchFamily="34" charset="-120"/>
                        </a:rPr>
                        <a:t>paymentOracle</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932688">
                <a:tc>
                  <a:txBody>
                    <a:bodyPr/>
                    <a:lstStyle/>
                    <a:p>
                      <a:pPr algn="r" indent="0" marL="0">
                        <a:buNone/>
                      </a:pPr>
                      <a:r>
                        <a:rPr lang="en-US" sz="1100" dirty="0">
                          <a:solidFill>
                            <a:srgbClr val="1B1B1B"/>
                          </a:solidFill>
                          <a:latin typeface="Courier New" pitchFamily="34" charset="0"/>
                          <a:ea typeface="Courier New" pitchFamily="34" charset="-122"/>
                          <a:cs typeface="Courier New" pitchFamily="34" charset="-120"/>
                        </a:rPr>
                        <a:t>Identity Service</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100" dirty="0">
                          <a:solidFill>
                            <a:srgbClr val="1B1B1B"/>
                          </a:solidFill>
                          <a:latin typeface="Calibri" pitchFamily="34" charset="0"/>
                          <a:ea typeface="Calibri" pitchFamily="34" charset="-122"/>
                          <a:cs typeface="Calibri" pitchFamily="34" charset="-120"/>
                        </a:rPr>
                        <a:t>eKYC + احراز موبایل/تلگرام + matching API</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algn="ctr" indent="0" marL="0">
                        <a:buNone/>
                      </a:pPr>
                      <a:r>
                        <a:rPr lang="en-US" sz="1100" dirty="0">
                          <a:solidFill>
                            <a:srgbClr val="1B1B1B"/>
                          </a:solidFill>
                          <a:latin typeface="Calibri" pitchFamily="34" charset="0"/>
                          <a:ea typeface="Calibri" pitchFamily="34" charset="-122"/>
                          <a:cs typeface="Calibri" pitchFamily="34" charset="-120"/>
                        </a:rPr>
                        <a:t>identityOracle</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bl>
          </a:graphicData>
        </a:graphic>
      </p:graphicFrame>
      <p:sp>
        <p:nvSpPr>
          <p:cNvPr id="5" name="Shape 2"/>
          <p:cNvSpPr/>
          <p:nvPr/>
        </p:nvSpPr>
        <p:spPr>
          <a:xfrm>
            <a:off x="429768" y="6446520"/>
            <a:ext cx="310896" cy="310896"/>
          </a:xfrm>
          <a:prstGeom prst="ellipse">
            <a:avLst/>
          </a:prstGeom>
          <a:solidFill>
            <a:srgbClr val="FFFFFF"/>
          </a:solidFill>
          <a:ln/>
        </p:spPr>
        <p:txBody>
          <a:bodyPr/>
          <a:p/>
        </p:txBody>
      </p:sp>
      <p:pic>
        <p:nvPicPr>
          <p:cNvPr id="6" name="Image 0" descr="/home/claude/deck2/assets/logo.png">    </p:cNvPr>
          <p:cNvPicPr>
            <a:picLocks noChangeAspect="1"/>
          </p:cNvPicPr>
          <p:nvPr/>
        </p:nvPicPr>
        <p:blipFill>
          <a:blip r:embed="rId1"/>
          <a:stretch>
            <a:fillRect/>
          </a:stretch>
        </p:blipFill>
        <p:spPr>
          <a:xfrm>
            <a:off x="457200" y="6473952"/>
            <a:ext cx="256032" cy="256032"/>
          </a:xfrm>
          <a:prstGeom prst="rect">
            <a:avLst/>
          </a:prstGeom>
        </p:spPr>
      </p:pic>
      <p:sp>
        <p:nvSpPr>
          <p:cNvPr id="7" name="Text 3"/>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8" name="Text 4"/>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RewardRouter</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جریان کاری هر epoch (~۲۳ ساعت)</a:t>
            </a:r>
            <a:endParaRPr lang="en-US" sz="2400" dirty="0"/>
          </a:p>
        </p:txBody>
      </p:sp>
      <p:sp>
        <p:nvSpPr>
          <p:cNvPr id="4" name="Shape 2"/>
          <p:cNvSpPr/>
          <p:nvPr/>
        </p:nvSpPr>
        <p:spPr>
          <a:xfrm>
            <a:off x="9589770" y="2103120"/>
            <a:ext cx="731520" cy="731520"/>
          </a:xfrm>
          <a:prstGeom prst="ellipse">
            <a:avLst/>
          </a:prstGeom>
          <a:solidFill>
            <a:srgbClr val="263238"/>
          </a:solidFill>
          <a:ln/>
        </p:spPr>
        <p:txBody>
          <a:bodyPr/>
          <a:p/>
        </p:txBody>
      </p:sp>
      <p:pic>
        <p:nvPicPr>
          <p:cNvPr id="5" name="Image 0" descr="/home/claude/deck2/icons/search.png">    </p:cNvPr>
          <p:cNvPicPr>
            <a:picLocks noChangeAspect="1"/>
          </p:cNvPicPr>
          <p:nvPr/>
        </p:nvPicPr>
        <p:blipFill>
          <a:blip r:embed="rId1"/>
          <a:stretch>
            <a:fillRect/>
          </a:stretch>
        </p:blipFill>
        <p:spPr>
          <a:xfrm>
            <a:off x="9779965" y="2293315"/>
            <a:ext cx="351130" cy="351130"/>
          </a:xfrm>
          <a:prstGeom prst="rect">
            <a:avLst/>
          </a:prstGeom>
        </p:spPr>
      </p:pic>
      <p:sp>
        <p:nvSpPr>
          <p:cNvPr id="6" name="Shape 3"/>
          <p:cNvSpPr/>
          <p:nvPr/>
        </p:nvSpPr>
        <p:spPr>
          <a:xfrm>
            <a:off x="9571482" y="1965960"/>
            <a:ext cx="329184" cy="329184"/>
          </a:xfrm>
          <a:prstGeom prst="ellipse">
            <a:avLst/>
          </a:prstGeom>
          <a:solidFill>
            <a:srgbClr val="00BFA5"/>
          </a:solidFill>
          <a:ln/>
        </p:spPr>
        <p:txBody>
          <a:bodyPr/>
          <a:p/>
        </p:txBody>
      </p:sp>
      <p:sp>
        <p:nvSpPr>
          <p:cNvPr id="7" name="Text 4"/>
          <p:cNvSpPr txBox="1"/>
          <p:nvPr/>
        </p:nvSpPr>
        <p:spPr>
          <a:xfrm>
            <a:off x="9571482" y="1956816"/>
            <a:ext cx="329184" cy="329184"/>
          </a:xfrm>
          <a:prstGeom prst="rect">
            <a:avLst/>
          </a:prstGeom>
          <a:noFill/>
          <a:ln/>
        </p:spPr>
        <p:txBody>
          <a:bodyPr wrap="square" lIns="0" tIns="0" rIns="0" bIns="0" rtlCol="0" anchor="ctr"/>
          <a:lstStyle/>
          <a:p>
            <a:pPr algn="ctr" indent="0" marL="0">
              <a:buNone/>
            </a:pPr>
            <a:r>
              <a:rPr lang="en-US" sz="1300" b="1" dirty="0">
                <a:solidFill>
                  <a:srgbClr val="263238"/>
                </a:solidFill>
                <a:latin typeface="Arial" pitchFamily="34" charset="0"/>
                <a:ea typeface="Arial" pitchFamily="34" charset="-122"/>
                <a:cs typeface="Arial" pitchFamily="34" charset="-120"/>
              </a:rPr>
              <a:t>1</a:t>
            </a:r>
            <a:endParaRPr lang="en-US" sz="1300" dirty="0"/>
          </a:p>
        </p:txBody>
      </p:sp>
      <p:sp>
        <p:nvSpPr>
          <p:cNvPr id="8" name="Text 5"/>
          <p:cNvSpPr txBox="1"/>
          <p:nvPr/>
        </p:nvSpPr>
        <p:spPr>
          <a:xfrm>
            <a:off x="8709660" y="3063240"/>
            <a:ext cx="2491740" cy="548640"/>
          </a:xfrm>
          <a:prstGeom prst="rect">
            <a:avLst/>
          </a:prstGeom>
          <a:noFill/>
          <a:ln/>
        </p:spPr>
        <p:txBody>
          <a:bodyPr wrap="square" lIns="0" tIns="0" rIns="0" bIns="0" rtlCol="0" anchor="ctr"/>
          <a:lstStyle/>
          <a:p>
            <a:pPr rtl="1" algn="ctr" indent="0" marL="0">
              <a:buNone/>
            </a:pPr>
            <a:r>
              <a:rPr lang="en-US" sz="1250" b="1" dirty="0">
                <a:solidFill>
                  <a:srgbClr val="1B1B1B"/>
                </a:solidFill>
                <a:latin typeface="Calibri" pitchFamily="34" charset="0"/>
                <a:ea typeface="Calibri" pitchFamily="34" charset="-122"/>
                <a:cs typeface="Calibri" pitchFamily="34" charset="-120"/>
              </a:rPr>
              <a:t>اسکن بلاک‌ها</a:t>
            </a:r>
            <a:endParaRPr lang="en-US" sz="1250" dirty="0"/>
          </a:p>
        </p:txBody>
      </p:sp>
      <p:sp>
        <p:nvSpPr>
          <p:cNvPr id="9" name="Text 6"/>
          <p:cNvSpPr txBox="1"/>
          <p:nvPr/>
        </p:nvSpPr>
        <p:spPr>
          <a:xfrm>
            <a:off x="8709660" y="3566160"/>
            <a:ext cx="2491740" cy="1920240"/>
          </a:xfrm>
          <a:prstGeom prst="rect">
            <a:avLst/>
          </a:prstGeom>
          <a:noFill/>
          <a:ln/>
        </p:spPr>
        <p:txBody>
          <a:bodyPr wrap="square" lIns="0" tIns="0" rIns="0" bIns="0" rtlCol="0" anchor="t"/>
          <a:lstStyle/>
          <a:p>
            <a:pPr rtl="1" algn="ctr" indent="0" marL="0">
              <a:buNone/>
            </a:pPr>
            <a:r>
              <a:rPr lang="en-US" sz="1050" dirty="0">
                <a:solidFill>
                  <a:srgbClr val="51616B"/>
                </a:solidFill>
                <a:latin typeface="Calibri" pitchFamily="34" charset="0"/>
                <a:ea typeface="Calibri" pitchFamily="34" charset="-122"/>
                <a:cs typeface="Calibri" pitchFamily="34" charset="-120"/>
              </a:rPr>
              <a:t>از lastSettledBlock+1 تا L (آخرین بلاک مهرشده) — بدون margin</a:t>
            </a:r>
            <a:endParaRPr lang="en-US" sz="1050" dirty="0"/>
          </a:p>
        </p:txBody>
      </p:sp>
      <p:sp>
        <p:nvSpPr>
          <p:cNvPr id="10" name="Shape 7"/>
          <p:cNvSpPr/>
          <p:nvPr/>
        </p:nvSpPr>
        <p:spPr>
          <a:xfrm>
            <a:off x="8481060" y="2468880"/>
            <a:ext cx="228600" cy="0"/>
          </a:xfrm>
          <a:prstGeom prst="line">
            <a:avLst/>
          </a:prstGeom>
          <a:noFill/>
          <a:ln w="19050">
            <a:solidFill>
              <a:srgbClr val="C6D0D2"/>
            </a:solidFill>
            <a:prstDash val="solid"/>
          </a:ln>
        </p:spPr>
        <p:txBody>
          <a:bodyPr/>
          <a:p/>
        </p:txBody>
      </p:sp>
      <p:sp>
        <p:nvSpPr>
          <p:cNvPr id="11" name="Shape 8"/>
          <p:cNvSpPr/>
          <p:nvPr/>
        </p:nvSpPr>
        <p:spPr>
          <a:xfrm>
            <a:off x="6869430" y="2103120"/>
            <a:ext cx="731520" cy="731520"/>
          </a:xfrm>
          <a:prstGeom prst="ellipse">
            <a:avLst/>
          </a:prstGeom>
          <a:solidFill>
            <a:srgbClr val="263238"/>
          </a:solidFill>
          <a:ln/>
        </p:spPr>
        <p:txBody>
          <a:bodyPr/>
          <a:p/>
        </p:txBody>
      </p:sp>
      <p:pic>
        <p:nvPicPr>
          <p:cNvPr id="12" name="Image 1" descr="/home/claude/deck2/icons/cubes.png">    </p:cNvPr>
          <p:cNvPicPr>
            <a:picLocks noChangeAspect="1"/>
          </p:cNvPicPr>
          <p:nvPr/>
        </p:nvPicPr>
        <p:blipFill>
          <a:blip r:embed="rId2"/>
          <a:stretch>
            <a:fillRect/>
          </a:stretch>
        </p:blipFill>
        <p:spPr>
          <a:xfrm>
            <a:off x="7059625" y="2293315"/>
            <a:ext cx="351130" cy="351130"/>
          </a:xfrm>
          <a:prstGeom prst="rect">
            <a:avLst/>
          </a:prstGeom>
        </p:spPr>
      </p:pic>
      <p:sp>
        <p:nvSpPr>
          <p:cNvPr id="13" name="Shape 9"/>
          <p:cNvSpPr/>
          <p:nvPr/>
        </p:nvSpPr>
        <p:spPr>
          <a:xfrm>
            <a:off x="6851142" y="1965960"/>
            <a:ext cx="329184" cy="329184"/>
          </a:xfrm>
          <a:prstGeom prst="ellipse">
            <a:avLst/>
          </a:prstGeom>
          <a:solidFill>
            <a:srgbClr val="00BFA5"/>
          </a:solidFill>
          <a:ln/>
        </p:spPr>
        <p:txBody>
          <a:bodyPr/>
          <a:p/>
        </p:txBody>
      </p:sp>
      <p:sp>
        <p:nvSpPr>
          <p:cNvPr id="14" name="Text 10"/>
          <p:cNvSpPr txBox="1"/>
          <p:nvPr/>
        </p:nvSpPr>
        <p:spPr>
          <a:xfrm>
            <a:off x="6851142" y="1956816"/>
            <a:ext cx="329184" cy="329184"/>
          </a:xfrm>
          <a:prstGeom prst="rect">
            <a:avLst/>
          </a:prstGeom>
          <a:noFill/>
          <a:ln/>
        </p:spPr>
        <p:txBody>
          <a:bodyPr wrap="square" lIns="0" tIns="0" rIns="0" bIns="0" rtlCol="0" anchor="ctr"/>
          <a:lstStyle/>
          <a:p>
            <a:pPr algn="ctr" indent="0" marL="0">
              <a:buNone/>
            </a:pPr>
            <a:r>
              <a:rPr lang="en-US" sz="1300" b="1" dirty="0">
                <a:solidFill>
                  <a:srgbClr val="263238"/>
                </a:solidFill>
                <a:latin typeface="Arial" pitchFamily="34" charset="0"/>
                <a:ea typeface="Arial" pitchFamily="34" charset="-122"/>
                <a:cs typeface="Arial" pitchFamily="34" charset="-120"/>
              </a:rPr>
              <a:t>2</a:t>
            </a:r>
            <a:endParaRPr lang="en-US" sz="1300" dirty="0"/>
          </a:p>
        </p:txBody>
      </p:sp>
      <p:sp>
        <p:nvSpPr>
          <p:cNvPr id="15" name="Text 11"/>
          <p:cNvSpPr txBox="1"/>
          <p:nvPr/>
        </p:nvSpPr>
        <p:spPr>
          <a:xfrm>
            <a:off x="5989320" y="3063240"/>
            <a:ext cx="2491740" cy="548640"/>
          </a:xfrm>
          <a:prstGeom prst="rect">
            <a:avLst/>
          </a:prstGeom>
          <a:noFill/>
          <a:ln/>
        </p:spPr>
        <p:txBody>
          <a:bodyPr wrap="square" lIns="0" tIns="0" rIns="0" bIns="0" rtlCol="0" anchor="ctr"/>
          <a:lstStyle/>
          <a:p>
            <a:pPr rtl="1" algn="ctr" indent="0" marL="0">
              <a:buNone/>
            </a:pPr>
            <a:r>
              <a:rPr lang="en-US" sz="1250" b="1" dirty="0">
                <a:solidFill>
                  <a:srgbClr val="1B1B1B"/>
                </a:solidFill>
                <a:latin typeface="Calibri" pitchFamily="34" charset="0"/>
                <a:ea typeface="Calibri" pitchFamily="34" charset="-122"/>
                <a:cs typeface="Calibri" pitchFamily="34" charset="-120"/>
              </a:rPr>
              <a:t>trace_block + receipt</a:t>
            </a:r>
            <a:endParaRPr lang="en-US" sz="1250" dirty="0"/>
          </a:p>
        </p:txBody>
      </p:sp>
      <p:sp>
        <p:nvSpPr>
          <p:cNvPr id="16" name="Text 12"/>
          <p:cNvSpPr txBox="1"/>
          <p:nvPr/>
        </p:nvSpPr>
        <p:spPr>
          <a:xfrm>
            <a:off x="5989320" y="3566160"/>
            <a:ext cx="2491740" cy="1920240"/>
          </a:xfrm>
          <a:prstGeom prst="rect">
            <a:avLst/>
          </a:prstGeom>
          <a:noFill/>
          <a:ln/>
        </p:spPr>
        <p:txBody>
          <a:bodyPr wrap="square" lIns="0" tIns="0" rIns="0" bIns="0" rtlCol="0" anchor="t"/>
          <a:lstStyle/>
          <a:p>
            <a:pPr rtl="1" algn="ctr" indent="0" marL="0">
              <a:buNone/>
            </a:pPr>
            <a:r>
              <a:rPr lang="en-US" sz="1050" dirty="0">
                <a:solidFill>
                  <a:srgbClr val="51616B"/>
                </a:solidFill>
                <a:latin typeface="Calibri" pitchFamily="34" charset="0"/>
                <a:ea typeface="Calibri" pitchFamily="34" charset="-122"/>
                <a:cs typeface="Calibri" pitchFamily="34" charset="-120"/>
              </a:rPr>
              <a:t>ریوارد از trace؛ فی = gasUsed×(effectiveGasPrice−baseFee)</a:t>
            </a:r>
            <a:endParaRPr lang="en-US" sz="1050" dirty="0"/>
          </a:p>
        </p:txBody>
      </p:sp>
      <p:sp>
        <p:nvSpPr>
          <p:cNvPr id="17" name="Shape 13"/>
          <p:cNvSpPr/>
          <p:nvPr/>
        </p:nvSpPr>
        <p:spPr>
          <a:xfrm>
            <a:off x="5760720" y="2468880"/>
            <a:ext cx="228600" cy="0"/>
          </a:xfrm>
          <a:prstGeom prst="line">
            <a:avLst/>
          </a:prstGeom>
          <a:noFill/>
          <a:ln w="19050">
            <a:solidFill>
              <a:srgbClr val="C6D0D2"/>
            </a:solidFill>
            <a:prstDash val="solid"/>
          </a:ln>
        </p:spPr>
        <p:txBody>
          <a:bodyPr/>
          <a:p/>
        </p:txBody>
      </p:sp>
      <p:sp>
        <p:nvSpPr>
          <p:cNvPr id="18" name="Shape 14"/>
          <p:cNvSpPr/>
          <p:nvPr/>
        </p:nvSpPr>
        <p:spPr>
          <a:xfrm>
            <a:off x="4149090" y="2103120"/>
            <a:ext cx="731520" cy="731520"/>
          </a:xfrm>
          <a:prstGeom prst="ellipse">
            <a:avLst/>
          </a:prstGeom>
          <a:solidFill>
            <a:srgbClr val="263238"/>
          </a:solidFill>
          <a:ln/>
        </p:spPr>
        <p:txBody>
          <a:bodyPr/>
          <a:p/>
        </p:txBody>
      </p:sp>
      <p:pic>
        <p:nvPicPr>
          <p:cNvPr id="19" name="Image 2" descr="/home/claude/deck2/icons/sync.png">    </p:cNvPr>
          <p:cNvPicPr>
            <a:picLocks noChangeAspect="1"/>
          </p:cNvPicPr>
          <p:nvPr/>
        </p:nvPicPr>
        <p:blipFill>
          <a:blip r:embed="rId3"/>
          <a:stretch>
            <a:fillRect/>
          </a:stretch>
        </p:blipFill>
        <p:spPr>
          <a:xfrm>
            <a:off x="4339285" y="2293315"/>
            <a:ext cx="351130" cy="351130"/>
          </a:xfrm>
          <a:prstGeom prst="rect">
            <a:avLst/>
          </a:prstGeom>
        </p:spPr>
      </p:pic>
      <p:sp>
        <p:nvSpPr>
          <p:cNvPr id="20" name="Shape 15"/>
          <p:cNvSpPr/>
          <p:nvPr/>
        </p:nvSpPr>
        <p:spPr>
          <a:xfrm>
            <a:off x="4130802" y="1965960"/>
            <a:ext cx="329184" cy="329184"/>
          </a:xfrm>
          <a:prstGeom prst="ellipse">
            <a:avLst/>
          </a:prstGeom>
          <a:solidFill>
            <a:srgbClr val="00BFA5"/>
          </a:solidFill>
          <a:ln/>
        </p:spPr>
        <p:txBody>
          <a:bodyPr/>
          <a:p/>
        </p:txBody>
      </p:sp>
      <p:sp>
        <p:nvSpPr>
          <p:cNvPr id="21" name="Text 16"/>
          <p:cNvSpPr txBox="1"/>
          <p:nvPr/>
        </p:nvSpPr>
        <p:spPr>
          <a:xfrm>
            <a:off x="4130802" y="1956816"/>
            <a:ext cx="329184" cy="329184"/>
          </a:xfrm>
          <a:prstGeom prst="rect">
            <a:avLst/>
          </a:prstGeom>
          <a:noFill/>
          <a:ln/>
        </p:spPr>
        <p:txBody>
          <a:bodyPr wrap="square" lIns="0" tIns="0" rIns="0" bIns="0" rtlCol="0" anchor="ctr"/>
          <a:lstStyle/>
          <a:p>
            <a:pPr algn="ctr" indent="0" marL="0">
              <a:buNone/>
            </a:pPr>
            <a:r>
              <a:rPr lang="en-US" sz="1300" b="1" dirty="0">
                <a:solidFill>
                  <a:srgbClr val="263238"/>
                </a:solidFill>
                <a:latin typeface="Arial" pitchFamily="34" charset="0"/>
                <a:ea typeface="Arial" pitchFamily="34" charset="-122"/>
                <a:cs typeface="Arial" pitchFamily="34" charset="-120"/>
              </a:rPr>
              <a:t>3</a:t>
            </a:r>
            <a:endParaRPr lang="en-US" sz="1300" dirty="0"/>
          </a:p>
        </p:txBody>
      </p:sp>
      <p:sp>
        <p:nvSpPr>
          <p:cNvPr id="22" name="Text 17"/>
          <p:cNvSpPr txBox="1"/>
          <p:nvPr/>
        </p:nvSpPr>
        <p:spPr>
          <a:xfrm>
            <a:off x="3268980" y="3063240"/>
            <a:ext cx="2491740" cy="548640"/>
          </a:xfrm>
          <a:prstGeom prst="rect">
            <a:avLst/>
          </a:prstGeom>
          <a:noFill/>
          <a:ln/>
        </p:spPr>
        <p:txBody>
          <a:bodyPr wrap="square" lIns="0" tIns="0" rIns="0" bIns="0" rtlCol="0" anchor="ctr"/>
          <a:lstStyle/>
          <a:p>
            <a:pPr rtl="1" algn="ctr" indent="0" marL="0">
              <a:buNone/>
            </a:pPr>
            <a:r>
              <a:rPr lang="en-US" sz="1250" b="1" dirty="0">
                <a:solidFill>
                  <a:srgbClr val="1B1B1B"/>
                </a:solidFill>
                <a:latin typeface="Calibri" pitchFamily="34" charset="0"/>
                <a:ea typeface="Calibri" pitchFamily="34" charset="-122"/>
                <a:cs typeface="Calibri" pitchFamily="34" charset="-120"/>
              </a:rPr>
              <a:t>Aggregate + استحقاق تاریخی</a:t>
            </a:r>
            <a:endParaRPr lang="en-US" sz="1250" dirty="0"/>
          </a:p>
        </p:txBody>
      </p:sp>
      <p:sp>
        <p:nvSpPr>
          <p:cNvPr id="23" name="Text 18"/>
          <p:cNvSpPr txBox="1"/>
          <p:nvPr/>
        </p:nvSpPr>
        <p:spPr>
          <a:xfrm>
            <a:off x="3268980" y="3566160"/>
            <a:ext cx="2491740" cy="1920240"/>
          </a:xfrm>
          <a:prstGeom prst="rect">
            <a:avLst/>
          </a:prstGeom>
          <a:noFill/>
          <a:ln/>
        </p:spPr>
        <p:txBody>
          <a:bodyPr wrap="square" lIns="0" tIns="0" rIns="0" bIns="0" rtlCol="0" anchor="t"/>
          <a:lstStyle/>
          <a:p>
            <a:pPr rtl="1" algn="ctr" indent="0" marL="0">
              <a:buNone/>
            </a:pPr>
            <a:r>
              <a:rPr lang="en-US" sz="1050" dirty="0">
                <a:solidFill>
                  <a:srgbClr val="51616B"/>
                </a:solidFill>
                <a:latin typeface="Calibri" pitchFamily="34" charset="0"/>
                <a:ea typeface="Calibri" pitchFamily="34" charset="-122"/>
                <a:cs typeface="Calibri" pitchFamily="34" charset="-120"/>
              </a:rPr>
              <a:t>فعال هنگام تولید (N−1)؛ قرارداد everActivated را چک می‌کند</a:t>
            </a:r>
            <a:endParaRPr lang="en-US" sz="1050" dirty="0"/>
          </a:p>
        </p:txBody>
      </p:sp>
      <p:sp>
        <p:nvSpPr>
          <p:cNvPr id="24" name="Shape 19"/>
          <p:cNvSpPr/>
          <p:nvPr/>
        </p:nvSpPr>
        <p:spPr>
          <a:xfrm>
            <a:off x="3040380" y="2468880"/>
            <a:ext cx="228600" cy="0"/>
          </a:xfrm>
          <a:prstGeom prst="line">
            <a:avLst/>
          </a:prstGeom>
          <a:noFill/>
          <a:ln w="19050">
            <a:solidFill>
              <a:srgbClr val="C6D0D2"/>
            </a:solidFill>
            <a:prstDash val="solid"/>
          </a:ln>
        </p:spPr>
        <p:txBody>
          <a:bodyPr/>
          <a:p/>
        </p:txBody>
      </p:sp>
      <p:sp>
        <p:nvSpPr>
          <p:cNvPr id="25" name="Shape 20"/>
          <p:cNvSpPr/>
          <p:nvPr/>
        </p:nvSpPr>
        <p:spPr>
          <a:xfrm>
            <a:off x="1428750" y="2103120"/>
            <a:ext cx="731520" cy="731520"/>
          </a:xfrm>
          <a:prstGeom prst="ellipse">
            <a:avLst/>
          </a:prstGeom>
          <a:solidFill>
            <a:srgbClr val="263238"/>
          </a:solidFill>
          <a:ln/>
        </p:spPr>
        <p:txBody>
          <a:bodyPr/>
          <a:p/>
        </p:txBody>
      </p:sp>
      <p:pic>
        <p:nvPicPr>
          <p:cNvPr id="26" name="Image 3" descr="/home/claude/deck2/icons/key.png">    </p:cNvPr>
          <p:cNvPicPr>
            <a:picLocks noChangeAspect="1"/>
          </p:cNvPicPr>
          <p:nvPr/>
        </p:nvPicPr>
        <p:blipFill>
          <a:blip r:embed="rId4"/>
          <a:stretch>
            <a:fillRect/>
          </a:stretch>
        </p:blipFill>
        <p:spPr>
          <a:xfrm>
            <a:off x="1618945" y="2293315"/>
            <a:ext cx="351130" cy="351130"/>
          </a:xfrm>
          <a:prstGeom prst="rect">
            <a:avLst/>
          </a:prstGeom>
        </p:spPr>
      </p:pic>
      <p:sp>
        <p:nvSpPr>
          <p:cNvPr id="27" name="Shape 21"/>
          <p:cNvSpPr/>
          <p:nvPr/>
        </p:nvSpPr>
        <p:spPr>
          <a:xfrm>
            <a:off x="1410462" y="1965960"/>
            <a:ext cx="329184" cy="329184"/>
          </a:xfrm>
          <a:prstGeom prst="ellipse">
            <a:avLst/>
          </a:prstGeom>
          <a:solidFill>
            <a:srgbClr val="00BFA5"/>
          </a:solidFill>
          <a:ln/>
        </p:spPr>
        <p:txBody>
          <a:bodyPr/>
          <a:p/>
        </p:txBody>
      </p:sp>
      <p:sp>
        <p:nvSpPr>
          <p:cNvPr id="28" name="Text 22"/>
          <p:cNvSpPr txBox="1"/>
          <p:nvPr/>
        </p:nvSpPr>
        <p:spPr>
          <a:xfrm>
            <a:off x="1410462" y="1956816"/>
            <a:ext cx="329184" cy="329184"/>
          </a:xfrm>
          <a:prstGeom prst="rect">
            <a:avLst/>
          </a:prstGeom>
          <a:noFill/>
          <a:ln/>
        </p:spPr>
        <p:txBody>
          <a:bodyPr wrap="square" lIns="0" tIns="0" rIns="0" bIns="0" rtlCol="0" anchor="ctr"/>
          <a:lstStyle/>
          <a:p>
            <a:pPr algn="ctr" indent="0" marL="0">
              <a:buNone/>
            </a:pPr>
            <a:r>
              <a:rPr lang="en-US" sz="1300" b="1" dirty="0">
                <a:solidFill>
                  <a:srgbClr val="263238"/>
                </a:solidFill>
                <a:latin typeface="Arial" pitchFamily="34" charset="0"/>
                <a:ea typeface="Arial" pitchFamily="34" charset="-122"/>
                <a:cs typeface="Arial" pitchFamily="34" charset="-120"/>
              </a:rPr>
              <a:t>4</a:t>
            </a:r>
            <a:endParaRPr lang="en-US" sz="1300" dirty="0"/>
          </a:p>
        </p:txBody>
      </p:sp>
      <p:sp>
        <p:nvSpPr>
          <p:cNvPr id="29" name="Text 23"/>
          <p:cNvSpPr txBox="1"/>
          <p:nvPr/>
        </p:nvSpPr>
        <p:spPr>
          <a:xfrm>
            <a:off x="548640" y="3063240"/>
            <a:ext cx="2491740" cy="548640"/>
          </a:xfrm>
          <a:prstGeom prst="rect">
            <a:avLst/>
          </a:prstGeom>
          <a:noFill/>
          <a:ln/>
        </p:spPr>
        <p:txBody>
          <a:bodyPr wrap="square" lIns="0" tIns="0" rIns="0" bIns="0" rtlCol="0" anchor="ctr"/>
          <a:lstStyle/>
          <a:p>
            <a:pPr rtl="1" algn="ctr" indent="0" marL="0">
              <a:buNone/>
            </a:pPr>
            <a:r>
              <a:rPr lang="en-US" sz="1250" b="1" dirty="0">
                <a:solidFill>
                  <a:srgbClr val="1B1B1B"/>
                </a:solidFill>
                <a:latin typeface="Calibri" pitchFamily="34" charset="0"/>
                <a:ea typeface="Calibri" pitchFamily="34" charset="-122"/>
                <a:cs typeface="Calibri" pitchFamily="34" charset="-120"/>
              </a:rPr>
              <a:t>distributeRewards()</a:t>
            </a:r>
            <a:endParaRPr lang="en-US" sz="1250" dirty="0"/>
          </a:p>
        </p:txBody>
      </p:sp>
      <p:sp>
        <p:nvSpPr>
          <p:cNvPr id="30" name="Text 24"/>
          <p:cNvSpPr txBox="1"/>
          <p:nvPr/>
        </p:nvSpPr>
        <p:spPr>
          <a:xfrm>
            <a:off x="548640" y="3566160"/>
            <a:ext cx="2491740" cy="1920240"/>
          </a:xfrm>
          <a:prstGeom prst="rect">
            <a:avLst/>
          </a:prstGeom>
          <a:noFill/>
          <a:ln/>
        </p:spPr>
        <p:txBody>
          <a:bodyPr wrap="square" lIns="0" tIns="0" rIns="0" bIns="0" rtlCol="0" anchor="t"/>
          <a:lstStyle/>
          <a:p>
            <a:pPr rtl="1" algn="ctr" indent="0" marL="0">
              <a:buNone/>
            </a:pPr>
            <a:r>
              <a:rPr lang="en-US" sz="1050" dirty="0">
                <a:solidFill>
                  <a:srgbClr val="51616B"/>
                </a:solidFill>
                <a:latin typeface="Calibri" pitchFamily="34" charset="0"/>
                <a:ea typeface="Calibri" pitchFamily="34" charset="-122"/>
                <a:cs typeface="Calibri" pitchFamily="34" charset="-120"/>
              </a:rPr>
              <a:t>بازه‌ی دقیق و پیوسته؛ امضا با کلید Vault؛ state فقط بعد از تأیید واقعی commit می‌شود</a:t>
            </a:r>
            <a:endParaRPr lang="en-US" sz="1050" dirty="0"/>
          </a:p>
        </p:txBody>
      </p:sp>
      <p:sp>
        <p:nvSpPr>
          <p:cNvPr id="31" name="Shape 25"/>
          <p:cNvSpPr/>
          <p:nvPr/>
        </p:nvSpPr>
        <p:spPr>
          <a:xfrm>
            <a:off x="429768" y="6446520"/>
            <a:ext cx="310896" cy="310896"/>
          </a:xfrm>
          <a:prstGeom prst="ellipse">
            <a:avLst/>
          </a:prstGeom>
          <a:solidFill>
            <a:srgbClr val="FFFFFF"/>
          </a:solidFill>
          <a:ln/>
        </p:spPr>
        <p:txBody>
          <a:bodyPr/>
          <a:p/>
        </p:txBody>
      </p:sp>
      <p:pic>
        <p:nvPicPr>
          <p:cNvPr id="32" name="Image 4" descr="/home/claude/deck2/assets/logo.png">    </p:cNvPr>
          <p:cNvPicPr>
            <a:picLocks noChangeAspect="1"/>
          </p:cNvPicPr>
          <p:nvPr/>
        </p:nvPicPr>
        <p:blipFill>
          <a:blip r:embed="rId5"/>
          <a:stretch>
            <a:fillRect/>
          </a:stretch>
        </p:blipFill>
        <p:spPr>
          <a:xfrm>
            <a:off x="457200" y="6473952"/>
            <a:ext cx="256032" cy="256032"/>
          </a:xfrm>
          <a:prstGeom prst="rect">
            <a:avLst/>
          </a:prstGeom>
        </p:spPr>
      </p:pic>
      <p:sp>
        <p:nvSpPr>
          <p:cNvPr id="33" name="Text 26"/>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34" name="Text 27"/>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Verifier</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کشف IP از admin_peers، نه خوداظهاری خام</a:t>
            </a:r>
            <a:endParaRPr lang="en-US" sz="2400" dirty="0"/>
          </a:p>
        </p:txBody>
      </p:sp>
      <p:sp>
        <p:nvSpPr>
          <p:cNvPr id="4" name="Shape 2"/>
          <p:cNvSpPr/>
          <p:nvPr/>
        </p:nvSpPr>
        <p:spPr>
          <a:xfrm>
            <a:off x="9966960" y="2005584"/>
            <a:ext cx="621792" cy="621792"/>
          </a:xfrm>
          <a:prstGeom prst="ellipse">
            <a:avLst/>
          </a:prstGeom>
          <a:solidFill>
            <a:srgbClr val="263238"/>
          </a:solidFill>
          <a:ln/>
        </p:spPr>
        <p:txBody>
          <a:bodyPr/>
          <a:p/>
        </p:txBody>
      </p:sp>
      <p:pic>
        <p:nvPicPr>
          <p:cNvPr id="5" name="Image 0" descr="/home/claude/deck2/icons/network.png">    </p:cNvPr>
          <p:cNvPicPr>
            <a:picLocks noChangeAspect="1"/>
          </p:cNvPicPr>
          <p:nvPr/>
        </p:nvPicPr>
        <p:blipFill>
          <a:blip r:embed="rId1"/>
          <a:stretch>
            <a:fillRect/>
          </a:stretch>
        </p:blipFill>
        <p:spPr>
          <a:xfrm>
            <a:off x="10128626" y="2167250"/>
            <a:ext cx="298460" cy="298460"/>
          </a:xfrm>
          <a:prstGeom prst="rect">
            <a:avLst/>
          </a:prstGeom>
        </p:spPr>
      </p:pic>
      <p:sp>
        <p:nvSpPr>
          <p:cNvPr id="6" name="Text 3"/>
          <p:cNvSpPr txBox="1"/>
          <p:nvPr/>
        </p:nvSpPr>
        <p:spPr>
          <a:xfrm>
            <a:off x="548640" y="150876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ولیدیتور فقط nodeID (بخش ثابت enode) را ثبت می‌کند، نه IP</a:t>
            </a:r>
            <a:endParaRPr lang="en-US" sz="1500" dirty="0"/>
          </a:p>
        </p:txBody>
      </p:sp>
      <p:sp>
        <p:nvSpPr>
          <p:cNvPr id="7" name="Text 4"/>
          <p:cNvSpPr txBox="1"/>
          <p:nvPr/>
        </p:nvSpPr>
        <p:spPr>
          <a:xfrm>
            <a:off x="548640" y="1856232"/>
            <a:ext cx="9144000" cy="123139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نود مانیتورینگ verifier با admin_peers، IP فعلی را زنده از لایه‌ی P2P می‌خواند.</a:t>
            </a:r>
            <a:endParaRPr lang="en-US" sz="1180" dirty="0"/>
          </a:p>
        </p:txBody>
      </p:sp>
      <p:sp>
        <p:nvSpPr>
          <p:cNvPr id="8" name="Shape 5"/>
          <p:cNvSpPr/>
          <p:nvPr/>
        </p:nvSpPr>
        <p:spPr>
          <a:xfrm>
            <a:off x="548640" y="3069336"/>
            <a:ext cx="10881360" cy="0"/>
          </a:xfrm>
          <a:prstGeom prst="line">
            <a:avLst/>
          </a:prstGeom>
          <a:noFill/>
          <a:ln w="12700">
            <a:solidFill>
              <a:srgbClr val="E0E6E7"/>
            </a:solidFill>
            <a:prstDash val="solid"/>
          </a:ln>
        </p:spPr>
        <p:txBody>
          <a:bodyPr/>
          <a:p/>
        </p:txBody>
      </p:sp>
      <p:sp>
        <p:nvSpPr>
          <p:cNvPr id="9" name="Shape 6"/>
          <p:cNvSpPr/>
          <p:nvPr/>
        </p:nvSpPr>
        <p:spPr>
          <a:xfrm>
            <a:off x="9966960" y="3621024"/>
            <a:ext cx="621792" cy="621792"/>
          </a:xfrm>
          <a:prstGeom prst="ellipse">
            <a:avLst/>
          </a:prstGeom>
          <a:solidFill>
            <a:srgbClr val="00BFA5"/>
          </a:solidFill>
          <a:ln/>
        </p:spPr>
        <p:txBody>
          <a:bodyPr/>
          <a:p/>
        </p:txBody>
      </p:sp>
      <p:pic>
        <p:nvPicPr>
          <p:cNvPr id="10" name="Image 1" descr="/home/claude/deck2/icons/sync.png">    </p:cNvPr>
          <p:cNvPicPr>
            <a:picLocks noChangeAspect="1"/>
          </p:cNvPicPr>
          <p:nvPr/>
        </p:nvPicPr>
        <p:blipFill>
          <a:blip r:embed="rId2"/>
          <a:stretch>
            <a:fillRect/>
          </a:stretch>
        </p:blipFill>
        <p:spPr>
          <a:xfrm>
            <a:off x="10128626" y="3782690"/>
            <a:ext cx="298460" cy="298460"/>
          </a:xfrm>
          <a:prstGeom prst="rect">
            <a:avLst/>
          </a:prstGeom>
        </p:spPr>
      </p:pic>
      <p:sp>
        <p:nvSpPr>
          <p:cNvPr id="11" name="Text 7"/>
          <p:cNvSpPr txBox="1"/>
          <p:nvPr/>
        </p:nvSpPr>
        <p:spPr>
          <a:xfrm>
            <a:off x="548640" y="312420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الگوریتم دقیق: Probation = حضور در admin_peers، Active = تولید واقعی بلاک</a:t>
            </a:r>
            <a:endParaRPr lang="en-US" sz="1500" dirty="0"/>
          </a:p>
        </p:txBody>
      </p:sp>
      <p:sp>
        <p:nvSpPr>
          <p:cNvPr id="12" name="Text 8"/>
          <p:cNvSpPr txBox="1"/>
          <p:nvPr/>
        </p:nvSpPr>
        <p:spPr>
          <a:xfrm>
            <a:off x="548640" y="3471672"/>
            <a:ext cx="9144000" cy="123139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پنجره‌ی ~۴۸۰۰ بلاک (۴ ساعت)؛ صرف نبود بلاک کافی نیست — فرصت مشارکت و سلامت شبکه هم بررسی می‌شود.</a:t>
            </a:r>
            <a:endParaRPr lang="en-US" sz="1180" dirty="0"/>
          </a:p>
        </p:txBody>
      </p:sp>
      <p:sp>
        <p:nvSpPr>
          <p:cNvPr id="13" name="Shape 9"/>
          <p:cNvSpPr/>
          <p:nvPr/>
        </p:nvSpPr>
        <p:spPr>
          <a:xfrm>
            <a:off x="548640" y="4684776"/>
            <a:ext cx="10881360" cy="0"/>
          </a:xfrm>
          <a:prstGeom prst="line">
            <a:avLst/>
          </a:prstGeom>
          <a:noFill/>
          <a:ln w="12700">
            <a:solidFill>
              <a:srgbClr val="E0E6E7"/>
            </a:solidFill>
            <a:prstDash val="solid"/>
          </a:ln>
        </p:spPr>
        <p:txBody>
          <a:bodyPr/>
          <a:p/>
        </p:txBody>
      </p:sp>
      <p:sp>
        <p:nvSpPr>
          <p:cNvPr id="14" name="Shape 10"/>
          <p:cNvSpPr/>
          <p:nvPr/>
        </p:nvSpPr>
        <p:spPr>
          <a:xfrm>
            <a:off x="9966960" y="5236464"/>
            <a:ext cx="621792" cy="621792"/>
          </a:xfrm>
          <a:prstGeom prst="ellipse">
            <a:avLst/>
          </a:prstGeom>
          <a:solidFill>
            <a:srgbClr val="263238"/>
          </a:solidFill>
          <a:ln/>
        </p:spPr>
        <p:txBody>
          <a:bodyPr/>
          <a:p/>
        </p:txBody>
      </p:sp>
      <p:pic>
        <p:nvPicPr>
          <p:cNvPr id="15" name="Image 2" descr="/home/claude/deck2/icons/shield.png">    </p:cNvPr>
          <p:cNvPicPr>
            <a:picLocks noChangeAspect="1"/>
          </p:cNvPicPr>
          <p:nvPr/>
        </p:nvPicPr>
        <p:blipFill>
          <a:blip r:embed="rId3"/>
          <a:stretch>
            <a:fillRect/>
          </a:stretch>
        </p:blipFill>
        <p:spPr>
          <a:xfrm>
            <a:off x="10128626" y="5398130"/>
            <a:ext cx="298460" cy="298460"/>
          </a:xfrm>
          <a:prstGeom prst="rect">
            <a:avLst/>
          </a:prstGeom>
        </p:spPr>
      </p:pic>
      <p:sp>
        <p:nvSpPr>
          <p:cNvPr id="16" name="Text 11"/>
          <p:cNvSpPr txBox="1"/>
          <p:nvPr/>
        </p:nvSpPr>
        <p:spPr>
          <a:xfrm>
            <a:off x="548640" y="473964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یک Verifier؛ افزونگی فقط برای دسترس‌پذیری: نمونه‌ی polling جانشین + سرویس امضای مشترک (نه چندناظری)</a:t>
            </a:r>
            <a:endParaRPr lang="en-US" sz="1500" dirty="0"/>
          </a:p>
        </p:txBody>
      </p:sp>
      <p:sp>
        <p:nvSpPr>
          <p:cNvPr id="17" name="Text 12"/>
          <p:cNvSpPr txBox="1"/>
          <p:nvPr/>
        </p:nvSpPr>
        <p:spPr>
          <a:xfrm>
            <a:off x="548640" y="5087112"/>
            <a:ext cx="9144000" cy="123139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polling ارزان و تکرارپذیر؛ امضا متمرکز و امن (Vault) — جدا از هم طراحی شده‌اند.</a:t>
            </a:r>
            <a:endParaRPr lang="en-US" sz="1180" dirty="0"/>
          </a:p>
        </p:txBody>
      </p:sp>
      <p:sp>
        <p:nvSpPr>
          <p:cNvPr id="18" name="Shape 13"/>
          <p:cNvSpPr/>
          <p:nvPr/>
        </p:nvSpPr>
        <p:spPr>
          <a:xfrm>
            <a:off x="429768" y="6446520"/>
            <a:ext cx="310896" cy="310896"/>
          </a:xfrm>
          <a:prstGeom prst="ellipse">
            <a:avLst/>
          </a:prstGeom>
          <a:solidFill>
            <a:srgbClr val="FFFFFF"/>
          </a:solidFill>
          <a:ln/>
        </p:spPr>
        <p:txBody>
          <a:bodyPr/>
          <a:p/>
        </p:txBody>
      </p:sp>
      <p:pic>
        <p:nvPicPr>
          <p:cNvPr id="19" name="Image 3" descr="/home/claude/deck2/assets/logo.png">    </p:cNvPr>
          <p:cNvPicPr>
            <a:picLocks noChangeAspect="1"/>
          </p:cNvPicPr>
          <p:nvPr/>
        </p:nvPicPr>
        <p:blipFill>
          <a:blip r:embed="rId4"/>
          <a:stretch>
            <a:fillRect/>
          </a:stretch>
        </p:blipFill>
        <p:spPr>
          <a:xfrm>
            <a:off x="457200" y="6473952"/>
            <a:ext cx="256032" cy="256032"/>
          </a:xfrm>
          <a:prstGeom prst="rect">
            <a:avLst/>
          </a:prstGeom>
        </p:spPr>
      </p:pic>
      <p:sp>
        <p:nvSpPr>
          <p:cNvPr id="20" name="Text 14"/>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21" name="Text 15"/>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PaymentReporter</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واسط بین درگاه پرداخت و SurenSale</a:t>
            </a:r>
            <a:endParaRPr lang="en-US" sz="2400" dirty="0"/>
          </a:p>
        </p:txBody>
      </p:sp>
      <p:sp>
        <p:nvSpPr>
          <p:cNvPr id="4" name="Shape 2"/>
          <p:cNvSpPr/>
          <p:nvPr/>
        </p:nvSpPr>
        <p:spPr>
          <a:xfrm>
            <a:off x="9589770" y="2103120"/>
            <a:ext cx="731520" cy="731520"/>
          </a:xfrm>
          <a:prstGeom prst="ellipse">
            <a:avLst/>
          </a:prstGeom>
          <a:solidFill>
            <a:srgbClr val="263238"/>
          </a:solidFill>
          <a:ln/>
        </p:spPr>
        <p:txBody>
          <a:bodyPr/>
          <a:p/>
        </p:txBody>
      </p:sp>
      <p:pic>
        <p:nvPicPr>
          <p:cNvPr id="5" name="Image 0" descr="/home/claude/deck2/icons/money.png">    </p:cNvPr>
          <p:cNvPicPr>
            <a:picLocks noChangeAspect="1"/>
          </p:cNvPicPr>
          <p:nvPr/>
        </p:nvPicPr>
        <p:blipFill>
          <a:blip r:embed="rId1"/>
          <a:stretch>
            <a:fillRect/>
          </a:stretch>
        </p:blipFill>
        <p:spPr>
          <a:xfrm>
            <a:off x="9779965" y="2293315"/>
            <a:ext cx="351130" cy="351130"/>
          </a:xfrm>
          <a:prstGeom prst="rect">
            <a:avLst/>
          </a:prstGeom>
        </p:spPr>
      </p:pic>
      <p:sp>
        <p:nvSpPr>
          <p:cNvPr id="6" name="Shape 3"/>
          <p:cNvSpPr/>
          <p:nvPr/>
        </p:nvSpPr>
        <p:spPr>
          <a:xfrm>
            <a:off x="9571482" y="1965960"/>
            <a:ext cx="329184" cy="329184"/>
          </a:xfrm>
          <a:prstGeom prst="ellipse">
            <a:avLst/>
          </a:prstGeom>
          <a:solidFill>
            <a:srgbClr val="00BFA5"/>
          </a:solidFill>
          <a:ln/>
        </p:spPr>
        <p:txBody>
          <a:bodyPr/>
          <a:p/>
        </p:txBody>
      </p:sp>
      <p:sp>
        <p:nvSpPr>
          <p:cNvPr id="7" name="Text 4"/>
          <p:cNvSpPr txBox="1"/>
          <p:nvPr/>
        </p:nvSpPr>
        <p:spPr>
          <a:xfrm>
            <a:off x="9571482" y="1956816"/>
            <a:ext cx="329184" cy="329184"/>
          </a:xfrm>
          <a:prstGeom prst="rect">
            <a:avLst/>
          </a:prstGeom>
          <a:noFill/>
          <a:ln/>
        </p:spPr>
        <p:txBody>
          <a:bodyPr wrap="square" lIns="0" tIns="0" rIns="0" bIns="0" rtlCol="0" anchor="ctr"/>
          <a:lstStyle/>
          <a:p>
            <a:pPr algn="ctr" indent="0" marL="0">
              <a:buNone/>
            </a:pPr>
            <a:r>
              <a:rPr lang="en-US" sz="1300" b="1" dirty="0">
                <a:solidFill>
                  <a:srgbClr val="263238"/>
                </a:solidFill>
                <a:latin typeface="Arial" pitchFamily="34" charset="0"/>
                <a:ea typeface="Arial" pitchFamily="34" charset="-122"/>
                <a:cs typeface="Arial" pitchFamily="34" charset="-120"/>
              </a:rPr>
              <a:t>1</a:t>
            </a:r>
            <a:endParaRPr lang="en-US" sz="1300" dirty="0"/>
          </a:p>
        </p:txBody>
      </p:sp>
      <p:sp>
        <p:nvSpPr>
          <p:cNvPr id="8" name="Text 5"/>
          <p:cNvSpPr txBox="1"/>
          <p:nvPr/>
        </p:nvSpPr>
        <p:spPr>
          <a:xfrm>
            <a:off x="8709660" y="3063240"/>
            <a:ext cx="2491740" cy="548640"/>
          </a:xfrm>
          <a:prstGeom prst="rect">
            <a:avLst/>
          </a:prstGeom>
          <a:noFill/>
          <a:ln/>
        </p:spPr>
        <p:txBody>
          <a:bodyPr wrap="square" lIns="0" tIns="0" rIns="0" bIns="0" rtlCol="0" anchor="ctr"/>
          <a:lstStyle/>
          <a:p>
            <a:pPr rtl="1" algn="ctr" indent="0" marL="0">
              <a:buNone/>
            </a:pPr>
            <a:r>
              <a:rPr lang="en-US" sz="1250" b="1" dirty="0">
                <a:solidFill>
                  <a:srgbClr val="1B1B1B"/>
                </a:solidFill>
                <a:latin typeface="Calibri" pitchFamily="34" charset="0"/>
                <a:ea typeface="Calibri" pitchFamily="34" charset="-122"/>
                <a:cs typeface="Calibri" pitchFamily="34" charset="-120"/>
              </a:rPr>
              <a:t>دریافت webhook</a:t>
            </a:r>
            <a:endParaRPr lang="en-US" sz="1250" dirty="0"/>
          </a:p>
        </p:txBody>
      </p:sp>
      <p:sp>
        <p:nvSpPr>
          <p:cNvPr id="9" name="Text 6"/>
          <p:cNvSpPr txBox="1"/>
          <p:nvPr/>
        </p:nvSpPr>
        <p:spPr>
          <a:xfrm>
            <a:off x="8709660" y="3566160"/>
            <a:ext cx="2491740" cy="1920240"/>
          </a:xfrm>
          <a:prstGeom prst="rect">
            <a:avLst/>
          </a:prstGeom>
          <a:noFill/>
          <a:ln/>
        </p:spPr>
        <p:txBody>
          <a:bodyPr wrap="square" lIns="0" tIns="0" rIns="0" bIns="0" rtlCol="0" anchor="t"/>
          <a:lstStyle/>
          <a:p>
            <a:pPr rtl="1" algn="ctr" indent="0" marL="0">
              <a:buNone/>
            </a:pPr>
            <a:r>
              <a:rPr lang="en-US" sz="1050" dirty="0">
                <a:solidFill>
                  <a:srgbClr val="51616B"/>
                </a:solidFill>
                <a:latin typeface="Calibri" pitchFamily="34" charset="0"/>
                <a:ea typeface="Calibri" pitchFamily="34" charset="-122"/>
                <a:cs typeface="Calibri" pitchFamily="34" charset="-120"/>
              </a:rPr>
              <a:t>از درگاه پرداخت بانکی</a:t>
            </a:r>
            <a:endParaRPr lang="en-US" sz="1050" dirty="0"/>
          </a:p>
        </p:txBody>
      </p:sp>
      <p:sp>
        <p:nvSpPr>
          <p:cNvPr id="10" name="Shape 7"/>
          <p:cNvSpPr/>
          <p:nvPr/>
        </p:nvSpPr>
        <p:spPr>
          <a:xfrm>
            <a:off x="8481060" y="2468880"/>
            <a:ext cx="228600" cy="0"/>
          </a:xfrm>
          <a:prstGeom prst="line">
            <a:avLst/>
          </a:prstGeom>
          <a:noFill/>
          <a:ln w="19050">
            <a:solidFill>
              <a:srgbClr val="C6D0D2"/>
            </a:solidFill>
            <a:prstDash val="solid"/>
          </a:ln>
        </p:spPr>
        <p:txBody>
          <a:bodyPr/>
          <a:p/>
        </p:txBody>
      </p:sp>
      <p:sp>
        <p:nvSpPr>
          <p:cNvPr id="11" name="Shape 8"/>
          <p:cNvSpPr/>
          <p:nvPr/>
        </p:nvSpPr>
        <p:spPr>
          <a:xfrm>
            <a:off x="6869430" y="2103120"/>
            <a:ext cx="731520" cy="731520"/>
          </a:xfrm>
          <a:prstGeom prst="ellipse">
            <a:avLst/>
          </a:prstGeom>
          <a:solidFill>
            <a:srgbClr val="263238"/>
          </a:solidFill>
          <a:ln/>
        </p:spPr>
        <p:txBody>
          <a:bodyPr/>
          <a:p/>
        </p:txBody>
      </p:sp>
      <p:pic>
        <p:nvPicPr>
          <p:cNvPr id="12" name="Image 1" descr="/home/claude/deck2/icons/search.png">    </p:cNvPr>
          <p:cNvPicPr>
            <a:picLocks noChangeAspect="1"/>
          </p:cNvPicPr>
          <p:nvPr/>
        </p:nvPicPr>
        <p:blipFill>
          <a:blip r:embed="rId2"/>
          <a:stretch>
            <a:fillRect/>
          </a:stretch>
        </p:blipFill>
        <p:spPr>
          <a:xfrm>
            <a:off x="7059625" y="2293315"/>
            <a:ext cx="351130" cy="351130"/>
          </a:xfrm>
          <a:prstGeom prst="rect">
            <a:avLst/>
          </a:prstGeom>
        </p:spPr>
      </p:pic>
      <p:sp>
        <p:nvSpPr>
          <p:cNvPr id="13" name="Shape 9"/>
          <p:cNvSpPr/>
          <p:nvPr/>
        </p:nvSpPr>
        <p:spPr>
          <a:xfrm>
            <a:off x="6851142" y="1965960"/>
            <a:ext cx="329184" cy="329184"/>
          </a:xfrm>
          <a:prstGeom prst="ellipse">
            <a:avLst/>
          </a:prstGeom>
          <a:solidFill>
            <a:srgbClr val="00BFA5"/>
          </a:solidFill>
          <a:ln/>
        </p:spPr>
        <p:txBody>
          <a:bodyPr/>
          <a:p/>
        </p:txBody>
      </p:sp>
      <p:sp>
        <p:nvSpPr>
          <p:cNvPr id="14" name="Text 10"/>
          <p:cNvSpPr txBox="1"/>
          <p:nvPr/>
        </p:nvSpPr>
        <p:spPr>
          <a:xfrm>
            <a:off x="6851142" y="1956816"/>
            <a:ext cx="329184" cy="329184"/>
          </a:xfrm>
          <a:prstGeom prst="rect">
            <a:avLst/>
          </a:prstGeom>
          <a:noFill/>
          <a:ln/>
        </p:spPr>
        <p:txBody>
          <a:bodyPr wrap="square" lIns="0" tIns="0" rIns="0" bIns="0" rtlCol="0" anchor="ctr"/>
          <a:lstStyle/>
          <a:p>
            <a:pPr algn="ctr" indent="0" marL="0">
              <a:buNone/>
            </a:pPr>
            <a:r>
              <a:rPr lang="en-US" sz="1300" b="1" dirty="0">
                <a:solidFill>
                  <a:srgbClr val="263238"/>
                </a:solidFill>
                <a:latin typeface="Arial" pitchFamily="34" charset="0"/>
                <a:ea typeface="Arial" pitchFamily="34" charset="-122"/>
                <a:cs typeface="Arial" pitchFamily="34" charset="-120"/>
              </a:rPr>
              <a:t>2</a:t>
            </a:r>
            <a:endParaRPr lang="en-US" sz="1300" dirty="0"/>
          </a:p>
        </p:txBody>
      </p:sp>
      <p:sp>
        <p:nvSpPr>
          <p:cNvPr id="15" name="Text 11"/>
          <p:cNvSpPr txBox="1"/>
          <p:nvPr/>
        </p:nvSpPr>
        <p:spPr>
          <a:xfrm>
            <a:off x="5989320" y="3063240"/>
            <a:ext cx="2491740" cy="548640"/>
          </a:xfrm>
          <a:prstGeom prst="rect">
            <a:avLst/>
          </a:prstGeom>
          <a:noFill/>
          <a:ln/>
        </p:spPr>
        <p:txBody>
          <a:bodyPr wrap="square" lIns="0" tIns="0" rIns="0" bIns="0" rtlCol="0" anchor="ctr"/>
          <a:lstStyle/>
          <a:p>
            <a:pPr rtl="1" algn="ctr" indent="0" marL="0">
              <a:buNone/>
            </a:pPr>
            <a:r>
              <a:rPr lang="en-US" sz="1250" b="1" dirty="0">
                <a:solidFill>
                  <a:srgbClr val="1B1B1B"/>
                </a:solidFill>
                <a:latin typeface="Calibri" pitchFamily="34" charset="0"/>
                <a:ea typeface="Calibri" pitchFamily="34" charset="-122"/>
                <a:cs typeface="Calibri" pitchFamily="34" charset="-120"/>
              </a:rPr>
              <a:t>تأیید مستقل مجدد</a:t>
            </a:r>
            <a:endParaRPr lang="en-US" sz="1250" dirty="0"/>
          </a:p>
        </p:txBody>
      </p:sp>
      <p:sp>
        <p:nvSpPr>
          <p:cNvPr id="16" name="Text 12"/>
          <p:cNvSpPr txBox="1"/>
          <p:nvPr/>
        </p:nvSpPr>
        <p:spPr>
          <a:xfrm>
            <a:off x="5989320" y="3566160"/>
            <a:ext cx="2491740" cy="1920240"/>
          </a:xfrm>
          <a:prstGeom prst="rect">
            <a:avLst/>
          </a:prstGeom>
          <a:noFill/>
          <a:ln/>
        </p:spPr>
        <p:txBody>
          <a:bodyPr wrap="square" lIns="0" tIns="0" rIns="0" bIns="0" rtlCol="0" anchor="t"/>
          <a:lstStyle/>
          <a:p>
            <a:pPr rtl="1" algn="ctr" indent="0" marL="0">
              <a:buNone/>
            </a:pPr>
            <a:r>
              <a:rPr lang="en-US" sz="1050" dirty="0">
                <a:solidFill>
                  <a:srgbClr val="51616B"/>
                </a:solidFill>
                <a:latin typeface="Calibri" pitchFamily="34" charset="0"/>
                <a:ea typeface="Calibri" pitchFamily="34" charset="-122"/>
                <a:cs typeface="Calibri" pitchFamily="34" charset="-120"/>
              </a:rPr>
              <a:t>هرگز فقط به webhook اعتماد نمی‌شود</a:t>
            </a:r>
            <a:endParaRPr lang="en-US" sz="1050" dirty="0"/>
          </a:p>
        </p:txBody>
      </p:sp>
      <p:sp>
        <p:nvSpPr>
          <p:cNvPr id="17" name="Shape 13"/>
          <p:cNvSpPr/>
          <p:nvPr/>
        </p:nvSpPr>
        <p:spPr>
          <a:xfrm>
            <a:off x="5760720" y="2468880"/>
            <a:ext cx="228600" cy="0"/>
          </a:xfrm>
          <a:prstGeom prst="line">
            <a:avLst/>
          </a:prstGeom>
          <a:noFill/>
          <a:ln w="19050">
            <a:solidFill>
              <a:srgbClr val="C6D0D2"/>
            </a:solidFill>
            <a:prstDash val="solid"/>
          </a:ln>
        </p:spPr>
        <p:txBody>
          <a:bodyPr/>
          <a:p/>
        </p:txBody>
      </p:sp>
      <p:sp>
        <p:nvSpPr>
          <p:cNvPr id="18" name="Shape 14"/>
          <p:cNvSpPr/>
          <p:nvPr/>
        </p:nvSpPr>
        <p:spPr>
          <a:xfrm>
            <a:off x="4149090" y="2103120"/>
            <a:ext cx="731520" cy="731520"/>
          </a:xfrm>
          <a:prstGeom prst="ellipse">
            <a:avLst/>
          </a:prstGeom>
          <a:solidFill>
            <a:srgbClr val="263238"/>
          </a:solidFill>
          <a:ln/>
        </p:spPr>
        <p:txBody>
          <a:bodyPr/>
          <a:p/>
        </p:txBody>
      </p:sp>
      <p:pic>
        <p:nvPicPr>
          <p:cNvPr id="19" name="Image 2" descr="/home/claude/deck2/icons/key.png">    </p:cNvPr>
          <p:cNvPicPr>
            <a:picLocks noChangeAspect="1"/>
          </p:cNvPicPr>
          <p:nvPr/>
        </p:nvPicPr>
        <p:blipFill>
          <a:blip r:embed="rId3"/>
          <a:stretch>
            <a:fillRect/>
          </a:stretch>
        </p:blipFill>
        <p:spPr>
          <a:xfrm>
            <a:off x="4339285" y="2293315"/>
            <a:ext cx="351130" cy="351130"/>
          </a:xfrm>
          <a:prstGeom prst="rect">
            <a:avLst/>
          </a:prstGeom>
        </p:spPr>
      </p:pic>
      <p:sp>
        <p:nvSpPr>
          <p:cNvPr id="20" name="Shape 15"/>
          <p:cNvSpPr/>
          <p:nvPr/>
        </p:nvSpPr>
        <p:spPr>
          <a:xfrm>
            <a:off x="4130802" y="1965960"/>
            <a:ext cx="329184" cy="329184"/>
          </a:xfrm>
          <a:prstGeom prst="ellipse">
            <a:avLst/>
          </a:prstGeom>
          <a:solidFill>
            <a:srgbClr val="00BFA5"/>
          </a:solidFill>
          <a:ln/>
        </p:spPr>
        <p:txBody>
          <a:bodyPr/>
          <a:p/>
        </p:txBody>
      </p:sp>
      <p:sp>
        <p:nvSpPr>
          <p:cNvPr id="21" name="Text 16"/>
          <p:cNvSpPr txBox="1"/>
          <p:nvPr/>
        </p:nvSpPr>
        <p:spPr>
          <a:xfrm>
            <a:off x="4130802" y="1956816"/>
            <a:ext cx="329184" cy="329184"/>
          </a:xfrm>
          <a:prstGeom prst="rect">
            <a:avLst/>
          </a:prstGeom>
          <a:noFill/>
          <a:ln/>
        </p:spPr>
        <p:txBody>
          <a:bodyPr wrap="square" lIns="0" tIns="0" rIns="0" bIns="0" rtlCol="0" anchor="ctr"/>
          <a:lstStyle/>
          <a:p>
            <a:pPr algn="ctr" indent="0" marL="0">
              <a:buNone/>
            </a:pPr>
            <a:r>
              <a:rPr lang="en-US" sz="1300" b="1" dirty="0">
                <a:solidFill>
                  <a:srgbClr val="263238"/>
                </a:solidFill>
                <a:latin typeface="Arial" pitchFamily="34" charset="0"/>
                <a:ea typeface="Arial" pitchFamily="34" charset="-122"/>
                <a:cs typeface="Arial" pitchFamily="34" charset="-120"/>
              </a:rPr>
              <a:t>3</a:t>
            </a:r>
            <a:endParaRPr lang="en-US" sz="1300" dirty="0"/>
          </a:p>
        </p:txBody>
      </p:sp>
      <p:sp>
        <p:nvSpPr>
          <p:cNvPr id="22" name="Text 17"/>
          <p:cNvSpPr txBox="1"/>
          <p:nvPr/>
        </p:nvSpPr>
        <p:spPr>
          <a:xfrm>
            <a:off x="3268980" y="3063240"/>
            <a:ext cx="2491740" cy="548640"/>
          </a:xfrm>
          <a:prstGeom prst="rect">
            <a:avLst/>
          </a:prstGeom>
          <a:noFill/>
          <a:ln/>
        </p:spPr>
        <p:txBody>
          <a:bodyPr wrap="square" lIns="0" tIns="0" rIns="0" bIns="0" rtlCol="0" anchor="ctr"/>
          <a:lstStyle/>
          <a:p>
            <a:pPr rtl="1" algn="ctr" indent="0" marL="0">
              <a:buNone/>
            </a:pPr>
            <a:r>
              <a:rPr lang="en-US" sz="1250" b="1" dirty="0">
                <a:solidFill>
                  <a:srgbClr val="1B1B1B"/>
                </a:solidFill>
                <a:latin typeface="Calibri" pitchFamily="34" charset="0"/>
                <a:ea typeface="Calibri" pitchFamily="34" charset="-122"/>
                <a:cs typeface="Calibri" pitchFamily="34" charset="-120"/>
              </a:rPr>
              <a:t>reportPayment()</a:t>
            </a:r>
            <a:endParaRPr lang="en-US" sz="1250" dirty="0"/>
          </a:p>
        </p:txBody>
      </p:sp>
      <p:sp>
        <p:nvSpPr>
          <p:cNvPr id="23" name="Text 18"/>
          <p:cNvSpPr txBox="1"/>
          <p:nvPr/>
        </p:nvSpPr>
        <p:spPr>
          <a:xfrm>
            <a:off x="3268980" y="3566160"/>
            <a:ext cx="2491740" cy="1920240"/>
          </a:xfrm>
          <a:prstGeom prst="rect">
            <a:avLst/>
          </a:prstGeom>
          <a:noFill/>
          <a:ln/>
        </p:spPr>
        <p:txBody>
          <a:bodyPr wrap="square" lIns="0" tIns="0" rIns="0" bIns="0" rtlCol="0" anchor="t"/>
          <a:lstStyle/>
          <a:p>
            <a:pPr rtl="1" algn="ctr" indent="0" marL="0">
              <a:buNone/>
            </a:pPr>
            <a:r>
              <a:rPr lang="en-US" sz="1050" dirty="0">
                <a:solidFill>
                  <a:srgbClr val="51616B"/>
                </a:solidFill>
                <a:latin typeface="Calibri" pitchFamily="34" charset="0"/>
                <a:ea typeface="Calibri" pitchFamily="34" charset="-122"/>
                <a:cs typeface="Calibri" pitchFamily="34" charset="-120"/>
              </a:rPr>
              <a:t>امضا با کلید Vault، جدا از verifier/distributionOracle</a:t>
            </a:r>
            <a:endParaRPr lang="en-US" sz="1050" dirty="0"/>
          </a:p>
        </p:txBody>
      </p:sp>
      <p:sp>
        <p:nvSpPr>
          <p:cNvPr id="24" name="Shape 19"/>
          <p:cNvSpPr/>
          <p:nvPr/>
        </p:nvSpPr>
        <p:spPr>
          <a:xfrm>
            <a:off x="3040380" y="2468880"/>
            <a:ext cx="228600" cy="0"/>
          </a:xfrm>
          <a:prstGeom prst="line">
            <a:avLst/>
          </a:prstGeom>
          <a:noFill/>
          <a:ln w="19050">
            <a:solidFill>
              <a:srgbClr val="C6D0D2"/>
            </a:solidFill>
            <a:prstDash val="solid"/>
          </a:ln>
        </p:spPr>
        <p:txBody>
          <a:bodyPr/>
          <a:p/>
        </p:txBody>
      </p:sp>
      <p:sp>
        <p:nvSpPr>
          <p:cNvPr id="25" name="Shape 20"/>
          <p:cNvSpPr/>
          <p:nvPr/>
        </p:nvSpPr>
        <p:spPr>
          <a:xfrm>
            <a:off x="1428750" y="2103120"/>
            <a:ext cx="731520" cy="731520"/>
          </a:xfrm>
          <a:prstGeom prst="ellipse">
            <a:avLst/>
          </a:prstGeom>
          <a:solidFill>
            <a:srgbClr val="263238"/>
          </a:solidFill>
          <a:ln/>
        </p:spPr>
        <p:txBody>
          <a:bodyPr/>
          <a:p/>
        </p:txBody>
      </p:sp>
      <p:pic>
        <p:nvPicPr>
          <p:cNvPr id="26" name="Image 3" descr="/home/claude/deck2/icons/warning.png">    </p:cNvPr>
          <p:cNvPicPr>
            <a:picLocks noChangeAspect="1"/>
          </p:cNvPicPr>
          <p:nvPr/>
        </p:nvPicPr>
        <p:blipFill>
          <a:blip r:embed="rId4"/>
          <a:stretch>
            <a:fillRect/>
          </a:stretch>
        </p:blipFill>
        <p:spPr>
          <a:xfrm>
            <a:off x="1618945" y="2293315"/>
            <a:ext cx="351130" cy="351130"/>
          </a:xfrm>
          <a:prstGeom prst="rect">
            <a:avLst/>
          </a:prstGeom>
        </p:spPr>
      </p:pic>
      <p:sp>
        <p:nvSpPr>
          <p:cNvPr id="27" name="Shape 21"/>
          <p:cNvSpPr/>
          <p:nvPr/>
        </p:nvSpPr>
        <p:spPr>
          <a:xfrm>
            <a:off x="1410462" y="1965960"/>
            <a:ext cx="329184" cy="329184"/>
          </a:xfrm>
          <a:prstGeom prst="ellipse">
            <a:avLst/>
          </a:prstGeom>
          <a:solidFill>
            <a:srgbClr val="00BFA5"/>
          </a:solidFill>
          <a:ln/>
        </p:spPr>
        <p:txBody>
          <a:bodyPr/>
          <a:p/>
        </p:txBody>
      </p:sp>
      <p:sp>
        <p:nvSpPr>
          <p:cNvPr id="28" name="Text 22"/>
          <p:cNvSpPr txBox="1"/>
          <p:nvPr/>
        </p:nvSpPr>
        <p:spPr>
          <a:xfrm>
            <a:off x="1410462" y="1956816"/>
            <a:ext cx="329184" cy="329184"/>
          </a:xfrm>
          <a:prstGeom prst="rect">
            <a:avLst/>
          </a:prstGeom>
          <a:noFill/>
          <a:ln/>
        </p:spPr>
        <p:txBody>
          <a:bodyPr wrap="square" lIns="0" tIns="0" rIns="0" bIns="0" rtlCol="0" anchor="ctr"/>
          <a:lstStyle/>
          <a:p>
            <a:pPr algn="ctr" indent="0" marL="0">
              <a:buNone/>
            </a:pPr>
            <a:r>
              <a:rPr lang="en-US" sz="1300" b="1" dirty="0">
                <a:solidFill>
                  <a:srgbClr val="263238"/>
                </a:solidFill>
                <a:latin typeface="Arial" pitchFamily="34" charset="0"/>
                <a:ea typeface="Arial" pitchFamily="34" charset="-122"/>
                <a:cs typeface="Arial" pitchFamily="34" charset="-120"/>
              </a:rPr>
              <a:t>4</a:t>
            </a:r>
            <a:endParaRPr lang="en-US" sz="1300" dirty="0"/>
          </a:p>
        </p:txBody>
      </p:sp>
      <p:sp>
        <p:nvSpPr>
          <p:cNvPr id="29" name="Text 23"/>
          <p:cNvSpPr txBox="1"/>
          <p:nvPr/>
        </p:nvSpPr>
        <p:spPr>
          <a:xfrm>
            <a:off x="548640" y="3063240"/>
            <a:ext cx="2491740" cy="548640"/>
          </a:xfrm>
          <a:prstGeom prst="rect">
            <a:avLst/>
          </a:prstGeom>
          <a:noFill/>
          <a:ln/>
        </p:spPr>
        <p:txBody>
          <a:bodyPr wrap="square" lIns="0" tIns="0" rIns="0" bIns="0" rtlCol="0" anchor="ctr"/>
          <a:lstStyle/>
          <a:p>
            <a:pPr rtl="1" algn="ctr" indent="0" marL="0">
              <a:buNone/>
            </a:pPr>
            <a:r>
              <a:rPr lang="en-US" sz="1250" b="1" dirty="0">
                <a:solidFill>
                  <a:srgbClr val="1B1B1B"/>
                </a:solidFill>
                <a:latin typeface="Calibri" pitchFamily="34" charset="0"/>
                <a:ea typeface="Calibri" pitchFamily="34" charset="-122"/>
                <a:cs typeface="Calibri" pitchFamily="34" charset="-120"/>
              </a:rPr>
              <a:t>خطا = پیجینگ فوری</a:t>
            </a:r>
            <a:endParaRPr lang="en-US" sz="1250" dirty="0"/>
          </a:p>
        </p:txBody>
      </p:sp>
      <p:sp>
        <p:nvSpPr>
          <p:cNvPr id="30" name="Text 24"/>
          <p:cNvSpPr txBox="1"/>
          <p:nvPr/>
        </p:nvSpPr>
        <p:spPr>
          <a:xfrm>
            <a:off x="548640" y="3566160"/>
            <a:ext cx="2491740" cy="1920240"/>
          </a:xfrm>
          <a:prstGeom prst="rect">
            <a:avLst/>
          </a:prstGeom>
          <a:noFill/>
          <a:ln/>
        </p:spPr>
        <p:txBody>
          <a:bodyPr wrap="square" lIns="0" tIns="0" rIns="0" bIns="0" rtlCol="0" anchor="t"/>
          <a:lstStyle/>
          <a:p>
            <a:pPr rtl="1" algn="ctr" indent="0" marL="0">
              <a:buNone/>
            </a:pPr>
            <a:r>
              <a:rPr lang="en-US" sz="1050" dirty="0">
                <a:solidFill>
                  <a:srgbClr val="51616B"/>
                </a:solidFill>
                <a:latin typeface="Calibri" pitchFamily="34" charset="0"/>
                <a:ea typeface="Calibri" pitchFamily="34" charset="-122"/>
                <a:cs typeface="Calibri" pitchFamily="34" charset="-120"/>
              </a:rPr>
              <a:t>سناریوی «پول گرفته، سورن نرفته» نیازمند رسیدگی دستی سریع است</a:t>
            </a:r>
            <a:endParaRPr lang="en-US" sz="1050" dirty="0"/>
          </a:p>
        </p:txBody>
      </p:sp>
      <p:sp>
        <p:nvSpPr>
          <p:cNvPr id="31" name="Shape 25"/>
          <p:cNvSpPr/>
          <p:nvPr/>
        </p:nvSpPr>
        <p:spPr>
          <a:xfrm>
            <a:off x="429768" y="6446520"/>
            <a:ext cx="310896" cy="310896"/>
          </a:xfrm>
          <a:prstGeom prst="ellipse">
            <a:avLst/>
          </a:prstGeom>
          <a:solidFill>
            <a:srgbClr val="FFFFFF"/>
          </a:solidFill>
          <a:ln/>
        </p:spPr>
        <p:txBody>
          <a:bodyPr/>
          <a:p/>
        </p:txBody>
      </p:sp>
      <p:pic>
        <p:nvPicPr>
          <p:cNvPr id="32" name="Image 4" descr="/home/claude/deck2/assets/logo.png">    </p:cNvPr>
          <p:cNvPicPr>
            <a:picLocks noChangeAspect="1"/>
          </p:cNvPicPr>
          <p:nvPr/>
        </p:nvPicPr>
        <p:blipFill>
          <a:blip r:embed="rId5"/>
          <a:stretch>
            <a:fillRect/>
          </a:stretch>
        </p:blipFill>
        <p:spPr>
          <a:xfrm>
            <a:off x="457200" y="6473952"/>
            <a:ext cx="256032" cy="256032"/>
          </a:xfrm>
          <a:prstGeom prst="rect">
            <a:avLst/>
          </a:prstGeom>
        </p:spPr>
      </p:pic>
      <p:sp>
        <p:nvSpPr>
          <p:cNvPr id="33" name="Text 26"/>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34" name="Text 27"/>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Identity Service</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یکپارچه‌سازی eKYC و matching API</a:t>
            </a:r>
            <a:endParaRPr lang="en-US" sz="2400" dirty="0"/>
          </a:p>
        </p:txBody>
      </p:sp>
      <p:sp>
        <p:nvSpPr>
          <p:cNvPr id="4" name="Shape 2"/>
          <p:cNvSpPr/>
          <p:nvPr/>
        </p:nvSpPr>
        <p:spPr>
          <a:xfrm>
            <a:off x="9966960" y="2409444"/>
            <a:ext cx="621792" cy="621792"/>
          </a:xfrm>
          <a:prstGeom prst="ellipse">
            <a:avLst/>
          </a:prstGeom>
          <a:solidFill>
            <a:srgbClr val="00BFA5"/>
          </a:solidFill>
          <a:ln/>
        </p:spPr>
        <p:txBody>
          <a:bodyPr/>
          <a:p/>
        </p:txBody>
      </p:sp>
      <p:pic>
        <p:nvPicPr>
          <p:cNvPr id="5" name="Image 0" descr="/home/claude/deck2/icons/fingerprint.png">    </p:cNvPr>
          <p:cNvPicPr>
            <a:picLocks noChangeAspect="1"/>
          </p:cNvPicPr>
          <p:nvPr/>
        </p:nvPicPr>
        <p:blipFill>
          <a:blip r:embed="rId1"/>
          <a:stretch>
            <a:fillRect/>
          </a:stretch>
        </p:blipFill>
        <p:spPr>
          <a:xfrm>
            <a:off x="10128626" y="2571110"/>
            <a:ext cx="298460" cy="298460"/>
          </a:xfrm>
          <a:prstGeom prst="rect">
            <a:avLst/>
          </a:prstGeom>
        </p:spPr>
      </p:pic>
      <p:sp>
        <p:nvSpPr>
          <p:cNvPr id="6" name="Text 3"/>
          <p:cNvSpPr txBox="1"/>
          <p:nvPr/>
        </p:nvSpPr>
        <p:spPr>
          <a:xfrm>
            <a:off x="548640" y="150876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کوئری «تطبیق» همیشه API آف‌چین است، هرگز تراکنش</a:t>
            </a:r>
            <a:endParaRPr lang="en-US" sz="1500" dirty="0"/>
          </a:p>
        </p:txBody>
      </p:sp>
      <p:sp>
        <p:nvSpPr>
          <p:cNvPr id="7" name="Text 4"/>
          <p:cNvSpPr txBox="1"/>
          <p:nvPr/>
        </p:nvSpPr>
        <p:spPr>
          <a:xfrm>
            <a:off x="548640" y="1856232"/>
            <a:ext cx="9144000" cy="203911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چون خودِ پارامتر ورودی تراکنش هم در calldata عمومی زنجیره قابل‌مشاهده است.</a:t>
            </a:r>
            <a:endParaRPr lang="en-US" sz="1180" dirty="0"/>
          </a:p>
        </p:txBody>
      </p:sp>
      <p:sp>
        <p:nvSpPr>
          <p:cNvPr id="8" name="Shape 5"/>
          <p:cNvSpPr/>
          <p:nvPr/>
        </p:nvSpPr>
        <p:spPr>
          <a:xfrm>
            <a:off x="548640" y="3877056"/>
            <a:ext cx="10881360" cy="0"/>
          </a:xfrm>
          <a:prstGeom prst="line">
            <a:avLst/>
          </a:prstGeom>
          <a:noFill/>
          <a:ln w="12700">
            <a:solidFill>
              <a:srgbClr val="E0E6E7"/>
            </a:solidFill>
            <a:prstDash val="solid"/>
          </a:ln>
        </p:spPr>
        <p:txBody>
          <a:bodyPr/>
          <a:p/>
        </p:txBody>
      </p:sp>
      <p:sp>
        <p:nvSpPr>
          <p:cNvPr id="9" name="Shape 6"/>
          <p:cNvSpPr/>
          <p:nvPr/>
        </p:nvSpPr>
        <p:spPr>
          <a:xfrm>
            <a:off x="9966960" y="4832604"/>
            <a:ext cx="621792" cy="621792"/>
          </a:xfrm>
          <a:prstGeom prst="ellipse">
            <a:avLst/>
          </a:prstGeom>
          <a:solidFill>
            <a:srgbClr val="263238"/>
          </a:solidFill>
          <a:ln/>
        </p:spPr>
        <p:txBody>
          <a:bodyPr/>
          <a:p/>
        </p:txBody>
      </p:sp>
      <p:pic>
        <p:nvPicPr>
          <p:cNvPr id="10" name="Image 1" descr="/home/claude/deck2/icons/secret.png">    </p:cNvPr>
          <p:cNvPicPr>
            <a:picLocks noChangeAspect="1"/>
          </p:cNvPicPr>
          <p:nvPr/>
        </p:nvPicPr>
        <p:blipFill>
          <a:blip r:embed="rId2"/>
          <a:stretch>
            <a:fillRect/>
          </a:stretch>
        </p:blipFill>
        <p:spPr>
          <a:xfrm>
            <a:off x="10128626" y="4994270"/>
            <a:ext cx="298460" cy="298460"/>
          </a:xfrm>
          <a:prstGeom prst="rect">
            <a:avLst/>
          </a:prstGeom>
        </p:spPr>
      </p:pic>
      <p:sp>
        <p:nvSpPr>
          <p:cNvPr id="11" name="Text 7"/>
          <p:cNvSpPr txBox="1"/>
          <p:nvPr/>
        </p:nvSpPr>
        <p:spPr>
          <a:xfrm>
            <a:off x="548640" y="393192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داده‌ی خام (تصویر، بیومتریک) فقط پیش سرویس‌دهنده‌ی eKYC می‌ماند</a:t>
            </a:r>
            <a:endParaRPr lang="en-US" sz="1500" dirty="0"/>
          </a:p>
        </p:txBody>
      </p:sp>
      <p:sp>
        <p:nvSpPr>
          <p:cNvPr id="12" name="Text 8"/>
          <p:cNvSpPr txBox="1"/>
          <p:nvPr/>
        </p:nvSpPr>
        <p:spPr>
          <a:xfrm>
            <a:off x="548640" y="4279392"/>
            <a:ext cx="9144000" cy="203911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ما فقط نتیجه (verified: true/false) و یک session reference نگه می‌داریم.</a:t>
            </a:r>
            <a:endParaRPr lang="en-US" sz="1180" dirty="0"/>
          </a:p>
        </p:txBody>
      </p:sp>
      <p:sp>
        <p:nvSpPr>
          <p:cNvPr id="13" name="Shape 9"/>
          <p:cNvSpPr/>
          <p:nvPr/>
        </p:nvSpPr>
        <p:spPr>
          <a:xfrm>
            <a:off x="429768" y="6446520"/>
            <a:ext cx="310896" cy="310896"/>
          </a:xfrm>
          <a:prstGeom prst="ellipse">
            <a:avLst/>
          </a:prstGeom>
          <a:solidFill>
            <a:srgbClr val="FFFFFF"/>
          </a:solidFill>
          <a:ln/>
        </p:spPr>
        <p:txBody>
          <a:bodyPr/>
          <a:p/>
        </p:txBody>
      </p:sp>
      <p:pic>
        <p:nvPicPr>
          <p:cNvPr id="14" name="Image 2" descr="/home/claude/deck2/assets/logo.png">    </p:cNvPr>
          <p:cNvPicPr>
            <a:picLocks noChangeAspect="1"/>
          </p:cNvPicPr>
          <p:nvPr/>
        </p:nvPicPr>
        <p:blipFill>
          <a:blip r:embed="rId3"/>
          <a:stretch>
            <a:fillRect/>
          </a:stretch>
        </p:blipFill>
        <p:spPr>
          <a:xfrm>
            <a:off x="457200" y="6473952"/>
            <a:ext cx="256032" cy="256032"/>
          </a:xfrm>
          <a:prstGeom prst="rect">
            <a:avLst/>
          </a:prstGeom>
        </p:spPr>
      </p:pic>
      <p:sp>
        <p:nvSpPr>
          <p:cNvPr id="15" name="Text 10"/>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16" name="Text 11"/>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263238"/>
        </a:solidFill>
      </p:bgPr>
    </p:bg>
    <p:spTree>
      <p:nvGrpSpPr>
        <p:cNvPr id="1" name=""/>
        <p:cNvGrpSpPr/>
        <p:nvPr/>
      </p:nvGrpSpPr>
      <p:grpSpPr>
        <a:xfrm>
          <a:off x="0" y="0"/>
          <a:ext cx="0" cy="0"/>
          <a:chOff x="0" y="0"/>
          <a:chExt cx="0" cy="0"/>
        </a:xfrm>
      </p:grpSpPr>
      <p:sp>
        <p:nvSpPr>
          <p:cNvPr id="2" name="Text 0"/>
          <p:cNvSpPr txBox="1"/>
          <p:nvPr/>
        </p:nvSpPr>
        <p:spPr>
          <a:xfrm>
            <a:off x="731520" y="2377440"/>
            <a:ext cx="2743200" cy="1828800"/>
          </a:xfrm>
          <a:prstGeom prst="rect">
            <a:avLst/>
          </a:prstGeom>
          <a:noFill/>
          <a:ln/>
        </p:spPr>
        <p:txBody>
          <a:bodyPr wrap="square" lIns="0" tIns="0" rIns="0" bIns="0" rtlCol="0" anchor="ctr"/>
          <a:lstStyle/>
          <a:p>
            <a:pPr rtl="1" algn="r" indent="0" marL="0">
              <a:buNone/>
            </a:pPr>
            <a:r>
              <a:rPr lang="en-US" sz="9200" b="1" dirty="0">
                <a:solidFill>
                  <a:srgbClr val="3C4A50"/>
                </a:solidFill>
                <a:latin typeface="Arial" pitchFamily="34" charset="0"/>
                <a:ea typeface="Arial" pitchFamily="34" charset="-122"/>
                <a:cs typeface="Arial" pitchFamily="34" charset="-120"/>
              </a:rPr>
              <a:t>5</a:t>
            </a:r>
            <a:endParaRPr lang="en-US" sz="9200" dirty="0"/>
          </a:p>
        </p:txBody>
      </p:sp>
      <p:sp>
        <p:nvSpPr>
          <p:cNvPr id="3" name="Shape 1"/>
          <p:cNvSpPr/>
          <p:nvPr/>
        </p:nvSpPr>
        <p:spPr>
          <a:xfrm>
            <a:off x="3520440" y="2880360"/>
            <a:ext cx="54864" cy="1097280"/>
          </a:xfrm>
          <a:prstGeom prst="rect">
            <a:avLst/>
          </a:prstGeom>
          <a:solidFill>
            <a:srgbClr val="00BFA5"/>
          </a:solidFill>
          <a:ln/>
        </p:spPr>
        <p:txBody>
          <a:bodyPr/>
          <a:p/>
        </p:txBody>
      </p:sp>
      <p:sp>
        <p:nvSpPr>
          <p:cNvPr id="4" name="Text 2"/>
          <p:cNvSpPr txBox="1"/>
          <p:nvPr/>
        </p:nvSpPr>
        <p:spPr>
          <a:xfrm>
            <a:off x="3749040" y="2834640"/>
            <a:ext cx="7680960" cy="1188720"/>
          </a:xfrm>
          <a:prstGeom prst="rect">
            <a:avLst/>
          </a:prstGeom>
          <a:noFill/>
          <a:ln/>
        </p:spPr>
        <p:txBody>
          <a:bodyPr wrap="square" lIns="0" tIns="0" rIns="0" bIns="0" rtlCol="0" anchor="ctr"/>
          <a:lstStyle/>
          <a:p>
            <a:pPr rtl="1" algn="r" indent="0" marL="0">
              <a:buNone/>
            </a:pPr>
            <a:r>
              <a:rPr lang="en-US" sz="3000" b="1" dirty="0">
                <a:solidFill>
                  <a:srgbClr val="FFFFFF"/>
                </a:solidFill>
                <a:latin typeface="Cambria" pitchFamily="34" charset="0"/>
                <a:ea typeface="Cambria" pitchFamily="34" charset="-122"/>
                <a:cs typeface="Cambria" pitchFamily="34" charset="-120"/>
              </a:rPr>
              <a:t>زیرساخت مشترک</a:t>
            </a:r>
            <a:endParaRPr lang="en-US" sz="3000" dirty="0"/>
          </a:p>
        </p:txBody>
      </p:sp>
      <p:sp>
        <p:nvSpPr>
          <p:cNvPr id="5" name="Shape 3"/>
          <p:cNvSpPr/>
          <p:nvPr/>
        </p:nvSpPr>
        <p:spPr>
          <a:xfrm>
            <a:off x="429768" y="6446520"/>
            <a:ext cx="310896" cy="310896"/>
          </a:xfrm>
          <a:prstGeom prst="ellipse">
            <a:avLst/>
          </a:prstGeom>
          <a:solidFill>
            <a:srgbClr val="FFFFFF"/>
          </a:solidFill>
          <a:ln/>
        </p:spPr>
        <p:txBody>
          <a:bodyPr/>
          <a:p/>
        </p:txBody>
      </p:sp>
      <p:pic>
        <p:nvPicPr>
          <p:cNvPr id="6" name="Image 0" descr="/home/claude/deck2/assets/logo.png">    </p:cNvPr>
          <p:cNvPicPr>
            <a:picLocks noChangeAspect="1"/>
          </p:cNvPicPr>
          <p:nvPr/>
        </p:nvPicPr>
        <p:blipFill>
          <a:blip r:embed="rId1"/>
          <a:stretch>
            <a:fillRect/>
          </a:stretch>
        </p:blipFill>
        <p:spPr>
          <a:xfrm>
            <a:off x="457200" y="6473952"/>
            <a:ext cx="256032" cy="256032"/>
          </a:xfrm>
          <a:prstGeom prst="rect">
            <a:avLst/>
          </a:prstGeom>
        </p:spPr>
      </p:pic>
      <p:sp>
        <p:nvSpPr>
          <p:cNvPr id="7" name="Text 4"/>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8" name="Text 5"/>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استاندارد پروژه</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HashiCorp Vault + Docker Compose</a:t>
            </a:r>
            <a:endParaRPr lang="en-US" sz="2400" dirty="0"/>
          </a:p>
        </p:txBody>
      </p:sp>
      <p:sp>
        <p:nvSpPr>
          <p:cNvPr id="4" name="Shape 2"/>
          <p:cNvSpPr/>
          <p:nvPr/>
        </p:nvSpPr>
        <p:spPr>
          <a:xfrm>
            <a:off x="9966960" y="2005584"/>
            <a:ext cx="621792" cy="621792"/>
          </a:xfrm>
          <a:prstGeom prst="ellipse">
            <a:avLst/>
          </a:prstGeom>
          <a:solidFill>
            <a:srgbClr val="00BFA5"/>
          </a:solidFill>
          <a:ln/>
        </p:spPr>
        <p:txBody>
          <a:bodyPr/>
          <a:p/>
        </p:txBody>
      </p:sp>
      <p:pic>
        <p:nvPicPr>
          <p:cNvPr id="5" name="Image 0" descr="/home/claude/deck2/icons/key.png">    </p:cNvPr>
          <p:cNvPicPr>
            <a:picLocks noChangeAspect="1"/>
          </p:cNvPicPr>
          <p:nvPr/>
        </p:nvPicPr>
        <p:blipFill>
          <a:blip r:embed="rId1"/>
          <a:stretch>
            <a:fillRect/>
          </a:stretch>
        </p:blipFill>
        <p:spPr>
          <a:xfrm>
            <a:off x="10128626" y="2167250"/>
            <a:ext cx="298460" cy="298460"/>
          </a:xfrm>
          <a:prstGeom prst="rect">
            <a:avLst/>
          </a:prstGeom>
        </p:spPr>
      </p:pic>
      <p:sp>
        <p:nvSpPr>
          <p:cNvPr id="6" name="Text 3"/>
          <p:cNvSpPr txBox="1"/>
          <p:nvPr/>
        </p:nvSpPr>
        <p:spPr>
          <a:xfrm>
            <a:off x="548640" y="150876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همه‌ی کلیدهای عملیاتی در Vault — نه env variable خام</a:t>
            </a:r>
            <a:endParaRPr lang="en-US" sz="1500" dirty="0"/>
          </a:p>
        </p:txBody>
      </p:sp>
      <p:sp>
        <p:nvSpPr>
          <p:cNvPr id="7" name="Text 4"/>
          <p:cNvSpPr txBox="1"/>
          <p:nvPr/>
        </p:nvSpPr>
        <p:spPr>
          <a:xfrm>
            <a:off x="548640" y="1856232"/>
            <a:ext cx="9144000" cy="123139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distributionOracle، verifier، paymentOracle، identityOracle — هرکدام policy/token جدا.</a:t>
            </a:r>
            <a:endParaRPr lang="en-US" sz="1180" dirty="0"/>
          </a:p>
        </p:txBody>
      </p:sp>
      <p:sp>
        <p:nvSpPr>
          <p:cNvPr id="8" name="Shape 5"/>
          <p:cNvSpPr/>
          <p:nvPr/>
        </p:nvSpPr>
        <p:spPr>
          <a:xfrm>
            <a:off x="548640" y="3069336"/>
            <a:ext cx="10881360" cy="0"/>
          </a:xfrm>
          <a:prstGeom prst="line">
            <a:avLst/>
          </a:prstGeom>
          <a:noFill/>
          <a:ln w="12700">
            <a:solidFill>
              <a:srgbClr val="E0E6E7"/>
            </a:solidFill>
            <a:prstDash val="solid"/>
          </a:ln>
        </p:spPr>
        <p:txBody>
          <a:bodyPr/>
          <a:p/>
        </p:txBody>
      </p:sp>
      <p:sp>
        <p:nvSpPr>
          <p:cNvPr id="9" name="Shape 6"/>
          <p:cNvSpPr/>
          <p:nvPr/>
        </p:nvSpPr>
        <p:spPr>
          <a:xfrm>
            <a:off x="9966960" y="3621024"/>
            <a:ext cx="621792" cy="621792"/>
          </a:xfrm>
          <a:prstGeom prst="ellipse">
            <a:avLst/>
          </a:prstGeom>
          <a:solidFill>
            <a:srgbClr val="263238"/>
          </a:solidFill>
          <a:ln/>
        </p:spPr>
        <p:txBody>
          <a:bodyPr/>
          <a:p/>
        </p:txBody>
      </p:sp>
      <p:pic>
        <p:nvPicPr>
          <p:cNvPr id="10" name="Image 1" descr="/home/claude/deck2/icons/docker.png">    </p:cNvPr>
          <p:cNvPicPr>
            <a:picLocks noChangeAspect="1"/>
          </p:cNvPicPr>
          <p:nvPr/>
        </p:nvPicPr>
        <p:blipFill>
          <a:blip r:embed="rId2"/>
          <a:stretch>
            <a:fillRect/>
          </a:stretch>
        </p:blipFill>
        <p:spPr>
          <a:xfrm>
            <a:off x="10128626" y="3782690"/>
            <a:ext cx="298460" cy="298460"/>
          </a:xfrm>
          <a:prstGeom prst="rect">
            <a:avLst/>
          </a:prstGeom>
        </p:spPr>
      </p:pic>
      <p:sp>
        <p:nvSpPr>
          <p:cNvPr id="11" name="Text 7"/>
          <p:cNvSpPr txBox="1"/>
          <p:nvPr/>
        </p:nvSpPr>
        <p:spPr>
          <a:xfrm>
            <a:off x="548640" y="312420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هر سرویس آف‌چین: نود مانیتورینگ/RPC + signer + poller جدا در کانتینر</a:t>
            </a:r>
            <a:endParaRPr lang="en-US" sz="1500" dirty="0"/>
          </a:p>
        </p:txBody>
      </p:sp>
      <p:sp>
        <p:nvSpPr>
          <p:cNvPr id="12" name="Text 8"/>
          <p:cNvSpPr txBox="1"/>
          <p:nvPr/>
        </p:nvSpPr>
        <p:spPr>
          <a:xfrm>
            <a:off x="548640" y="3471672"/>
            <a:ext cx="9144000" cy="123139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الگوی یکسان در هر چهار سرویس، برای نگه‌داری ساده‌تر و افزونگی مستقل هرکدام.</a:t>
            </a:r>
            <a:endParaRPr lang="en-US" sz="1180" dirty="0"/>
          </a:p>
        </p:txBody>
      </p:sp>
      <p:sp>
        <p:nvSpPr>
          <p:cNvPr id="13" name="Shape 9"/>
          <p:cNvSpPr/>
          <p:nvPr/>
        </p:nvSpPr>
        <p:spPr>
          <a:xfrm>
            <a:off x="548640" y="4684776"/>
            <a:ext cx="10881360" cy="0"/>
          </a:xfrm>
          <a:prstGeom prst="line">
            <a:avLst/>
          </a:prstGeom>
          <a:noFill/>
          <a:ln w="12700">
            <a:solidFill>
              <a:srgbClr val="E0E6E7"/>
            </a:solidFill>
            <a:prstDash val="solid"/>
          </a:ln>
        </p:spPr>
        <p:txBody>
          <a:bodyPr/>
          <a:p/>
        </p:txBody>
      </p:sp>
      <p:sp>
        <p:nvSpPr>
          <p:cNvPr id="14" name="Shape 10"/>
          <p:cNvSpPr/>
          <p:nvPr/>
        </p:nvSpPr>
        <p:spPr>
          <a:xfrm>
            <a:off x="9966960" y="5236464"/>
            <a:ext cx="621792" cy="621792"/>
          </a:xfrm>
          <a:prstGeom prst="ellipse">
            <a:avLst/>
          </a:prstGeom>
          <a:solidFill>
            <a:srgbClr val="263238"/>
          </a:solidFill>
          <a:ln/>
        </p:spPr>
        <p:txBody>
          <a:bodyPr/>
          <a:p/>
        </p:txBody>
      </p:sp>
      <p:pic>
        <p:nvPicPr>
          <p:cNvPr id="15" name="Image 2" descr="/home/claude/deck2/icons/database.png">    </p:cNvPr>
          <p:cNvPicPr>
            <a:picLocks noChangeAspect="1"/>
          </p:cNvPicPr>
          <p:nvPr/>
        </p:nvPicPr>
        <p:blipFill>
          <a:blip r:embed="rId3"/>
          <a:stretch>
            <a:fillRect/>
          </a:stretch>
        </p:blipFill>
        <p:spPr>
          <a:xfrm>
            <a:off x="10128626" y="5398130"/>
            <a:ext cx="298460" cy="298460"/>
          </a:xfrm>
          <a:prstGeom prst="rect">
            <a:avLst/>
          </a:prstGeom>
        </p:spPr>
      </p:pic>
      <p:sp>
        <p:nvSpPr>
          <p:cNvPr id="16" name="Text 11"/>
          <p:cNvSpPr txBox="1"/>
          <p:nvPr/>
        </p:nvSpPr>
        <p:spPr>
          <a:xfrm>
            <a:off x="548640" y="473964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SQLite برای هر سرویس — هماهنگ در کل پروژه</a:t>
            </a:r>
            <a:endParaRPr lang="en-US" sz="1500" dirty="0"/>
          </a:p>
        </p:txBody>
      </p:sp>
      <p:sp>
        <p:nvSpPr>
          <p:cNvPr id="17" name="Text 12"/>
          <p:cNvSpPr txBox="1"/>
          <p:nvPr/>
        </p:nvSpPr>
        <p:spPr>
          <a:xfrm>
            <a:off x="548640" y="5087112"/>
            <a:ext cx="9144000" cy="123139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کافی برای سرویس‌های تک‌پردازشی و زمان‌بندی‌شده.</a:t>
            </a:r>
            <a:endParaRPr lang="en-US" sz="1180" dirty="0"/>
          </a:p>
        </p:txBody>
      </p:sp>
      <p:sp>
        <p:nvSpPr>
          <p:cNvPr id="18" name="Shape 13"/>
          <p:cNvSpPr/>
          <p:nvPr/>
        </p:nvSpPr>
        <p:spPr>
          <a:xfrm>
            <a:off x="429768" y="6446520"/>
            <a:ext cx="310896" cy="310896"/>
          </a:xfrm>
          <a:prstGeom prst="ellipse">
            <a:avLst/>
          </a:prstGeom>
          <a:solidFill>
            <a:srgbClr val="FFFFFF"/>
          </a:solidFill>
          <a:ln/>
        </p:spPr>
        <p:txBody>
          <a:bodyPr/>
          <a:p/>
        </p:txBody>
      </p:sp>
      <p:pic>
        <p:nvPicPr>
          <p:cNvPr id="19" name="Image 3" descr="/home/claude/deck2/assets/logo.png">    </p:cNvPr>
          <p:cNvPicPr>
            <a:picLocks noChangeAspect="1"/>
          </p:cNvPicPr>
          <p:nvPr/>
        </p:nvPicPr>
        <p:blipFill>
          <a:blip r:embed="rId4"/>
          <a:stretch>
            <a:fillRect/>
          </a:stretch>
        </p:blipFill>
        <p:spPr>
          <a:xfrm>
            <a:off x="457200" y="6473952"/>
            <a:ext cx="256032" cy="256032"/>
          </a:xfrm>
          <a:prstGeom prst="rect">
            <a:avLst/>
          </a:prstGeom>
        </p:spPr>
      </p:pic>
      <p:sp>
        <p:nvSpPr>
          <p:cNvPr id="20" name="Text 14"/>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21" name="Text 15"/>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ابزار genesis + بلاک اکسپلورر</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زیرساخت راه‌اندازی و شفافیت</a:t>
            </a:r>
            <a:endParaRPr lang="en-US" sz="2400" dirty="0"/>
          </a:p>
        </p:txBody>
      </p:sp>
      <p:sp>
        <p:nvSpPr>
          <p:cNvPr id="4" name="Shape 2"/>
          <p:cNvSpPr/>
          <p:nvPr/>
        </p:nvSpPr>
        <p:spPr>
          <a:xfrm>
            <a:off x="9966960" y="2409444"/>
            <a:ext cx="621792" cy="621792"/>
          </a:xfrm>
          <a:prstGeom prst="ellipse">
            <a:avLst/>
          </a:prstGeom>
          <a:solidFill>
            <a:srgbClr val="263238"/>
          </a:solidFill>
          <a:ln/>
        </p:spPr>
        <p:txBody>
          <a:bodyPr/>
          <a:p/>
        </p:txBody>
      </p:sp>
      <p:pic>
        <p:nvPicPr>
          <p:cNvPr id="5" name="Image 0" descr="/home/claude/deck2/icons/cubes.png">    </p:cNvPr>
          <p:cNvPicPr>
            <a:picLocks noChangeAspect="1"/>
          </p:cNvPicPr>
          <p:nvPr/>
        </p:nvPicPr>
        <p:blipFill>
          <a:blip r:embed="rId1"/>
          <a:stretch>
            <a:fillRect/>
          </a:stretch>
        </p:blipFill>
        <p:spPr>
          <a:xfrm>
            <a:off x="10128626" y="2571110"/>
            <a:ext cx="298460" cy="298460"/>
          </a:xfrm>
          <a:prstGeom prst="rect">
            <a:avLst/>
          </a:prstGeom>
        </p:spPr>
      </p:pic>
      <p:sp>
        <p:nvSpPr>
          <p:cNvPr id="6" name="Text 3"/>
          <p:cNvSpPr txBox="1"/>
          <p:nvPr/>
        </p:nvSpPr>
        <p:spPr>
          <a:xfrm>
            <a:off x="548640" y="150876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ابزار production ساخت genesis.json — هنوز پیاده‌سازی نشده؛ آزمون‌های Besu با اسکریپت آزمایشی بودند</a:t>
            </a:r>
            <a:endParaRPr lang="en-US" sz="1500" dirty="0"/>
          </a:p>
        </p:txBody>
      </p:sp>
      <p:sp>
        <p:nvSpPr>
          <p:cNvPr id="7" name="Text 4"/>
          <p:cNvSpPr txBox="1"/>
          <p:nvPr/>
        </p:nvSpPr>
        <p:spPr>
          <a:xfrm>
            <a:off x="548640" y="1856232"/>
            <a:ext cx="9144000" cy="203911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برای ۳ قرارداد (FoundationDAO, ValidatorsRegistry, ValidatorsBoard): دیپلوی روی زنجیره‌ی موقت (Anvil/Hardhat)، استخراج storage. برای ۳ قرارداد دیگر (BlockRewardDistributor, ValidatorsTreasury, IdentityRegistry): نوشتن مستقیم اسکالرها در alloc، بدون شبیه‌سازی.</a:t>
            </a:r>
            <a:endParaRPr lang="en-US" sz="1180" dirty="0"/>
          </a:p>
        </p:txBody>
      </p:sp>
      <p:sp>
        <p:nvSpPr>
          <p:cNvPr id="8" name="Shape 5"/>
          <p:cNvSpPr/>
          <p:nvPr/>
        </p:nvSpPr>
        <p:spPr>
          <a:xfrm>
            <a:off x="548640" y="3877056"/>
            <a:ext cx="10881360" cy="0"/>
          </a:xfrm>
          <a:prstGeom prst="line">
            <a:avLst/>
          </a:prstGeom>
          <a:noFill/>
          <a:ln w="12700">
            <a:solidFill>
              <a:srgbClr val="E0E6E7"/>
            </a:solidFill>
            <a:prstDash val="solid"/>
          </a:ln>
        </p:spPr>
        <p:txBody>
          <a:bodyPr/>
          <a:p/>
        </p:txBody>
      </p:sp>
      <p:sp>
        <p:nvSpPr>
          <p:cNvPr id="9" name="Shape 6"/>
          <p:cNvSpPr/>
          <p:nvPr/>
        </p:nvSpPr>
        <p:spPr>
          <a:xfrm>
            <a:off x="9966960" y="4832604"/>
            <a:ext cx="621792" cy="621792"/>
          </a:xfrm>
          <a:prstGeom prst="ellipse">
            <a:avLst/>
          </a:prstGeom>
          <a:solidFill>
            <a:srgbClr val="00BFA5"/>
          </a:solidFill>
          <a:ln/>
        </p:spPr>
        <p:txBody>
          <a:bodyPr/>
          <a:p/>
        </p:txBody>
      </p:sp>
      <p:pic>
        <p:nvPicPr>
          <p:cNvPr id="10" name="Image 1" descr="/home/claude/deck2/icons/search.png">    </p:cNvPr>
          <p:cNvPicPr>
            <a:picLocks noChangeAspect="1"/>
          </p:cNvPicPr>
          <p:nvPr/>
        </p:nvPicPr>
        <p:blipFill>
          <a:blip r:embed="rId2"/>
          <a:stretch>
            <a:fillRect/>
          </a:stretch>
        </p:blipFill>
        <p:spPr>
          <a:xfrm>
            <a:off x="10128626" y="4994270"/>
            <a:ext cx="298460" cy="298460"/>
          </a:xfrm>
          <a:prstGeom prst="rect">
            <a:avLst/>
          </a:prstGeom>
        </p:spPr>
      </p:pic>
      <p:sp>
        <p:nvSpPr>
          <p:cNvPr id="11" name="Text 7"/>
          <p:cNvSpPr txBox="1"/>
          <p:nvPr/>
        </p:nvSpPr>
        <p:spPr>
          <a:xfrm>
            <a:off x="548640" y="3931920"/>
            <a:ext cx="9144000" cy="365760"/>
          </a:xfrm>
          <a:prstGeom prst="rect">
            <a:avLst/>
          </a:prstGeom>
          <a:noFill/>
          <a:ln/>
        </p:spPr>
        <p:txBody>
          <a:bodyPr wrap="square" lIns="0" tIns="0" rIns="0" bIns="0" rtlCol="0" anchor="ctr"/>
          <a:lstStyle/>
          <a:p>
            <a:pPr rtl="1" algn="r" indent="0" marL="0">
              <a:buNone/>
            </a:pPr>
            <a:r>
              <a:rPr lang="en-US" sz="1500" b="1" dirty="0">
                <a:solidFill>
                  <a:srgbClr val="1B1B1B"/>
                </a:solidFill>
                <a:latin typeface="Calibri" pitchFamily="34" charset="0"/>
                <a:ea typeface="Calibri" pitchFamily="34" charset="-122"/>
                <a:cs typeface="Calibri" pitchFamily="34" charset="-120"/>
              </a:rPr>
              <a:t>بلاک اکسپلورر: Blockscout — فقط پیکربندی، نه توسعه</a:t>
            </a:r>
            <a:endParaRPr lang="en-US" sz="1500" dirty="0"/>
          </a:p>
        </p:txBody>
      </p:sp>
      <p:sp>
        <p:nvSpPr>
          <p:cNvPr id="12" name="Text 8"/>
          <p:cNvSpPr txBox="1"/>
          <p:nvPr/>
        </p:nvSpPr>
        <p:spPr>
          <a:xfrm>
            <a:off x="548640" y="4279392"/>
            <a:ext cx="9144000" cy="2039112"/>
          </a:xfrm>
          <a:prstGeom prst="rect">
            <a:avLst/>
          </a:prstGeom>
          <a:noFill/>
          <a:ln/>
        </p:spPr>
        <p:txBody>
          <a:bodyPr wrap="square" lIns="0" tIns="0" rIns="0" bIns="0" rtlCol="0" anchor="t"/>
          <a:lstStyle/>
          <a:p>
            <a:pPr rtl="1" algn="r" indent="0" marL="0">
              <a:buNone/>
            </a:pPr>
            <a:r>
              <a:rPr lang="en-US" sz="1180" dirty="0">
                <a:solidFill>
                  <a:srgbClr val="51616B"/>
                </a:solidFill>
                <a:latin typeface="Calibri" pitchFamily="34" charset="0"/>
                <a:ea typeface="Calibri" pitchFamily="34" charset="-122"/>
                <a:cs typeface="Calibri" pitchFamily="34" charset="-120"/>
              </a:rPr>
              <a:t>اتصال به RPC سور، chainId=262، verify کردن سورس هر شش قرارداد.</a:t>
            </a:r>
            <a:endParaRPr lang="en-US" sz="1180" dirty="0"/>
          </a:p>
        </p:txBody>
      </p:sp>
      <p:sp>
        <p:nvSpPr>
          <p:cNvPr id="13" name="Shape 9"/>
          <p:cNvSpPr/>
          <p:nvPr/>
        </p:nvSpPr>
        <p:spPr>
          <a:xfrm>
            <a:off x="429768" y="6446520"/>
            <a:ext cx="310896" cy="310896"/>
          </a:xfrm>
          <a:prstGeom prst="ellipse">
            <a:avLst/>
          </a:prstGeom>
          <a:solidFill>
            <a:srgbClr val="FFFFFF"/>
          </a:solidFill>
          <a:ln/>
        </p:spPr>
        <p:txBody>
          <a:bodyPr/>
          <a:p/>
        </p:txBody>
      </p:sp>
      <p:pic>
        <p:nvPicPr>
          <p:cNvPr id="14" name="Image 2" descr="/home/claude/deck2/assets/logo.png">    </p:cNvPr>
          <p:cNvPicPr>
            <a:picLocks noChangeAspect="1"/>
          </p:cNvPicPr>
          <p:nvPr/>
        </p:nvPicPr>
        <p:blipFill>
          <a:blip r:embed="rId3"/>
          <a:stretch>
            <a:fillRect/>
          </a:stretch>
        </p:blipFill>
        <p:spPr>
          <a:xfrm>
            <a:off x="457200" y="6473952"/>
            <a:ext cx="256032" cy="256032"/>
          </a:xfrm>
          <a:prstGeom prst="rect">
            <a:avLst/>
          </a:prstGeom>
        </p:spPr>
      </p:pic>
      <p:sp>
        <p:nvSpPr>
          <p:cNvPr id="15" name="Text 10"/>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16" name="Text 11"/>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63238"/>
        </a:solidFill>
      </p:bgPr>
    </p:bg>
    <p:spTree>
      <p:nvGrpSpPr>
        <p:cNvPr id="1" name=""/>
        <p:cNvGrpSpPr/>
        <p:nvPr/>
      </p:nvGrpSpPr>
      <p:grpSpPr>
        <a:xfrm>
          <a:off x="0" y="0"/>
          <a:ext cx="0" cy="0"/>
          <a:chOff x="0" y="0"/>
          <a:chExt cx="0" cy="0"/>
        </a:xfrm>
      </p:grpSpPr>
      <p:sp>
        <p:nvSpPr>
          <p:cNvPr id="2" name="Text 0"/>
          <p:cNvSpPr txBox="1"/>
          <p:nvPr/>
        </p:nvSpPr>
        <p:spPr>
          <a:xfrm>
            <a:off x="731520" y="2377440"/>
            <a:ext cx="2743200" cy="1828800"/>
          </a:xfrm>
          <a:prstGeom prst="rect">
            <a:avLst/>
          </a:prstGeom>
          <a:noFill/>
          <a:ln/>
        </p:spPr>
        <p:txBody>
          <a:bodyPr wrap="square" lIns="0" tIns="0" rIns="0" bIns="0" rtlCol="0" anchor="ctr"/>
          <a:lstStyle/>
          <a:p>
            <a:pPr rtl="1" algn="r" indent="0" marL="0">
              <a:buNone/>
            </a:pPr>
            <a:r>
              <a:rPr lang="en-US" sz="9200" b="1" dirty="0">
                <a:solidFill>
                  <a:srgbClr val="3C4A50"/>
                </a:solidFill>
                <a:latin typeface="Arial" pitchFamily="34" charset="0"/>
                <a:ea typeface="Arial" pitchFamily="34" charset="-122"/>
                <a:cs typeface="Arial" pitchFamily="34" charset="-120"/>
              </a:rPr>
              <a:t>6</a:t>
            </a:r>
            <a:endParaRPr lang="en-US" sz="9200" dirty="0"/>
          </a:p>
        </p:txBody>
      </p:sp>
      <p:sp>
        <p:nvSpPr>
          <p:cNvPr id="3" name="Shape 1"/>
          <p:cNvSpPr/>
          <p:nvPr/>
        </p:nvSpPr>
        <p:spPr>
          <a:xfrm>
            <a:off x="3520440" y="2880360"/>
            <a:ext cx="54864" cy="1097280"/>
          </a:xfrm>
          <a:prstGeom prst="rect">
            <a:avLst/>
          </a:prstGeom>
          <a:solidFill>
            <a:srgbClr val="00BFA5"/>
          </a:solidFill>
          <a:ln/>
        </p:spPr>
        <p:txBody>
          <a:bodyPr/>
          <a:p/>
        </p:txBody>
      </p:sp>
      <p:sp>
        <p:nvSpPr>
          <p:cNvPr id="4" name="Text 2"/>
          <p:cNvSpPr txBox="1"/>
          <p:nvPr/>
        </p:nvSpPr>
        <p:spPr>
          <a:xfrm>
            <a:off x="3749040" y="2834640"/>
            <a:ext cx="7680960" cy="1188720"/>
          </a:xfrm>
          <a:prstGeom prst="rect">
            <a:avLst/>
          </a:prstGeom>
          <a:noFill/>
          <a:ln/>
        </p:spPr>
        <p:txBody>
          <a:bodyPr wrap="square" lIns="0" tIns="0" rIns="0" bIns="0" rtlCol="0" anchor="ctr"/>
          <a:lstStyle/>
          <a:p>
            <a:pPr rtl="1" algn="r" indent="0" marL="0">
              <a:buNone/>
            </a:pPr>
            <a:r>
              <a:rPr lang="en-US" sz="3000" b="1" dirty="0">
                <a:solidFill>
                  <a:srgbClr val="FFFFFF"/>
                </a:solidFill>
                <a:latin typeface="Cambria" pitchFamily="34" charset="0"/>
                <a:ea typeface="Cambria" pitchFamily="34" charset="-122"/>
                <a:cs typeface="Cambria" pitchFamily="34" charset="-120"/>
              </a:rPr>
              <a:t>امنیت</a:t>
            </a:r>
            <a:endParaRPr lang="en-US" sz="3000" dirty="0"/>
          </a:p>
        </p:txBody>
      </p:sp>
      <p:sp>
        <p:nvSpPr>
          <p:cNvPr id="5" name="Shape 3"/>
          <p:cNvSpPr/>
          <p:nvPr/>
        </p:nvSpPr>
        <p:spPr>
          <a:xfrm>
            <a:off x="429768" y="6446520"/>
            <a:ext cx="310896" cy="310896"/>
          </a:xfrm>
          <a:prstGeom prst="ellipse">
            <a:avLst/>
          </a:prstGeom>
          <a:solidFill>
            <a:srgbClr val="FFFFFF"/>
          </a:solidFill>
          <a:ln/>
        </p:spPr>
        <p:txBody>
          <a:bodyPr/>
          <a:p/>
        </p:txBody>
      </p:sp>
      <p:pic>
        <p:nvPicPr>
          <p:cNvPr id="6" name="Image 0" descr="/home/claude/deck2/assets/logo.png">    </p:cNvPr>
          <p:cNvPicPr>
            <a:picLocks noChangeAspect="1"/>
          </p:cNvPicPr>
          <p:nvPr/>
        </p:nvPicPr>
        <p:blipFill>
          <a:blip r:embed="rId1"/>
          <a:stretch>
            <a:fillRect/>
          </a:stretch>
        </p:blipFill>
        <p:spPr>
          <a:xfrm>
            <a:off x="457200" y="6473952"/>
            <a:ext cx="256032" cy="256032"/>
          </a:xfrm>
          <a:prstGeom prst="rect">
            <a:avLst/>
          </a:prstGeom>
        </p:spPr>
      </p:pic>
      <p:sp>
        <p:nvSpPr>
          <p:cNvPr id="7" name="Text 4"/>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8" name="Text 5"/>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یافته‌ی بررسی دستی اولیه</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reentrancy در FoundationDAO — بدون nonReentrant، ولی امن</a:t>
            </a:r>
            <a:endParaRPr lang="en-US" sz="2400" dirty="0"/>
          </a:p>
        </p:txBody>
      </p:sp>
      <p:sp>
        <p:nvSpPr>
          <p:cNvPr id="4" name="Shape 2"/>
          <p:cNvSpPr/>
          <p:nvPr/>
        </p:nvSpPr>
        <p:spPr>
          <a:xfrm>
            <a:off x="548640" y="1691640"/>
            <a:ext cx="5394960" cy="4572000"/>
          </a:xfrm>
          <a:prstGeom prst="roundRect">
            <a:avLst>
              <a:gd name="adj" fmla="val 1200"/>
            </a:avLst>
          </a:prstGeom>
          <a:solidFill>
            <a:srgbClr val="263238"/>
          </a:solidFill>
          <a:ln/>
        </p:spPr>
        <p:txBody>
          <a:bodyPr/>
          <a:p/>
        </p:txBody>
      </p:sp>
      <p:sp>
        <p:nvSpPr>
          <p:cNvPr id="5" name="Text 3"/>
          <p:cNvSpPr txBox="1"/>
          <p:nvPr/>
        </p:nvSpPr>
        <p:spPr>
          <a:xfrm>
            <a:off x="777240" y="1828800"/>
            <a:ext cx="4937760" cy="4297680"/>
          </a:xfrm>
          <a:prstGeom prst="rect">
            <a:avLst/>
          </a:prstGeom>
          <a:noFill/>
          <a:ln/>
        </p:spPr>
        <p:txBody>
          <a:bodyPr wrap="square" lIns="0" tIns="0" rIns="0" bIns="0" rtlCol="0" anchor="t"/>
          <a:lstStyle/>
          <a:p>
            <a:pPr algn="l" indent="0" marL="0">
              <a:buNone/>
            </a:pPr>
            <a:r>
              <a:rPr lang="en-US" sz="1150" dirty="0">
                <a:solidFill>
                  <a:srgbClr val="00BFA5"/>
                </a:solidFill>
                <a:latin typeface="Courier New" pitchFamily="34" charset="0"/>
                <a:ea typeface="Courier New" pitchFamily="34" charset="-122"/>
                <a:cs typeface="Courier New" pitchFamily="34" charset="-120"/>
              </a:rPr>
              <a:t>function _vote(...) private {</a:t>
            </a:r>
            <a:endParaRPr lang="en-US" sz="1150" dirty="0"/>
          </a:p>
          <a:p>
            <a:pPr algn="l" indent="0" marL="0">
              <a:buNone/>
            </a:pPr>
            <a:r>
              <a:rPr lang="en-US" sz="1150" dirty="0">
                <a:solidFill>
                  <a:srgbClr val="00BFA5"/>
                </a:solidFill>
                <a:latin typeface="Courier New" pitchFamily="34" charset="0"/>
                <a:ea typeface="Courier New" pitchFamily="34" charset="-122"/>
                <a:cs typeface="Courier New" pitchFamily="34" charset="-120"/>
              </a:rPr>
              <a:t>  ...</a:t>
            </a:r>
            <a:endParaRPr lang="en-US" sz="1150" dirty="0"/>
          </a:p>
          <a:p>
            <a:pPr algn="l" indent="0" marL="0">
              <a:buNone/>
            </a:pPr>
            <a:r>
              <a:rPr lang="en-US" sz="1150" dirty="0">
                <a:solidFill>
                  <a:srgbClr val="00BFA5"/>
                </a:solidFill>
                <a:latin typeface="Courier New" pitchFamily="34" charset="0"/>
                <a:ea typeface="Courier New" pitchFamily="34" charset="-122"/>
                <a:cs typeface="Courier New" pitchFamily="34" charset="-120"/>
              </a:rPr>
              <a:t>  require(</a:t>
            </a:r>
            <a:endParaRPr lang="en-US" sz="1150" dirty="0"/>
          </a:p>
          <a:p>
            <a:pPr algn="l" indent="0" marL="0">
              <a:buNone/>
            </a:pPr>
            <a:r>
              <a:rPr lang="en-US" sz="1150" dirty="0">
                <a:solidFill>
                  <a:srgbClr val="00BFA5"/>
                </a:solidFill>
                <a:latin typeface="Courier New" pitchFamily="34" charset="0"/>
                <a:ea typeface="Courier New" pitchFamily="34" charset="-122"/>
                <a:cs typeface="Courier New" pitchFamily="34" charset="-120"/>
              </a:rPr>
              <a:t>    p.status == Pending</a:t>
            </a:r>
            <a:endParaRPr lang="en-US" sz="1150" dirty="0"/>
          </a:p>
          <a:p>
            <a:pPr algn="l" indent="0" marL="0">
              <a:buNone/>
            </a:pPr>
            <a:r>
              <a:rPr lang="en-US" sz="1150" dirty="0">
                <a:solidFill>
                  <a:srgbClr val="00BFA5"/>
                </a:solidFill>
                <a:latin typeface="Courier New" pitchFamily="34" charset="0"/>
                <a:ea typeface="Courier New" pitchFamily="34" charset="-122"/>
                <a:cs typeface="Courier New" pitchFamily="34" charset="-120"/>
              </a:rPr>
              <a:t>  );</a:t>
            </a:r>
            <a:endParaRPr lang="en-US" sz="1150" dirty="0"/>
          </a:p>
          <a:p>
            <a:pPr algn="l" indent="0" marL="0">
              <a:buNone/>
            </a:pPr>
            <a:r>
              <a:rPr lang="en-US" sz="1150" dirty="0">
                <a:solidFill>
                  <a:srgbClr val="00BFA5"/>
                </a:solidFill>
                <a:latin typeface="Courier New" pitchFamily="34" charset="0"/>
                <a:ea typeface="Courier New" pitchFamily="34" charset="-122"/>
                <a:cs typeface="Courier New" pitchFamily="34" charset="-120"/>
              </a:rPr>
              <a:t>  ...</a:t>
            </a:r>
            <a:endParaRPr lang="en-US" sz="1150" dirty="0"/>
          </a:p>
          <a:p>
            <a:pPr algn="l" indent="0" marL="0">
              <a:buNone/>
            </a:pPr>
            <a:r>
              <a:rPr lang="en-US" sz="1150" dirty="0">
                <a:solidFill>
                  <a:srgbClr val="00BFA5"/>
                </a:solidFill>
                <a:latin typeface="Courier New" pitchFamily="34" charset="0"/>
                <a:ea typeface="Courier New" pitchFamily="34" charset="-122"/>
                <a:cs typeface="Courier New" pitchFamily="34" charset="-120"/>
              </a:rPr>
              <a:t>  if (p.votes &gt;= required) {</a:t>
            </a:r>
            <a:endParaRPr lang="en-US" sz="1150" dirty="0"/>
          </a:p>
          <a:p>
            <a:pPr algn="l" indent="0" marL="0">
              <a:buNone/>
            </a:pPr>
            <a:r>
              <a:rPr lang="en-US" sz="1150" dirty="0">
                <a:solidFill>
                  <a:srgbClr val="00BFA5"/>
                </a:solidFill>
                <a:latin typeface="Courier New" pitchFamily="34" charset="0"/>
                <a:ea typeface="Courier New" pitchFamily="34" charset="-122"/>
                <a:cs typeface="Courier New" pitchFamily="34" charset="-120"/>
              </a:rPr>
              <a:t>    _execute(p);</a:t>
            </a:r>
            <a:endParaRPr lang="en-US" sz="1150" dirty="0"/>
          </a:p>
          <a:p>
            <a:pPr algn="l" indent="0" marL="0">
              <a:buNone/>
            </a:pPr>
            <a:r>
              <a:rPr lang="en-US" sz="1150" dirty="0">
                <a:solidFill>
                  <a:srgbClr val="00BFA5"/>
                </a:solidFill>
                <a:latin typeface="Courier New" pitchFamily="34" charset="0"/>
                <a:ea typeface="Courier New" pitchFamily="34" charset="-122"/>
                <a:cs typeface="Courier New" pitchFamily="34" charset="-120"/>
              </a:rPr>
              <a:t>    // status -&gt; Executed</a:t>
            </a:r>
            <a:endParaRPr lang="en-US" sz="1150" dirty="0"/>
          </a:p>
          <a:p>
            <a:pPr algn="l" indent="0" marL="0">
              <a:buNone/>
            </a:pPr>
            <a:r>
              <a:rPr lang="en-US" sz="1150" dirty="0">
                <a:solidFill>
                  <a:srgbClr val="00BFA5"/>
                </a:solidFill>
                <a:latin typeface="Courier New" pitchFamily="34" charset="0"/>
                <a:ea typeface="Courier New" pitchFamily="34" charset="-122"/>
                <a:cs typeface="Courier New" pitchFamily="34" charset="-120"/>
              </a:rPr>
              <a:t>    // BEFORE external .call</a:t>
            </a:r>
            <a:endParaRPr lang="en-US" sz="1150" dirty="0"/>
          </a:p>
          <a:p>
            <a:pPr algn="l" indent="0" marL="0">
              <a:buNone/>
            </a:pPr>
            <a:r>
              <a:rPr lang="en-US" sz="1150" dirty="0">
                <a:solidFill>
                  <a:srgbClr val="00BFA5"/>
                </a:solidFill>
                <a:latin typeface="Courier New" pitchFamily="34" charset="0"/>
                <a:ea typeface="Courier New" pitchFamily="34" charset="-122"/>
                <a:cs typeface="Courier New" pitchFamily="34" charset="-120"/>
              </a:rPr>
              <a:t>  }</a:t>
            </a:r>
            <a:endParaRPr lang="en-US" sz="1150" dirty="0"/>
          </a:p>
          <a:p>
            <a:pPr algn="l" indent="0" marL="0">
              <a:buNone/>
            </a:pPr>
            <a:r>
              <a:rPr lang="en-US" sz="1150" dirty="0">
                <a:solidFill>
                  <a:srgbClr val="00BFA5"/>
                </a:solidFill>
                <a:latin typeface="Courier New" pitchFamily="34" charset="0"/>
                <a:ea typeface="Courier New" pitchFamily="34" charset="-122"/>
                <a:cs typeface="Courier New" pitchFamily="34" charset="-120"/>
              </a:rPr>
              <a:t>}</a:t>
            </a:r>
            <a:endParaRPr lang="en-US" sz="1150" dirty="0"/>
          </a:p>
        </p:txBody>
      </p:sp>
      <p:sp>
        <p:nvSpPr>
          <p:cNvPr id="6" name="Text 4"/>
          <p:cNvSpPr txBox="1"/>
          <p:nvPr/>
        </p:nvSpPr>
        <p:spPr>
          <a:xfrm>
            <a:off x="6172200" y="1783080"/>
            <a:ext cx="5486400" cy="4480560"/>
          </a:xfrm>
          <a:prstGeom prst="rect">
            <a:avLst/>
          </a:prstGeom>
          <a:noFill/>
          <a:ln/>
        </p:spPr>
        <p:txBody>
          <a:bodyPr wrap="square" lIns="0" tIns="0" rIns="0" bIns="0" rtlCol="0" anchor="t"/>
          <a:lstStyle/>
          <a:p>
            <a:pPr rtl="1" algn="r" indent="0" marL="0">
              <a:spcAft>
                <a:spcPts val="1400"/>
              </a:spcAft>
              <a:buNone/>
            </a:pPr>
            <a:r>
              <a:rPr lang="en-US" sz="1250" dirty="0">
                <a:solidFill>
                  <a:srgbClr val="1B1B1B"/>
                </a:solidFill>
                <a:latin typeface="Calibri" pitchFamily="34" charset="0"/>
                <a:ea typeface="Calibri" pitchFamily="34" charset="-122"/>
                <a:cs typeface="Calibri" pitchFamily="34" charset="-120"/>
              </a:rPr>
              <a:t>◆  ۹ محل .call{value...} در کل مجموعه — همه require(success) دارند</a:t>
            </a:r>
            <a:endParaRPr lang="en-US" sz="1250" dirty="0"/>
          </a:p>
          <a:p>
            <a:pPr rtl="1" algn="r" indent="0" marL="0">
              <a:spcAft>
                <a:spcPts val="1400"/>
              </a:spcAft>
              <a:buNone/>
            </a:pPr>
            <a:r>
              <a:rPr lang="en-US" sz="1250" dirty="0">
                <a:solidFill>
                  <a:srgbClr val="1B1B1B"/>
                </a:solidFill>
                <a:latin typeface="Calibri" pitchFamily="34" charset="0"/>
                <a:ea typeface="Calibri" pitchFamily="34" charset="-122"/>
                <a:cs typeface="Calibri" pitchFamily="34" charset="-120"/>
              </a:rPr>
              <a:t>◆  FoundationDAO بدون nonReentrant، ولی CEI pattern درست رعایت شده</a:t>
            </a:r>
            <a:endParaRPr lang="en-US" sz="1250" dirty="0"/>
          </a:p>
          <a:p>
            <a:pPr rtl="1" algn="r" indent="0" marL="0">
              <a:spcAft>
                <a:spcPts val="1400"/>
              </a:spcAft>
              <a:buNone/>
            </a:pPr>
            <a:r>
              <a:rPr lang="en-US" sz="1250" dirty="0">
                <a:solidFill>
                  <a:srgbClr val="1B1B1B"/>
                </a:solidFill>
                <a:latin typeface="Calibri" pitchFamily="34" charset="0"/>
                <a:ea typeface="Calibri" pitchFamily="34" charset="-122"/>
                <a:cs typeface="Calibri" pitchFamily="34" charset="-120"/>
              </a:rPr>
              <a:t>◆  ValidatorsRegistry/Treasury/BlockRewardDistributor از nonReentrant استفاده می‌کنند</a:t>
            </a:r>
            <a:endParaRPr lang="en-US" sz="1250" dirty="0"/>
          </a:p>
          <a:p>
            <a:pPr rtl="1" algn="r" indent="0" marL="0">
              <a:spcAft>
                <a:spcPts val="1400"/>
              </a:spcAft>
              <a:buNone/>
            </a:pPr>
            <a:r>
              <a:rPr lang="en-US" sz="1250" dirty="0">
                <a:solidFill>
                  <a:srgbClr val="1B1B1B"/>
                </a:solidFill>
                <a:latin typeface="Calibri" pitchFamily="34" charset="0"/>
                <a:ea typeface="Calibri" pitchFamily="34" charset="-122"/>
                <a:cs typeface="Calibri" pitchFamily="34" charset="-120"/>
              </a:rPr>
              <a:t>◆  این فقط یک الگو بود — دامنه‌ی کامل حسابرسی رسمی باید ادامه یابد</a:t>
            </a:r>
            <a:endParaRPr lang="en-US" sz="1250" dirty="0"/>
          </a:p>
        </p:txBody>
      </p:sp>
      <p:sp>
        <p:nvSpPr>
          <p:cNvPr id="7" name="Shape 5"/>
          <p:cNvSpPr/>
          <p:nvPr/>
        </p:nvSpPr>
        <p:spPr>
          <a:xfrm>
            <a:off x="429768" y="6446520"/>
            <a:ext cx="310896" cy="310896"/>
          </a:xfrm>
          <a:prstGeom prst="ellipse">
            <a:avLst/>
          </a:prstGeom>
          <a:solidFill>
            <a:srgbClr val="FFFFFF"/>
          </a:solidFill>
          <a:ln/>
        </p:spPr>
        <p:txBody>
          <a:bodyPr/>
          <a:p/>
        </p:txBody>
      </p:sp>
      <p:pic>
        <p:nvPicPr>
          <p:cNvPr id="8" name="Image 0" descr="/home/claude/deck2/assets/logo.png">    </p:cNvPr>
          <p:cNvPicPr>
            <a:picLocks noChangeAspect="1"/>
          </p:cNvPicPr>
          <p:nvPr/>
        </p:nvPicPr>
        <p:blipFill>
          <a:blip r:embed="rId1"/>
          <a:stretch>
            <a:fillRect/>
          </a:stretch>
        </p:blipFill>
        <p:spPr>
          <a:xfrm>
            <a:off x="457200" y="6473952"/>
            <a:ext cx="256032" cy="256032"/>
          </a:xfrm>
          <a:prstGeom prst="rect">
            <a:avLst/>
          </a:prstGeom>
        </p:spPr>
      </p:pic>
      <p:sp>
        <p:nvSpPr>
          <p:cNvPr id="9" name="Text 6"/>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10" name="Text 7"/>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320040"/>
          </a:xfrm>
          <a:prstGeom prst="rect">
            <a:avLst/>
          </a:prstGeom>
          <a:noFill/>
          <a:ln/>
        </p:spPr>
        <p:txBody>
          <a:bodyPr wrap="square" lIns="0" tIns="0" rIns="0" bIns="0" rtlCol="0" anchor="ctr"/>
          <a:lstStyle/>
          <a:p>
            <a:pPr rtl="1" algn="r" indent="0" marL="0">
              <a:buNone/>
            </a:pPr>
            <a:r>
              <a:rPr lang="en-US" sz="1250" b="1" spc="150" kern="0" dirty="0">
                <a:solidFill>
                  <a:srgbClr val="00897B"/>
                </a:solidFill>
                <a:latin typeface="Calibri" pitchFamily="34" charset="0"/>
                <a:ea typeface="Calibri" pitchFamily="34" charset="-122"/>
                <a:cs typeface="Calibri" pitchFamily="34" charset="-120"/>
              </a:rPr>
              <a:t>برای تیم فنی</a:t>
            </a:r>
            <a:endParaRPr lang="en-US" sz="1250" dirty="0"/>
          </a:p>
        </p:txBody>
      </p:sp>
      <p:sp>
        <p:nvSpPr>
          <p:cNvPr id="3" name="Text 1"/>
          <p:cNvSpPr txBox="1"/>
          <p:nvPr/>
        </p:nvSpPr>
        <p:spPr>
          <a:xfrm>
            <a:off x="548640" y="576072"/>
            <a:ext cx="11064240" cy="685800"/>
          </a:xfrm>
          <a:prstGeom prst="rect">
            <a:avLst/>
          </a:prstGeom>
          <a:noFill/>
          <a:ln/>
        </p:spPr>
        <p:txBody>
          <a:bodyPr wrap="square" lIns="0" tIns="0" rIns="0" bIns="0" rtlCol="0" anchor="ctr"/>
          <a:lstStyle/>
          <a:p>
            <a:pPr rtl="1" algn="r" indent="0" marL="0">
              <a:buNone/>
            </a:pPr>
            <a:r>
              <a:rPr lang="en-US" sz="2400" b="1" dirty="0">
                <a:solidFill>
                  <a:srgbClr val="1B1B1B"/>
                </a:solidFill>
                <a:latin typeface="Cambria" pitchFamily="34" charset="0"/>
                <a:ea typeface="Cambria" pitchFamily="34" charset="-122"/>
                <a:cs typeface="Cambria" pitchFamily="34" charset="-120"/>
              </a:rPr>
              <a:t>سؤالات فنی باز</a:t>
            </a:r>
            <a:endParaRPr lang="en-US" sz="24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4663440"/>
        </p:xfrm>
        <a:graphic>
          <a:graphicData uri="http://schemas.openxmlformats.org/drawingml/2006/table">
            <a:tbl>
              <a:tblPr/>
              <a:tblGrid>
                <a:gridCol w="5532120"/>
                <a:gridCol w="5532120"/>
              </a:tblGrid>
              <a:tr h="777240">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مورد</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c>
                  <a:txBody>
                    <a:bodyPr/>
                    <a:lstStyle/>
                    <a:p>
                      <a:pPr rtl="1" algn="ctr" indent="0" marL="0">
                        <a:buNone/>
                      </a:pPr>
                      <a:r>
                        <a:rPr lang="en-US" sz="1200" b="1" dirty="0">
                          <a:solidFill>
                            <a:srgbClr val="FFFFFF"/>
                          </a:solidFill>
                          <a:latin typeface="Calibri" pitchFamily="34" charset="0"/>
                          <a:ea typeface="Calibri" pitchFamily="34" charset="-122"/>
                          <a:cs typeface="Calibri" pitchFamily="34" charset="-120"/>
                        </a:rPr>
                        <a:t>وضعیت</a:t>
                      </a:r>
                      <a:endParaRPr lang="en-US" sz="12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263238"/>
                    </a:solidFill>
                  </a:tcPr>
                </a:tc>
              </a:tr>
              <a:tr h="777240">
                <a:tc>
                  <a:txBody>
                    <a:bodyPr/>
                    <a:lstStyle/>
                    <a:p>
                      <a:pPr algn="r" indent="0" marL="0">
                        <a:buNone/>
                      </a:pPr>
                      <a:r>
                        <a:rPr lang="en-US" sz="1100" dirty="0">
                          <a:solidFill>
                            <a:srgbClr val="1B1B1B"/>
                          </a:solidFill>
                          <a:latin typeface="Courier New" pitchFamily="34" charset="0"/>
                          <a:ea typeface="Courier New" pitchFamily="34" charset="-122"/>
                          <a:cs typeface="Courier New" pitchFamily="34" charset="-120"/>
                        </a:rPr>
                        <a:t>نصاب دوسوم برای چرخش paymentOracle اگر مبالغ بزرگ‌تر شد</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100" dirty="0">
                          <a:solidFill>
                            <a:srgbClr val="1B1B1B"/>
                          </a:solidFill>
                          <a:latin typeface="Calibri" pitchFamily="34" charset="0"/>
                          <a:ea typeface="Calibri" pitchFamily="34" charset="-122"/>
                          <a:cs typeface="Calibri" pitchFamily="34" charset="-120"/>
                        </a:rPr>
                        <a:t>نیازمند تغییر کد FoundationDAO</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777240">
                <a:tc>
                  <a:txBody>
                    <a:bodyPr/>
                    <a:lstStyle/>
                    <a:p>
                      <a:pPr algn="r" indent="0" marL="0">
                        <a:buNone/>
                      </a:pPr>
                      <a:r>
                        <a:rPr lang="en-US" sz="1100" dirty="0">
                          <a:solidFill>
                            <a:srgbClr val="1B1B1B"/>
                          </a:solidFill>
                          <a:latin typeface="Courier New" pitchFamily="34" charset="0"/>
                          <a:ea typeface="Courier New" pitchFamily="34" charset="-122"/>
                          <a:cs typeface="Courier New" pitchFamily="34" charset="-120"/>
                        </a:rPr>
                        <a:t>عدد دقیق CONFIRMATIONS برای RewardRouter</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100" dirty="0">
                          <a:solidFill>
                            <a:srgbClr val="1B1B1B"/>
                          </a:solidFill>
                          <a:latin typeface="Calibri" pitchFamily="34" charset="0"/>
                          <a:ea typeface="Calibri" pitchFamily="34" charset="-122"/>
                          <a:cs typeface="Calibri" pitchFamily="34" charset="-120"/>
                        </a:rPr>
                        <a:t>حل شد — حذف کامل (QBFT نهایی‌شدن فوری)</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r h="777240">
                <a:tc>
                  <a:txBody>
                    <a:bodyPr/>
                    <a:lstStyle/>
                    <a:p>
                      <a:pPr algn="r" indent="0" marL="0">
                        <a:buNone/>
                      </a:pPr>
                      <a:r>
                        <a:rPr lang="en-US" sz="1100" dirty="0">
                          <a:solidFill>
                            <a:srgbClr val="1B1B1B"/>
                          </a:solidFill>
                          <a:latin typeface="Courier New" pitchFamily="34" charset="0"/>
                          <a:ea typeface="Courier New" pitchFamily="34" charset="-122"/>
                          <a:cs typeface="Courier New" pitchFamily="34" charset="-120"/>
                        </a:rPr>
                        <a:t>یکسان‌سازی کتابخانه (viem/ethers.js) بین سرویس‌ها</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100" dirty="0">
                          <a:solidFill>
                            <a:srgbClr val="1B1B1B"/>
                          </a:solidFill>
                          <a:latin typeface="Calibri" pitchFamily="34" charset="0"/>
                          <a:ea typeface="Calibri" pitchFamily="34" charset="-122"/>
                          <a:cs typeface="Calibri" pitchFamily="34" charset="-120"/>
                        </a:rPr>
                        <a:t>حل شد — هر دو روی viem یکسان شدند</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r h="777240">
                <a:tc>
                  <a:txBody>
                    <a:bodyPr/>
                    <a:lstStyle/>
                    <a:p>
                      <a:pPr algn="r" indent="0" marL="0">
                        <a:buNone/>
                      </a:pPr>
                      <a:r>
                        <a:rPr lang="en-US" sz="1100" dirty="0">
                          <a:solidFill>
                            <a:srgbClr val="1B1B1B"/>
                          </a:solidFill>
                          <a:latin typeface="Courier New" pitchFamily="34" charset="0"/>
                          <a:ea typeface="Courier New" pitchFamily="34" charset="-122"/>
                          <a:cs typeface="Courier New" pitchFamily="34" charset="-120"/>
                        </a:rPr>
                        <a:t>اجرای واقعی ابزار genesis.json</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c>
                  <a:txBody>
                    <a:bodyPr/>
                    <a:lstStyle/>
                    <a:p>
                      <a:pPr rtl="1" algn="ctr" indent="0" marL="0">
                        <a:buNone/>
                      </a:pPr>
                      <a:r>
                        <a:rPr lang="en-US" sz="1100" dirty="0">
                          <a:solidFill>
                            <a:srgbClr val="1B1B1B"/>
                          </a:solidFill>
                          <a:latin typeface="Calibri" pitchFamily="34" charset="0"/>
                          <a:ea typeface="Calibri" pitchFamily="34" charset="-122"/>
                          <a:cs typeface="Calibri" pitchFamily="34" charset="-120"/>
                        </a:rPr>
                        <a:t>هنوز انجام نشده (T02)؛ آزمون‌های Besu با اسکریپت آزمایشی؛ کد فعلی روی Besu آزموده نشده</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2F5F5"/>
                    </a:solidFill>
                  </a:tcPr>
                </a:tc>
              </a:tr>
              <a:tr h="777240">
                <a:tc>
                  <a:txBody>
                    <a:bodyPr/>
                    <a:lstStyle/>
                    <a:p>
                      <a:pPr algn="r" indent="0" marL="0">
                        <a:buNone/>
                      </a:pPr>
                      <a:r>
                        <a:rPr lang="en-US" sz="1100" dirty="0">
                          <a:solidFill>
                            <a:srgbClr val="1B1B1B"/>
                          </a:solidFill>
                          <a:latin typeface="Courier New" pitchFamily="34" charset="0"/>
                          <a:ea typeface="Courier New" pitchFamily="34" charset="-122"/>
                          <a:cs typeface="Courier New" pitchFamily="34" charset="-120"/>
                        </a:rPr>
                        <a:t>انتخاب شرکت حسابرسی امنیتی</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c>
                  <a:txBody>
                    <a:bodyPr/>
                    <a:lstStyle/>
                    <a:p>
                      <a:pPr rtl="1" algn="ctr" indent="0" marL="0">
                        <a:buNone/>
                      </a:pPr>
                      <a:r>
                        <a:rPr lang="en-US" sz="1100" dirty="0">
                          <a:solidFill>
                            <a:srgbClr val="1B1B1B"/>
                          </a:solidFill>
                          <a:latin typeface="Calibri" pitchFamily="34" charset="0"/>
                          <a:ea typeface="Calibri" pitchFamily="34" charset="-122"/>
                          <a:cs typeface="Calibri" pitchFamily="34" charset="-120"/>
                        </a:rPr>
                        <a:t>باز — sur-security-audit-plan.md</a:t>
                      </a:r>
                      <a:endParaRPr lang="en-US" sz="1100" dirty="0">
                        <a:latin typeface="Calibri" charset="0"/>
                        <a:ea typeface="Calibri" charset="0"/>
                        <a:cs typeface="Calibri" charset="0"/>
                      </a:endParaRPr>
                    </a:p>
                  </a:txBody>
                  <a:tcPr marL="91440" marR="91440" marT="45720" marB="45720" anchor="ctr">
                    <a:lnL w="6350" cap="flat" cmpd="sng" algn="ctr">
                      <a:solidFill>
                        <a:srgbClr val="E0E6E7"/>
                      </a:solidFill>
                      <a:prstDash val="solid"/>
                      <a:round/>
                      <a:headEnd type="none" w="med" len="med"/>
                      <a:tailEnd type="none" w="med" len="med"/>
                    </a:lnL>
                    <a:lnR w="6350" cap="flat" cmpd="sng" algn="ctr">
                      <a:solidFill>
                        <a:srgbClr val="E0E6E7"/>
                      </a:solidFill>
                      <a:prstDash val="solid"/>
                      <a:round/>
                      <a:headEnd type="none" w="med" len="med"/>
                      <a:tailEnd type="none" w="med" len="med"/>
                    </a:lnR>
                    <a:lnT w="6350" cap="flat" cmpd="sng" algn="ctr">
                      <a:solidFill>
                        <a:srgbClr val="E0E6E7"/>
                      </a:solidFill>
                      <a:prstDash val="solid"/>
                      <a:round/>
                      <a:headEnd type="none" w="med" len="med"/>
                      <a:tailEnd type="none" w="med" len="med"/>
                    </a:lnT>
                    <a:lnB w="6350" cap="flat" cmpd="sng" algn="ctr">
                      <a:solidFill>
                        <a:srgbClr val="E0E6E7"/>
                      </a:solidFill>
                      <a:prstDash val="solid"/>
                      <a:round/>
                      <a:headEnd type="none" w="med" len="med"/>
                      <a:tailEnd type="none" w="med" len="med"/>
                    </a:lnB>
                    <a:solidFill>
                      <a:srgbClr val="FFFFFF"/>
                    </a:solidFill>
                  </a:tcPr>
                </a:tc>
              </a:tr>
            </a:tbl>
          </a:graphicData>
        </a:graphic>
      </p:graphicFrame>
      <p:sp>
        <p:nvSpPr>
          <p:cNvPr id="5" name="Shape 2"/>
          <p:cNvSpPr/>
          <p:nvPr/>
        </p:nvSpPr>
        <p:spPr>
          <a:xfrm>
            <a:off x="429768" y="6446520"/>
            <a:ext cx="310896" cy="310896"/>
          </a:xfrm>
          <a:prstGeom prst="ellipse">
            <a:avLst/>
          </a:prstGeom>
          <a:solidFill>
            <a:srgbClr val="FFFFFF"/>
          </a:solidFill>
          <a:ln/>
        </p:spPr>
        <p:txBody>
          <a:bodyPr/>
          <a:p/>
        </p:txBody>
      </p:sp>
      <p:pic>
        <p:nvPicPr>
          <p:cNvPr id="6" name="Image 0" descr="/home/claude/deck2/assets/logo.png">    </p:cNvPr>
          <p:cNvPicPr>
            <a:picLocks noChangeAspect="1"/>
          </p:cNvPicPr>
          <p:nvPr/>
        </p:nvPicPr>
        <p:blipFill>
          <a:blip r:embed="rId1"/>
          <a:stretch>
            <a:fillRect/>
          </a:stretch>
        </p:blipFill>
        <p:spPr>
          <a:xfrm>
            <a:off x="457200" y="6473952"/>
            <a:ext cx="256032" cy="256032"/>
          </a:xfrm>
          <a:prstGeom prst="rect">
            <a:avLst/>
          </a:prstGeom>
        </p:spPr>
      </p:pic>
      <p:sp>
        <p:nvSpPr>
          <p:cNvPr id="7" name="Text 3"/>
          <p:cNvSpPr txBox="1"/>
          <p:nvPr/>
        </p:nvSpPr>
        <p:spPr>
          <a:xfrm>
            <a:off x="804672" y="6537960"/>
            <a:ext cx="694944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پیاده‌سازی فنی طرح جدید سور — تیم فنی بنیاد</a:t>
            </a:r>
            <a:endParaRPr lang="en-US" sz="1000" dirty="0"/>
          </a:p>
        </p:txBody>
      </p:sp>
      <p:sp>
        <p:nvSpPr>
          <p:cNvPr id="8" name="Text 4"/>
          <p:cNvSpPr txBox="1"/>
          <p:nvPr/>
        </p:nvSpPr>
        <p:spPr>
          <a:xfrm>
            <a:off x="11430000" y="6537960"/>
            <a:ext cx="365760" cy="274320"/>
          </a:xfrm>
          <a:prstGeom prst="rect">
            <a:avLst/>
          </a:prstGeom>
          <a:noFill/>
          <a:ln/>
        </p:spPr>
        <p:txBody>
          <a:bodyPr wrap="square" lIns="0" tIns="0" rIns="0" bIns="0" rtlCol="0" anchor="ctr"/>
          <a:lstStyle/>
          <a:p>
            <a:pPr rtl="1" algn="r" indent="0" marL="0">
              <a:buNone/>
            </a:pPr>
            <a:r>
              <a:rPr lang="en-US" sz="1000" dirty="0">
                <a:solidFill>
                  <a:srgbClr val="8FA3A8"/>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63238"/>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BFA5"/>
          </a:solidFill>
          <a:ln/>
        </p:spPr>
        <p:txBody>
          <a:bodyPr/>
          <a:p/>
        </p:txBody>
      </p:sp>
      <p:sp>
        <p:nvSpPr>
          <p:cNvPr id="3" name="Shape 1"/>
          <p:cNvSpPr/>
          <p:nvPr/>
        </p:nvSpPr>
        <p:spPr>
          <a:xfrm>
            <a:off x="10332720" y="411480"/>
            <a:ext cx="1371600" cy="1371600"/>
          </a:xfrm>
          <a:prstGeom prst="ellipse">
            <a:avLst/>
          </a:prstGeom>
          <a:solidFill>
            <a:srgbClr val="FFFFFF"/>
          </a:solidFill>
          <a:ln/>
        </p:spPr>
        <p:txBody>
          <a:bodyPr/>
          <a:p/>
        </p:txBody>
      </p:sp>
      <p:pic>
        <p:nvPicPr>
          <p:cNvPr id="4" name="Image 0" descr="/home/claude/deck2/assets/logo.png">    </p:cNvPr>
          <p:cNvPicPr>
            <a:picLocks noChangeAspect="1"/>
          </p:cNvPicPr>
          <p:nvPr/>
        </p:nvPicPr>
        <p:blipFill>
          <a:blip r:embed="rId1"/>
          <a:stretch>
            <a:fillRect/>
          </a:stretch>
        </p:blipFill>
        <p:spPr>
          <a:xfrm>
            <a:off x="10515600" y="594360"/>
            <a:ext cx="1005840" cy="1005840"/>
          </a:xfrm>
          <a:prstGeom prst="rect">
            <a:avLst/>
          </a:prstGeom>
        </p:spPr>
      </p:pic>
      <p:sp>
        <p:nvSpPr>
          <p:cNvPr id="5" name="Text 2"/>
          <p:cNvSpPr txBox="1"/>
          <p:nvPr/>
        </p:nvSpPr>
        <p:spPr>
          <a:xfrm>
            <a:off x="914400" y="2651760"/>
            <a:ext cx="10332720" cy="1097280"/>
          </a:xfrm>
          <a:prstGeom prst="rect">
            <a:avLst/>
          </a:prstGeom>
          <a:noFill/>
          <a:ln/>
        </p:spPr>
        <p:txBody>
          <a:bodyPr wrap="square" lIns="0" tIns="0" rIns="0" bIns="0" rtlCol="0" anchor="ctr"/>
          <a:lstStyle/>
          <a:p>
            <a:pPr rtl="1" algn="r" indent="0" marL="0">
              <a:buNone/>
            </a:pPr>
            <a:r>
              <a:rPr lang="en-US" sz="3200" b="1" dirty="0">
                <a:solidFill>
                  <a:srgbClr val="FFFFFF"/>
                </a:solidFill>
                <a:latin typeface="Cambria" pitchFamily="34" charset="0"/>
                <a:ea typeface="Cambria" pitchFamily="34" charset="-122"/>
                <a:cs typeface="Cambria" pitchFamily="34" charset="-120"/>
              </a:rPr>
              <a:t>جمع‌بندی</a:t>
            </a:r>
            <a:endParaRPr lang="en-US" sz="3200" dirty="0"/>
          </a:p>
        </p:txBody>
      </p:sp>
      <p:sp>
        <p:nvSpPr>
          <p:cNvPr id="6" name="Text 3"/>
          <p:cNvSpPr txBox="1"/>
          <p:nvPr/>
        </p:nvSpPr>
        <p:spPr>
          <a:xfrm>
            <a:off x="914400" y="3657600"/>
            <a:ext cx="10332720" cy="731520"/>
          </a:xfrm>
          <a:prstGeom prst="rect">
            <a:avLst/>
          </a:prstGeom>
          <a:noFill/>
          <a:ln/>
        </p:spPr>
        <p:txBody>
          <a:bodyPr wrap="square" lIns="0" tIns="0" rIns="0" bIns="0" rtlCol="0" anchor="ctr"/>
          <a:lstStyle/>
          <a:p>
            <a:pPr rtl="1" algn="r" indent="0" marL="0">
              <a:buNone/>
            </a:pPr>
            <a:r>
              <a:rPr lang="en-US" sz="1400" dirty="0">
                <a:solidFill>
                  <a:srgbClr val="B0BEC5"/>
                </a:solidFill>
                <a:latin typeface="Calibri" pitchFamily="34" charset="0"/>
                <a:ea typeface="Calibri" pitchFamily="34" charset="-122"/>
                <a:cs typeface="Calibri" pitchFamily="34" charset="-120"/>
              </a:rPr>
              <a:t>جزئیات کامل هر سرویس/قرارداد در پوشه‌های contracts/ و offchain-services/ موجود است — آماده‌ی شروع پیاده‌سازی هستیم.</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2026-08-28T12:08:50Z</dcterms:created>
  <dcterms:modified xsi:type="dcterms:W3CDTF">2026-08-28T12:08:50Z</dcterms:modified>
</cp:coreProperties>
</file>