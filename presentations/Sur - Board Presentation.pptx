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c:v>
                </c:pt>
              </c:strCache>
            </c:strRef>
          </c:tx>
          <c:spPr>
            <a:solidFill>
              <a:srgbClr val="2F3690"/>
            </a:solidFill>
            <a:effectLst/>
          </c:spPr>
          <c:invertIfNegative val="0"/>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c:v>
                </c:pt>
                <c:pt idx="3">
                  <c:v>109</c:v>
                </c:pt>
                <c:pt idx="4">
                  <c:v>113</c:v>
                </c:pt>
                <c:pt idx="5">
                  <c:v>116</c:v>
                </c:pt>
              </c:numCache>
            </c:numRef>
          </c:val>
        </c:ser>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سورن در یک نگاه: چیست و برای چه استفاده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7436815" y="1417320"/>
            <a:ext cx="4206240" cy="1078992"/>
          </a:xfrm>
          <a:prstGeom prst="roundRect">
            <a:avLst>
              <a:gd name="adj" fmla="val 10169"/>
            </a:avLst>
          </a:prstGeom>
          <a:solidFill>
            <a:srgbClr val="EEF0FB"/>
          </a:solidFill>
          <a:ln w="9525">
            <a:solidFill>
              <a:srgbClr val="EEF0FB"/>
            </a:solidFill>
            <a:prstDash val="solid"/>
          </a:ln>
        </p:spPr>
      </p:sp>
      <p:sp>
        <p:nvSpPr>
          <p:cNvPr id="7" name="Text 5"/>
          <p:cNvSpPr txBox="1"/>
          <p:nvPr/>
        </p:nvSpPr>
        <p:spPr>
          <a:xfrm>
            <a:off x="7592263" y="149047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ارز بومی شبکه</a:t>
            </a:r>
            <a:endParaRPr lang="en-US" sz="1350" dirty="0"/>
          </a:p>
        </p:txBody>
      </p:sp>
      <p:sp>
        <p:nvSpPr>
          <p:cNvPr id="8" name="Text 6"/>
          <p:cNvSpPr txBox="1"/>
          <p:nvPr/>
        </p:nvSpPr>
        <p:spPr>
          <a:xfrm>
            <a:off x="7592263" y="181965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مثل ETH در اتریوم بخشی از خود پروتکل است، نه یک توکن ERC20. انتقال با مقدار تراکنش انجام می‌شود، نه با تابع انتقال توکن.</a:t>
            </a:r>
            <a:endParaRPr lang="en-US" sz="1100" dirty="0"/>
          </a:p>
        </p:txBody>
      </p:sp>
      <p:sp>
        <p:nvSpPr>
          <p:cNvPr id="9" name="Shape 7"/>
          <p:cNvSpPr/>
          <p:nvPr/>
        </p:nvSpPr>
        <p:spPr>
          <a:xfrm>
            <a:off x="7436815" y="2606040"/>
            <a:ext cx="4206240" cy="1078992"/>
          </a:xfrm>
          <a:prstGeom prst="roundRect">
            <a:avLst>
              <a:gd name="adj" fmla="val 10169"/>
            </a:avLst>
          </a:prstGeom>
          <a:solidFill>
            <a:srgbClr val="EEF0FB"/>
          </a:solidFill>
          <a:ln w="9525">
            <a:solidFill>
              <a:srgbClr val="EEF0FB"/>
            </a:solidFill>
            <a:prstDash val="solid"/>
          </a:ln>
        </p:spPr>
      </p:sp>
      <p:sp>
        <p:nvSpPr>
          <p:cNvPr id="10" name="Text 8"/>
          <p:cNvSpPr txBox="1"/>
          <p:nvPr/>
        </p:nvSpPr>
        <p:spPr>
          <a:xfrm>
            <a:off x="7592263" y="267919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۱۸ رقم اعشار</a:t>
            </a:r>
            <a:endParaRPr lang="en-US" sz="1350" dirty="0"/>
          </a:p>
        </p:txBody>
      </p:sp>
      <p:sp>
        <p:nvSpPr>
          <p:cNvPr id="11" name="Text 9"/>
          <p:cNvSpPr txBox="1"/>
          <p:nvPr/>
        </p:nvSpPr>
        <p:spPr>
          <a:xfrm>
            <a:off x="7592263" y="300837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کوچک‌ترین واحد wei است؛ ۱۰¹⁸ wei برابر یک سورن.</a:t>
            </a:r>
            <a:endParaRPr lang="en-US" sz="1100" dirty="0"/>
          </a:p>
        </p:txBody>
      </p:sp>
      <p:sp>
        <p:nvSpPr>
          <p:cNvPr id="12" name="Shape 10"/>
          <p:cNvSpPr/>
          <p:nvPr/>
        </p:nvSpPr>
        <p:spPr>
          <a:xfrm>
            <a:off x="7436815" y="3794760"/>
            <a:ext cx="4206240" cy="1078992"/>
          </a:xfrm>
          <a:prstGeom prst="roundRect">
            <a:avLst>
              <a:gd name="adj" fmla="val 10169"/>
            </a:avLst>
          </a:prstGeom>
          <a:solidFill>
            <a:srgbClr val="EEF0FB"/>
          </a:solidFill>
          <a:ln w="9525">
            <a:solidFill>
              <a:srgbClr val="EEF0FB"/>
            </a:solidFill>
            <a:prstDash val="solid"/>
          </a:ln>
        </p:spPr>
      </p:sp>
      <p:sp>
        <p:nvSpPr>
          <p:cNvPr id="13" name="Text 11"/>
          <p:cNvSpPr txBox="1"/>
          <p:nvPr/>
        </p:nvSpPr>
        <p:spPr>
          <a:xfrm>
            <a:off x="7592263" y="386791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انتشار دائمی</a:t>
            </a:r>
            <a:endParaRPr lang="en-US" sz="1350" dirty="0"/>
          </a:p>
        </p:txBody>
      </p:sp>
      <p:sp>
        <p:nvSpPr>
          <p:cNvPr id="14" name="Text 12"/>
          <p:cNvSpPr txBox="1"/>
          <p:nvPr/>
        </p:nvSpPr>
        <p:spPr>
          <a:xfrm>
            <a:off x="7592263" y="419709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هر بلاک ۲ سورن تازه می‌سازد؛ سقف عرضه و halving ندارد.</a:t>
            </a:r>
            <a:endParaRPr lang="en-US" sz="1100" dirty="0"/>
          </a:p>
        </p:txBody>
      </p:sp>
      <p:sp>
        <p:nvSpPr>
          <p:cNvPr id="15" name="Shape 13"/>
          <p:cNvSpPr/>
          <p:nvPr/>
        </p:nvSpPr>
        <p:spPr>
          <a:xfrm>
            <a:off x="7436815" y="4983480"/>
            <a:ext cx="4206240" cy="1078992"/>
          </a:xfrm>
          <a:prstGeom prst="roundRect">
            <a:avLst>
              <a:gd name="adj" fmla="val 10169"/>
            </a:avLst>
          </a:prstGeom>
          <a:solidFill>
            <a:srgbClr val="E3F4EC"/>
          </a:solidFill>
          <a:ln w="9525">
            <a:solidFill>
              <a:srgbClr val="E3F4EC"/>
            </a:solidFill>
            <a:prstDash val="solid"/>
          </a:ln>
        </p:spPr>
      </p:sp>
      <p:sp>
        <p:nvSpPr>
          <p:cNvPr id="16" name="Text 14"/>
          <p:cNvSpPr txBox="1"/>
          <p:nvPr/>
        </p:nvSpPr>
        <p:spPr>
          <a:xfrm>
            <a:off x="7592263" y="505663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رأی از سورن نمی‌آید</a:t>
            </a:r>
            <a:endParaRPr lang="en-US" sz="1350" dirty="0"/>
          </a:p>
        </p:txBody>
      </p:sp>
      <p:sp>
        <p:nvSpPr>
          <p:cNvPr id="17" name="Text 15"/>
          <p:cNvSpPr txBox="1"/>
          <p:nvPr/>
        </p:nvSpPr>
        <p:spPr>
          <a:xfrm>
            <a:off x="7592263" y="538581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صرف داشتن سورن حق رأی نمی‌دهد. حق رأی فقط با قفل‌کردن وثیقه و ولیدیتور فعال‌شدن به دست می‌آید.</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812280" cy="914400"/>
        </p:xfrm>
        <a:graphic>
          <a:graphicData uri="http://schemas.openxmlformats.org/drawingml/2006/table">
            <a:tbl>
              <a:tblPr/>
              <a:tblGrid>
                <a:gridCol w="777240"/>
                <a:gridCol w="4114800"/>
                <a:gridCol w="192024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توضیح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کاربرد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1323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هر تراکنش و فراخوانی قرارداد به سورن هزینه دارد (قیمت گاز ثابت)؛ محرک اصلی تقاضا اجرای دپ‌ها روی سور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تراکنش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قفل‌شدن مبلغ ورود؛ در خروج داوطلبانه کاملاً قابل‌استرداد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وثیقه‌ی ولیدیتور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۴٪ وثیقه، یک‌بار و بازگشت‌ناپذیر؛ به تولیدکنندگان بلاک‌ها می‌رسد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عضویت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باقی‌مانده‌ی ریوارد و بخش جریمه‌شده‌ی وثیقه؛ خرج‌شدنی فقط با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دارایی خزانه‌ی ولیدیتورها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772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طراحی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سورن توسط کاربر یا صاحب دپ برای دسترسی بهتر به یک سرویس (نام‌گذاری، ثبت‌زمان اسناد و …)</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استیک برای دسترسی به سرویس‌های مشترک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548640" y="5897880"/>
            <a:ext cx="6812280" cy="50292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مأموریت رشد تقاضا با بنیاد است: تبلیغات، آموزش و اجرای چند دپ اولیه. کدام دپ‌های مشخص اول ساخته شوند هنوز تعیین نشده است. هیچ کنترل محتوایی از طرف بنیاد یا ولیدیتورها روی دپ‌ها وجود ندارد.</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جریان سورن: از انتشار تا مصرف</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8076895" y="1417320"/>
            <a:ext cx="3566160" cy="1051560"/>
          </a:xfrm>
          <a:prstGeom prst="roundRect">
            <a:avLst>
              <a:gd name="adj" fmla="val 10435"/>
            </a:avLst>
          </a:prstGeom>
          <a:solidFill>
            <a:srgbClr val="EEF0FB"/>
          </a:solidFill>
          <a:ln w="9525">
            <a:solidFill>
              <a:srgbClr val="EEF0FB"/>
            </a:solidFill>
            <a:prstDash val="solid"/>
          </a:ln>
        </p:spPr>
      </p:sp>
      <p:sp>
        <p:nvSpPr>
          <p:cNvPr id="7" name="Text 5"/>
          <p:cNvSpPr txBox="1"/>
          <p:nvPr/>
        </p:nvSpPr>
        <p:spPr>
          <a:xfrm>
            <a:off x="8214055" y="141732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ریوارد هر بلاک: ۲ سورن (۲۱٬۰۲۴٬۰۰۰ در سال)</a:t>
            </a:r>
            <a:endParaRPr lang="en-US" sz="1250" dirty="0"/>
          </a:p>
        </p:txBody>
      </p:sp>
      <p:sp>
        <p:nvSpPr>
          <p:cNvPr id="8" name="Shape 6"/>
          <p:cNvSpPr/>
          <p:nvPr/>
        </p:nvSpPr>
        <p:spPr>
          <a:xfrm flipH="1">
            <a:off x="7482535" y="1943100"/>
            <a:ext cx="548640" cy="0"/>
          </a:xfrm>
          <a:prstGeom prst="line">
            <a:avLst/>
          </a:prstGeom>
          <a:noFill/>
          <a:ln w="31750">
            <a:solidFill>
              <a:srgbClr val="2F3690"/>
            </a:solidFill>
            <a:prstDash val="solid"/>
            <a:tailEnd type="triangle"/>
          </a:ln>
        </p:spPr>
      </p:sp>
      <p:sp>
        <p:nvSpPr>
          <p:cNvPr id="9" name="Shape 7"/>
          <p:cNvSpPr/>
          <p:nvPr/>
        </p:nvSpPr>
        <p:spPr>
          <a:xfrm>
            <a:off x="5171237" y="1417320"/>
            <a:ext cx="2174138" cy="1051560"/>
          </a:xfrm>
          <a:prstGeom prst="roundRect">
            <a:avLst>
              <a:gd name="adj" fmla="val 10435"/>
            </a:avLst>
          </a:prstGeom>
          <a:solidFill>
            <a:srgbClr val="FFFFFF"/>
          </a:solidFill>
          <a:ln w="19050">
            <a:solidFill>
              <a:srgbClr val="2F3690"/>
            </a:solidFill>
            <a:prstDash val="solid"/>
          </a:ln>
        </p:spPr>
      </p:sp>
      <p:sp>
        <p:nvSpPr>
          <p:cNvPr id="10" name="Text 8"/>
          <p:cNvSpPr txBox="1"/>
          <p:nvPr/>
        </p:nvSpPr>
        <p:spPr>
          <a:xfrm>
            <a:off x="5262677"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بنیاد</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ثابت</a:t>
            </a:r>
            <a:endParaRPr lang="en-US" sz="1300" dirty="0"/>
          </a:p>
        </p:txBody>
      </p:sp>
      <p:sp>
        <p:nvSpPr>
          <p:cNvPr id="11" name="Shape 9"/>
          <p:cNvSpPr/>
          <p:nvPr/>
        </p:nvSpPr>
        <p:spPr>
          <a:xfrm>
            <a:off x="2859938" y="1417320"/>
            <a:ext cx="2174138" cy="1051560"/>
          </a:xfrm>
          <a:prstGeom prst="roundRect">
            <a:avLst>
              <a:gd name="adj" fmla="val 10435"/>
            </a:avLst>
          </a:prstGeom>
          <a:solidFill>
            <a:srgbClr val="FFFFFF"/>
          </a:solidFill>
          <a:ln w="19050">
            <a:solidFill>
              <a:srgbClr val="3D46A8"/>
            </a:solidFill>
            <a:prstDash val="solid"/>
          </a:ln>
        </p:spPr>
      </p:sp>
      <p:sp>
        <p:nvSpPr>
          <p:cNvPr id="12" name="Text 10"/>
          <p:cNvSpPr txBox="1"/>
          <p:nvPr/>
        </p:nvSpPr>
        <p:spPr>
          <a:xfrm>
            <a:off x="2951378"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۴۰ تا ۶۵٪ (شروع ۵۰٪)</a:t>
            </a:r>
            <a:endParaRPr lang="en-US" sz="1300" dirty="0"/>
          </a:p>
        </p:txBody>
      </p:sp>
      <p:sp>
        <p:nvSpPr>
          <p:cNvPr id="13" name="Shape 11"/>
          <p:cNvSpPr/>
          <p:nvPr/>
        </p:nvSpPr>
        <p:spPr>
          <a:xfrm>
            <a:off x="548640" y="1417320"/>
            <a:ext cx="2174138" cy="1051560"/>
          </a:xfrm>
          <a:prstGeom prst="roundRect">
            <a:avLst>
              <a:gd name="adj" fmla="val 10435"/>
            </a:avLst>
          </a:prstGeom>
          <a:solidFill>
            <a:srgbClr val="FFFFFF"/>
          </a:solidFill>
          <a:ln w="19050">
            <a:solidFill>
              <a:srgbClr val="5F6472"/>
            </a:solidFill>
            <a:prstDash val="solid"/>
          </a:ln>
        </p:spPr>
      </p:sp>
      <p:sp>
        <p:nvSpPr>
          <p:cNvPr id="14" name="Text 12"/>
          <p:cNvSpPr txBox="1"/>
          <p:nvPr/>
        </p:nvSpPr>
        <p:spPr>
          <a:xfrm>
            <a:off x="640080"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خزانه‌ی 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a:t>
            </a:r>
            <a:endParaRPr lang="en-US" sz="1300" dirty="0"/>
          </a:p>
        </p:txBody>
      </p:sp>
      <p:sp>
        <p:nvSpPr>
          <p:cNvPr id="15" name="Shape 13"/>
          <p:cNvSpPr/>
          <p:nvPr/>
        </p:nvSpPr>
        <p:spPr>
          <a:xfrm>
            <a:off x="8076895" y="2651760"/>
            <a:ext cx="3566160" cy="1051560"/>
          </a:xfrm>
          <a:prstGeom prst="roundRect">
            <a:avLst>
              <a:gd name="adj" fmla="val 10435"/>
            </a:avLst>
          </a:prstGeom>
          <a:solidFill>
            <a:srgbClr val="EEF0FB"/>
          </a:solidFill>
          <a:ln w="9525">
            <a:solidFill>
              <a:srgbClr val="EEF0FB"/>
            </a:solidFill>
            <a:prstDash val="solid"/>
          </a:ln>
        </p:spPr>
      </p:sp>
      <p:sp>
        <p:nvSpPr>
          <p:cNvPr id="16" name="Text 14"/>
          <p:cNvSpPr txBox="1"/>
          <p:nvPr/>
        </p:nvSpPr>
        <p:spPr>
          <a:xfrm>
            <a:off x="8214055" y="265176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تراکنش‌های معمولی</a:t>
            </a:r>
            <a:endParaRPr lang="en-US" sz="1250" dirty="0"/>
          </a:p>
        </p:txBody>
      </p:sp>
      <p:sp>
        <p:nvSpPr>
          <p:cNvPr id="17" name="Shape 15"/>
          <p:cNvSpPr/>
          <p:nvPr/>
        </p:nvSpPr>
        <p:spPr>
          <a:xfrm flipH="1">
            <a:off x="7482535" y="3177540"/>
            <a:ext cx="548640" cy="0"/>
          </a:xfrm>
          <a:prstGeom prst="line">
            <a:avLst/>
          </a:prstGeom>
          <a:noFill/>
          <a:ln w="31750">
            <a:solidFill>
              <a:srgbClr val="2F3690"/>
            </a:solidFill>
            <a:prstDash val="solid"/>
            <a:tailEnd type="triangle"/>
          </a:ln>
        </p:spPr>
      </p:sp>
      <p:sp>
        <p:nvSpPr>
          <p:cNvPr id="18" name="Shape 16"/>
          <p:cNvSpPr/>
          <p:nvPr/>
        </p:nvSpPr>
        <p:spPr>
          <a:xfrm>
            <a:off x="4015588" y="2651760"/>
            <a:ext cx="3329788" cy="1051560"/>
          </a:xfrm>
          <a:prstGeom prst="roundRect">
            <a:avLst>
              <a:gd name="adj" fmla="val 10435"/>
            </a:avLst>
          </a:prstGeom>
          <a:solidFill>
            <a:srgbClr val="FFFFFF"/>
          </a:solidFill>
          <a:ln w="19050">
            <a:solidFill>
              <a:srgbClr val="C8431F"/>
            </a:solidFill>
            <a:prstDash val="solid"/>
          </a:ln>
        </p:spPr>
      </p:sp>
      <p:sp>
        <p:nvSpPr>
          <p:cNvPr id="19" name="Text 17"/>
          <p:cNvSpPr txBox="1"/>
          <p:nvPr/>
        </p:nvSpPr>
        <p:spPr>
          <a:xfrm>
            <a:off x="4107028"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سوزانده</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۳۰٪ ثابت</a:t>
            </a:r>
            <a:endParaRPr lang="en-US" sz="1300" dirty="0"/>
          </a:p>
        </p:txBody>
      </p:sp>
      <p:sp>
        <p:nvSpPr>
          <p:cNvPr id="20" name="Shape 18"/>
          <p:cNvSpPr/>
          <p:nvPr/>
        </p:nvSpPr>
        <p:spPr>
          <a:xfrm>
            <a:off x="548640" y="2651760"/>
            <a:ext cx="3329788" cy="1051560"/>
          </a:xfrm>
          <a:prstGeom prst="roundRect">
            <a:avLst>
              <a:gd name="adj" fmla="val 10435"/>
            </a:avLst>
          </a:prstGeom>
          <a:solidFill>
            <a:srgbClr val="FFFFFF"/>
          </a:solidFill>
          <a:ln w="19050">
            <a:solidFill>
              <a:srgbClr val="3D46A8"/>
            </a:solidFill>
            <a:prstDash val="solid"/>
          </a:ln>
        </p:spPr>
      </p:sp>
      <p:sp>
        <p:nvSpPr>
          <p:cNvPr id="21" name="Text 19"/>
          <p:cNvSpPr txBox="1"/>
          <p:nvPr/>
        </p:nvSpPr>
        <p:spPr>
          <a:xfrm>
            <a:off x="640080"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۷۰٪ به نسبت بلاک</a:t>
            </a:r>
            <a:endParaRPr lang="en-US" sz="1300" dirty="0"/>
          </a:p>
        </p:txBody>
      </p:sp>
      <p:sp>
        <p:nvSpPr>
          <p:cNvPr id="22" name="Shape 20"/>
          <p:cNvSpPr/>
          <p:nvPr/>
        </p:nvSpPr>
        <p:spPr>
          <a:xfrm>
            <a:off x="8076895" y="3886200"/>
            <a:ext cx="3566160" cy="1051560"/>
          </a:xfrm>
          <a:prstGeom prst="roundRect">
            <a:avLst>
              <a:gd name="adj" fmla="val 10435"/>
            </a:avLst>
          </a:prstGeom>
          <a:solidFill>
            <a:srgbClr val="EEF0FB"/>
          </a:solidFill>
          <a:ln w="9525">
            <a:solidFill>
              <a:srgbClr val="EEF0FB"/>
            </a:solidFill>
            <a:prstDash val="solid"/>
          </a:ln>
        </p:spPr>
      </p:sp>
      <p:sp>
        <p:nvSpPr>
          <p:cNvPr id="23" name="Text 21"/>
          <p:cNvSpPr txBox="1"/>
          <p:nvPr/>
        </p:nvSpPr>
        <p:spPr>
          <a:xfrm>
            <a:off x="8214055" y="388620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عضویت (۴٪ وثیقه، رویداد جدا)</a:t>
            </a:r>
            <a:endParaRPr lang="en-US" sz="1250" dirty="0"/>
          </a:p>
        </p:txBody>
      </p:sp>
      <p:sp>
        <p:nvSpPr>
          <p:cNvPr id="24" name="Shape 22"/>
          <p:cNvSpPr/>
          <p:nvPr/>
        </p:nvSpPr>
        <p:spPr>
          <a:xfrm flipH="1">
            <a:off x="7482535" y="4411980"/>
            <a:ext cx="548640" cy="0"/>
          </a:xfrm>
          <a:prstGeom prst="line">
            <a:avLst/>
          </a:prstGeom>
          <a:noFill/>
          <a:ln w="31750">
            <a:solidFill>
              <a:srgbClr val="2F3690"/>
            </a:solidFill>
            <a:prstDash val="solid"/>
            <a:tailEnd type="triangle"/>
          </a:ln>
        </p:spPr>
      </p:sp>
      <p:sp>
        <p:nvSpPr>
          <p:cNvPr id="25" name="Shape 23"/>
          <p:cNvSpPr/>
          <p:nvPr/>
        </p:nvSpPr>
        <p:spPr>
          <a:xfrm>
            <a:off x="548640" y="3886200"/>
            <a:ext cx="6796735" cy="1051560"/>
          </a:xfrm>
          <a:prstGeom prst="roundRect">
            <a:avLst>
              <a:gd name="adj" fmla="val 10435"/>
            </a:avLst>
          </a:prstGeom>
          <a:solidFill>
            <a:srgbClr val="FFFFFF"/>
          </a:solidFill>
          <a:ln w="19050">
            <a:solidFill>
              <a:srgbClr val="3D46A8"/>
            </a:solidFill>
            <a:prstDash val="solid"/>
          </a:ln>
        </p:spPr>
      </p:sp>
      <p:sp>
        <p:nvSpPr>
          <p:cNvPr id="26" name="Text 24"/>
          <p:cNvSpPr txBox="1"/>
          <p:nvPr/>
        </p:nvSpPr>
        <p:spPr>
          <a:xfrm>
            <a:off x="640080" y="3886200"/>
            <a:ext cx="6613855"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تولیدکنندگان بازه‌ی توزیع بعدی</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۱۰۰٪ بدون سوزاندن</a:t>
            </a:r>
            <a:endParaRPr lang="en-US" sz="1300" dirty="0"/>
          </a:p>
        </p:txBody>
      </p:sp>
      <p:sp>
        <p:nvSpPr>
          <p:cNvPr id="27" name="Shape 25"/>
          <p:cNvSpPr/>
          <p:nvPr/>
        </p:nvSpPr>
        <p:spPr>
          <a:xfrm>
            <a:off x="548640" y="5166360"/>
            <a:ext cx="11094415" cy="1188720"/>
          </a:xfrm>
          <a:prstGeom prst="roundRect">
            <a:avLst>
              <a:gd name="adj" fmla="val 9231"/>
            </a:avLst>
          </a:prstGeom>
          <a:solidFill>
            <a:srgbClr val="F7F9FC"/>
          </a:solidFill>
          <a:ln w="9525">
            <a:solidFill>
              <a:srgbClr val="DDE1EE"/>
            </a:solidFill>
            <a:prstDash val="solid"/>
          </a:ln>
        </p:spPr>
      </p:sp>
      <p:sp>
        <p:nvSpPr>
          <p:cNvPr id="28" name="Text 26"/>
          <p:cNvSpPr txBox="1"/>
          <p:nvPr/>
        </p:nvSpPr>
        <p:spPr>
          <a:xfrm>
            <a:off x="731520" y="5230368"/>
            <a:ext cx="10728655"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مصرف‌های خارج از گردش آزاد</a:t>
            </a:r>
            <a:endParaRPr lang="en-US" sz="1300" dirty="0"/>
          </a:p>
        </p:txBody>
      </p:sp>
      <p:sp>
        <p:nvSpPr>
          <p:cNvPr id="29" name="Text 27"/>
          <p:cNvSpPr txBox="1"/>
          <p:nvPr/>
        </p:nvSpPr>
        <p:spPr>
          <a:xfrm>
            <a:off x="731520" y="5532120"/>
            <a:ext cx="10728655" cy="7772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وثیقه‌ی ولیدیتور در ValidatorsRegistry قفل می‌ماند و در خروج داوطلبانه برمی‌گردد؛ بخش جریمه‌شده‌ی آن به خزانه می‌رود. سوزاندن فقط از کارمزد معمولی انجام می‌شود (ریوارد و کارمزد عضویت معاف‌اند)، پس انتشار ریوارد را فقط تا حدی خنثی می‌کند، نه کامل.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توکنومیکس سورن در اعداد: عرضه و قیمت‌گذاری سه‌فازی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006840" y="1417320"/>
            <a:ext cx="2636444" cy="1143000"/>
          </a:xfrm>
          <a:prstGeom prst="roundRect">
            <a:avLst>
              <a:gd name="adj" fmla="val 9600"/>
            </a:avLst>
          </a:prstGeom>
          <a:solidFill>
            <a:srgbClr val="EEF0FB"/>
          </a:solidFill>
          <a:ln w="9525">
            <a:solidFill>
              <a:srgbClr val="EEF0FB"/>
            </a:solidFill>
            <a:prstDash val="solid"/>
          </a:ln>
        </p:spPr>
      </p:sp>
      <p:sp>
        <p:nvSpPr>
          <p:cNvPr id="7" name="Text 5"/>
          <p:cNvSpPr txBox="1"/>
          <p:nvPr/>
        </p:nvSpPr>
        <p:spPr>
          <a:xfrm>
            <a:off x="90068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۳۵٫۵۳ میلیون</a:t>
            </a:r>
            <a:endParaRPr lang="en-US" sz="2200" dirty="0"/>
          </a:p>
        </p:txBody>
      </p:sp>
      <p:sp>
        <p:nvSpPr>
          <p:cNvPr id="8" name="Text 6"/>
          <p:cNvSpPr txBox="1"/>
          <p:nvPr/>
        </p:nvSpPr>
        <p:spPr>
          <a:xfrm>
            <a:off x="91165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پایه‌ی عرضه‌ی اولیه‌ی فعلی (ردیف ۱ و ۳؛ ردیف ۲ تعیین نشده)</a:t>
            </a:r>
            <a:endParaRPr lang="en-US" sz="1050" dirty="0"/>
          </a:p>
        </p:txBody>
      </p:sp>
      <p:sp>
        <p:nvSpPr>
          <p:cNvPr id="9" name="Shape 7"/>
          <p:cNvSpPr/>
          <p:nvPr/>
        </p:nvSpPr>
        <p:spPr>
          <a:xfrm>
            <a:off x="6186830" y="1417320"/>
            <a:ext cx="2636444" cy="1143000"/>
          </a:xfrm>
          <a:prstGeom prst="roundRect">
            <a:avLst>
              <a:gd name="adj" fmla="val 9600"/>
            </a:avLst>
          </a:prstGeom>
          <a:solidFill>
            <a:srgbClr val="EEF0FB"/>
          </a:solidFill>
          <a:ln w="9525">
            <a:solidFill>
              <a:srgbClr val="EEF0FB"/>
            </a:solidFill>
            <a:prstDash val="solid"/>
          </a:ln>
        </p:spPr>
      </p:sp>
      <p:sp>
        <p:nvSpPr>
          <p:cNvPr id="10" name="Text 8"/>
          <p:cNvSpPr txBox="1"/>
          <p:nvPr/>
        </p:nvSpPr>
        <p:spPr>
          <a:xfrm>
            <a:off x="618683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۲۱٫۰۲۴ میلیون</a:t>
            </a:r>
            <a:endParaRPr lang="en-US" sz="2200" dirty="0"/>
          </a:p>
        </p:txBody>
      </p:sp>
      <p:sp>
        <p:nvSpPr>
          <p:cNvPr id="11" name="Text 9"/>
          <p:cNvSpPr txBox="1"/>
          <p:nvPr/>
        </p:nvSpPr>
        <p:spPr>
          <a:xfrm>
            <a:off x="629655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انتشار سالانه، دائمی و بدون halving</a:t>
            </a:r>
            <a:endParaRPr lang="en-US" sz="1050" dirty="0"/>
          </a:p>
        </p:txBody>
      </p:sp>
      <p:sp>
        <p:nvSpPr>
          <p:cNvPr id="12" name="Shape 10"/>
          <p:cNvSpPr/>
          <p:nvPr/>
        </p:nvSpPr>
        <p:spPr>
          <a:xfrm>
            <a:off x="3367735" y="1417320"/>
            <a:ext cx="2636444" cy="1143000"/>
          </a:xfrm>
          <a:prstGeom prst="roundRect">
            <a:avLst>
              <a:gd name="adj" fmla="val 9600"/>
            </a:avLst>
          </a:prstGeom>
          <a:solidFill>
            <a:srgbClr val="EEF0FB"/>
          </a:solidFill>
          <a:ln w="9525">
            <a:solidFill>
              <a:srgbClr val="EEF0FB"/>
            </a:solidFill>
            <a:prstDash val="solid"/>
          </a:ln>
        </p:spPr>
      </p:sp>
      <p:sp>
        <p:nvSpPr>
          <p:cNvPr id="13" name="Text 11"/>
          <p:cNvSpPr txBox="1"/>
          <p:nvPr/>
        </p:nvSpPr>
        <p:spPr>
          <a:xfrm>
            <a:off x="3367735"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۵۹٪ ← ۴٫۸٪</a:t>
            </a:r>
            <a:endParaRPr lang="en-US" sz="2200" dirty="0"/>
          </a:p>
        </p:txBody>
      </p:sp>
      <p:sp>
        <p:nvSpPr>
          <p:cNvPr id="14" name="Text 12"/>
          <p:cNvSpPr txBox="1"/>
          <p:nvPr/>
        </p:nvSpPr>
        <p:spPr>
          <a:xfrm>
            <a:off x="3477463"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نرخ رشد سالانه‌ی عرضه در سال ۱ و در سال ۲۰</a:t>
            </a:r>
            <a:endParaRPr lang="en-US" sz="1050" dirty="0"/>
          </a:p>
        </p:txBody>
      </p:sp>
      <p:sp>
        <p:nvSpPr>
          <p:cNvPr id="15" name="Shape 13"/>
          <p:cNvSpPr/>
          <p:nvPr/>
        </p:nvSpPr>
        <p:spPr>
          <a:xfrm>
            <a:off x="548640" y="1417320"/>
            <a:ext cx="2636444" cy="1143000"/>
          </a:xfrm>
          <a:prstGeom prst="roundRect">
            <a:avLst>
              <a:gd name="adj" fmla="val 9600"/>
            </a:avLst>
          </a:prstGeom>
          <a:solidFill>
            <a:srgbClr val="EEF0FB"/>
          </a:solidFill>
          <a:ln w="9525">
            <a:solidFill>
              <a:srgbClr val="EEF0FB"/>
            </a:solidFill>
            <a:prstDash val="solid"/>
          </a:ln>
        </p:spPr>
      </p:sp>
      <p:sp>
        <p:nvSpPr>
          <p:cNvPr id="16" name="Text 14"/>
          <p:cNvSpPr txBox="1"/>
          <p:nvPr/>
        </p:nvSpPr>
        <p:spPr>
          <a:xfrm>
            <a:off x="5486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۲۰ میلیون</a:t>
            </a:r>
            <a:endParaRPr lang="en-US" sz="2200" dirty="0"/>
          </a:p>
        </p:txBody>
      </p:sp>
      <p:sp>
        <p:nvSpPr>
          <p:cNvPr id="17" name="Text 15"/>
          <p:cNvSpPr txBox="1"/>
          <p:nvPr/>
        </p:nvSpPr>
        <p:spPr>
          <a:xfrm>
            <a:off x="6583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موجودی فروش بنیاد (ردیف ۱ genesis)</a:t>
            </a:r>
            <a:endParaRPr lang="en-US" sz="1050" dirty="0"/>
          </a:p>
        </p:txBody>
      </p:sp>
      <p:sp>
        <p:nvSpPr>
          <p:cNvPr id="18" name="Shape 16"/>
          <p:cNvSpPr/>
          <p:nvPr/>
        </p:nvSpPr>
        <p:spPr>
          <a:xfrm>
            <a:off x="8078724" y="2788920"/>
            <a:ext cx="3564026" cy="1783080"/>
          </a:xfrm>
          <a:prstGeom prst="roundRect">
            <a:avLst>
              <a:gd name="adj" fmla="val 6154"/>
            </a:avLst>
          </a:prstGeom>
          <a:solidFill>
            <a:srgbClr val="FFFFFF"/>
          </a:solidFill>
          <a:ln w="19050">
            <a:solidFill>
              <a:srgbClr val="2F3690"/>
            </a:solidFill>
            <a:prstDash val="solid"/>
          </a:ln>
        </p:spPr>
      </p:sp>
      <p:sp>
        <p:nvSpPr>
          <p:cNvPr id="19" name="Text 17"/>
          <p:cNvSpPr txBox="1"/>
          <p:nvPr/>
        </p:nvSpPr>
        <p:spPr>
          <a:xfrm>
            <a:off x="8215884"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فاز ۱: قیمت ثابت، ۶ ماه</a:t>
            </a:r>
            <a:endParaRPr lang="en-US" sz="1350" dirty="0"/>
          </a:p>
        </p:txBody>
      </p:sp>
      <p:sp>
        <p:nvSpPr>
          <p:cNvPr id="20" name="Text 18"/>
          <p:cNvSpPr txBox="1"/>
          <p:nvPr/>
        </p:nvSpPr>
        <p:spPr>
          <a:xfrm>
            <a:off x="8215884"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فقط می‌فروشد؛ قیمت از ۱۰۰ تومان شروع می‌شود و ماهانه ۳٪ مرکب رشد می‌کند (حدود ۱۱۶ تومان در ماه ششم). سیگنال اصلی: سرعت فروش موجودی بنیاد.</a:t>
            </a:r>
            <a:endParaRPr lang="en-US" sz="1100" dirty="0"/>
          </a:p>
        </p:txBody>
      </p:sp>
      <p:sp>
        <p:nvSpPr>
          <p:cNvPr id="21" name="Shape 19"/>
          <p:cNvSpPr/>
          <p:nvPr/>
        </p:nvSpPr>
        <p:spPr>
          <a:xfrm>
            <a:off x="4314139" y="2788920"/>
            <a:ext cx="3564026" cy="1783080"/>
          </a:xfrm>
          <a:prstGeom prst="roundRect">
            <a:avLst>
              <a:gd name="adj" fmla="val 6154"/>
            </a:avLst>
          </a:prstGeom>
          <a:solidFill>
            <a:srgbClr val="FFFFFF"/>
          </a:solidFill>
          <a:ln w="19050">
            <a:solidFill>
              <a:srgbClr val="3D46A8"/>
            </a:solidFill>
            <a:prstDash val="solid"/>
          </a:ln>
        </p:spPr>
      </p:sp>
      <p:sp>
        <p:nvSpPr>
          <p:cNvPr id="22" name="Text 20"/>
          <p:cNvSpPr txBox="1"/>
          <p:nvPr/>
        </p:nvSpPr>
        <p:spPr>
          <a:xfrm>
            <a:off x="4451299"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3D46A8"/>
                </a:solidFill>
                <a:latin typeface="Vazirmatn" pitchFamily="34" charset="0"/>
                <a:ea typeface="Vazirmatn" pitchFamily="34" charset="-122"/>
                <a:cs typeface="Vazirmatn" pitchFamily="34" charset="-120"/>
              </a:rPr>
              <a:t>فاز ۲: گذار کنترل‌شده، ۴۵ روز</a:t>
            </a:r>
            <a:endParaRPr lang="en-US" sz="1350" dirty="0"/>
          </a:p>
        </p:txBody>
      </p:sp>
      <p:sp>
        <p:nvSpPr>
          <p:cNvPr id="23" name="Text 21"/>
          <p:cNvSpPr txBox="1"/>
          <p:nvPr/>
        </p:nvSpPr>
        <p:spPr>
          <a:xfrm>
            <a:off x="4451299"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هنوز تنها فروشنده است؛ قیمت روزانه ±۰٫۵٪ بر پایه‌ی حجم فروش نسبت به میانگین ۷روزه؛ کف ۹۰ و سقف ۱۵۰ تومان. این هنوز کشف قیمت واقعی نیست.</a:t>
            </a:r>
            <a:endParaRPr lang="en-US" sz="1100" dirty="0"/>
          </a:p>
        </p:txBody>
      </p:sp>
      <p:sp>
        <p:nvSpPr>
          <p:cNvPr id="24" name="Shape 22"/>
          <p:cNvSpPr/>
          <p:nvPr/>
        </p:nvSpPr>
        <p:spPr>
          <a:xfrm>
            <a:off x="548640" y="2788920"/>
            <a:ext cx="3564026" cy="1783080"/>
          </a:xfrm>
          <a:prstGeom prst="roundRect">
            <a:avLst>
              <a:gd name="adj" fmla="val 6154"/>
            </a:avLst>
          </a:prstGeom>
          <a:solidFill>
            <a:srgbClr val="FFFFFF"/>
          </a:solidFill>
          <a:ln w="19050">
            <a:solidFill>
              <a:srgbClr val="C8431F"/>
            </a:solidFill>
            <a:prstDash val="solid"/>
          </a:ln>
        </p:spPr>
      </p:sp>
      <p:sp>
        <p:nvSpPr>
          <p:cNvPr id="25" name="Text 23"/>
          <p:cNvSpPr txBox="1"/>
          <p:nvPr/>
        </p:nvSpPr>
        <p:spPr>
          <a:xfrm>
            <a:off x="685800"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فاز ۳: بازار آزاد</a:t>
            </a:r>
            <a:endParaRPr lang="en-US" sz="1350" dirty="0"/>
          </a:p>
        </p:txBody>
      </p:sp>
      <p:sp>
        <p:nvSpPr>
          <p:cNvPr id="26" name="Text 24"/>
          <p:cNvSpPr txBox="1"/>
          <p:nvPr/>
        </p:nvSpPr>
        <p:spPr>
          <a:xfrm>
            <a:off x="685800"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قیمت کاملاً با عرضه و تقاضا تعیین می‌شود و بنیاد دیگر قیمت‌گذار نیست.</a:t>
            </a:r>
            <a:endParaRPr lang="en-US" sz="1100" dirty="0"/>
          </a:p>
        </p:txBody>
      </p:sp>
      <p:sp>
        <p:nvSpPr>
          <p:cNvPr id="27" name="Shape 25"/>
          <p:cNvSpPr/>
          <p:nvPr/>
        </p:nvSpPr>
        <p:spPr>
          <a:xfrm>
            <a:off x="8078724" y="4754880"/>
            <a:ext cx="3564026" cy="1554480"/>
          </a:xfrm>
          <a:prstGeom prst="roundRect">
            <a:avLst>
              <a:gd name="adj" fmla="val 7059"/>
            </a:avLst>
          </a:prstGeom>
          <a:solidFill>
            <a:srgbClr val="F7F9FC"/>
          </a:solidFill>
          <a:ln w="9525">
            <a:solidFill>
              <a:srgbClr val="DDE1EE"/>
            </a:solidFill>
            <a:prstDash val="solid"/>
          </a:ln>
        </p:spPr>
      </p:sp>
      <p:sp>
        <p:nvSpPr>
          <p:cNvPr id="28" name="Text 26"/>
          <p:cNvSpPr txBox="1"/>
          <p:nvPr/>
        </p:nvSpPr>
        <p:spPr>
          <a:xfrm>
            <a:off x="8215884"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فشار نزولی</a:t>
            </a:r>
            <a:endParaRPr lang="en-US" sz="1300" dirty="0"/>
          </a:p>
        </p:txBody>
      </p:sp>
      <p:sp>
        <p:nvSpPr>
          <p:cNvPr id="29" name="Text 27"/>
          <p:cNvSpPr txBox="1"/>
          <p:nvPr/>
        </p:nvSpPr>
        <p:spPr>
          <a:xfrm>
            <a:off x="8215884"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انتشار پیوسته‌ی ۲۱ میلیون در سال؛ سوزاندن ۳۰٪ کارمزد فقط بخش جزئی آن را خنثی می‌کند، چون منبع غالب انتشار ریوارد است نه کارمزد.</a:t>
            </a:r>
            <a:endParaRPr lang="en-US" sz="1050" dirty="0"/>
          </a:p>
        </p:txBody>
      </p:sp>
      <p:sp>
        <p:nvSpPr>
          <p:cNvPr id="30" name="Shape 28"/>
          <p:cNvSpPr/>
          <p:nvPr/>
        </p:nvSpPr>
        <p:spPr>
          <a:xfrm>
            <a:off x="4314139" y="4754880"/>
            <a:ext cx="3564026" cy="1554480"/>
          </a:xfrm>
          <a:prstGeom prst="roundRect">
            <a:avLst>
              <a:gd name="adj" fmla="val 7059"/>
            </a:avLst>
          </a:prstGeom>
          <a:solidFill>
            <a:srgbClr val="F7F9FC"/>
          </a:solidFill>
          <a:ln w="9525">
            <a:solidFill>
              <a:srgbClr val="DDE1EE"/>
            </a:solidFill>
            <a:prstDash val="solid"/>
          </a:ln>
        </p:spPr>
      </p:sp>
      <p:sp>
        <p:nvSpPr>
          <p:cNvPr id="31" name="Text 29"/>
          <p:cNvSpPr txBox="1"/>
          <p:nvPr/>
        </p:nvSpPr>
        <p:spPr>
          <a:xfrm>
            <a:off x="4451299"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F7A55"/>
                </a:solidFill>
                <a:latin typeface="Vazirmatn" pitchFamily="34" charset="0"/>
                <a:ea typeface="Vazirmatn" pitchFamily="34" charset="-122"/>
                <a:cs typeface="Vazirmatn" pitchFamily="34" charset="-120"/>
              </a:rPr>
              <a:t>فشار صعودی</a:t>
            </a:r>
            <a:endParaRPr lang="en-US" sz="1300" dirty="0"/>
          </a:p>
        </p:txBody>
      </p:sp>
      <p:sp>
        <p:nvSpPr>
          <p:cNvPr id="32" name="Text 30"/>
          <p:cNvSpPr txBox="1"/>
          <p:nvPr/>
        </p:nvSpPr>
        <p:spPr>
          <a:xfrm>
            <a:off x="4451299"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قفل‌شدن وثیقه‌ی ولیدیتورهای تازه؛ هزینه‌ی ورود با شمار ولیدیتورها نمایی بالا می‌رود (حدود ۵۰۰ هزار سورن برای نفر اول تا بیش از ۲ میلیون نزدیک ۱۰۰ نفر).</a:t>
            </a:r>
            <a:endParaRPr lang="en-US" sz="1050" dirty="0"/>
          </a:p>
        </p:txBody>
      </p:sp>
      <p:sp>
        <p:nvSpPr>
          <p:cNvPr id="33" name="Shape 31"/>
          <p:cNvSpPr/>
          <p:nvPr/>
        </p:nvSpPr>
        <p:spPr>
          <a:xfrm>
            <a:off x="548640" y="4754880"/>
            <a:ext cx="3564026" cy="1554480"/>
          </a:xfrm>
          <a:prstGeom prst="roundRect">
            <a:avLst>
              <a:gd name="adj" fmla="val 7059"/>
            </a:avLst>
          </a:prstGeom>
          <a:solidFill>
            <a:srgbClr val="F7F9FC"/>
          </a:solidFill>
          <a:ln w="9525">
            <a:solidFill>
              <a:srgbClr val="DDE1EE"/>
            </a:solidFill>
            <a:prstDash val="solid"/>
          </a:ln>
        </p:spPr>
      </p:sp>
      <p:sp>
        <p:nvSpPr>
          <p:cNvPr id="34" name="Text 32"/>
          <p:cNvSpPr txBox="1"/>
          <p:nvPr/>
        </p:nvSpPr>
        <p:spPr>
          <a:xfrm>
            <a:off x="685800"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عدم قطعیت</a:t>
            </a:r>
            <a:endParaRPr lang="en-US" sz="1300" dirty="0"/>
          </a:p>
        </p:txBody>
      </p:sp>
      <p:sp>
        <p:nvSpPr>
          <p:cNvPr id="35" name="Text 33"/>
          <p:cNvSpPr txBox="1"/>
          <p:nvPr/>
        </p:nvSpPr>
        <p:spPr>
          <a:xfrm>
            <a:off x="685800"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«۱۰۰ تومان» یک فرض کاری است، نه ارزش برآمده از بازار. قیمت به تومان لنگر شده (نه دلار)، پس تورم یا نوسان تومان یک لایه ریسک اضافه می‌کند.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هیأت هر ماه میلادی با نخستین refreshBoard همان ماه نشانده می‌شود؛ هیأت ماه قبل تا آن لحظه اختیاری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(چرخش کلیدها بدون تأخیر)؛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و باید پیش از ارتفاع شروع، هم‌زمان روی همه‌ی نودها اعمال شود.</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پیش‌فروش سورن: سه مرحله و قیمت هر مرحله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Text 4"/>
          <p:cNvSpPr txBox="1"/>
          <p:nvPr/>
        </p:nvSpPr>
        <p:spPr>
          <a:xfrm>
            <a:off x="548640" y="1371600"/>
            <a:ext cx="11094415" cy="73152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سورن را از موجودی ۲۰ میلیونی خودش (ردیف ۱ genesis) و فقط با قرارداد SurenSale می‌فروشد. پرداخت به تومان و از طریق درگاه است؛ سورن خریدار در همان تراکنش از قرارداد منتقل می‌شود. بنیاد فقط می‌فروشد و هرگز بازخرید نمی‌کند.</a:t>
            </a:r>
            <a:endParaRPr lang="en-US" sz="1300" dirty="0"/>
          </a:p>
        </p:txBody>
      </p:sp>
      <p:sp>
        <p:nvSpPr>
          <p:cNvPr id="7" name="Shape 5"/>
          <p:cNvSpPr/>
          <p:nvPr/>
        </p:nvSpPr>
        <p:spPr>
          <a:xfrm>
            <a:off x="8078724" y="2240280"/>
            <a:ext cx="3564026" cy="2377440"/>
          </a:xfrm>
          <a:prstGeom prst="roundRect">
            <a:avLst>
              <a:gd name="adj" fmla="val 4615"/>
            </a:avLst>
          </a:prstGeom>
          <a:solidFill>
            <a:srgbClr val="FFFFFF"/>
          </a:solidFill>
          <a:ln w="22225">
            <a:solidFill>
              <a:srgbClr val="2F3690"/>
            </a:solidFill>
            <a:prstDash val="solid"/>
          </a:ln>
        </p:spPr>
      </p:sp>
      <p:sp>
        <p:nvSpPr>
          <p:cNvPr id="8" name="Text 6"/>
          <p:cNvSpPr txBox="1"/>
          <p:nvPr/>
        </p:nvSpPr>
        <p:spPr>
          <a:xfrm>
            <a:off x="8215884"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مرحله‌ی ۱: قیمت ثابت</a:t>
            </a:r>
            <a:endParaRPr lang="en-US" sz="1450" dirty="0"/>
          </a:p>
        </p:txBody>
      </p:sp>
      <p:sp>
        <p:nvSpPr>
          <p:cNvPr id="9" name="Text 7"/>
          <p:cNvSpPr txBox="1"/>
          <p:nvPr/>
        </p:nvSpPr>
        <p:spPr>
          <a:xfrm>
            <a:off x="8215884"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 تا ۱۸۰ (۶ ماه ۳۰روزه)</a:t>
            </a:r>
            <a:endParaRPr lang="en-US" sz="1150" dirty="0"/>
          </a:p>
        </p:txBody>
      </p:sp>
      <p:sp>
        <p:nvSpPr>
          <p:cNvPr id="10" name="Text 8"/>
          <p:cNvSpPr txBox="1"/>
          <p:nvPr/>
        </p:nvSpPr>
        <p:spPr>
          <a:xfrm>
            <a:off x="8215884"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۱۰۰ تا ۱۱۶ تومان</a:t>
            </a:r>
            <a:endParaRPr lang="en-US" sz="1700" dirty="0"/>
          </a:p>
        </p:txBody>
      </p:sp>
      <p:sp>
        <p:nvSpPr>
          <p:cNvPr id="11" name="Text 9"/>
          <p:cNvSpPr txBox="1"/>
          <p:nvPr/>
        </p:nvSpPr>
        <p:spPr>
          <a:xfrm>
            <a:off x="8215884"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ماه قیمت پله‌ای بالاتر؛ جدول ثابت و مستقل از حجم فروش. رشد کل ۱۶٪.</a:t>
            </a:r>
            <a:endParaRPr lang="en-US" sz="1150" dirty="0"/>
          </a:p>
        </p:txBody>
      </p:sp>
      <p:sp>
        <p:nvSpPr>
          <p:cNvPr id="12" name="Shape 10"/>
          <p:cNvSpPr/>
          <p:nvPr/>
        </p:nvSpPr>
        <p:spPr>
          <a:xfrm>
            <a:off x="4314139" y="2240280"/>
            <a:ext cx="3564026" cy="2377440"/>
          </a:xfrm>
          <a:prstGeom prst="roundRect">
            <a:avLst>
              <a:gd name="adj" fmla="val 4615"/>
            </a:avLst>
          </a:prstGeom>
          <a:solidFill>
            <a:srgbClr val="FFFFFF"/>
          </a:solidFill>
          <a:ln w="22225">
            <a:solidFill>
              <a:srgbClr val="3D46A8"/>
            </a:solidFill>
            <a:prstDash val="solid"/>
          </a:ln>
        </p:spPr>
      </p:sp>
      <p:sp>
        <p:nvSpPr>
          <p:cNvPr id="13" name="Text 11"/>
          <p:cNvSpPr txBox="1"/>
          <p:nvPr/>
        </p:nvSpPr>
        <p:spPr>
          <a:xfrm>
            <a:off x="4451299"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مرحله‌ی میانی: گذار کنترل‌شده</a:t>
            </a:r>
            <a:endParaRPr lang="en-US" sz="1450" dirty="0"/>
          </a:p>
        </p:txBody>
      </p:sp>
      <p:sp>
        <p:nvSpPr>
          <p:cNvPr id="14" name="Text 12"/>
          <p:cNvSpPr txBox="1"/>
          <p:nvPr/>
        </p:nvSpPr>
        <p:spPr>
          <a:xfrm>
            <a:off x="4451299"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۱۸۱ تا ۲۲۵ (۴۵ روز)</a:t>
            </a:r>
            <a:endParaRPr lang="en-US" sz="1150" dirty="0"/>
          </a:p>
        </p:txBody>
      </p:sp>
      <p:sp>
        <p:nvSpPr>
          <p:cNvPr id="15" name="Text 13"/>
          <p:cNvSpPr txBox="1"/>
          <p:nvPr/>
        </p:nvSpPr>
        <p:spPr>
          <a:xfrm>
            <a:off x="4451299"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شروع ۱۱۶ تومان، تغییر روزانه</a:t>
            </a:r>
            <a:endParaRPr lang="en-US" sz="1700" dirty="0"/>
          </a:p>
        </p:txBody>
      </p:sp>
      <p:sp>
        <p:nvSpPr>
          <p:cNvPr id="16" name="Text 14"/>
          <p:cNvSpPr txBox="1"/>
          <p:nvPr/>
        </p:nvSpPr>
        <p:spPr>
          <a:xfrm>
            <a:off x="4451299"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روز بر پایه‌ی حجم فروش روز قبل تا ۰٫۵٪ بالا یا پایین می‌رود. بنیاد هنوز تنها فروشنده است.</a:t>
            </a:r>
            <a:endParaRPr lang="en-US" sz="1150" dirty="0"/>
          </a:p>
        </p:txBody>
      </p:sp>
      <p:sp>
        <p:nvSpPr>
          <p:cNvPr id="17" name="Shape 15"/>
          <p:cNvSpPr/>
          <p:nvPr/>
        </p:nvSpPr>
        <p:spPr>
          <a:xfrm>
            <a:off x="548640" y="2240280"/>
            <a:ext cx="3564026" cy="2377440"/>
          </a:xfrm>
          <a:prstGeom prst="roundRect">
            <a:avLst>
              <a:gd name="adj" fmla="val 4615"/>
            </a:avLst>
          </a:prstGeom>
          <a:solidFill>
            <a:srgbClr val="FFFFFF"/>
          </a:solidFill>
          <a:ln w="22225">
            <a:solidFill>
              <a:srgbClr val="C8431F"/>
            </a:solidFill>
            <a:prstDash val="solid"/>
          </a:ln>
        </p:spPr>
      </p:sp>
      <p:sp>
        <p:nvSpPr>
          <p:cNvPr id="18" name="Text 16"/>
          <p:cNvSpPr txBox="1"/>
          <p:nvPr/>
        </p:nvSpPr>
        <p:spPr>
          <a:xfrm>
            <a:off x="685800"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C8431F"/>
                </a:solidFill>
                <a:latin typeface="Vazirmatn" pitchFamily="34" charset="0"/>
                <a:ea typeface="Vazirmatn" pitchFamily="34" charset="-122"/>
                <a:cs typeface="Vazirmatn" pitchFamily="34" charset="-120"/>
              </a:rPr>
              <a:t>پس از گذار: پایان فروش</a:t>
            </a:r>
            <a:endParaRPr lang="en-US" sz="1450" dirty="0"/>
          </a:p>
        </p:txBody>
      </p:sp>
      <p:sp>
        <p:nvSpPr>
          <p:cNvPr id="19" name="Text 17"/>
          <p:cNvSpPr txBox="1"/>
          <p:nvPr/>
        </p:nvSpPr>
        <p:spPr>
          <a:xfrm>
            <a:off x="685800"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از روز ۲۲۶</a:t>
            </a:r>
            <a:endParaRPr lang="en-US" sz="1150" dirty="0"/>
          </a:p>
        </p:txBody>
      </p:sp>
      <p:sp>
        <p:nvSpPr>
          <p:cNvPr id="20" name="Text 18"/>
          <p:cNvSpPr txBox="1"/>
          <p:nvPr/>
        </p:nvSpPr>
        <p:spPr>
          <a:xfrm>
            <a:off x="685800"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قیمت را بازار تعیین می‌کند</a:t>
            </a:r>
            <a:endParaRPr lang="en-US" sz="1700" dirty="0"/>
          </a:p>
        </p:txBody>
      </p:sp>
      <p:sp>
        <p:nvSpPr>
          <p:cNvPr id="21" name="Text 19"/>
          <p:cNvSpPr txBox="1"/>
          <p:nvPr/>
        </p:nvSpPr>
        <p:spPr>
          <a:xfrm>
            <a:off x="685800"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قرارداد دیگر پرداخت نمی‌پذیرد؛ موجودی فروش‌نرفته را فقط بنیاد می‌تواند برداشت کند.</a:t>
            </a:r>
            <a:endParaRPr lang="en-US" sz="1150" dirty="0"/>
          </a:p>
        </p:txBody>
      </p:sp>
      <p:sp>
        <p:nvSpPr>
          <p:cNvPr id="22" name="Shape 20"/>
          <p:cNvSpPr/>
          <p:nvPr/>
        </p:nvSpPr>
        <p:spPr>
          <a:xfrm>
            <a:off x="8078724" y="4800600"/>
            <a:ext cx="3564026" cy="1508760"/>
          </a:xfrm>
          <a:prstGeom prst="roundRect">
            <a:avLst>
              <a:gd name="adj" fmla="val 7273"/>
            </a:avLst>
          </a:prstGeom>
          <a:solidFill>
            <a:srgbClr val="F7F9FC"/>
          </a:solidFill>
          <a:ln w="9525">
            <a:solidFill>
              <a:srgbClr val="DDE1EE"/>
            </a:solidFill>
            <a:prstDash val="solid"/>
          </a:ln>
        </p:spPr>
      </p:sp>
      <p:sp>
        <p:nvSpPr>
          <p:cNvPr id="23" name="Text 21"/>
          <p:cNvSpPr txBox="1"/>
          <p:nvPr/>
        </p:nvSpPr>
        <p:spPr>
          <a:xfrm>
            <a:off x="8215884"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پایان فروش</a:t>
            </a:r>
            <a:endParaRPr lang="en-US" sz="1300" dirty="0"/>
          </a:p>
        </p:txBody>
      </p:sp>
      <p:sp>
        <p:nvSpPr>
          <p:cNvPr id="24" name="Text 22"/>
          <p:cNvSpPr txBox="1"/>
          <p:nvPr/>
        </p:nvSpPr>
        <p:spPr>
          <a:xfrm>
            <a:off x="8215884"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هرکدام زودتر برسد: پایان روز ۲۲۵، یا تمام‌شدن موجودی قرارداد. دوره‌ی قیمت ثابت ۶ ماهه قابل‌بازنگری است؛ اگر تقاضا هنوز قوی باشد، دور دوم قیمت ثابت جداگانه تصمیم‌گیری می‌شود.</a:t>
            </a:r>
            <a:endParaRPr lang="en-US" sz="1050" dirty="0"/>
          </a:p>
        </p:txBody>
      </p:sp>
      <p:sp>
        <p:nvSpPr>
          <p:cNvPr id="25" name="Shape 23"/>
          <p:cNvSpPr/>
          <p:nvPr/>
        </p:nvSpPr>
        <p:spPr>
          <a:xfrm>
            <a:off x="4314139" y="4800600"/>
            <a:ext cx="3564026" cy="1508760"/>
          </a:xfrm>
          <a:prstGeom prst="roundRect">
            <a:avLst>
              <a:gd name="adj" fmla="val 7273"/>
            </a:avLst>
          </a:prstGeom>
          <a:solidFill>
            <a:srgbClr val="F7F9FC"/>
          </a:solidFill>
          <a:ln w="9525">
            <a:solidFill>
              <a:srgbClr val="DDE1EE"/>
            </a:solidFill>
            <a:prstDash val="solid"/>
          </a:ln>
        </p:spPr>
      </p:sp>
      <p:sp>
        <p:nvSpPr>
          <p:cNvPr id="26" name="Text 24"/>
          <p:cNvSpPr txBox="1"/>
          <p:nvPr/>
        </p:nvSpPr>
        <p:spPr>
          <a:xfrm>
            <a:off x="4451299"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موجودی</a:t>
            </a:r>
            <a:endParaRPr lang="en-US" sz="1300" dirty="0"/>
          </a:p>
        </p:txBody>
      </p:sp>
      <p:sp>
        <p:nvSpPr>
          <p:cNvPr id="27" name="Text 25"/>
          <p:cNvSpPr txBox="1"/>
          <p:nvPr/>
        </p:nvSpPr>
        <p:spPr>
          <a:xfrm>
            <a:off x="4451299"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کل ۲۰ میلیون سورن یک‌جا به قرارداد داده نمی‌شود؛ بنیاد دوره‌ای (مثلاً ماهانه و به‌اندازه‌ی نیاز همان ماه) تأمین می‌کند تا سقف زیان یک کلید هک‌شده محدود بماند. مبلغ و تناوب هنوز تعیین نشده است.</a:t>
            </a:r>
            <a:endParaRPr lang="en-US" sz="1050" dirty="0"/>
          </a:p>
        </p:txBody>
      </p:sp>
      <p:sp>
        <p:nvSpPr>
          <p:cNvPr id="28" name="Shape 26"/>
          <p:cNvSpPr/>
          <p:nvPr/>
        </p:nvSpPr>
        <p:spPr>
          <a:xfrm>
            <a:off x="548640" y="4800600"/>
            <a:ext cx="3564026" cy="1508760"/>
          </a:xfrm>
          <a:prstGeom prst="roundRect">
            <a:avLst>
              <a:gd name="adj" fmla="val 7273"/>
            </a:avLst>
          </a:prstGeom>
          <a:solidFill>
            <a:srgbClr val="F7F9FC"/>
          </a:solidFill>
          <a:ln w="9525">
            <a:solidFill>
              <a:srgbClr val="DDE1EE"/>
            </a:solidFill>
            <a:prstDash val="solid"/>
          </a:ln>
        </p:spPr>
      </p:sp>
      <p:sp>
        <p:nvSpPr>
          <p:cNvPr id="29" name="Text 27"/>
          <p:cNvSpPr txBox="1"/>
          <p:nvPr/>
        </p:nvSpPr>
        <p:spPr>
          <a:xfrm>
            <a:off x="685800"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بازار ثانویه</a:t>
            </a:r>
            <a:endParaRPr lang="en-US" sz="1300" dirty="0"/>
          </a:p>
        </p:txBody>
      </p:sp>
      <p:sp>
        <p:nvSpPr>
          <p:cNvPr id="30" name="Text 28"/>
          <p:cNvSpPr txBox="1"/>
          <p:nvPr/>
        </p:nvSpPr>
        <p:spPr>
          <a:xfrm>
            <a:off x="685800"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در همه‌ی مراحل معامله‌ی همتا‌به‌همتا آزاد است. چون بنیاد بازخرید نمی‌کند، قیمت بنیاد سقفی برای قیمت بازار می‌سازد ولی هیچ کفی ندارد.</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اول: قیمت ثابت ۶ ماهه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graphicFrame>
        <p:nvGraphicFramePr>
          <p:cNvPr id="6" name="Chart 0" descr=""/>
          <p:cNvGraphicFramePr/>
          <p:nvPr/>
        </p:nvGraphicFramePr>
        <p:xfrm>
          <a:off x="54864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5394960" cy="274320"/>
          </a:xfrm>
          <a:prstGeom prst="rect">
            <a:avLst/>
          </a:prstGeom>
          <a:noFill/>
          <a:ln/>
        </p:spPr>
        <p:txBody>
          <a:bodyPr wrap="square" lIns="0" tIns="0" rIns="0" bIns="0" rtlCol="0" anchor="t"/>
          <a:lstStyle/>
          <a:p>
            <a:pPr rtl="1" algn="ct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هر سورن به تومان در هر ماه</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02375" y="1417320"/>
          <a:ext cx="5440680" cy="914400"/>
        </p:xfrm>
        <a:graphic>
          <a:graphicData uri="http://schemas.openxmlformats.org/drawingml/2006/table">
            <a:tbl>
              <a:tblPr/>
              <a:tblGrid>
                <a:gridCol w="2011680"/>
                <a:gridCol w="1371600"/>
                <a:gridCol w="1325880"/>
                <a:gridCol w="7315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سورن برای ۱ میلیون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قیمت (تومان)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روزها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ماه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 تا ۳۰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۹٬۷۰۹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۳۱ تا ۶۰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۹٬۴۳۴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۶۱ تا 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۹٬۱۷۴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 تا ۱۲۰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۸٬۸۵۰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۱۲۱ تا ۱۵۰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۸٬۶۲۱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۱۵۱ تا ۱۸۰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9" name="Text 5"/>
          <p:cNvSpPr txBox="1"/>
          <p:nvPr/>
        </p:nvSpPr>
        <p:spPr>
          <a:xfrm>
            <a:off x="6202375" y="4297680"/>
            <a:ext cx="5440680" cy="205740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قیمت فقط از زمان بلاک خوانده می‌شود: ماه = ⌊(زمان − شروع فروش) ÷ ۳۰ روز⌋ و آخرین ماه ثابت می‌ماند. جدول در قرارداد ثابت نوشته شده است (رشد ۳٪ مرکب ماهانه، گرد‌شده به نزدیک‌ترین تومان).</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۶ ماه: انتشار سالانه (۲۱ میلیون) تقریباً برابر کل موجودی بنیاد است و هر ماه اضافه یعنی رقیق‌شدن بیشتر پیش از بازار آزاد؛ ۶ ماه برگشت‌پذیرتر از ۱۲ ماه است.</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پله‌ی درصدی: با هر قیمت پایه‌ای معنا دارد و رشد ملایم فقط پاداش مشارکت زودهنگام است.</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میانی: گذار ۴۵ روزه و قیمت‌گذاری روزانه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Text 4"/>
          <p:cNvSpPr txBox="1"/>
          <p:nvPr/>
        </p:nvSpPr>
        <p:spPr>
          <a:xfrm>
            <a:off x="548640" y="1371600"/>
            <a:ext cx="11094415" cy="5943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اینکه قیمت از «۱۱۶ تومان تضمینی» ناگهان به بازار آزاد نپرد، ۴۵ روز قیمت‌گذاری پویا و متقارن اجرا می‌شود. قیمت هر روز ثابت است؛ تغییر برای روز بعد با حجم فروش همین روز تعیین می‌شود.</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02375" y="2103120"/>
          <a:ext cx="5440680" cy="914400"/>
        </p:xfrm>
        <a:graphic>
          <a:graphicData uri="http://schemas.openxmlformats.org/drawingml/2006/table">
            <a:tbl>
              <a:tblPr/>
              <a:tblGrid>
                <a:gridCol w="2148840"/>
                <a:gridCol w="329184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تغییر قیمت روز بعد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حجم فروش آن روز (سورن)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افزایش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بیش از ۱۲۰٪ میانگین ۷ روز گذشته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بدون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بین ۸۰٪ و ۱۲۰٪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کاهش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کمتر از ۸۰٪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Shape 5"/>
          <p:cNvSpPr/>
          <p:nvPr/>
        </p:nvSpPr>
        <p:spPr>
          <a:xfrm>
            <a:off x="6202375" y="4114800"/>
            <a:ext cx="5440680" cy="2194560"/>
          </a:xfrm>
          <a:prstGeom prst="roundRect">
            <a:avLst>
              <a:gd name="adj" fmla="val 5000"/>
            </a:avLst>
          </a:prstGeom>
          <a:solidFill>
            <a:srgbClr val="EEF0FB"/>
          </a:solidFill>
          <a:ln w="9525">
            <a:solidFill>
              <a:srgbClr val="EEF0FB"/>
            </a:solidFill>
            <a:prstDash val="solid"/>
          </a:ln>
        </p:spPr>
      </p:sp>
      <p:sp>
        <p:nvSpPr>
          <p:cNvPr id="9" name="Text 6"/>
          <p:cNvSpPr txBox="1"/>
          <p:nvPr/>
        </p:nvSpPr>
        <p:spPr>
          <a:xfrm>
            <a:off x="6385255" y="4187952"/>
            <a:ext cx="5074920"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مثال عددی</a:t>
            </a:r>
            <a:endParaRPr lang="en-US" sz="1400" dirty="0"/>
          </a:p>
        </p:txBody>
      </p:sp>
      <p:sp>
        <p:nvSpPr>
          <p:cNvPr id="10" name="Text 7"/>
          <p:cNvSpPr txBox="1"/>
          <p:nvPr/>
        </p:nvSpPr>
        <p:spPr>
          <a:xfrm>
            <a:off x="6385255" y="457200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امروز ۱۱۶٫۰۰۰ تومان است. میانگین ۷ روز قبل ۱۰۰ هزار سورن و فروش امروز ۱۳۰ هزار سورن بوده (بالاتر از آستانه‌ی ۱۲۰ هزار).</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فردا = ۱۱۶٫۰۰۰ + ۰٫۵٪ = ۱۱۶٫۵۸۰ تومان؛ با ۱ میلیون تومان آن روز ۸٬۵۷۸ سورن می‌خرید.</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با دقت هزارم تومان محاسبه می‌شود، پس هر پله دقیقاً ۰٫۵٪ است و به تومان کامل گرد نمی‌شود.</a:t>
            </a:r>
            <a:endParaRPr lang="en-US" sz="1150" dirty="0"/>
          </a:p>
        </p:txBody>
      </p:sp>
      <p:sp>
        <p:nvSpPr>
          <p:cNvPr id="11" name="Shape 8"/>
          <p:cNvSpPr/>
          <p:nvPr/>
        </p:nvSpPr>
        <p:spPr>
          <a:xfrm>
            <a:off x="548640" y="2103120"/>
            <a:ext cx="5440680" cy="960120"/>
          </a:xfrm>
          <a:prstGeom prst="roundRect">
            <a:avLst>
              <a:gd name="adj" fmla="val 11429"/>
            </a:avLst>
          </a:prstGeom>
          <a:solidFill>
            <a:srgbClr val="FFFFFF"/>
          </a:solidFill>
          <a:ln w="15875">
            <a:solidFill>
              <a:srgbClr val="2F3690"/>
            </a:solidFill>
            <a:prstDash val="solid"/>
          </a:ln>
        </p:spPr>
      </p:sp>
      <p:sp>
        <p:nvSpPr>
          <p:cNvPr id="12" name="Text 9"/>
          <p:cNvSpPr txBox="1"/>
          <p:nvPr/>
        </p:nvSpPr>
        <p:spPr>
          <a:xfrm>
            <a:off x="685800" y="215798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آغاز</a:t>
            </a:r>
            <a:endParaRPr lang="en-US" sz="1250" dirty="0"/>
          </a:p>
        </p:txBody>
      </p:sp>
      <p:sp>
        <p:nvSpPr>
          <p:cNvPr id="13" name="Text 10"/>
          <p:cNvSpPr txBox="1"/>
          <p:nvPr/>
        </p:nvSpPr>
        <p:spPr>
          <a:xfrm>
            <a:off x="685800" y="245059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قیمت از آخرین قیمت ثابت (۱۱۶) شروع می‌شود. روز اول و هر روزی که میانگین قبلی وجود ندارد بدون تغییر است.</a:t>
            </a:r>
            <a:endParaRPr lang="en-US" sz="1000" dirty="0"/>
          </a:p>
        </p:txBody>
      </p:sp>
      <p:sp>
        <p:nvSpPr>
          <p:cNvPr id="14" name="Shape 11"/>
          <p:cNvSpPr/>
          <p:nvPr/>
        </p:nvSpPr>
        <p:spPr>
          <a:xfrm>
            <a:off x="548640" y="3154680"/>
            <a:ext cx="5440680" cy="960120"/>
          </a:xfrm>
          <a:prstGeom prst="roundRect">
            <a:avLst>
              <a:gd name="adj" fmla="val 11429"/>
            </a:avLst>
          </a:prstGeom>
          <a:solidFill>
            <a:srgbClr val="FFFFFF"/>
          </a:solidFill>
          <a:ln w="15875">
            <a:solidFill>
              <a:srgbClr val="C8431F"/>
            </a:solidFill>
            <a:prstDash val="solid"/>
          </a:ln>
        </p:spPr>
      </p:sp>
      <p:sp>
        <p:nvSpPr>
          <p:cNvPr id="15" name="Text 12"/>
          <p:cNvSpPr txBox="1"/>
          <p:nvPr/>
        </p:nvSpPr>
        <p:spPr>
          <a:xfrm>
            <a:off x="685800" y="320954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کف و سقف مطلق</a:t>
            </a:r>
            <a:endParaRPr lang="en-US" sz="1250" dirty="0"/>
          </a:p>
        </p:txBody>
      </p:sp>
      <p:sp>
        <p:nvSpPr>
          <p:cNvPr id="16" name="Text 13"/>
          <p:cNvSpPr txBox="1"/>
          <p:nvPr/>
        </p:nvSpPr>
        <p:spPr>
          <a:xfrm>
            <a:off x="685800" y="350215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کف ۹۰ و سقف ۱۵۰ تومان. با ۰٫۵٪ در روز از ۱۱۶، در ۴۴ تغییر پیاپی حداکثر به حدود ۱۴۴٫۴ یا حداقل حدود ۹۳٫۱ می‌رسد؛ پس در عمل این کف و سقف در این ۴۵ روز فعال نمی‌شوند (محاسبه از فرمول).</a:t>
            </a:r>
            <a:endParaRPr lang="en-US" sz="1000" dirty="0"/>
          </a:p>
        </p:txBody>
      </p:sp>
      <p:sp>
        <p:nvSpPr>
          <p:cNvPr id="17" name="Shape 14"/>
          <p:cNvSpPr/>
          <p:nvPr/>
        </p:nvSpPr>
        <p:spPr>
          <a:xfrm>
            <a:off x="548640" y="4206240"/>
            <a:ext cx="5440680" cy="960120"/>
          </a:xfrm>
          <a:prstGeom prst="roundRect">
            <a:avLst>
              <a:gd name="adj" fmla="val 11429"/>
            </a:avLst>
          </a:prstGeom>
          <a:solidFill>
            <a:srgbClr val="FFFFFF"/>
          </a:solidFill>
          <a:ln w="15875">
            <a:solidFill>
              <a:srgbClr val="3D46A8"/>
            </a:solidFill>
            <a:prstDash val="solid"/>
          </a:ln>
        </p:spPr>
      </p:sp>
      <p:sp>
        <p:nvSpPr>
          <p:cNvPr id="18" name="Text 15"/>
          <p:cNvSpPr txBox="1"/>
          <p:nvPr/>
        </p:nvSpPr>
        <p:spPr>
          <a:xfrm>
            <a:off x="685800" y="426110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3D46A8"/>
                </a:solidFill>
                <a:latin typeface="Vazirmatn" pitchFamily="34" charset="0"/>
                <a:ea typeface="Vazirmatn" pitchFamily="34" charset="-122"/>
                <a:cs typeface="Vazirmatn" pitchFamily="34" charset="-120"/>
              </a:rPr>
              <a:t>اجرا</a:t>
            </a:r>
            <a:endParaRPr lang="en-US" sz="1250" dirty="0"/>
          </a:p>
        </p:txBody>
      </p:sp>
      <p:sp>
        <p:nvSpPr>
          <p:cNvPr id="19" name="Text 16"/>
          <p:cNvSpPr txBox="1"/>
          <p:nvPr/>
        </p:nvSpPr>
        <p:spPr>
          <a:xfrm>
            <a:off x="685800" y="455371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تابع advanceTransitionPrice بدون مجوز است؛ هر پرداخت قبل از قیمت‌گذاری خودش آن را برای روزهای کامل‌شده صدا می‌زند. پس نیازی به ربات روزانه نیست.</a:t>
            </a:r>
            <a:endParaRPr lang="en-US" sz="1000" dirty="0"/>
          </a:p>
        </p:txBody>
      </p:sp>
      <p:sp>
        <p:nvSpPr>
          <p:cNvPr id="20" name="Shape 17"/>
          <p:cNvSpPr/>
          <p:nvPr/>
        </p:nvSpPr>
        <p:spPr>
          <a:xfrm>
            <a:off x="548640" y="5257800"/>
            <a:ext cx="5440680" cy="960120"/>
          </a:xfrm>
          <a:prstGeom prst="roundRect">
            <a:avLst>
              <a:gd name="adj" fmla="val 11429"/>
            </a:avLst>
          </a:prstGeom>
          <a:solidFill>
            <a:srgbClr val="FFFFFF"/>
          </a:solidFill>
          <a:ln w="15875">
            <a:solidFill>
              <a:srgbClr val="5F6472"/>
            </a:solidFill>
            <a:prstDash val="solid"/>
          </a:ln>
        </p:spPr>
      </p:sp>
      <p:sp>
        <p:nvSpPr>
          <p:cNvPr id="21" name="Text 18"/>
          <p:cNvSpPr txBox="1"/>
          <p:nvPr/>
        </p:nvSpPr>
        <p:spPr>
          <a:xfrm>
            <a:off x="685800" y="531266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5F6472"/>
                </a:solidFill>
                <a:latin typeface="Vazirmatn" pitchFamily="34" charset="0"/>
                <a:ea typeface="Vazirmatn" pitchFamily="34" charset="-122"/>
                <a:cs typeface="Vazirmatn" pitchFamily="34" charset="-120"/>
              </a:rPr>
              <a:t>پایان</a:t>
            </a:r>
            <a:endParaRPr lang="en-US" sz="1250" dirty="0"/>
          </a:p>
        </p:txBody>
      </p:sp>
      <p:sp>
        <p:nvSpPr>
          <p:cNvPr id="22" name="Text 19"/>
          <p:cNvSpPr txBox="1"/>
          <p:nvPr/>
        </p:nvSpPr>
        <p:spPr>
          <a:xfrm>
            <a:off x="685800" y="560527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پایان روز ۴۵ یا تمام‌شدن موجودی. پس از آن SurenSale پرداخت نمی‌پذیرد و بنیاد باقی‌مانده را برمی‌دارد. هنوز بازار آزاد واقعی نیست، چون تنها فروشنده بنیاد است.</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نحوه‌ی خرید: از پرداخت تومانی تا دریافت سورن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Shape 4"/>
          <p:cNvSpPr/>
          <p:nvPr/>
        </p:nvSpPr>
        <p:spPr>
          <a:xfrm>
            <a:off x="4967935" y="1371600"/>
            <a:ext cx="6675120" cy="566928"/>
          </a:xfrm>
          <a:prstGeom prst="roundRect">
            <a:avLst>
              <a:gd name="adj" fmla="val 19355"/>
            </a:avLst>
          </a:prstGeom>
          <a:solidFill>
            <a:srgbClr val="F7F9FC"/>
          </a:solidFill>
          <a:ln w="9525">
            <a:solidFill>
              <a:srgbClr val="DDE1EE"/>
            </a:solidFill>
            <a:prstDash val="solid"/>
          </a:ln>
        </p:spPr>
      </p:sp>
      <p:sp>
        <p:nvSpPr>
          <p:cNvPr id="7" name="Shape 5"/>
          <p:cNvSpPr/>
          <p:nvPr/>
        </p:nvSpPr>
        <p:spPr>
          <a:xfrm>
            <a:off x="11185855" y="1472184"/>
            <a:ext cx="365760" cy="365760"/>
          </a:xfrm>
          <a:prstGeom prst="ellipse">
            <a:avLst/>
          </a:prstGeom>
          <a:solidFill>
            <a:srgbClr val="2F3690"/>
          </a:solidFill>
          <a:ln w="12700">
            <a:solidFill>
              <a:srgbClr val="2F3690"/>
            </a:solidFill>
            <a:prstDash val="solid"/>
          </a:ln>
        </p:spPr>
      </p:sp>
      <p:sp>
        <p:nvSpPr>
          <p:cNvPr id="8" name="Text 6"/>
          <p:cNvSpPr txBox="1"/>
          <p:nvPr/>
        </p:nvSpPr>
        <p:spPr>
          <a:xfrm>
            <a:off x="11185855" y="14721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۱</a:t>
            </a:r>
            <a:endParaRPr lang="en-US" sz="1250" dirty="0"/>
          </a:p>
        </p:txBody>
      </p:sp>
      <p:sp>
        <p:nvSpPr>
          <p:cNvPr id="9" name="Text 7"/>
          <p:cNvSpPr txBox="1"/>
          <p:nvPr/>
        </p:nvSpPr>
        <p:spPr>
          <a:xfrm>
            <a:off x="9631375" y="13716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ورود مشخصات</a:t>
            </a:r>
            <a:endParaRPr lang="en-US" sz="1200" dirty="0"/>
          </a:p>
        </p:txBody>
      </p:sp>
      <p:sp>
        <p:nvSpPr>
          <p:cNvPr id="10" name="Text 8"/>
          <p:cNvSpPr txBox="1"/>
          <p:nvPr/>
        </p:nvSpPr>
        <p:spPr>
          <a:xfrm>
            <a:off x="5105095" y="13716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آدرس کیف‌پول و مبلغ تومانی را در پرتال فروش وارد می‌کند.</a:t>
            </a:r>
            <a:endParaRPr lang="en-US" sz="980" dirty="0"/>
          </a:p>
        </p:txBody>
      </p:sp>
      <p:sp>
        <p:nvSpPr>
          <p:cNvPr id="11" name="Shape 9"/>
          <p:cNvSpPr/>
          <p:nvPr/>
        </p:nvSpPr>
        <p:spPr>
          <a:xfrm>
            <a:off x="4967935" y="2011680"/>
            <a:ext cx="6675120" cy="566928"/>
          </a:xfrm>
          <a:prstGeom prst="roundRect">
            <a:avLst>
              <a:gd name="adj" fmla="val 19355"/>
            </a:avLst>
          </a:prstGeom>
          <a:solidFill>
            <a:srgbClr val="FFFFFF"/>
          </a:solidFill>
          <a:ln w="9525">
            <a:solidFill>
              <a:srgbClr val="DDE1EE"/>
            </a:solidFill>
            <a:prstDash val="solid"/>
          </a:ln>
        </p:spPr>
      </p:sp>
      <p:sp>
        <p:nvSpPr>
          <p:cNvPr id="12" name="Shape 10"/>
          <p:cNvSpPr/>
          <p:nvPr/>
        </p:nvSpPr>
        <p:spPr>
          <a:xfrm>
            <a:off x="11185855" y="2112264"/>
            <a:ext cx="365760" cy="365760"/>
          </a:xfrm>
          <a:prstGeom prst="ellipse">
            <a:avLst/>
          </a:prstGeom>
          <a:solidFill>
            <a:srgbClr val="2F3690"/>
          </a:solidFill>
          <a:ln w="12700">
            <a:solidFill>
              <a:srgbClr val="2F3690"/>
            </a:solidFill>
            <a:prstDash val="solid"/>
          </a:ln>
        </p:spPr>
      </p:sp>
      <p:sp>
        <p:nvSpPr>
          <p:cNvPr id="13" name="Text 11"/>
          <p:cNvSpPr txBox="1"/>
          <p:nvPr/>
        </p:nvSpPr>
        <p:spPr>
          <a:xfrm>
            <a:off x="11185855" y="211226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۲</a:t>
            </a:r>
            <a:endParaRPr lang="en-US" sz="1250" dirty="0"/>
          </a:p>
        </p:txBody>
      </p:sp>
      <p:sp>
        <p:nvSpPr>
          <p:cNvPr id="14" name="Text 12"/>
          <p:cNvSpPr txBox="1"/>
          <p:nvPr/>
        </p:nvSpPr>
        <p:spPr>
          <a:xfrm>
            <a:off x="9631375" y="201168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رزرو موجودی</a:t>
            </a:r>
            <a:endParaRPr lang="en-US" sz="1200" dirty="0"/>
          </a:p>
        </p:txBody>
      </p:sp>
      <p:sp>
        <p:nvSpPr>
          <p:cNvPr id="15" name="Text 13"/>
          <p:cNvSpPr txBox="1"/>
          <p:nvPr/>
        </p:nvSpPr>
        <p:spPr>
          <a:xfrm>
            <a:off x="5105095" y="201168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سورن معادل با قیمت همان لحظه محاسبه می‌شود؛ اگر از موجودی آزاد (موجودی قرارداد منهای رزروهای فعال) کمتر باشد، ۱۵ دقیقه رزرو ثبت می‌شود، وگرنه همان‌جا «موجودی کافی نیست».</a:t>
            </a:r>
            <a:endParaRPr lang="en-US" sz="980" dirty="0"/>
          </a:p>
        </p:txBody>
      </p:sp>
      <p:sp>
        <p:nvSpPr>
          <p:cNvPr id="16" name="Shape 14"/>
          <p:cNvSpPr/>
          <p:nvPr/>
        </p:nvSpPr>
        <p:spPr>
          <a:xfrm>
            <a:off x="4967935" y="2651760"/>
            <a:ext cx="6675120" cy="566928"/>
          </a:xfrm>
          <a:prstGeom prst="roundRect">
            <a:avLst>
              <a:gd name="adj" fmla="val 19355"/>
            </a:avLst>
          </a:prstGeom>
          <a:solidFill>
            <a:srgbClr val="F7F9FC"/>
          </a:solidFill>
          <a:ln w="9525">
            <a:solidFill>
              <a:srgbClr val="DDE1EE"/>
            </a:solidFill>
            <a:prstDash val="solid"/>
          </a:ln>
        </p:spPr>
      </p:sp>
      <p:sp>
        <p:nvSpPr>
          <p:cNvPr id="17" name="Shape 15"/>
          <p:cNvSpPr/>
          <p:nvPr/>
        </p:nvSpPr>
        <p:spPr>
          <a:xfrm>
            <a:off x="11185855" y="2752344"/>
            <a:ext cx="365760" cy="365760"/>
          </a:xfrm>
          <a:prstGeom prst="ellipse">
            <a:avLst/>
          </a:prstGeom>
          <a:solidFill>
            <a:srgbClr val="2F3690"/>
          </a:solidFill>
          <a:ln w="12700">
            <a:solidFill>
              <a:srgbClr val="2F3690"/>
            </a:solidFill>
            <a:prstDash val="solid"/>
          </a:ln>
        </p:spPr>
      </p:sp>
      <p:sp>
        <p:nvSpPr>
          <p:cNvPr id="18" name="Text 16"/>
          <p:cNvSpPr txBox="1"/>
          <p:nvPr/>
        </p:nvSpPr>
        <p:spPr>
          <a:xfrm>
            <a:off x="11185855" y="275234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۳</a:t>
            </a:r>
            <a:endParaRPr lang="en-US" sz="1250" dirty="0"/>
          </a:p>
        </p:txBody>
      </p:sp>
      <p:sp>
        <p:nvSpPr>
          <p:cNvPr id="19" name="Text 17"/>
          <p:cNvSpPr txBox="1"/>
          <p:nvPr/>
        </p:nvSpPr>
        <p:spPr>
          <a:xfrm>
            <a:off x="9631375" y="265176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a:t>
            </a:r>
            <a:endParaRPr lang="en-US" sz="1200" dirty="0"/>
          </a:p>
        </p:txBody>
      </p:sp>
      <p:sp>
        <p:nvSpPr>
          <p:cNvPr id="20" name="Text 18"/>
          <p:cNvSpPr txBox="1"/>
          <p:nvPr/>
        </p:nvSpPr>
        <p:spPr>
          <a:xfrm>
            <a:off x="5105095" y="265176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به درگاه پرداخت هدایت می‌شود و تومان می‌پردازد.</a:t>
            </a:r>
            <a:endParaRPr lang="en-US" sz="980" dirty="0"/>
          </a:p>
        </p:txBody>
      </p:sp>
      <p:sp>
        <p:nvSpPr>
          <p:cNvPr id="21" name="Shape 19"/>
          <p:cNvSpPr/>
          <p:nvPr/>
        </p:nvSpPr>
        <p:spPr>
          <a:xfrm>
            <a:off x="4967935" y="3291840"/>
            <a:ext cx="6675120" cy="566928"/>
          </a:xfrm>
          <a:prstGeom prst="roundRect">
            <a:avLst>
              <a:gd name="adj" fmla="val 19355"/>
            </a:avLst>
          </a:prstGeom>
          <a:solidFill>
            <a:srgbClr val="FFFFFF"/>
          </a:solidFill>
          <a:ln w="9525">
            <a:solidFill>
              <a:srgbClr val="DDE1EE"/>
            </a:solidFill>
            <a:prstDash val="solid"/>
          </a:ln>
        </p:spPr>
      </p:sp>
      <p:sp>
        <p:nvSpPr>
          <p:cNvPr id="22" name="Shape 20"/>
          <p:cNvSpPr/>
          <p:nvPr/>
        </p:nvSpPr>
        <p:spPr>
          <a:xfrm>
            <a:off x="11185855" y="3392424"/>
            <a:ext cx="365760" cy="365760"/>
          </a:xfrm>
          <a:prstGeom prst="ellipse">
            <a:avLst/>
          </a:prstGeom>
          <a:solidFill>
            <a:srgbClr val="2F3690"/>
          </a:solidFill>
          <a:ln w="12700">
            <a:solidFill>
              <a:srgbClr val="2F3690"/>
            </a:solidFill>
            <a:prstDash val="solid"/>
          </a:ln>
        </p:spPr>
      </p:sp>
      <p:sp>
        <p:nvSpPr>
          <p:cNvPr id="23" name="Text 21"/>
          <p:cNvSpPr txBox="1"/>
          <p:nvPr/>
        </p:nvSpPr>
        <p:spPr>
          <a:xfrm>
            <a:off x="11185855" y="339242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۴</a:t>
            </a:r>
            <a:endParaRPr lang="en-US" sz="1250" dirty="0"/>
          </a:p>
        </p:txBody>
      </p:sp>
      <p:sp>
        <p:nvSpPr>
          <p:cNvPr id="24" name="Text 22"/>
          <p:cNvSpPr txBox="1"/>
          <p:nvPr/>
        </p:nvSpPr>
        <p:spPr>
          <a:xfrm>
            <a:off x="9631375" y="329184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راستی‌آزمایی</a:t>
            </a:r>
            <a:endParaRPr lang="en-US" sz="1200" dirty="0"/>
          </a:p>
        </p:txBody>
      </p:sp>
      <p:sp>
        <p:nvSpPr>
          <p:cNvPr id="25" name="Text 23"/>
          <p:cNvSpPr txBox="1"/>
          <p:nvPr/>
        </p:nvSpPr>
        <p:spPr>
          <a:xfrm>
            <a:off x="5105095" y="329184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PaymentReporter webhook درگاه را می‌گیرد و پرداخت را مستقل از خود API درگاه دوباره تأیید می‌کند.</a:t>
            </a:r>
            <a:endParaRPr lang="en-US" sz="980" dirty="0"/>
          </a:p>
        </p:txBody>
      </p:sp>
      <p:sp>
        <p:nvSpPr>
          <p:cNvPr id="26" name="Shape 24"/>
          <p:cNvSpPr/>
          <p:nvPr/>
        </p:nvSpPr>
        <p:spPr>
          <a:xfrm>
            <a:off x="4967935" y="3931920"/>
            <a:ext cx="6675120" cy="566928"/>
          </a:xfrm>
          <a:prstGeom prst="roundRect">
            <a:avLst>
              <a:gd name="adj" fmla="val 19355"/>
            </a:avLst>
          </a:prstGeom>
          <a:solidFill>
            <a:srgbClr val="F7F9FC"/>
          </a:solidFill>
          <a:ln w="9525">
            <a:solidFill>
              <a:srgbClr val="DDE1EE"/>
            </a:solidFill>
            <a:prstDash val="solid"/>
          </a:ln>
        </p:spPr>
      </p:sp>
      <p:sp>
        <p:nvSpPr>
          <p:cNvPr id="27" name="Shape 25"/>
          <p:cNvSpPr/>
          <p:nvPr/>
        </p:nvSpPr>
        <p:spPr>
          <a:xfrm>
            <a:off x="11185855" y="4032504"/>
            <a:ext cx="365760" cy="365760"/>
          </a:xfrm>
          <a:prstGeom prst="ellipse">
            <a:avLst/>
          </a:prstGeom>
          <a:solidFill>
            <a:srgbClr val="2F3690"/>
          </a:solidFill>
          <a:ln w="12700">
            <a:solidFill>
              <a:srgbClr val="2F3690"/>
            </a:solidFill>
            <a:prstDash val="solid"/>
          </a:ln>
        </p:spPr>
      </p:sp>
      <p:sp>
        <p:nvSpPr>
          <p:cNvPr id="28" name="Text 26"/>
          <p:cNvSpPr txBox="1"/>
          <p:nvPr/>
        </p:nvSpPr>
        <p:spPr>
          <a:xfrm>
            <a:off x="11185855" y="403250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۵</a:t>
            </a:r>
            <a:endParaRPr lang="en-US" sz="1250" dirty="0"/>
          </a:p>
        </p:txBody>
      </p:sp>
      <p:sp>
        <p:nvSpPr>
          <p:cNvPr id="29" name="Text 27"/>
          <p:cNvSpPr txBox="1"/>
          <p:nvPr/>
        </p:nvSpPr>
        <p:spPr>
          <a:xfrm>
            <a:off x="9631375" y="393192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ثبت و انتقال</a:t>
            </a:r>
            <a:endParaRPr lang="en-US" sz="1200" dirty="0"/>
          </a:p>
        </p:txBody>
      </p:sp>
      <p:sp>
        <p:nvSpPr>
          <p:cNvPr id="30" name="Text 28"/>
          <p:cNvSpPr txBox="1"/>
          <p:nvPr/>
        </p:nvSpPr>
        <p:spPr>
          <a:xfrm>
            <a:off x="5105095" y="393192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reportPayment را با کلید paymentOracle می‌فرستد؛ قرارداد قیمت را خودش حساب می‌کند و در همان تراکنش سورن را به خریدار می‌فرستد.</a:t>
            </a:r>
            <a:endParaRPr lang="en-US" sz="980" dirty="0"/>
          </a:p>
        </p:txBody>
      </p:sp>
      <p:sp>
        <p:nvSpPr>
          <p:cNvPr id="31" name="Shape 29"/>
          <p:cNvSpPr/>
          <p:nvPr/>
        </p:nvSpPr>
        <p:spPr>
          <a:xfrm>
            <a:off x="4967935" y="4572000"/>
            <a:ext cx="6675120" cy="566928"/>
          </a:xfrm>
          <a:prstGeom prst="roundRect">
            <a:avLst>
              <a:gd name="adj" fmla="val 19355"/>
            </a:avLst>
          </a:prstGeom>
          <a:solidFill>
            <a:srgbClr val="FFFFFF"/>
          </a:solidFill>
          <a:ln w="9525">
            <a:solidFill>
              <a:srgbClr val="DDE1EE"/>
            </a:solidFill>
            <a:prstDash val="solid"/>
          </a:ln>
        </p:spPr>
      </p:sp>
      <p:sp>
        <p:nvSpPr>
          <p:cNvPr id="32" name="Shape 30"/>
          <p:cNvSpPr/>
          <p:nvPr/>
        </p:nvSpPr>
        <p:spPr>
          <a:xfrm>
            <a:off x="11185855" y="4672584"/>
            <a:ext cx="365760" cy="365760"/>
          </a:xfrm>
          <a:prstGeom prst="ellipse">
            <a:avLst/>
          </a:prstGeom>
          <a:solidFill>
            <a:srgbClr val="2F3690"/>
          </a:solidFill>
          <a:ln w="12700">
            <a:solidFill>
              <a:srgbClr val="2F3690"/>
            </a:solidFill>
            <a:prstDash val="solid"/>
          </a:ln>
        </p:spPr>
      </p:sp>
      <p:sp>
        <p:nvSpPr>
          <p:cNvPr id="33" name="Text 31"/>
          <p:cNvSpPr txBox="1"/>
          <p:nvPr/>
        </p:nvSpPr>
        <p:spPr>
          <a:xfrm>
            <a:off x="11185855" y="46725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۶</a:t>
            </a:r>
            <a:endParaRPr lang="en-US" sz="1250" dirty="0"/>
          </a:p>
        </p:txBody>
      </p:sp>
      <p:sp>
        <p:nvSpPr>
          <p:cNvPr id="34" name="Text 32"/>
          <p:cNvSpPr txBox="1"/>
          <p:nvPr/>
        </p:nvSpPr>
        <p:spPr>
          <a:xfrm>
            <a:off x="9631375" y="45720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پیگیری</a:t>
            </a:r>
            <a:endParaRPr lang="en-US" sz="1200" dirty="0"/>
          </a:p>
        </p:txBody>
      </p:sp>
      <p:sp>
        <p:nvSpPr>
          <p:cNvPr id="35" name="Text 33"/>
          <p:cNvSpPr txBox="1"/>
          <p:nvPr/>
        </p:nvSpPr>
        <p:spPr>
          <a:xfrm>
            <a:off x="5105095" y="45720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پرتال هر ۳ تا ۵ ثانیه وضعیت را می‌پرسد تا نتیجه (در انتظار، ثبت‌شده، ناموفق) و هش تراکنش را نشان دهد.</a:t>
            </a:r>
            <a:endParaRPr lang="en-US" sz="980" dirty="0"/>
          </a:p>
        </p:txBody>
      </p:sp>
      <p:sp>
        <p:nvSpPr>
          <p:cNvPr id="36" name="Shape 34"/>
          <p:cNvSpPr/>
          <p:nvPr/>
        </p:nvSpPr>
        <p:spPr>
          <a:xfrm>
            <a:off x="548640" y="1371600"/>
            <a:ext cx="4206240" cy="2103120"/>
          </a:xfrm>
          <a:prstGeom prst="roundRect">
            <a:avLst>
              <a:gd name="adj" fmla="val 5217"/>
            </a:avLst>
          </a:prstGeom>
          <a:solidFill>
            <a:srgbClr val="EEF0FB"/>
          </a:solidFill>
          <a:ln w="9525">
            <a:solidFill>
              <a:srgbClr val="EEF0FB"/>
            </a:solidFill>
            <a:prstDash val="solid"/>
          </a:ln>
        </p:spPr>
      </p:sp>
      <p:sp>
        <p:nvSpPr>
          <p:cNvPr id="37" name="Text 35"/>
          <p:cNvSpPr txBox="1"/>
          <p:nvPr/>
        </p:nvSpPr>
        <p:spPr>
          <a:xfrm>
            <a:off x="685800" y="1444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محاسبه‌ی مقدار سورن</a:t>
            </a:r>
            <a:endParaRPr lang="en-US" sz="1350" dirty="0"/>
          </a:p>
        </p:txBody>
      </p:sp>
      <p:sp>
        <p:nvSpPr>
          <p:cNvPr id="38" name="Text 36"/>
          <p:cNvSpPr txBox="1"/>
          <p:nvPr/>
        </p:nvSpPr>
        <p:spPr>
          <a:xfrm>
            <a:off x="685800" y="1828800"/>
            <a:ext cx="3931920" cy="160020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سورن = مبلغ تومان × ۱۰¹⁸ ÷ قیمت همان لحظه</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مثال: ۱ میلیون تومان در ماه اول ۱۰٬۰۰۰ و در ماه ششم ۸٬۶۲۱ سورن می‌دهد.</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هر پرداخت با کد پیگیری یکتا فقط یک‌بار پذیرفته می‌شود.</a:t>
            </a:r>
            <a:endParaRPr lang="en-US" sz="1100" dirty="0"/>
          </a:p>
        </p:txBody>
      </p:sp>
      <p:sp>
        <p:nvSpPr>
          <p:cNvPr id="39" name="Shape 37"/>
          <p:cNvSpPr/>
          <p:nvPr/>
        </p:nvSpPr>
        <p:spPr>
          <a:xfrm>
            <a:off x="548640" y="3657600"/>
            <a:ext cx="4206240" cy="2651760"/>
          </a:xfrm>
          <a:prstGeom prst="roundRect">
            <a:avLst>
              <a:gd name="adj" fmla="val 4138"/>
            </a:avLst>
          </a:prstGeom>
          <a:solidFill>
            <a:srgbClr val="FCEAE4"/>
          </a:solidFill>
          <a:ln w="9525">
            <a:solidFill>
              <a:srgbClr val="FCEAE4"/>
            </a:solidFill>
            <a:prstDash val="solid"/>
          </a:ln>
        </p:spPr>
      </p:sp>
      <p:sp>
        <p:nvSpPr>
          <p:cNvPr id="40" name="Text 38"/>
          <p:cNvSpPr txBox="1"/>
          <p:nvPr/>
        </p:nvSpPr>
        <p:spPr>
          <a:xfrm>
            <a:off x="685800" y="3730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امنیت و خطر</a:t>
            </a:r>
            <a:endParaRPr lang="en-US" sz="1350" dirty="0"/>
          </a:p>
        </p:txBody>
      </p:sp>
      <p:sp>
        <p:nvSpPr>
          <p:cNvPr id="41" name="Text 39"/>
          <p:cNvSpPr txBox="1"/>
          <p:nvPr/>
        </p:nvSpPr>
        <p:spPr>
          <a:xfrm>
            <a:off x="685800" y="4114800"/>
            <a:ext cx="3931920" cy="21488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کلید paymentOracle نمی‌تواند قیمت را عوض کند؛ فقط می‌تواند پرداخت ساختگی گزارش دهد، آن هم تا سقف موجودی همان لحظه‌ی قرارداد (به همین دلیل موجودی دوره‌ای تأمین می‌شود).</a:t>
            </a:r>
            <a:endParaRPr lang="en-US" sz="1000" dirty="0"/>
          </a:p>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اگر کاربر پول بدهد ولی گزارش روی زنجیره شکست بخورد (موجودی کافی نبوده)، هشدار فوری ارسال می‌شود. روش جبران (بازگشت وجه یا تأمین فوری و انتقال دستی) و انتخاب درگاه هنوز تعیین نشده است.</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اجرا: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به blockheader و بازگشت از آن تأیید شده است. فرایند سازمانی ۵ از ۷ امضای مسئولان هنوز تعریف عملیاتی نشده و ابزار کمکی آف‌چین هنوز ساخته نشده است.</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 کامپایل‌شده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رفتار قراردادها با آزمون خودکار روی نسخه‌ی فعلی کد تأیید شده است. آزمون روی شبکه‌ی واقعی Besu روی نسخه‌ی قبلی انجام شد و برای نسخه‌ی فعلی هنوز اجرا نشده؛ اعمال تغییر نرخ پاداش در زمان واقعی هم هنوز آزموده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تأیید با آزمون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تأیید با آزمون به‌معنای آمادگی نهایی برای production نیست.</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(فقط پیش‌نویس اولیه) و اجرای Zether</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