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عرضه‌ی کل (میلیون سورن)</c:v>
                </c:pt>
              </c:strCache>
            </c:strRef>
          </c:tx>
          <c:spPr>
            <a:solidFill>
              <a:srgbClr val="2F3690"/>
            </a:solidFill>
            <a:ln w="38100" cap="flat">
              <a:solidFill>
                <a:srgbClr val="2F3690"/>
              </a:solidFill>
              <a:prstDash val="solid"/>
              <a:round/>
            </a:ln>
            <a:effectLst/>
          </c:spPr>
          <c:invertIfNegative val="0"/>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9"/>
            <c:spPr>
              <a:solidFill>
                <a:srgbClr val="2F3690"/>
              </a:solidFill>
              <a:ln w="9525" cap="flat">
                <a:solidFill>
                  <a:srgbClr val="2F3690"/>
                </a:solidFill>
                <a:prstDash val="solid"/>
                <a:round/>
              </a:ln>
              <a:effectLst/>
            </c:spPr>
          </c:marker>
          <c:cat>
            <c:multiLvlStrRef>
              <c:f>Sheet1!$A$2:$A$8</c:f>
              <c:multiLvlStrCache>
                <c:ptCount val="7"/>
                <c:lvl>
                  <c:pt idx="0">
                    <c:v>genesis</c:v>
                  </c:pt>
                  <c:pt idx="1">
                    <c:v>سال ۱</c:v>
                  </c:pt>
                  <c:pt idx="2">
                    <c:v>سال ۲</c:v>
                  </c:pt>
                  <c:pt idx="3">
                    <c:v>سال ۵</c:v>
                  </c:pt>
                  <c:pt idx="4">
                    <c:v>سال ۱۰</c:v>
                  </c:pt>
                  <c:pt idx="5">
                    <c:v>سال ۱۵</c:v>
                  </c:pt>
                  <c:pt idx="6">
                    <c:v>سال ۲۰</c:v>
                  </c:pt>
                </c:lvl>
              </c:multiLvlStrCache>
            </c:multiLvlStrRef>
          </c:cat>
          <c:val>
            <c:numRef>
              <c:f>Sheet1!$B$2:$B$8</c:f>
              <c:numCache>
                <c:formatCode>General</c:formatCode>
                <c:ptCount val="7"/>
                <c:pt idx="0">
                  <c:v>35.53</c:v>
                </c:pt>
                <c:pt idx="1">
                  <c:v>56.554</c:v>
                </c:pt>
                <c:pt idx="2">
                  <c:v>77.578</c:v>
                </c:pt>
                <c:pt idx="3">
                  <c:v>140.65</c:v>
                </c:pt>
                <c:pt idx="4">
                  <c:v>245.77</c:v>
                </c:pt>
                <c:pt idx="5">
                  <c:v>350.89</c:v>
                </c:pt>
                <c:pt idx="6">
                  <c:v>456.01</c:v>
                </c:pt>
              </c:numCache>
            </c:numRef>
          </c:val>
          <c:smooth val="0"/>
        </c:ser>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520"/>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وثیقه (میلیون سورن)</c:v>
                </c:pt>
              </c:strCache>
            </c:strRef>
          </c:tx>
          <c:spPr>
            <a:solidFill>
              <a:srgbClr val="2F3690"/>
            </a:solidFill>
            <a:ln w="38100" cap="flat">
              <a:solidFill>
                <a:srgbClr val="2F3690"/>
              </a:solidFill>
              <a:prstDash val="solid"/>
              <a:round/>
            </a:ln>
            <a:effectLst/>
          </c:spPr>
          <c:invertIfNegative val="0"/>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8"/>
            <c:spPr>
              <a:solidFill>
                <a:srgbClr val="2F3690"/>
              </a:solidFill>
              <a:ln w="9525" cap="flat">
                <a:solidFill>
                  <a:srgbClr val="2F3690"/>
                </a:solidFill>
                <a:prstDash val="solid"/>
                <a:round/>
              </a:ln>
              <a:effectLst/>
            </c:spPr>
          </c:marker>
          <c:cat>
            <c:multiLvlStrRef>
              <c:f>Sheet1!$A$2:$A$12</c:f>
              <c:multiLvlStrCache>
                <c:ptCount val="11"/>
                <c:lvl>
                  <c:pt idx="0">
                    <c:v>0</c:v>
                  </c:pt>
                  <c:pt idx="1">
                    <c:v>10</c:v>
                  </c:pt>
                  <c:pt idx="2">
                    <c:v>20</c:v>
                  </c:pt>
                  <c:pt idx="3">
                    <c:v>30</c:v>
                  </c:pt>
                  <c:pt idx="4">
                    <c:v>40</c:v>
                  </c:pt>
                  <c:pt idx="5">
                    <c:v>50</c:v>
                  </c:pt>
                  <c:pt idx="6">
                    <c:v>60</c:v>
                  </c:pt>
                  <c:pt idx="7">
                    <c:v>70</c:v>
                  </c:pt>
                  <c:pt idx="8">
                    <c:v>80</c:v>
                  </c:pt>
                  <c:pt idx="9">
                    <c:v>90</c:v>
                  </c:pt>
                  <c:pt idx="10">
                    <c:v>100</c:v>
                  </c:pt>
                </c:lvl>
              </c:multiLvlStrCache>
            </c:multiLvlStrRef>
          </c:cat>
          <c:val>
            <c:numRef>
              <c:f>Sheet1!$B$2:$B$12</c:f>
              <c:numCache>
                <c:formatCode>General</c:formatCode>
                <c:ptCount val="11"/>
                <c:pt idx="0">
                  <c:v>0.5</c:v>
                </c:pt>
                <c:pt idx="1">
                  <c:v>0.595</c:v>
                </c:pt>
                <c:pt idx="2">
                  <c:v>0.707</c:v>
                </c:pt>
                <c:pt idx="3">
                  <c:v>0.841</c:v>
                </c:pt>
                <c:pt idx="4">
                  <c:v>1</c:v>
                </c:pt>
                <c:pt idx="5">
                  <c:v>1.189</c:v>
                </c:pt>
                <c:pt idx="6">
                  <c:v>1.414</c:v>
                </c:pt>
                <c:pt idx="7">
                  <c:v>1.682</c:v>
                </c:pt>
                <c:pt idx="8">
                  <c:v>2</c:v>
                </c:pt>
                <c:pt idx="9">
                  <c:v>2.378</c:v>
                </c:pt>
                <c:pt idx="10">
                  <c:v>2.828</c:v>
                </c:pt>
              </c:numCache>
            </c:numRef>
          </c:val>
          <c:smooth val="0"/>
        </c:ser>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درآمد سالانه (هزار سورن)</c:v>
                </c:pt>
              </c:strCache>
            </c:strRef>
          </c:tx>
          <c:spPr>
            <a:solidFill>
              <a:srgbClr val="2F3690"/>
            </a:solidFill>
            <a:effectLst/>
          </c:spPr>
          <c:invertIfNegative val="0"/>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cat>
            <c:multiLvlStrRef>
              <c:f>Sheet1!$A$2:$A$6</c:f>
              <c:multiLvlStrCache>
                <c:ptCount val="5"/>
                <c:lvl>
                  <c:pt idx="0">
                    <c:v>N = 7</c:v>
                  </c:pt>
                  <c:pt idx="1">
                    <c:v>N = 10</c:v>
                  </c:pt>
                  <c:pt idx="2">
                    <c:v>N = 30</c:v>
                  </c:pt>
                  <c:pt idx="3">
                    <c:v>N = 60</c:v>
                  </c:pt>
                  <c:pt idx="4">
                    <c:v>N = 100</c:v>
                  </c:pt>
                </c:lvl>
              </c:multiLvlStrCache>
            </c:multiLvlStrRef>
          </c:cat>
          <c:val>
            <c:numRef>
              <c:f>Sheet1!$B$2:$B$6</c:f>
              <c:numCache>
                <c:formatCode>General</c:formatCode>
                <c:ptCount val="5"/>
                <c:pt idx="0">
                  <c:v>1502</c:v>
                </c:pt>
                <c:pt idx="1">
                  <c:v>1051</c:v>
                </c:pt>
                <c:pt idx="2">
                  <c:v>350</c:v>
                </c:pt>
                <c:pt idx="3">
                  <c:v>175</c:v>
                </c:pt>
                <c:pt idx="4">
                  <c:v>105</c:v>
                </c:pt>
              </c:numCache>
            </c:numRef>
          </c:val>
        </c:ser>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80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میلیون سورن در سال</c:v>
                </c:pt>
              </c:strCache>
            </c:strRef>
          </c:tx>
          <c:spPr>
            <a:solidFill>
              <a:srgbClr val="2F3690"/>
            </a:solidFill>
            <a:effectLst/>
          </c:spPr>
          <c:invertIfNegative val="0"/>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cat>
            <c:multiLvlStrRef>
              <c:f>Sheet1!$A$2:$A$3</c:f>
              <c:multiLvlStrCache>
                <c:ptCount val="2"/>
                <c:lvl>
                  <c:pt idx="0">
                    <c:v>ورودی سالانه‌ی خزانه</c:v>
                  </c:pt>
                  <c:pt idx="1">
                    <c:v>سقف خرج سالانه‌ی تقریبی</c:v>
                  </c:pt>
                </c:lvl>
              </c:multiLvlStrCache>
            </c:multiLvlStrRef>
          </c:cat>
          <c:val>
            <c:numRef>
              <c:f>Sheet1!$B$2:$B$3</c:f>
              <c:numCache>
                <c:formatCode>General</c:formatCode>
                <c:ptCount val="2"/>
                <c:pt idx="0">
                  <c:v>7.36</c:v>
                </c:pt>
                <c:pt idx="1">
                  <c:v>2.43</c:v>
                </c:pt>
              </c:numCache>
            </c:numRef>
          </c:val>
        </c:ser>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9"/>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قیمت</c:v>
                </c:pt>
              </c:strCache>
            </c:strRef>
          </c:tx>
          <c:spPr>
            <a:solidFill>
              <a:srgbClr val="2F3690"/>
            </a:solidFill>
            <a:effectLst/>
          </c:spPr>
          <c:invertIfNegative val="0"/>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cat>
            <c:multiLvlStrRef>
              <c:f>Sheet1!$A$2:$A$7</c:f>
              <c:multiLvlStrCache>
                <c:ptCount val="6"/>
                <c:lvl>
                  <c:pt idx="0">
                    <c:v>ماه ۱</c:v>
                  </c:pt>
                  <c:pt idx="1">
                    <c:v>ماه ۲</c:v>
                  </c:pt>
                  <c:pt idx="2">
                    <c:v>ماه ۳</c:v>
                  </c:pt>
                  <c:pt idx="3">
                    <c:v>ماه ۴</c:v>
                  </c:pt>
                  <c:pt idx="4">
                    <c:v>ماه ۵</c:v>
                  </c:pt>
                  <c:pt idx="5">
                    <c:v>ماه ۶</c:v>
                  </c:pt>
                </c:lvl>
              </c:multiLvlStrCache>
            </c:multiLvlStrRef>
          </c:cat>
          <c:val>
            <c:numRef>
              <c:f>Sheet1!$B$2:$B$7</c:f>
              <c:numCache>
                <c:formatCode>General</c:formatCode>
                <c:ptCount val="6"/>
                <c:pt idx="0">
                  <c:v>100</c:v>
                </c:pt>
                <c:pt idx="1">
                  <c:v>103</c:v>
                </c:pt>
                <c:pt idx="2">
                  <c:v>106</c:v>
                </c:pt>
                <c:pt idx="3">
                  <c:v>109</c:v>
                </c:pt>
                <c:pt idx="4">
                  <c:v>113</c:v>
                </c:pt>
                <c:pt idx="5">
                  <c:v>116</c:v>
                </c:pt>
              </c:numCache>
            </c:numRef>
          </c:val>
        </c:ser>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25"/>
          <c:min val="8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هیأت‌مدیره‌ی بنیاد سور</a:t>
            </a:r>
            <a:endParaRPr lang="en-US" sz="1800" dirty="0"/>
          </a:p>
        </p:txBody>
      </p:sp>
      <p:sp>
        <p:nvSpPr>
          <p:cNvPr id="7" name="Text 4"/>
          <p:cNvSpPr txBox="1"/>
          <p:nvPr/>
        </p:nvSpPr>
        <p:spPr>
          <a:xfrm>
            <a:off x="1310335" y="3108960"/>
            <a:ext cx="10058400" cy="914400"/>
          </a:xfrm>
          <a:prstGeom prst="rect">
            <a:avLst/>
          </a:prstGeom>
          <a:noFill/>
          <a:ln/>
        </p:spPr>
        <p:txBody>
          <a:bodyPr wrap="square" lIns="0" tIns="0" rIns="0" bIns="0" rtlCol="0" anchor="t"/>
          <a:lstStyle/>
          <a:p>
            <a:pPr rtl="1" algn="r" indent="0" marL="0">
              <a:lnSpc>
                <a:spcPct val="105000"/>
              </a:lnSpc>
              <a:buNone/>
            </a:pPr>
            <a:r>
              <a:rPr lang="fa-IR" altLang="en-US" sz="4800" b="1" dirty="0">
                <a:solidFill>
                  <a:srgbClr val="FFFFFF"/>
                </a:solidFill>
                <a:latin typeface="Vazirmatn" pitchFamily="34" charset="0"/>
                <a:ea typeface="Vazirmatn" pitchFamily="34" charset="-122"/>
                <a:cs typeface="Vazirmatn" pitchFamily="34" charset="-120"/>
              </a:rPr>
              <a:t>بلاک‌چین سور: طرح فعلی</a:t>
            </a:r>
            <a:endParaRPr lang="en-US" sz="4800" dirty="0"/>
          </a:p>
        </p:txBody>
      </p:sp>
      <p:sp>
        <p:nvSpPr>
          <p:cNvPr id="8" name="Text 5"/>
          <p:cNvSpPr txBox="1"/>
          <p:nvPr/>
        </p:nvSpPr>
        <p:spPr>
          <a:xfrm>
            <a:off x="1310335" y="4206240"/>
            <a:ext cx="10058400" cy="457200"/>
          </a:xfrm>
          <a:prstGeom prst="rect">
            <a:avLst/>
          </a:prstGeom>
          <a:noFill/>
          <a:ln/>
        </p:spPr>
        <p:txBody>
          <a:bodyPr wrap="square" lIns="0" tIns="0" rIns="0" bIns="0" rtlCol="0" anchor="t"/>
          <a:lstStyle/>
          <a:p>
            <a:pPr rtl="1" algn="r" indent="0" marL="0">
              <a:lnSpc>
                <a:spcPct val="105000"/>
              </a:lnSpc>
              <a:buNone/>
            </a:pPr>
            <a:r>
              <a:rPr lang="fa-IR" altLang="en-US" sz="2200" dirty="0">
                <a:solidFill>
                  <a:srgbClr val="E5E8FF"/>
                </a:solidFill>
                <a:latin typeface="Vazirmatn" pitchFamily="34" charset="0"/>
                <a:ea typeface="Vazirmatn" pitchFamily="34" charset="-122"/>
                <a:cs typeface="Vazirmatn" pitchFamily="34" charset="-120"/>
              </a:rPr>
              <a:t>معماری فنی، اقتصاد توکن، حکمرانی و اجزای عملیاتی</a:t>
            </a:r>
            <a:endParaRPr lang="en-US" sz="22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00200"/>
            <a:ext cx="5410048" cy="731520"/>
          </a:xfrm>
          <a:prstGeom prst="roundRect">
            <a:avLst>
              <a:gd name="adj" fmla="val 15000"/>
            </a:avLst>
          </a:prstGeom>
          <a:solidFill>
            <a:srgbClr val="F7F9FC"/>
          </a:solidFill>
          <a:ln w="9525">
            <a:solidFill>
              <a:srgbClr val="DDE1EE"/>
            </a:solidFill>
            <a:prstDash val="solid"/>
          </a:ln>
        </p:spPr>
      </p:sp>
      <p:sp>
        <p:nvSpPr>
          <p:cNvPr id="7" name="Shape 5"/>
          <p:cNvSpPr/>
          <p:nvPr/>
        </p:nvSpPr>
        <p:spPr>
          <a:xfrm>
            <a:off x="11049152" y="1728216"/>
            <a:ext cx="475488" cy="475488"/>
          </a:xfrm>
          <a:prstGeom prst="ellipse">
            <a:avLst/>
          </a:prstGeom>
          <a:solidFill>
            <a:srgbClr val="2F3690"/>
          </a:solidFill>
          <a:ln w="12700">
            <a:solidFill>
              <a:srgbClr val="2F3690"/>
            </a:solidFill>
            <a:prstDash val="solid"/>
          </a:ln>
        </p:spPr>
      </p:sp>
      <p:sp>
        <p:nvSpPr>
          <p:cNvPr id="8" name="Text 6"/>
          <p:cNvSpPr txBox="1"/>
          <p:nvPr/>
        </p:nvSpPr>
        <p:spPr>
          <a:xfrm>
            <a:off x="11049152"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6416345"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در یک نگاه</a:t>
            </a:r>
            <a:endParaRPr lang="en-US" sz="1600" dirty="0"/>
          </a:p>
        </p:txBody>
      </p:sp>
      <p:sp>
        <p:nvSpPr>
          <p:cNvPr id="10" name="Shape 8"/>
          <p:cNvSpPr/>
          <p:nvPr/>
        </p:nvSpPr>
        <p:spPr>
          <a:xfrm>
            <a:off x="6233465" y="2514600"/>
            <a:ext cx="5410048" cy="731520"/>
          </a:xfrm>
          <a:prstGeom prst="roundRect">
            <a:avLst>
              <a:gd name="adj" fmla="val 15000"/>
            </a:avLst>
          </a:prstGeom>
          <a:solidFill>
            <a:srgbClr val="F7F9FC"/>
          </a:solidFill>
          <a:ln w="9525">
            <a:solidFill>
              <a:srgbClr val="DDE1EE"/>
            </a:solidFill>
            <a:prstDash val="solid"/>
          </a:ln>
        </p:spPr>
      </p:sp>
      <p:sp>
        <p:nvSpPr>
          <p:cNvPr id="11" name="Shape 9"/>
          <p:cNvSpPr/>
          <p:nvPr/>
        </p:nvSpPr>
        <p:spPr>
          <a:xfrm>
            <a:off x="11049152" y="2642616"/>
            <a:ext cx="475488" cy="475488"/>
          </a:xfrm>
          <a:prstGeom prst="ellipse">
            <a:avLst/>
          </a:prstGeom>
          <a:solidFill>
            <a:srgbClr val="2F3690"/>
          </a:solidFill>
          <a:ln w="12700">
            <a:solidFill>
              <a:srgbClr val="2F3690"/>
            </a:solidFill>
            <a:prstDash val="solid"/>
          </a:ln>
        </p:spPr>
      </p:sp>
      <p:sp>
        <p:nvSpPr>
          <p:cNvPr id="12" name="Text 10"/>
          <p:cNvSpPr txBox="1"/>
          <p:nvPr/>
        </p:nvSpPr>
        <p:spPr>
          <a:xfrm>
            <a:off x="11049152"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3" name="Text 11"/>
          <p:cNvSpPr txBox="1"/>
          <p:nvPr/>
        </p:nvSpPr>
        <p:spPr>
          <a:xfrm>
            <a:off x="6416345"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مقایسه با شبکه‌ی اول سور</a:t>
            </a:r>
            <a:endParaRPr lang="en-US" sz="1600" dirty="0"/>
          </a:p>
        </p:txBody>
      </p:sp>
      <p:sp>
        <p:nvSpPr>
          <p:cNvPr id="14" name="Shape 12"/>
          <p:cNvSpPr/>
          <p:nvPr/>
        </p:nvSpPr>
        <p:spPr>
          <a:xfrm>
            <a:off x="6233465" y="3429000"/>
            <a:ext cx="5410048" cy="731520"/>
          </a:xfrm>
          <a:prstGeom prst="roundRect">
            <a:avLst>
              <a:gd name="adj" fmla="val 15000"/>
            </a:avLst>
          </a:prstGeom>
          <a:solidFill>
            <a:srgbClr val="F7F9FC"/>
          </a:solidFill>
          <a:ln w="9525">
            <a:solidFill>
              <a:srgbClr val="DDE1EE"/>
            </a:solidFill>
            <a:prstDash val="solid"/>
          </a:ln>
        </p:spPr>
      </p:sp>
      <p:sp>
        <p:nvSpPr>
          <p:cNvPr id="15" name="Shape 13"/>
          <p:cNvSpPr/>
          <p:nvPr/>
        </p:nvSpPr>
        <p:spPr>
          <a:xfrm>
            <a:off x="11049152" y="3557016"/>
            <a:ext cx="475488" cy="475488"/>
          </a:xfrm>
          <a:prstGeom prst="ellipse">
            <a:avLst/>
          </a:prstGeom>
          <a:solidFill>
            <a:srgbClr val="2F3690"/>
          </a:solidFill>
          <a:ln w="12700">
            <a:solidFill>
              <a:srgbClr val="2F3690"/>
            </a:solidFill>
            <a:prstDash val="solid"/>
          </a:ln>
        </p:spPr>
      </p:sp>
      <p:sp>
        <p:nvSpPr>
          <p:cNvPr id="16" name="Text 14"/>
          <p:cNvSpPr txBox="1"/>
          <p:nvPr/>
        </p:nvSpPr>
        <p:spPr>
          <a:xfrm>
            <a:off x="11049152"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17" name="Text 15"/>
          <p:cNvSpPr txBox="1"/>
          <p:nvPr/>
        </p:nvSpPr>
        <p:spPr>
          <a:xfrm>
            <a:off x="6416345"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معماری و مسیر پاداش</a:t>
            </a:r>
            <a:endParaRPr lang="en-US" sz="1600" dirty="0"/>
          </a:p>
        </p:txBody>
      </p:sp>
      <p:sp>
        <p:nvSpPr>
          <p:cNvPr id="18" name="Shape 16"/>
          <p:cNvSpPr/>
          <p:nvPr/>
        </p:nvSpPr>
        <p:spPr>
          <a:xfrm>
            <a:off x="6233465" y="4343400"/>
            <a:ext cx="5410048" cy="731520"/>
          </a:xfrm>
          <a:prstGeom prst="roundRect">
            <a:avLst>
              <a:gd name="adj" fmla="val 15000"/>
            </a:avLst>
          </a:prstGeom>
          <a:solidFill>
            <a:srgbClr val="F7F9FC"/>
          </a:solidFill>
          <a:ln w="9525">
            <a:solidFill>
              <a:srgbClr val="DDE1EE"/>
            </a:solidFill>
            <a:prstDash val="solid"/>
          </a:ln>
        </p:spPr>
      </p:sp>
      <p:sp>
        <p:nvSpPr>
          <p:cNvPr id="19" name="Shape 17"/>
          <p:cNvSpPr/>
          <p:nvPr/>
        </p:nvSpPr>
        <p:spPr>
          <a:xfrm>
            <a:off x="11049152" y="4471416"/>
            <a:ext cx="475488" cy="475488"/>
          </a:xfrm>
          <a:prstGeom prst="ellipse">
            <a:avLst/>
          </a:prstGeom>
          <a:solidFill>
            <a:srgbClr val="2F3690"/>
          </a:solidFill>
          <a:ln w="12700">
            <a:solidFill>
              <a:srgbClr val="2F3690"/>
            </a:solidFill>
            <a:prstDash val="solid"/>
          </a:ln>
        </p:spPr>
      </p:sp>
      <p:sp>
        <p:nvSpPr>
          <p:cNvPr id="20" name="Text 18"/>
          <p:cNvSpPr txBox="1"/>
          <p:nvPr/>
        </p:nvSpPr>
        <p:spPr>
          <a:xfrm>
            <a:off x="11049152"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۴</a:t>
            </a:r>
            <a:endParaRPr lang="en-US" sz="1600" dirty="0"/>
          </a:p>
        </p:txBody>
      </p:sp>
      <p:sp>
        <p:nvSpPr>
          <p:cNvPr id="21" name="Text 19"/>
          <p:cNvSpPr txBox="1"/>
          <p:nvPr/>
        </p:nvSpPr>
        <p:spPr>
          <a:xfrm>
            <a:off x="6416345"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عرضه و اقتصاد توکن</a:t>
            </a:r>
            <a:endParaRPr lang="en-US" sz="1600" dirty="0"/>
          </a:p>
        </p:txBody>
      </p:sp>
      <p:sp>
        <p:nvSpPr>
          <p:cNvPr id="22" name="Shape 20"/>
          <p:cNvSpPr/>
          <p:nvPr/>
        </p:nvSpPr>
        <p:spPr>
          <a:xfrm>
            <a:off x="6233465" y="5257800"/>
            <a:ext cx="5410048" cy="731520"/>
          </a:xfrm>
          <a:prstGeom prst="roundRect">
            <a:avLst>
              <a:gd name="adj" fmla="val 15000"/>
            </a:avLst>
          </a:prstGeom>
          <a:solidFill>
            <a:srgbClr val="F7F9FC"/>
          </a:solidFill>
          <a:ln w="9525">
            <a:solidFill>
              <a:srgbClr val="DDE1EE"/>
            </a:solidFill>
            <a:prstDash val="solid"/>
          </a:ln>
        </p:spPr>
      </p:sp>
      <p:sp>
        <p:nvSpPr>
          <p:cNvPr id="23" name="Shape 21"/>
          <p:cNvSpPr/>
          <p:nvPr/>
        </p:nvSpPr>
        <p:spPr>
          <a:xfrm>
            <a:off x="11049152" y="5385816"/>
            <a:ext cx="475488" cy="475488"/>
          </a:xfrm>
          <a:prstGeom prst="ellipse">
            <a:avLst/>
          </a:prstGeom>
          <a:solidFill>
            <a:srgbClr val="2F3690"/>
          </a:solidFill>
          <a:ln w="12700">
            <a:solidFill>
              <a:srgbClr val="2F3690"/>
            </a:solidFill>
            <a:prstDash val="solid"/>
          </a:ln>
        </p:spPr>
      </p:sp>
      <p:sp>
        <p:nvSpPr>
          <p:cNvPr id="24" name="Text 22"/>
          <p:cNvSpPr txBox="1"/>
          <p:nvPr/>
        </p:nvSpPr>
        <p:spPr>
          <a:xfrm>
            <a:off x="11049152"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۵</a:t>
            </a:r>
            <a:endParaRPr lang="en-US" sz="1600" dirty="0"/>
          </a:p>
        </p:txBody>
      </p:sp>
      <p:sp>
        <p:nvSpPr>
          <p:cNvPr id="25" name="Text 23"/>
          <p:cNvSpPr txBox="1"/>
          <p:nvPr/>
        </p:nvSpPr>
        <p:spPr>
          <a:xfrm>
            <a:off x="6416345"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ولیدیتورها</a:t>
            </a:r>
            <a:endParaRPr lang="en-US" sz="1600" dirty="0"/>
          </a:p>
        </p:txBody>
      </p:sp>
      <p:sp>
        <p:nvSpPr>
          <p:cNvPr id="26" name="Shape 24"/>
          <p:cNvSpPr/>
          <p:nvPr/>
        </p:nvSpPr>
        <p:spPr>
          <a:xfrm>
            <a:off x="548640" y="1600200"/>
            <a:ext cx="5410048" cy="731520"/>
          </a:xfrm>
          <a:prstGeom prst="roundRect">
            <a:avLst>
              <a:gd name="adj" fmla="val 15000"/>
            </a:avLst>
          </a:prstGeom>
          <a:solidFill>
            <a:srgbClr val="F7F9FC"/>
          </a:solidFill>
          <a:ln w="9525">
            <a:solidFill>
              <a:srgbClr val="DDE1EE"/>
            </a:solidFill>
            <a:prstDash val="solid"/>
          </a:ln>
        </p:spPr>
      </p:sp>
      <p:sp>
        <p:nvSpPr>
          <p:cNvPr id="27" name="Shape 25"/>
          <p:cNvSpPr/>
          <p:nvPr/>
        </p:nvSpPr>
        <p:spPr>
          <a:xfrm>
            <a:off x="5364328" y="1728216"/>
            <a:ext cx="475488" cy="475488"/>
          </a:xfrm>
          <a:prstGeom prst="ellipse">
            <a:avLst/>
          </a:prstGeom>
          <a:solidFill>
            <a:srgbClr val="2F3690"/>
          </a:solidFill>
          <a:ln w="12700">
            <a:solidFill>
              <a:srgbClr val="2F3690"/>
            </a:solidFill>
            <a:prstDash val="solid"/>
          </a:ln>
        </p:spPr>
      </p:sp>
      <p:sp>
        <p:nvSpPr>
          <p:cNvPr id="28" name="Text 26"/>
          <p:cNvSpPr txBox="1"/>
          <p:nvPr/>
        </p:nvSpPr>
        <p:spPr>
          <a:xfrm>
            <a:off x="5364328"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۶</a:t>
            </a:r>
            <a:endParaRPr lang="en-US" sz="1600" dirty="0"/>
          </a:p>
        </p:txBody>
      </p:sp>
      <p:sp>
        <p:nvSpPr>
          <p:cNvPr id="29" name="Text 27"/>
          <p:cNvSpPr txBox="1"/>
          <p:nvPr/>
        </p:nvSpPr>
        <p:spPr>
          <a:xfrm>
            <a:off x="731520"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حکمرانی</a:t>
            </a:r>
            <a:endParaRPr lang="en-US" sz="1600" dirty="0"/>
          </a:p>
        </p:txBody>
      </p:sp>
      <p:sp>
        <p:nvSpPr>
          <p:cNvPr id="30" name="Shape 28"/>
          <p:cNvSpPr/>
          <p:nvPr/>
        </p:nvSpPr>
        <p:spPr>
          <a:xfrm>
            <a:off x="548640" y="2514600"/>
            <a:ext cx="5410048" cy="731520"/>
          </a:xfrm>
          <a:prstGeom prst="roundRect">
            <a:avLst>
              <a:gd name="adj" fmla="val 15000"/>
            </a:avLst>
          </a:prstGeom>
          <a:solidFill>
            <a:srgbClr val="F7F9FC"/>
          </a:solidFill>
          <a:ln w="9525">
            <a:solidFill>
              <a:srgbClr val="DDE1EE"/>
            </a:solidFill>
            <a:prstDash val="solid"/>
          </a:ln>
        </p:spPr>
      </p:sp>
      <p:sp>
        <p:nvSpPr>
          <p:cNvPr id="31" name="Shape 29"/>
          <p:cNvSpPr/>
          <p:nvPr/>
        </p:nvSpPr>
        <p:spPr>
          <a:xfrm>
            <a:off x="5364328" y="2642616"/>
            <a:ext cx="475488" cy="475488"/>
          </a:xfrm>
          <a:prstGeom prst="ellipse">
            <a:avLst/>
          </a:prstGeom>
          <a:solidFill>
            <a:srgbClr val="2F3690"/>
          </a:solidFill>
          <a:ln w="12700">
            <a:solidFill>
              <a:srgbClr val="2F3690"/>
            </a:solidFill>
            <a:prstDash val="solid"/>
          </a:ln>
        </p:spPr>
      </p:sp>
      <p:sp>
        <p:nvSpPr>
          <p:cNvPr id="32" name="Text 30"/>
          <p:cNvSpPr txBox="1"/>
          <p:nvPr/>
        </p:nvSpPr>
        <p:spPr>
          <a:xfrm>
            <a:off x="5364328"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۷</a:t>
            </a:r>
            <a:endParaRPr lang="en-US" sz="1600" dirty="0"/>
          </a:p>
        </p:txBody>
      </p:sp>
      <p:sp>
        <p:nvSpPr>
          <p:cNvPr id="33" name="Text 31"/>
          <p:cNvSpPr txBox="1"/>
          <p:nvPr/>
        </p:nvSpPr>
        <p:spPr>
          <a:xfrm>
            <a:off x="731520"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بنیاد سور</a:t>
            </a:r>
            <a:endParaRPr lang="en-US" sz="1600" dirty="0"/>
          </a:p>
        </p:txBody>
      </p:sp>
      <p:sp>
        <p:nvSpPr>
          <p:cNvPr id="34" name="Shape 32"/>
          <p:cNvSpPr/>
          <p:nvPr/>
        </p:nvSpPr>
        <p:spPr>
          <a:xfrm>
            <a:off x="548640" y="3429000"/>
            <a:ext cx="5410048" cy="731520"/>
          </a:xfrm>
          <a:prstGeom prst="roundRect">
            <a:avLst>
              <a:gd name="adj" fmla="val 15000"/>
            </a:avLst>
          </a:prstGeom>
          <a:solidFill>
            <a:srgbClr val="F7F9FC"/>
          </a:solidFill>
          <a:ln w="9525">
            <a:solidFill>
              <a:srgbClr val="DDE1EE"/>
            </a:solidFill>
            <a:prstDash val="solid"/>
          </a:ln>
        </p:spPr>
      </p:sp>
      <p:sp>
        <p:nvSpPr>
          <p:cNvPr id="35" name="Shape 33"/>
          <p:cNvSpPr/>
          <p:nvPr/>
        </p:nvSpPr>
        <p:spPr>
          <a:xfrm>
            <a:off x="5364328" y="3557016"/>
            <a:ext cx="475488" cy="475488"/>
          </a:xfrm>
          <a:prstGeom prst="ellipse">
            <a:avLst/>
          </a:prstGeom>
          <a:solidFill>
            <a:srgbClr val="2F3690"/>
          </a:solidFill>
          <a:ln w="12700">
            <a:solidFill>
              <a:srgbClr val="2F3690"/>
            </a:solidFill>
            <a:prstDash val="solid"/>
          </a:ln>
        </p:spPr>
      </p:sp>
      <p:sp>
        <p:nvSpPr>
          <p:cNvPr id="36" name="Text 34"/>
          <p:cNvSpPr txBox="1"/>
          <p:nvPr/>
        </p:nvSpPr>
        <p:spPr>
          <a:xfrm>
            <a:off x="5364328"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۸</a:t>
            </a:r>
            <a:endParaRPr lang="en-US" sz="1600" dirty="0"/>
          </a:p>
        </p:txBody>
      </p:sp>
      <p:sp>
        <p:nvSpPr>
          <p:cNvPr id="37" name="Text 35"/>
          <p:cNvSpPr txBox="1"/>
          <p:nvPr/>
        </p:nvSpPr>
        <p:spPr>
          <a:xfrm>
            <a:off x="731520"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فروش سورن و زیرساخت‌های مشترک</a:t>
            </a:r>
            <a:endParaRPr lang="en-US" sz="1600" dirty="0"/>
          </a:p>
        </p:txBody>
      </p:sp>
      <p:sp>
        <p:nvSpPr>
          <p:cNvPr id="38" name="Shape 36"/>
          <p:cNvSpPr/>
          <p:nvPr/>
        </p:nvSpPr>
        <p:spPr>
          <a:xfrm>
            <a:off x="548640" y="4343400"/>
            <a:ext cx="5410048" cy="731520"/>
          </a:xfrm>
          <a:prstGeom prst="roundRect">
            <a:avLst>
              <a:gd name="adj" fmla="val 15000"/>
            </a:avLst>
          </a:prstGeom>
          <a:solidFill>
            <a:srgbClr val="F7F9FC"/>
          </a:solidFill>
          <a:ln w="9525">
            <a:solidFill>
              <a:srgbClr val="DDE1EE"/>
            </a:solidFill>
            <a:prstDash val="solid"/>
          </a:ln>
        </p:spPr>
      </p:sp>
      <p:sp>
        <p:nvSpPr>
          <p:cNvPr id="39" name="Shape 37"/>
          <p:cNvSpPr/>
          <p:nvPr/>
        </p:nvSpPr>
        <p:spPr>
          <a:xfrm>
            <a:off x="5364328" y="4471416"/>
            <a:ext cx="475488" cy="475488"/>
          </a:xfrm>
          <a:prstGeom prst="ellipse">
            <a:avLst/>
          </a:prstGeom>
          <a:solidFill>
            <a:srgbClr val="2F3690"/>
          </a:solidFill>
          <a:ln w="12700">
            <a:solidFill>
              <a:srgbClr val="2F3690"/>
            </a:solidFill>
            <a:prstDash val="solid"/>
          </a:ln>
        </p:spPr>
      </p:sp>
      <p:sp>
        <p:nvSpPr>
          <p:cNvPr id="40" name="Text 38"/>
          <p:cNvSpPr txBox="1"/>
          <p:nvPr/>
        </p:nvSpPr>
        <p:spPr>
          <a:xfrm>
            <a:off x="5364328"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۹</a:t>
            </a:r>
            <a:endParaRPr lang="en-US" sz="1600" dirty="0"/>
          </a:p>
        </p:txBody>
      </p:sp>
      <p:sp>
        <p:nvSpPr>
          <p:cNvPr id="41" name="Text 39"/>
          <p:cNvSpPr txBox="1"/>
          <p:nvPr/>
        </p:nvSpPr>
        <p:spPr>
          <a:xfrm>
            <a:off x="731520"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نرم‌افزارهای آف‌چین و بازیابی اضطراری</a:t>
            </a:r>
            <a:endParaRPr lang="en-US" sz="1600" dirty="0"/>
          </a:p>
        </p:txBody>
      </p:sp>
      <p:sp>
        <p:nvSpPr>
          <p:cNvPr id="42" name="Shape 40"/>
          <p:cNvSpPr/>
          <p:nvPr/>
        </p:nvSpPr>
        <p:spPr>
          <a:xfrm>
            <a:off x="548640" y="5257800"/>
            <a:ext cx="5410048" cy="731520"/>
          </a:xfrm>
          <a:prstGeom prst="roundRect">
            <a:avLst>
              <a:gd name="adj" fmla="val 15000"/>
            </a:avLst>
          </a:prstGeom>
          <a:solidFill>
            <a:srgbClr val="F7F9FC"/>
          </a:solidFill>
          <a:ln w="9525">
            <a:solidFill>
              <a:srgbClr val="DDE1EE"/>
            </a:solidFill>
            <a:prstDash val="solid"/>
          </a:ln>
        </p:spPr>
      </p:sp>
      <p:sp>
        <p:nvSpPr>
          <p:cNvPr id="43" name="Shape 41"/>
          <p:cNvSpPr/>
          <p:nvPr/>
        </p:nvSpPr>
        <p:spPr>
          <a:xfrm>
            <a:off x="5364328" y="5385816"/>
            <a:ext cx="475488" cy="475488"/>
          </a:xfrm>
          <a:prstGeom prst="ellipse">
            <a:avLst/>
          </a:prstGeom>
          <a:solidFill>
            <a:srgbClr val="2F3690"/>
          </a:solidFill>
          <a:ln w="12700">
            <a:solidFill>
              <a:srgbClr val="2F3690"/>
            </a:solidFill>
            <a:prstDash val="solid"/>
          </a:ln>
        </p:spPr>
      </p:sp>
      <p:sp>
        <p:nvSpPr>
          <p:cNvPr id="44" name="Text 42"/>
          <p:cNvSpPr txBox="1"/>
          <p:nvPr/>
        </p:nvSpPr>
        <p:spPr>
          <a:xfrm>
            <a:off x="5364328"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۱۰</a:t>
            </a:r>
            <a:endParaRPr lang="en-US" sz="1600" dirty="0"/>
          </a:p>
        </p:txBody>
      </p:sp>
      <p:sp>
        <p:nvSpPr>
          <p:cNvPr id="45" name="Text 43"/>
          <p:cNvSpPr txBox="1"/>
          <p:nvPr/>
        </p:nvSpPr>
        <p:spPr>
          <a:xfrm>
            <a:off x="731520"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مدل اعتماد، وضعیت و موارد تصمیم‌نشده</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یک بلاک‌چین عمومی برای توسعه‌دهندگان و کاربران ایرانی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25880"/>
            <a:ext cx="11094415" cy="868680"/>
          </a:xfrm>
          <a:prstGeom prst="rect">
            <a:avLst/>
          </a:prstGeom>
          <a:noFill/>
          <a:ln/>
        </p:spPr>
        <p:txBody>
          <a:bodyPr wrap="square" lIns="0" tIns="0" rIns="0" bIns="0" rtlCol="0" anchor="t"/>
          <a:lstStyle/>
          <a:p>
            <a:pPr rtl="1" algn="r" indent="0" marL="0">
              <a:lnSpc>
                <a:spcPct val="105000"/>
              </a:lnSpc>
              <a:buNone/>
            </a:pPr>
            <a:r>
              <a:rPr lang="fa-IR" altLang="en-US" sz="1500" dirty="0">
                <a:solidFill>
                  <a:srgbClr val="565D7A"/>
                </a:solidFill>
                <a:latin typeface="Vazirmatn" pitchFamily="34" charset="0"/>
                <a:ea typeface="Vazirmatn" pitchFamily="34" charset="-122"/>
                <a:cs typeface="Vazirmatn" pitchFamily="34" charset="-120"/>
              </a:rPr>
              <a:t>شبکه‌ای کاملاً عمومی و بدون‌مجوز روی Hyperledger Besu رسمی (نرم‌افزار متن‌باز گره‌ی بلاک‌چین، بدون فورک) با اجماع QBFT که هر بلاک را با رأی دوسوم ولیدیتورها (گره‌های تولیدکننده و تأییدکننده‌ی بلاک) نهایی می‌کند. ارز بومی آن «سورن» است و حکمرانی میان دو نهاد جدا تقسیم شده است.</a:t>
            </a:r>
            <a:endParaRPr lang="en-US" sz="1500" dirty="0"/>
          </a:p>
        </p:txBody>
      </p:sp>
      <p:sp>
        <p:nvSpPr>
          <p:cNvPr id="7" name="Shape 5"/>
          <p:cNvSpPr/>
          <p:nvPr/>
        </p:nvSpPr>
        <p:spPr>
          <a:xfrm>
            <a:off x="8097012" y="2286000"/>
            <a:ext cx="3545738" cy="1508760"/>
          </a:xfrm>
          <a:prstGeom prst="roundRect">
            <a:avLst>
              <a:gd name="adj" fmla="val 7273"/>
            </a:avLst>
          </a:prstGeom>
          <a:solidFill>
            <a:srgbClr val="EEF0FB"/>
          </a:solidFill>
          <a:ln w="9525">
            <a:solidFill>
              <a:srgbClr val="EEF0FB"/>
            </a:solidFill>
            <a:prstDash val="solid"/>
          </a:ln>
        </p:spPr>
      </p:sp>
      <p:sp>
        <p:nvSpPr>
          <p:cNvPr id="8" name="Text 6"/>
          <p:cNvSpPr txBox="1"/>
          <p:nvPr/>
        </p:nvSpPr>
        <p:spPr>
          <a:xfrm>
            <a:off x="8279892"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۳ ثانیه</a:t>
            </a:r>
            <a:endParaRPr lang="en-US" sz="3400" dirty="0"/>
          </a:p>
        </p:txBody>
      </p:sp>
      <p:sp>
        <p:nvSpPr>
          <p:cNvPr id="9" name="Text 7"/>
          <p:cNvSpPr txBox="1"/>
          <p:nvPr/>
        </p:nvSpPr>
        <p:spPr>
          <a:xfrm>
            <a:off x="8279892"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زمان هر بلاک</a:t>
            </a:r>
            <a:endParaRPr lang="en-US" sz="1400" dirty="0"/>
          </a:p>
        </p:txBody>
      </p:sp>
      <p:sp>
        <p:nvSpPr>
          <p:cNvPr id="10" name="Shape 8"/>
          <p:cNvSpPr/>
          <p:nvPr/>
        </p:nvSpPr>
        <p:spPr>
          <a:xfrm>
            <a:off x="4323283" y="2286000"/>
            <a:ext cx="3545738" cy="1508760"/>
          </a:xfrm>
          <a:prstGeom prst="roundRect">
            <a:avLst>
              <a:gd name="adj" fmla="val 7273"/>
            </a:avLst>
          </a:prstGeom>
          <a:solidFill>
            <a:srgbClr val="EEF0FB"/>
          </a:solidFill>
          <a:ln w="9525">
            <a:solidFill>
              <a:srgbClr val="EEF0FB"/>
            </a:solidFill>
            <a:prstDash val="solid"/>
          </a:ln>
        </p:spPr>
      </p:sp>
      <p:sp>
        <p:nvSpPr>
          <p:cNvPr id="11" name="Text 9"/>
          <p:cNvSpPr txBox="1"/>
          <p:nvPr/>
        </p:nvSpPr>
        <p:spPr>
          <a:xfrm>
            <a:off x="4506163"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فوری</a:t>
            </a:r>
            <a:endParaRPr lang="en-US" sz="3400" dirty="0"/>
          </a:p>
        </p:txBody>
      </p:sp>
      <p:sp>
        <p:nvSpPr>
          <p:cNvPr id="12" name="Text 10"/>
          <p:cNvSpPr txBox="1"/>
          <p:nvPr/>
        </p:nvSpPr>
        <p:spPr>
          <a:xfrm>
            <a:off x="4506163"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نهایی‌شدن بلاک (QBFT)</a:t>
            </a:r>
            <a:endParaRPr lang="en-US" sz="1400" dirty="0"/>
          </a:p>
        </p:txBody>
      </p:sp>
      <p:sp>
        <p:nvSpPr>
          <p:cNvPr id="13" name="Shape 11"/>
          <p:cNvSpPr/>
          <p:nvPr/>
        </p:nvSpPr>
        <p:spPr>
          <a:xfrm>
            <a:off x="548640" y="2286000"/>
            <a:ext cx="3545738" cy="1508760"/>
          </a:xfrm>
          <a:prstGeom prst="roundRect">
            <a:avLst>
              <a:gd name="adj" fmla="val 7273"/>
            </a:avLst>
          </a:prstGeom>
          <a:solidFill>
            <a:srgbClr val="EEF0FB"/>
          </a:solidFill>
          <a:ln w="9525">
            <a:solidFill>
              <a:srgbClr val="EEF0FB"/>
            </a:solidFill>
            <a:prstDash val="solid"/>
          </a:ln>
        </p:spPr>
      </p:sp>
      <p:sp>
        <p:nvSpPr>
          <p:cNvPr id="14" name="Text 12"/>
          <p:cNvSpPr txBox="1"/>
          <p:nvPr/>
        </p:nvSpPr>
        <p:spPr>
          <a:xfrm>
            <a:off x="731520"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 سورن</a:t>
            </a:r>
            <a:endParaRPr lang="en-US" sz="3400" dirty="0"/>
          </a:p>
        </p:txBody>
      </p:sp>
      <p:sp>
        <p:nvSpPr>
          <p:cNvPr id="15" name="Text 13"/>
          <p:cNvSpPr txBox="1"/>
          <p:nvPr/>
        </p:nvSpPr>
        <p:spPr>
          <a:xfrm>
            <a:off x="731520"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ریوارد (پاداش) ثابت هر بلاک</a:t>
            </a:r>
            <a:endParaRPr lang="en-US" sz="1400" dirty="0"/>
          </a:p>
        </p:txBody>
      </p:sp>
      <p:sp>
        <p:nvSpPr>
          <p:cNvPr id="16" name="Shape 14"/>
          <p:cNvSpPr/>
          <p:nvPr/>
        </p:nvSpPr>
        <p:spPr>
          <a:xfrm>
            <a:off x="8097012" y="4023360"/>
            <a:ext cx="3545738" cy="1508760"/>
          </a:xfrm>
          <a:prstGeom prst="roundRect">
            <a:avLst>
              <a:gd name="adj" fmla="val 7273"/>
            </a:avLst>
          </a:prstGeom>
          <a:solidFill>
            <a:srgbClr val="EEF0FB"/>
          </a:solidFill>
          <a:ln w="9525">
            <a:solidFill>
              <a:srgbClr val="EEF0FB"/>
            </a:solidFill>
            <a:prstDash val="solid"/>
          </a:ln>
        </p:spPr>
      </p:sp>
      <p:sp>
        <p:nvSpPr>
          <p:cNvPr id="17" name="Text 15"/>
          <p:cNvSpPr txBox="1"/>
          <p:nvPr/>
        </p:nvSpPr>
        <p:spPr>
          <a:xfrm>
            <a:off x="8279892"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۲۱٬۰۲۴٬۰۰۰</a:t>
            </a:r>
            <a:endParaRPr lang="en-US" sz="3400" dirty="0"/>
          </a:p>
        </p:txBody>
      </p:sp>
      <p:sp>
        <p:nvSpPr>
          <p:cNvPr id="18" name="Text 16"/>
          <p:cNvSpPr txBox="1"/>
          <p:nvPr/>
        </p:nvSpPr>
        <p:spPr>
          <a:xfrm>
            <a:off x="8279892"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انتشار سالانه‌ی سورن</a:t>
            </a:r>
            <a:endParaRPr lang="en-US" sz="1400" dirty="0"/>
          </a:p>
        </p:txBody>
      </p:sp>
      <p:sp>
        <p:nvSpPr>
          <p:cNvPr id="19" name="Shape 17"/>
          <p:cNvSpPr/>
          <p:nvPr/>
        </p:nvSpPr>
        <p:spPr>
          <a:xfrm>
            <a:off x="4323283" y="4023360"/>
            <a:ext cx="3545738" cy="1508760"/>
          </a:xfrm>
          <a:prstGeom prst="roundRect">
            <a:avLst>
              <a:gd name="adj" fmla="val 7273"/>
            </a:avLst>
          </a:prstGeom>
          <a:solidFill>
            <a:srgbClr val="EEF0FB"/>
          </a:solidFill>
          <a:ln w="9525">
            <a:solidFill>
              <a:srgbClr val="EEF0FB"/>
            </a:solidFill>
            <a:prstDash val="solid"/>
          </a:ln>
        </p:spPr>
      </p:sp>
      <p:sp>
        <p:nvSpPr>
          <p:cNvPr id="20" name="Text 18"/>
          <p:cNvSpPr txBox="1"/>
          <p:nvPr/>
        </p:nvSpPr>
        <p:spPr>
          <a:xfrm>
            <a:off x="4506163"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۶</a:t>
            </a:r>
            <a:endParaRPr lang="en-US" sz="3400" dirty="0"/>
          </a:p>
        </p:txBody>
      </p:sp>
      <p:sp>
        <p:nvSpPr>
          <p:cNvPr id="21" name="Text 19"/>
          <p:cNvSpPr txBox="1"/>
          <p:nvPr/>
        </p:nvSpPr>
        <p:spPr>
          <a:xfrm>
            <a:off x="4506163"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قرارداد ساختاری در بلاک نخست (genesis)</a:t>
            </a:r>
            <a:endParaRPr lang="en-US" sz="1400" dirty="0"/>
          </a:p>
        </p:txBody>
      </p:sp>
      <p:sp>
        <p:nvSpPr>
          <p:cNvPr id="22" name="Shape 20"/>
          <p:cNvSpPr/>
          <p:nvPr/>
        </p:nvSpPr>
        <p:spPr>
          <a:xfrm>
            <a:off x="548640" y="4023360"/>
            <a:ext cx="3545738" cy="1508760"/>
          </a:xfrm>
          <a:prstGeom prst="roundRect">
            <a:avLst>
              <a:gd name="adj" fmla="val 7273"/>
            </a:avLst>
          </a:prstGeom>
          <a:solidFill>
            <a:srgbClr val="EEF0FB"/>
          </a:solidFill>
          <a:ln w="9525">
            <a:solidFill>
              <a:srgbClr val="EEF0FB"/>
            </a:solidFill>
            <a:prstDash val="solid"/>
          </a:ln>
        </p:spPr>
      </p:sp>
      <p:sp>
        <p:nvSpPr>
          <p:cNvPr id="23" name="Text 21"/>
          <p:cNvSpPr txBox="1"/>
          <p:nvPr/>
        </p:nvSpPr>
        <p:spPr>
          <a:xfrm>
            <a:off x="731520"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۱۰¹⁴ wei</a:t>
            </a:r>
            <a:endParaRPr lang="en-US" sz="3400" dirty="0"/>
          </a:p>
        </p:txBody>
      </p:sp>
      <p:sp>
        <p:nvSpPr>
          <p:cNvPr id="24" name="Text 22"/>
          <p:cNvSpPr txBox="1"/>
          <p:nvPr/>
        </p:nvSpPr>
        <p:spPr>
          <a:xfrm>
            <a:off x="731520"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قیمت ثابت هر واحد گاز</a:t>
            </a:r>
            <a:endParaRPr lang="en-US" sz="1400" dirty="0"/>
          </a:p>
        </p:txBody>
      </p:sp>
      <p:sp>
        <p:nvSpPr>
          <p:cNvPr id="25" name="Shape 23"/>
          <p:cNvSpPr/>
          <p:nvPr/>
        </p:nvSpPr>
        <p:spPr>
          <a:xfrm>
            <a:off x="11139830" y="5779008"/>
            <a:ext cx="411480" cy="411480"/>
          </a:xfrm>
          <a:prstGeom prst="ellipse">
            <a:avLst/>
          </a:prstGeom>
          <a:solidFill>
            <a:srgbClr val="2F3690"/>
          </a:solidFill>
          <a:ln w="12700">
            <a:solidFill>
              <a:srgbClr val="2F3690"/>
            </a:solidFill>
            <a:prstDash val="solid"/>
          </a:ln>
        </p:spPr>
      </p:sp>
      <p:pic>
        <p:nvPicPr>
          <p:cNvPr id="26" name="Image 0" descr="preencoded.png">    </p:cNvPr>
          <p:cNvPicPr>
            <a:picLocks noChangeAspect="1"/>
          </p:cNvPicPr>
          <p:nvPr/>
        </p:nvPicPr>
        <p:blipFill>
          <a:blip r:embed="rId1"/>
          <a:stretch>
            <a:fillRect/>
          </a:stretch>
        </p:blipFill>
        <p:spPr>
          <a:xfrm>
            <a:off x="11250930" y="5890108"/>
            <a:ext cx="189281" cy="189281"/>
          </a:xfrm>
          <a:prstGeom prst="rect">
            <a:avLst/>
          </a:prstGeom>
        </p:spPr>
      </p:pic>
      <p:sp>
        <p:nvSpPr>
          <p:cNvPr id="27" name="Text 24"/>
          <p:cNvSpPr txBox="1"/>
          <p:nvPr/>
        </p:nvSpPr>
        <p:spPr>
          <a:xfrm>
            <a:off x="8097012"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ارز بومی (نه ERC20)</a:t>
            </a:r>
            <a:endParaRPr lang="en-US" sz="1400" dirty="0"/>
          </a:p>
        </p:txBody>
      </p:sp>
      <p:sp>
        <p:nvSpPr>
          <p:cNvPr id="28" name="Shape 25"/>
          <p:cNvSpPr/>
          <p:nvPr/>
        </p:nvSpPr>
        <p:spPr>
          <a:xfrm>
            <a:off x="7366102" y="5779008"/>
            <a:ext cx="411480" cy="411480"/>
          </a:xfrm>
          <a:prstGeom prst="ellipse">
            <a:avLst/>
          </a:prstGeom>
          <a:solidFill>
            <a:srgbClr val="2F3690"/>
          </a:solidFill>
          <a:ln w="12700">
            <a:solidFill>
              <a:srgbClr val="2F3690"/>
            </a:solidFill>
            <a:prstDash val="solid"/>
          </a:ln>
        </p:spPr>
      </p:sp>
      <p:pic>
        <p:nvPicPr>
          <p:cNvPr id="29" name="Image 1" descr="preencoded.png">    </p:cNvPr>
          <p:cNvPicPr>
            <a:picLocks noChangeAspect="1"/>
          </p:cNvPicPr>
          <p:nvPr/>
        </p:nvPicPr>
        <p:blipFill>
          <a:blip r:embed="rId2"/>
          <a:stretch>
            <a:fillRect/>
          </a:stretch>
        </p:blipFill>
        <p:spPr>
          <a:xfrm>
            <a:off x="7477201" y="5890108"/>
            <a:ext cx="189281" cy="189281"/>
          </a:xfrm>
          <a:prstGeom prst="rect">
            <a:avLst/>
          </a:prstGeom>
        </p:spPr>
      </p:pic>
      <p:sp>
        <p:nvSpPr>
          <p:cNvPr id="30" name="Text 26"/>
          <p:cNvSpPr txBox="1"/>
          <p:nvPr/>
        </p:nvSpPr>
        <p:spPr>
          <a:xfrm>
            <a:off x="4323283"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حکمرانی دوگانه در کد</a:t>
            </a:r>
            <a:endParaRPr lang="en-US" sz="1400" dirty="0"/>
          </a:p>
        </p:txBody>
      </p:sp>
      <p:sp>
        <p:nvSpPr>
          <p:cNvPr id="31" name="Shape 27"/>
          <p:cNvSpPr/>
          <p:nvPr/>
        </p:nvSpPr>
        <p:spPr>
          <a:xfrm>
            <a:off x="3591458" y="5779008"/>
            <a:ext cx="411480" cy="411480"/>
          </a:xfrm>
          <a:prstGeom prst="ellipse">
            <a:avLst/>
          </a:prstGeom>
          <a:solidFill>
            <a:srgbClr val="2F3690"/>
          </a:solidFill>
          <a:ln w="12700">
            <a:solidFill>
              <a:srgbClr val="2F3690"/>
            </a:solidFill>
            <a:prstDash val="solid"/>
          </a:ln>
        </p:spPr>
      </p:sp>
      <p:pic>
        <p:nvPicPr>
          <p:cNvPr id="32" name="Image 2" descr="preencoded.png">    </p:cNvPr>
          <p:cNvPicPr>
            <a:picLocks noChangeAspect="1"/>
          </p:cNvPicPr>
          <p:nvPr/>
        </p:nvPicPr>
        <p:blipFill>
          <a:blip r:embed="rId3"/>
          <a:stretch>
            <a:fillRect/>
          </a:stretch>
        </p:blipFill>
        <p:spPr>
          <a:xfrm>
            <a:off x="3702558" y="5890108"/>
            <a:ext cx="189281" cy="189281"/>
          </a:xfrm>
          <a:prstGeom prst="rect">
            <a:avLst/>
          </a:prstGeom>
        </p:spPr>
      </p:pic>
      <p:sp>
        <p:nvSpPr>
          <p:cNvPr id="33" name="Text 28"/>
          <p:cNvSpPr txBox="1"/>
          <p:nvPr/>
        </p:nvSpPr>
        <p:spPr>
          <a:xfrm>
            <a:off x="548640"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بدون ادمین مرکزی</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نهاد، دو قلمرو: مرز در کد اجرا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7071055" y="1463040"/>
            <a:ext cx="4572000" cy="3611880"/>
          </a:xfrm>
          <a:prstGeom prst="roundRect">
            <a:avLst>
              <a:gd name="adj" fmla="val 3038"/>
            </a:avLst>
          </a:prstGeom>
          <a:solidFill>
            <a:srgbClr val="EEF0FB"/>
          </a:solidFill>
          <a:ln w="9525">
            <a:solidFill>
              <a:srgbClr val="EEF0FB"/>
            </a:solidFill>
            <a:prstDash val="solid"/>
          </a:ln>
        </p:spPr>
      </p:sp>
      <p:sp>
        <p:nvSpPr>
          <p:cNvPr id="7" name="Shape 5"/>
          <p:cNvSpPr/>
          <p:nvPr/>
        </p:nvSpPr>
        <p:spPr>
          <a:xfrm>
            <a:off x="548640" y="1463040"/>
            <a:ext cx="4572000" cy="3611880"/>
          </a:xfrm>
          <a:prstGeom prst="roundRect">
            <a:avLst>
              <a:gd name="adj" fmla="val 3038"/>
            </a:avLst>
          </a:prstGeom>
          <a:solidFill>
            <a:srgbClr val="F7F9FC"/>
          </a:solidFill>
          <a:ln w="9525">
            <a:solidFill>
              <a:srgbClr val="DDE1EE"/>
            </a:solidFill>
            <a:prstDash val="solid"/>
          </a:ln>
        </p:spPr>
      </p:sp>
      <p:sp>
        <p:nvSpPr>
          <p:cNvPr id="8" name="Shape 6"/>
          <p:cNvSpPr/>
          <p:nvPr/>
        </p:nvSpPr>
        <p:spPr>
          <a:xfrm>
            <a:off x="10957255" y="1664208"/>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99996"/>
            <a:ext cx="231343" cy="231343"/>
          </a:xfrm>
          <a:prstGeom prst="rect">
            <a:avLst/>
          </a:prstGeom>
        </p:spPr>
      </p:pic>
      <p:sp>
        <p:nvSpPr>
          <p:cNvPr id="10" name="Text 7"/>
          <p:cNvSpPr txBox="1"/>
          <p:nvPr/>
        </p:nvSpPr>
        <p:spPr>
          <a:xfrm>
            <a:off x="7253935"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2F3690"/>
                </a:solidFill>
                <a:latin typeface="Vazirmatn" pitchFamily="34" charset="0"/>
                <a:ea typeface="Vazirmatn" pitchFamily="34" charset="-122"/>
                <a:cs typeface="Vazirmatn" pitchFamily="34" charset="-120"/>
              </a:rPr>
              <a:t>مجمع ولیدیتورهای شبکه</a:t>
            </a:r>
            <a:endParaRPr lang="en-US" sz="1900" dirty="0"/>
          </a:p>
        </p:txBody>
      </p:sp>
      <p:sp>
        <p:nvSpPr>
          <p:cNvPr id="11" name="Text 8"/>
          <p:cNvSpPr txBox="1"/>
          <p:nvPr/>
        </p:nvSpPr>
        <p:spPr>
          <a:xfrm>
            <a:off x="7253935"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حاکم واقعی شبکه؛ بدون نهاد حقوقی، صرفاً on-chain</a:t>
            </a:r>
            <a:endParaRPr lang="en-US" sz="1200" dirty="0"/>
          </a:p>
        </p:txBody>
      </p:sp>
      <p:sp>
        <p:nvSpPr>
          <p:cNvPr id="12" name="Text 9"/>
          <p:cNvSpPr txBox="1"/>
          <p:nvPr/>
        </p:nvSpPr>
        <p:spPr>
          <a:xfrm>
            <a:off x="7299655"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مجموعه‌ی اجماع و وثیقه‌ها (ValidatorsRegistry)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پارامترهای اقتصادی و امنیتی ورود و جریمه</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خزانه‌ی ولیدیتورها (ValidatorsTreasury)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توزیع پاداش و نسبت سهم‌ها (BlockRewardDistributor)</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هیأت ۵نفره‌ی ولیدیتورها (ValidatorsBoard)</a:t>
            </a:r>
            <a:endParaRPr lang="en-US" sz="1400" dirty="0"/>
          </a:p>
        </p:txBody>
      </p:sp>
      <p:sp>
        <p:nvSpPr>
          <p:cNvPr id="13" name="Shape 10"/>
          <p:cNvSpPr/>
          <p:nvPr/>
        </p:nvSpPr>
        <p:spPr>
          <a:xfrm>
            <a:off x="4434840" y="1664208"/>
            <a:ext cx="502920" cy="502920"/>
          </a:xfrm>
          <a:prstGeom prst="ellipse">
            <a:avLst/>
          </a:prstGeom>
          <a:solidFill>
            <a:srgbClr val="5F6472"/>
          </a:solidFill>
          <a:ln w="12700">
            <a:solidFill>
              <a:srgbClr val="5F6472"/>
            </a:solidFill>
            <a:prstDash val="solid"/>
          </a:ln>
        </p:spPr>
      </p:sp>
      <p:pic>
        <p:nvPicPr>
          <p:cNvPr id="14" name="Image 1" descr="preencoded.png">    </p:cNvPr>
          <p:cNvPicPr>
            <a:picLocks noChangeAspect="1"/>
          </p:cNvPicPr>
          <p:nvPr/>
        </p:nvPicPr>
        <p:blipFill>
          <a:blip r:embed="rId2"/>
          <a:stretch>
            <a:fillRect/>
          </a:stretch>
        </p:blipFill>
        <p:spPr>
          <a:xfrm>
            <a:off x="4570628" y="1799996"/>
            <a:ext cx="231343" cy="231343"/>
          </a:xfrm>
          <a:prstGeom prst="rect">
            <a:avLst/>
          </a:prstGeom>
        </p:spPr>
      </p:pic>
      <p:sp>
        <p:nvSpPr>
          <p:cNvPr id="15" name="Text 11"/>
          <p:cNvSpPr txBox="1"/>
          <p:nvPr/>
        </p:nvSpPr>
        <p:spPr>
          <a:xfrm>
            <a:off x="731520"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1B1B2F"/>
                </a:solidFill>
                <a:latin typeface="Vazirmatn" pitchFamily="34" charset="0"/>
                <a:ea typeface="Vazirmatn" pitchFamily="34" charset="-122"/>
                <a:cs typeface="Vazirmatn" pitchFamily="34" charset="-120"/>
              </a:rPr>
              <a:t>بنیاد سور</a:t>
            </a:r>
            <a:endParaRPr lang="en-US" sz="1900" dirty="0"/>
          </a:p>
        </p:txBody>
      </p:sp>
      <p:sp>
        <p:nvSpPr>
          <p:cNvPr id="16" name="Text 12"/>
          <p:cNvSpPr txBox="1"/>
          <p:nvPr/>
        </p:nvSpPr>
        <p:spPr>
          <a:xfrm>
            <a:off x="731520"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نهاد حقوقی؛ توسعه، آموزش و تبلیغ اکوسیستم</a:t>
            </a:r>
            <a:endParaRPr lang="en-US" sz="1200" dirty="0"/>
          </a:p>
        </p:txBody>
      </p:sp>
      <p:sp>
        <p:nvSpPr>
          <p:cNvPr id="17" name="Text 13"/>
          <p:cNvSpPr txBox="1"/>
          <p:nvPr/>
        </p:nvSpPr>
        <p:spPr>
          <a:xfrm>
            <a:off x="777240"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حکمرانی داخلی بنیاد با ۱۵ عضو (FoundationDAO)</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کنترل دو کلید سرویس (اوراکل): identityOracle برای تأیید هویت و paymentOracle برای گزارش پرداخت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موجودی genesis برابر ۲۰ میلیون سورن</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اجرای فروش دوره‌ی قیمت ثابت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هیچ اختیاری روی اجماع، ولیدیتورها و پارامترهای شبکه</a:t>
            </a:r>
            <a:endParaRPr lang="en-US" sz="1400" dirty="0"/>
          </a:p>
        </p:txBody>
      </p:sp>
      <p:sp>
        <p:nvSpPr>
          <p:cNvPr id="18" name="Shape 14"/>
          <p:cNvSpPr/>
          <p:nvPr/>
        </p:nvSpPr>
        <p:spPr>
          <a:xfrm flipH="1">
            <a:off x="5212080" y="3200400"/>
            <a:ext cx="1767535" cy="0"/>
          </a:xfrm>
          <a:prstGeom prst="line">
            <a:avLst/>
          </a:prstGeom>
          <a:noFill/>
          <a:ln w="38100">
            <a:solidFill>
              <a:srgbClr val="2F3690"/>
            </a:solidFill>
            <a:prstDash val="solid"/>
            <a:tailEnd type="triangle"/>
          </a:ln>
        </p:spPr>
      </p:sp>
      <p:sp>
        <p:nvSpPr>
          <p:cNvPr id="19" name="Text 15"/>
          <p:cNvSpPr txBox="1"/>
          <p:nvPr/>
        </p:nvSpPr>
        <p:spPr>
          <a:xfrm>
            <a:off x="5230368" y="2560320"/>
            <a:ext cx="1730959" cy="2743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۱۵٪ از کل ریوارد</a:t>
            </a:r>
            <a:endParaRPr lang="en-US" sz="1300" dirty="0"/>
          </a:p>
        </p:txBody>
      </p:sp>
      <p:sp>
        <p:nvSpPr>
          <p:cNvPr id="20" name="Text 16"/>
          <p:cNvSpPr txBox="1"/>
          <p:nvPr/>
        </p:nvSpPr>
        <p:spPr>
          <a:xfrm>
            <a:off x="5230368" y="2834640"/>
            <a:ext cx="1730959"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خودکار، بدون رأی</a:t>
            </a:r>
            <a:endParaRPr lang="en-US" sz="1200" dirty="0"/>
          </a:p>
        </p:txBody>
      </p:sp>
      <p:sp>
        <p:nvSpPr>
          <p:cNvPr id="21" name="Text 17"/>
          <p:cNvSpPr txBox="1"/>
          <p:nvPr/>
        </p:nvSpPr>
        <p:spPr>
          <a:xfrm>
            <a:off x="5230368" y="3337560"/>
            <a:ext cx="1730959"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 ۳٫۱۵ میلیون سورن در سال</a:t>
            </a:r>
            <a:endParaRPr lang="en-US" sz="1200" dirty="0"/>
          </a:p>
        </p:txBody>
      </p:sp>
      <p:sp>
        <p:nvSpPr>
          <p:cNvPr id="22" name="Shape 18"/>
          <p:cNvSpPr/>
          <p:nvPr/>
        </p:nvSpPr>
        <p:spPr>
          <a:xfrm>
            <a:off x="548640" y="5303520"/>
            <a:ext cx="11094415" cy="914400"/>
          </a:xfrm>
          <a:prstGeom prst="roundRect">
            <a:avLst>
              <a:gd name="adj" fmla="val 12000"/>
            </a:avLst>
          </a:prstGeom>
          <a:solidFill>
            <a:srgbClr val="E3F4EC"/>
          </a:solidFill>
          <a:ln w="9525">
            <a:solidFill>
              <a:srgbClr val="E3F4EC"/>
            </a:solidFill>
            <a:prstDash val="solid"/>
          </a:ln>
        </p:spPr>
      </p:sp>
      <p:sp>
        <p:nvSpPr>
          <p:cNvPr id="23" name="Text 19"/>
          <p:cNvSpPr txBox="1"/>
          <p:nvPr/>
        </p:nvSpPr>
        <p:spPr>
          <a:xfrm>
            <a:off x="822960" y="5394960"/>
            <a:ext cx="10545775" cy="7315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F7A55"/>
                </a:solidFill>
                <a:latin typeface="Vazirmatn" pitchFamily="34" charset="0"/>
                <a:ea typeface="Vazirmatn" pitchFamily="34" charset="-122"/>
                <a:cs typeface="Vazirmatn" pitchFamily="34" charset="-120"/>
              </a:rPr>
              <a:t>FoundationDAO هیچ قرارداد ولیدیتوری را نمی‌شناسد و هیچ مسیر کدی به آن‌ها ندارد؛ ولیدیتورها هم هیچ کنترلی روی عملیات داخلی بنیاد ندارند. هر چیز فراتر از بودجه‌ی ثابت ۱۵٪ (مثلاً بودجه‌ی کمپین) فقط با هماهنگی خارج از قرارداد ممکن است.</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شبکه‌ی اول در برابر طرح فعلی: اقتصاد و کلاینت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4480560"/>
                <a:gridCol w="2011680"/>
              </a:tblGrid>
              <a:tr h="457200">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طرح فعلی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شبکه‌ی اول سور</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ویژگی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9728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QBFT با نهایی‌شدن فوری؛ بلاک ۳ ثانیه؛ Besu رسمی و بدون فورک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IBFT-2 روی فورک خصوصی Besu؛ بلاک ۲ ثانیه؛ همگام‌شدن با نسخه‌های رسمی Besu عملاً ممکن نبود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اجماع و کلاینت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ثابت ۲ سورن، بدون سقف کل. تغییر نرخ فقط با تصویب دومجلسی، تأخیر و سقف تاریخی داخل قرارداد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متغیر: از ۰٫۳ سورن، طی ۶ سال تا اوج ۱٫۲۷، سپس کاهش تدریجی تا صفر طی حدود ۲۰ سال؛ سقف کل ۲۰۰ میلیون سورن</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پاداش هر بلاک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قرارداد BlockRewardDistributor: ۱۵٪ بنیاد، سهم مستقیم ولیدیتورها (۴۰ تا ۶۵٪)، باقی خزانه؛ ۳۰٪ کارمزد معمولی سوزانده می‌شود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۱۰٪ بنیاد و ۹۰٪ ولیدیتورها؛ پیاده‌شده در سطح نرم‌افزار (فورک Besu)</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تقسیم پاداش و کارمزد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سطح پروتکل ندارد؛ فقط الگوی سطح قرارداد (Zether) پیشنهاد شده است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مزیت رقابتی اصلی شبکه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تراکنش محرمانه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ورود ولیدیتور: رأی ولیدیتورها در برابر ثبت در قرارداد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613855" y="1463040"/>
            <a:ext cx="5029200" cy="3611880"/>
          </a:xfrm>
          <a:prstGeom prst="roundRect">
            <a:avLst>
              <a:gd name="adj" fmla="val 3038"/>
            </a:avLst>
          </a:prstGeom>
          <a:solidFill>
            <a:srgbClr val="F0F1F5"/>
          </a:solidFill>
          <a:ln w="9525">
            <a:solidFill>
              <a:srgbClr val="F0F1F5"/>
            </a:solidFill>
            <a:prstDash val="solid"/>
          </a:ln>
        </p:spPr>
      </p:sp>
      <p:sp>
        <p:nvSpPr>
          <p:cNvPr id="7" name="Text 5"/>
          <p:cNvSpPr txBox="1"/>
          <p:nvPr/>
        </p:nvSpPr>
        <p:spPr>
          <a:xfrm>
            <a:off x="6842455"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5F6472"/>
                </a:solidFill>
                <a:latin typeface="Vazirmatn" pitchFamily="34" charset="0"/>
                <a:ea typeface="Vazirmatn" pitchFamily="34" charset="-122"/>
                <a:cs typeface="Vazirmatn" pitchFamily="34" charset="-120"/>
              </a:rPr>
              <a:t>شبکه‌ی اول: ورود با رأی</a:t>
            </a:r>
            <a:endParaRPr lang="en-US" sz="1700" dirty="0"/>
          </a:p>
        </p:txBody>
      </p:sp>
      <p:sp>
        <p:nvSpPr>
          <p:cNvPr id="8" name="Shape 6"/>
          <p:cNvSpPr/>
          <p:nvPr/>
        </p:nvSpPr>
        <p:spPr>
          <a:xfrm>
            <a:off x="6842455" y="2057400"/>
            <a:ext cx="4572000" cy="585216"/>
          </a:xfrm>
          <a:prstGeom prst="roundRect">
            <a:avLst>
              <a:gd name="adj" fmla="val 18750"/>
            </a:avLst>
          </a:prstGeom>
          <a:solidFill>
            <a:srgbClr val="FFFFFF"/>
          </a:solidFill>
          <a:ln w="9525">
            <a:solidFill>
              <a:srgbClr val="DDE1EE"/>
            </a:solidFill>
            <a:prstDash val="solid"/>
          </a:ln>
        </p:spPr>
      </p:sp>
      <p:sp>
        <p:nvSpPr>
          <p:cNvPr id="9" name="Shape 7"/>
          <p:cNvSpPr/>
          <p:nvPr/>
        </p:nvSpPr>
        <p:spPr>
          <a:xfrm>
            <a:off x="11002975" y="2144268"/>
            <a:ext cx="411480" cy="411480"/>
          </a:xfrm>
          <a:prstGeom prst="ellipse">
            <a:avLst/>
          </a:prstGeom>
          <a:solidFill>
            <a:srgbClr val="5F6472"/>
          </a:solidFill>
          <a:ln w="12700">
            <a:solidFill>
              <a:srgbClr val="5F6472"/>
            </a:solidFill>
            <a:prstDash val="solid"/>
          </a:ln>
        </p:spPr>
      </p:sp>
      <p:sp>
        <p:nvSpPr>
          <p:cNvPr id="10" name="Text 8"/>
          <p:cNvSpPr txBox="1"/>
          <p:nvPr/>
        </p:nvSpPr>
        <p:spPr>
          <a:xfrm>
            <a:off x="11002975"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1" name="Text 9"/>
          <p:cNvSpPr txBox="1"/>
          <p:nvPr/>
        </p:nvSpPr>
        <p:spPr>
          <a:xfrm>
            <a:off x="6979615"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 جدید درخواست می‌دهد</a:t>
            </a:r>
            <a:endParaRPr lang="en-US" sz="1250" dirty="0"/>
          </a:p>
        </p:txBody>
      </p:sp>
      <p:sp>
        <p:nvSpPr>
          <p:cNvPr id="12" name="Shape 10"/>
          <p:cNvSpPr/>
          <p:nvPr/>
        </p:nvSpPr>
        <p:spPr>
          <a:xfrm>
            <a:off x="6842455" y="2788920"/>
            <a:ext cx="4572000" cy="585216"/>
          </a:xfrm>
          <a:prstGeom prst="roundRect">
            <a:avLst>
              <a:gd name="adj" fmla="val 18750"/>
            </a:avLst>
          </a:prstGeom>
          <a:solidFill>
            <a:srgbClr val="FFFFFF"/>
          </a:solidFill>
          <a:ln w="9525">
            <a:solidFill>
              <a:srgbClr val="DDE1EE"/>
            </a:solidFill>
            <a:prstDash val="solid"/>
          </a:ln>
        </p:spPr>
      </p:sp>
      <p:sp>
        <p:nvSpPr>
          <p:cNvPr id="13" name="Shape 11"/>
          <p:cNvSpPr/>
          <p:nvPr/>
        </p:nvSpPr>
        <p:spPr>
          <a:xfrm>
            <a:off x="11002975" y="2875788"/>
            <a:ext cx="411480" cy="411480"/>
          </a:xfrm>
          <a:prstGeom prst="ellipse">
            <a:avLst/>
          </a:prstGeom>
          <a:solidFill>
            <a:srgbClr val="5F6472"/>
          </a:solidFill>
          <a:ln w="12700">
            <a:solidFill>
              <a:srgbClr val="5F6472"/>
            </a:solidFill>
            <a:prstDash val="solid"/>
          </a:ln>
        </p:spPr>
      </p:sp>
      <p:sp>
        <p:nvSpPr>
          <p:cNvPr id="14" name="Text 12"/>
          <p:cNvSpPr txBox="1"/>
          <p:nvPr/>
        </p:nvSpPr>
        <p:spPr>
          <a:xfrm>
            <a:off x="11002975"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6979615"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ولیدیتورهای موجود رأی می‌دهند (مکانیزم بومی اجماع، نصاب حدود ۶۷٪)</a:t>
            </a:r>
            <a:endParaRPr lang="en-US" sz="1250" dirty="0"/>
          </a:p>
        </p:txBody>
      </p:sp>
      <p:sp>
        <p:nvSpPr>
          <p:cNvPr id="16" name="Shape 14"/>
          <p:cNvSpPr/>
          <p:nvPr/>
        </p:nvSpPr>
        <p:spPr>
          <a:xfrm>
            <a:off x="6842455" y="3520440"/>
            <a:ext cx="4572000" cy="585216"/>
          </a:xfrm>
          <a:prstGeom prst="roundRect">
            <a:avLst>
              <a:gd name="adj" fmla="val 18750"/>
            </a:avLst>
          </a:prstGeom>
          <a:solidFill>
            <a:srgbClr val="FFFFFF"/>
          </a:solidFill>
          <a:ln w="9525">
            <a:solidFill>
              <a:srgbClr val="DDE1EE"/>
            </a:solidFill>
            <a:prstDash val="solid"/>
          </a:ln>
        </p:spPr>
      </p:sp>
      <p:sp>
        <p:nvSpPr>
          <p:cNvPr id="17" name="Shape 15"/>
          <p:cNvSpPr/>
          <p:nvPr/>
        </p:nvSpPr>
        <p:spPr>
          <a:xfrm>
            <a:off x="11002975" y="3607308"/>
            <a:ext cx="411480" cy="411480"/>
          </a:xfrm>
          <a:prstGeom prst="ellipse">
            <a:avLst/>
          </a:prstGeom>
          <a:solidFill>
            <a:srgbClr val="5F6472"/>
          </a:solidFill>
          <a:ln w="12700">
            <a:solidFill>
              <a:srgbClr val="5F6472"/>
            </a:solidFill>
            <a:prstDash val="solid"/>
          </a:ln>
        </p:spPr>
      </p:sp>
      <p:sp>
        <p:nvSpPr>
          <p:cNvPr id="18" name="Text 16"/>
          <p:cNvSpPr txBox="1"/>
          <p:nvPr/>
        </p:nvSpPr>
        <p:spPr>
          <a:xfrm>
            <a:off x="11002975"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6979615"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 تصویب، به مجموعه افزوده می‌شود</a:t>
            </a:r>
            <a:endParaRPr lang="en-US" sz="1250" dirty="0"/>
          </a:p>
        </p:txBody>
      </p:sp>
      <p:sp>
        <p:nvSpPr>
          <p:cNvPr id="20" name="Shape 18"/>
          <p:cNvSpPr/>
          <p:nvPr/>
        </p:nvSpPr>
        <p:spPr>
          <a:xfrm>
            <a:off x="6842455" y="4251960"/>
            <a:ext cx="4572000" cy="585216"/>
          </a:xfrm>
          <a:prstGeom prst="roundRect">
            <a:avLst>
              <a:gd name="adj" fmla="val 18750"/>
            </a:avLst>
          </a:prstGeom>
          <a:solidFill>
            <a:srgbClr val="FFFFFF"/>
          </a:solidFill>
          <a:ln w="9525">
            <a:solidFill>
              <a:srgbClr val="DDE1EE"/>
            </a:solidFill>
            <a:prstDash val="solid"/>
          </a:ln>
        </p:spPr>
      </p:sp>
      <p:sp>
        <p:nvSpPr>
          <p:cNvPr id="21" name="Shape 19"/>
          <p:cNvSpPr/>
          <p:nvPr/>
        </p:nvSpPr>
        <p:spPr>
          <a:xfrm>
            <a:off x="11002975" y="4338828"/>
            <a:ext cx="411480" cy="411480"/>
          </a:xfrm>
          <a:prstGeom prst="ellipse">
            <a:avLst/>
          </a:prstGeom>
          <a:solidFill>
            <a:srgbClr val="5F6472"/>
          </a:solidFill>
          <a:ln w="12700">
            <a:solidFill>
              <a:srgbClr val="5F6472"/>
            </a:solidFill>
            <a:prstDash val="solid"/>
          </a:ln>
        </p:spPr>
      </p:sp>
      <p:sp>
        <p:nvSpPr>
          <p:cNvPr id="22" name="Text 20"/>
          <p:cNvSpPr txBox="1"/>
          <p:nvPr/>
        </p:nvSpPr>
        <p:spPr>
          <a:xfrm>
            <a:off x="11002975"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3" name="Text 21"/>
          <p:cNvSpPr txBox="1"/>
          <p:nvPr/>
        </p:nvSpPr>
        <p:spPr>
          <a:xfrm>
            <a:off x="6979615"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خروج و حذف هم با رأی ولیدیتورها</a:t>
            </a:r>
            <a:endParaRPr lang="en-US" sz="1250" dirty="0"/>
          </a:p>
        </p:txBody>
      </p:sp>
      <p:sp>
        <p:nvSpPr>
          <p:cNvPr id="24" name="Shape 22"/>
          <p:cNvSpPr/>
          <p:nvPr/>
        </p:nvSpPr>
        <p:spPr>
          <a:xfrm>
            <a:off x="548640" y="1463040"/>
            <a:ext cx="5029200" cy="3611880"/>
          </a:xfrm>
          <a:prstGeom prst="roundRect">
            <a:avLst>
              <a:gd name="adj" fmla="val 3038"/>
            </a:avLst>
          </a:prstGeom>
          <a:solidFill>
            <a:srgbClr val="EEF0FB"/>
          </a:solidFill>
          <a:ln w="9525">
            <a:solidFill>
              <a:srgbClr val="EEF0FB"/>
            </a:solidFill>
            <a:prstDash val="solid"/>
          </a:ln>
        </p:spPr>
      </p:sp>
      <p:sp>
        <p:nvSpPr>
          <p:cNvPr id="25" name="Text 23"/>
          <p:cNvSpPr txBox="1"/>
          <p:nvPr/>
        </p:nvSpPr>
        <p:spPr>
          <a:xfrm>
            <a:off x="777240"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طرح فعلی: ورود با ثبت در قرارداد</a:t>
            </a:r>
            <a:endParaRPr lang="en-US" sz="1700" dirty="0"/>
          </a:p>
        </p:txBody>
      </p:sp>
      <p:sp>
        <p:nvSpPr>
          <p:cNvPr id="26" name="Shape 24"/>
          <p:cNvSpPr/>
          <p:nvPr/>
        </p:nvSpPr>
        <p:spPr>
          <a:xfrm>
            <a:off x="777240" y="2057400"/>
            <a:ext cx="4572000" cy="585216"/>
          </a:xfrm>
          <a:prstGeom prst="roundRect">
            <a:avLst>
              <a:gd name="adj" fmla="val 18750"/>
            </a:avLst>
          </a:prstGeom>
          <a:solidFill>
            <a:srgbClr val="FFFFFF"/>
          </a:solidFill>
          <a:ln w="9525">
            <a:solidFill>
              <a:srgbClr val="DDE1EE"/>
            </a:solidFill>
            <a:prstDash val="solid"/>
          </a:ln>
        </p:spPr>
      </p:sp>
      <p:sp>
        <p:nvSpPr>
          <p:cNvPr id="27" name="Shape 25"/>
          <p:cNvSpPr/>
          <p:nvPr/>
        </p:nvSpPr>
        <p:spPr>
          <a:xfrm>
            <a:off x="4937760" y="2144268"/>
            <a:ext cx="411480" cy="411480"/>
          </a:xfrm>
          <a:prstGeom prst="ellipse">
            <a:avLst/>
          </a:prstGeom>
          <a:solidFill>
            <a:srgbClr val="2F3690"/>
          </a:solidFill>
          <a:ln w="12700">
            <a:solidFill>
              <a:srgbClr val="2F3690"/>
            </a:solidFill>
            <a:prstDash val="solid"/>
          </a:ln>
        </p:spPr>
      </p:sp>
      <p:sp>
        <p:nvSpPr>
          <p:cNvPr id="28" name="Text 26"/>
          <p:cNvSpPr txBox="1"/>
          <p:nvPr/>
        </p:nvSpPr>
        <p:spPr>
          <a:xfrm>
            <a:off x="4937760"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29" name="Text 27"/>
          <p:cNvSpPr txBox="1"/>
          <p:nvPr/>
        </p:nvSpPr>
        <p:spPr>
          <a:xfrm>
            <a:off x="914400"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وثیقه و کارمزد عضویت را با requestMembership می‌پردازد</a:t>
            </a:r>
            <a:endParaRPr lang="en-US" sz="1250" dirty="0"/>
          </a:p>
        </p:txBody>
      </p:sp>
      <p:sp>
        <p:nvSpPr>
          <p:cNvPr id="30" name="Shape 28"/>
          <p:cNvSpPr/>
          <p:nvPr/>
        </p:nvSpPr>
        <p:spPr>
          <a:xfrm>
            <a:off x="777240" y="2788920"/>
            <a:ext cx="4572000" cy="585216"/>
          </a:xfrm>
          <a:prstGeom prst="roundRect">
            <a:avLst>
              <a:gd name="adj" fmla="val 18750"/>
            </a:avLst>
          </a:prstGeom>
          <a:solidFill>
            <a:srgbClr val="FFFFFF"/>
          </a:solidFill>
          <a:ln w="9525">
            <a:solidFill>
              <a:srgbClr val="DDE1EE"/>
            </a:solidFill>
            <a:prstDash val="solid"/>
          </a:ln>
        </p:spPr>
      </p:sp>
      <p:sp>
        <p:nvSpPr>
          <p:cNvPr id="31" name="Shape 29"/>
          <p:cNvSpPr/>
          <p:nvPr/>
        </p:nvSpPr>
        <p:spPr>
          <a:xfrm>
            <a:off x="4937760" y="2875788"/>
            <a:ext cx="411480" cy="411480"/>
          </a:xfrm>
          <a:prstGeom prst="ellipse">
            <a:avLst/>
          </a:prstGeom>
          <a:solidFill>
            <a:srgbClr val="2F3690"/>
          </a:solidFill>
          <a:ln w="12700">
            <a:solidFill>
              <a:srgbClr val="2F3690"/>
            </a:solidFill>
            <a:prstDash val="solid"/>
          </a:ln>
        </p:spPr>
      </p:sp>
      <p:sp>
        <p:nvSpPr>
          <p:cNvPr id="32" name="Text 30"/>
          <p:cNvSpPr txBox="1"/>
          <p:nvPr/>
        </p:nvSpPr>
        <p:spPr>
          <a:xfrm>
            <a:off x="4937760"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33" name="Text 31"/>
          <p:cNvSpPr txBox="1"/>
          <p:nvPr/>
        </p:nvSpPr>
        <p:spPr>
          <a:xfrm>
            <a:off x="914400"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دوره‌ی آزمایشی ۱ هفته‌ای؛ هنوز در مجموعه‌ی اجماع نیست</a:t>
            </a:r>
            <a:endParaRPr lang="en-US" sz="1250" dirty="0"/>
          </a:p>
        </p:txBody>
      </p:sp>
      <p:sp>
        <p:nvSpPr>
          <p:cNvPr id="34" name="Shape 32"/>
          <p:cNvSpPr/>
          <p:nvPr/>
        </p:nvSpPr>
        <p:spPr>
          <a:xfrm>
            <a:off x="777240" y="3520440"/>
            <a:ext cx="4572000" cy="585216"/>
          </a:xfrm>
          <a:prstGeom prst="roundRect">
            <a:avLst>
              <a:gd name="adj" fmla="val 18750"/>
            </a:avLst>
          </a:prstGeom>
          <a:solidFill>
            <a:srgbClr val="FFFFFF"/>
          </a:solidFill>
          <a:ln w="9525">
            <a:solidFill>
              <a:srgbClr val="DDE1EE"/>
            </a:solidFill>
            <a:prstDash val="solid"/>
          </a:ln>
        </p:spPr>
      </p:sp>
      <p:sp>
        <p:nvSpPr>
          <p:cNvPr id="35" name="Shape 33"/>
          <p:cNvSpPr/>
          <p:nvPr/>
        </p:nvSpPr>
        <p:spPr>
          <a:xfrm>
            <a:off x="4937760" y="3607308"/>
            <a:ext cx="411480" cy="411480"/>
          </a:xfrm>
          <a:prstGeom prst="ellipse">
            <a:avLst/>
          </a:prstGeom>
          <a:solidFill>
            <a:srgbClr val="2F3690"/>
          </a:solidFill>
          <a:ln w="12700">
            <a:solidFill>
              <a:srgbClr val="2F3690"/>
            </a:solidFill>
            <a:prstDash val="solid"/>
          </a:ln>
        </p:spPr>
      </p:sp>
      <p:sp>
        <p:nvSpPr>
          <p:cNvPr id="36" name="Text 34"/>
          <p:cNvSpPr txBox="1"/>
          <p:nvPr/>
        </p:nvSpPr>
        <p:spPr>
          <a:xfrm>
            <a:off x="4937760"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37" name="Text 35"/>
          <p:cNvSpPr txBox="1"/>
          <p:nvPr/>
        </p:nvSpPr>
        <p:spPr>
          <a:xfrm>
            <a:off x="914400"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سرویس آف‌چین Verifier سلامت و محل نود را تأیید می‌کند؛ تصمیم با هش شواهد ثبت می‌شود</a:t>
            </a:r>
            <a:endParaRPr lang="en-US" sz="1250" dirty="0"/>
          </a:p>
        </p:txBody>
      </p:sp>
      <p:sp>
        <p:nvSpPr>
          <p:cNvPr id="38" name="Shape 36"/>
          <p:cNvSpPr/>
          <p:nvPr/>
        </p:nvSpPr>
        <p:spPr>
          <a:xfrm>
            <a:off x="777240" y="4251960"/>
            <a:ext cx="4572000" cy="585216"/>
          </a:xfrm>
          <a:prstGeom prst="roundRect">
            <a:avLst>
              <a:gd name="adj" fmla="val 18750"/>
            </a:avLst>
          </a:prstGeom>
          <a:solidFill>
            <a:srgbClr val="FFFFFF"/>
          </a:solidFill>
          <a:ln w="9525">
            <a:solidFill>
              <a:srgbClr val="DDE1EE"/>
            </a:solidFill>
            <a:prstDash val="solid"/>
          </a:ln>
        </p:spPr>
      </p:sp>
      <p:sp>
        <p:nvSpPr>
          <p:cNvPr id="39" name="Shape 37"/>
          <p:cNvSpPr/>
          <p:nvPr/>
        </p:nvSpPr>
        <p:spPr>
          <a:xfrm>
            <a:off x="4937760" y="433882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4937760"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41" name="Text 39"/>
          <p:cNvSpPr txBox="1"/>
          <p:nvPr/>
        </p:nvSpPr>
        <p:spPr>
          <a:xfrm>
            <a:off x="914400"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فعال می‌شود؛ تعلیق فوری، جریمه با اعتراض و رأی مجمع، خروج داوطلبانه</a:t>
            </a:r>
            <a:endParaRPr lang="en-US" sz="1250" dirty="0"/>
          </a:p>
        </p:txBody>
      </p:sp>
      <p:sp>
        <p:nvSpPr>
          <p:cNvPr id="42" name="Shape 40"/>
          <p:cNvSpPr/>
          <p:nvPr/>
        </p:nvSpPr>
        <p:spPr>
          <a:xfrm flipH="1">
            <a:off x="5715000" y="3246120"/>
            <a:ext cx="761695" cy="0"/>
          </a:xfrm>
          <a:prstGeom prst="line">
            <a:avLst/>
          </a:prstGeom>
          <a:noFill/>
          <a:ln w="38100">
            <a:solidFill>
              <a:srgbClr val="2F3690"/>
            </a:solidFill>
            <a:prstDash val="solid"/>
            <a:tailEnd type="triangle"/>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094415" cy="914400"/>
        </p:xfrm>
        <a:graphic>
          <a:graphicData uri="http://schemas.openxmlformats.org/drawingml/2006/table">
            <a:tbl>
              <a:tblPr/>
              <a:tblGrid>
                <a:gridCol w="4602175"/>
                <a:gridCol w="4480560"/>
                <a:gridCol w="2011680"/>
              </a:tblGrid>
              <a:tr h="310896">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طرح فعلی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شبکه‌ی اول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مؤسس در genesis؛ هر ولیدیتور یک نود واقعی دارد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برنامه‌ریزی‌شده ۱۳، راه‌اندازی با 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ولیدیتورهای اولیه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در کد: FoundationDAO بدون مسیر به قراردادهای ولیدیتوری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روی کاغذ جدا، در عمل مبهم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مرز بنیاد و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با آدرس ثابت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sp>
        <p:nvSpPr>
          <p:cNvPr id="6" name="Shape 4"/>
          <p:cNvSpPr/>
          <p:nvPr/>
        </p:nvSpPr>
        <p:spPr>
          <a:xfrm>
            <a:off x="8078724" y="1417320"/>
            <a:ext cx="3564026" cy="2148840"/>
          </a:xfrm>
          <a:prstGeom prst="roundRect">
            <a:avLst>
              <a:gd name="adj" fmla="val 5106"/>
            </a:avLst>
          </a:prstGeom>
          <a:solidFill>
            <a:srgbClr val="F7F9FC"/>
          </a:solidFill>
          <a:ln w="9525">
            <a:solidFill>
              <a:srgbClr val="DDE1EE"/>
            </a:solidFill>
            <a:prstDash val="solid"/>
          </a:ln>
        </p:spPr>
      </p:sp>
      <p:sp>
        <p:nvSpPr>
          <p:cNvPr id="7" name="Shape 5"/>
          <p:cNvSpPr/>
          <p:nvPr/>
        </p:nvSpPr>
        <p:spPr>
          <a:xfrm>
            <a:off x="11048390" y="155448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71834" y="1677924"/>
            <a:ext cx="210312" cy="210312"/>
          </a:xfrm>
          <a:prstGeom prst="rect">
            <a:avLst/>
          </a:prstGeom>
        </p:spPr>
      </p:pic>
      <p:sp>
        <p:nvSpPr>
          <p:cNvPr id="9" name="Text 6"/>
          <p:cNvSpPr txBox="1"/>
          <p:nvPr/>
        </p:nvSpPr>
        <p:spPr>
          <a:xfrm>
            <a:off x="8215884"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FoundationDAO</a:t>
            </a:r>
            <a:endParaRPr lang="en-US" sz="1400" dirty="0"/>
          </a:p>
        </p:txBody>
      </p:sp>
      <p:sp>
        <p:nvSpPr>
          <p:cNvPr id="10" name="Text 7"/>
          <p:cNvSpPr txBox="1"/>
          <p:nvPr/>
        </p:nvSpPr>
        <p:spPr>
          <a:xfrm>
            <a:off x="8215884"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0x1111…1111</a:t>
            </a:r>
            <a:endParaRPr lang="en-US" sz="1100" dirty="0"/>
          </a:p>
        </p:txBody>
      </p:sp>
      <p:sp>
        <p:nvSpPr>
          <p:cNvPr id="11" name="Text 8"/>
          <p:cNvSpPr txBox="1"/>
          <p:nvPr/>
        </p:nvSpPr>
        <p:spPr>
          <a:xfrm>
            <a:off x="8215884"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حکمرانی داخلی بنیاد (۱۵ عضو)؛ فقط کلید identityOracle و paymentOracle را تعیین می‌کند</a:t>
            </a:r>
            <a:endParaRPr lang="en-US" sz="1250" dirty="0"/>
          </a:p>
        </p:txBody>
      </p:sp>
      <p:sp>
        <p:nvSpPr>
          <p:cNvPr id="12" name="Text 9"/>
          <p:cNvSpPr txBox="1"/>
          <p:nvPr/>
        </p:nvSpPr>
        <p:spPr>
          <a:xfrm>
            <a:off x="8215884"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هیچ قرارداد دیگری را نمی‌شناسد</a:t>
            </a:r>
            <a:endParaRPr lang="en-US" sz="1100" dirty="0"/>
          </a:p>
        </p:txBody>
      </p:sp>
      <p:sp>
        <p:nvSpPr>
          <p:cNvPr id="13" name="Shape 10"/>
          <p:cNvSpPr/>
          <p:nvPr/>
        </p:nvSpPr>
        <p:spPr>
          <a:xfrm>
            <a:off x="4314139" y="1417320"/>
            <a:ext cx="3564026" cy="2148840"/>
          </a:xfrm>
          <a:prstGeom prst="roundRect">
            <a:avLst>
              <a:gd name="adj" fmla="val 5106"/>
            </a:avLst>
          </a:prstGeom>
          <a:solidFill>
            <a:srgbClr val="F7F9FC"/>
          </a:solidFill>
          <a:ln w="9525">
            <a:solidFill>
              <a:srgbClr val="DDE1EE"/>
            </a:solidFill>
            <a:prstDash val="solid"/>
          </a:ln>
        </p:spPr>
      </p:sp>
      <p:sp>
        <p:nvSpPr>
          <p:cNvPr id="14" name="Shape 11"/>
          <p:cNvSpPr/>
          <p:nvPr/>
        </p:nvSpPr>
        <p:spPr>
          <a:xfrm>
            <a:off x="7283806" y="15544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7407250" y="1677924"/>
            <a:ext cx="210312" cy="210312"/>
          </a:xfrm>
          <a:prstGeom prst="rect">
            <a:avLst/>
          </a:prstGeom>
        </p:spPr>
      </p:pic>
      <p:sp>
        <p:nvSpPr>
          <p:cNvPr id="16" name="Text 12"/>
          <p:cNvSpPr txBox="1"/>
          <p:nvPr/>
        </p:nvSpPr>
        <p:spPr>
          <a:xfrm>
            <a:off x="4451299"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BlockRewardDistributor</a:t>
            </a:r>
            <a:endParaRPr lang="en-US" sz="1400" dirty="0"/>
          </a:p>
        </p:txBody>
      </p:sp>
      <p:sp>
        <p:nvSpPr>
          <p:cNvPr id="17" name="Text 13"/>
          <p:cNvSpPr txBox="1"/>
          <p:nvPr/>
        </p:nvSpPr>
        <p:spPr>
          <a:xfrm>
            <a:off x="4451299"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0x2222…2222</a:t>
            </a:r>
            <a:endParaRPr lang="en-US" sz="1100" dirty="0"/>
          </a:p>
        </p:txBody>
      </p:sp>
      <p:sp>
        <p:nvSpPr>
          <p:cNvPr id="18" name="Text 14"/>
          <p:cNvSpPr txBox="1"/>
          <p:nvPr/>
        </p:nvSpPr>
        <p:spPr>
          <a:xfrm>
            <a:off x="4451299"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گیرنده‌ی ریوارد و کارمزد بلاک‌ها (miningbeneficiary در Besu)؛ توزیع دوره‌ای؛ سقف پاداش؛ حکمرانی سهم و نرخ</a:t>
            </a:r>
            <a:endParaRPr lang="en-US" sz="1250" dirty="0"/>
          </a:p>
        </p:txBody>
      </p:sp>
      <p:sp>
        <p:nvSpPr>
          <p:cNvPr id="19" name="Text 15"/>
          <p:cNvSpPr txBox="1"/>
          <p:nvPr/>
        </p:nvSpPr>
        <p:spPr>
          <a:xfrm>
            <a:off x="4451299"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Treasury، Board</a:t>
            </a:r>
            <a:endParaRPr lang="en-US" sz="1100" dirty="0"/>
          </a:p>
        </p:txBody>
      </p:sp>
      <p:sp>
        <p:nvSpPr>
          <p:cNvPr id="20" name="Shape 16"/>
          <p:cNvSpPr/>
          <p:nvPr/>
        </p:nvSpPr>
        <p:spPr>
          <a:xfrm>
            <a:off x="548640" y="1417320"/>
            <a:ext cx="3564026" cy="2148840"/>
          </a:xfrm>
          <a:prstGeom prst="roundRect">
            <a:avLst>
              <a:gd name="adj" fmla="val 5106"/>
            </a:avLst>
          </a:prstGeom>
          <a:solidFill>
            <a:srgbClr val="F7F9FC"/>
          </a:solidFill>
          <a:ln w="9525">
            <a:solidFill>
              <a:srgbClr val="DDE1EE"/>
            </a:solidFill>
            <a:prstDash val="solid"/>
          </a:ln>
        </p:spPr>
      </p:sp>
      <p:sp>
        <p:nvSpPr>
          <p:cNvPr id="21" name="Shape 17"/>
          <p:cNvSpPr/>
          <p:nvPr/>
        </p:nvSpPr>
        <p:spPr>
          <a:xfrm>
            <a:off x="3518306" y="1554480"/>
            <a:ext cx="457200" cy="457200"/>
          </a:xfrm>
          <a:prstGeom prst="ellipse">
            <a:avLst/>
          </a:prstGeom>
          <a:solidFill>
            <a:srgbClr val="2F3690"/>
          </a:solidFill>
          <a:ln w="12700">
            <a:solidFill>
              <a:srgbClr val="2F3690"/>
            </a:solidFill>
            <a:prstDash val="solid"/>
          </a:ln>
        </p:spPr>
      </p:sp>
      <p:pic>
        <p:nvPicPr>
          <p:cNvPr id="22" name="Image 2" descr="preencoded.png">    </p:cNvPr>
          <p:cNvPicPr>
            <a:picLocks noChangeAspect="1"/>
          </p:cNvPicPr>
          <p:nvPr/>
        </p:nvPicPr>
        <p:blipFill>
          <a:blip r:embed="rId3"/>
          <a:stretch>
            <a:fillRect/>
          </a:stretch>
        </p:blipFill>
        <p:spPr>
          <a:xfrm>
            <a:off x="3641750" y="1677924"/>
            <a:ext cx="210312" cy="210312"/>
          </a:xfrm>
          <a:prstGeom prst="rect">
            <a:avLst/>
          </a:prstGeom>
        </p:spPr>
      </p:pic>
      <p:sp>
        <p:nvSpPr>
          <p:cNvPr id="23" name="Text 18"/>
          <p:cNvSpPr txBox="1"/>
          <p:nvPr/>
        </p:nvSpPr>
        <p:spPr>
          <a:xfrm>
            <a:off x="685800"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ValidatorsRegistry</a:t>
            </a:r>
            <a:endParaRPr lang="en-US" sz="1400" dirty="0"/>
          </a:p>
        </p:txBody>
      </p:sp>
      <p:sp>
        <p:nvSpPr>
          <p:cNvPr id="24" name="Text 19"/>
          <p:cNvSpPr txBox="1"/>
          <p:nvPr/>
        </p:nvSpPr>
        <p:spPr>
          <a:xfrm>
            <a:off x="685800"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0x3333…3333</a:t>
            </a:r>
            <a:endParaRPr lang="en-US" sz="1100" dirty="0"/>
          </a:p>
        </p:txBody>
      </p:sp>
      <p:sp>
        <p:nvSpPr>
          <p:cNvPr id="25" name="Text 20"/>
          <p:cNvSpPr txBox="1"/>
          <p:nvPr/>
        </p:nvSpPr>
        <p:spPr>
          <a:xfrm>
            <a:off x="685800"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مرجع اجماع (getValidators)؛ وثیقه، چرخه‌ی عمر و جریمه؛ مرجع صلاحیت پرداخت</a:t>
            </a:r>
            <a:endParaRPr lang="en-US" sz="1250" dirty="0"/>
          </a:p>
        </p:txBody>
      </p:sp>
      <p:sp>
        <p:nvSpPr>
          <p:cNvPr id="26" name="Text 21"/>
          <p:cNvSpPr txBox="1"/>
          <p:nvPr/>
        </p:nvSpPr>
        <p:spPr>
          <a:xfrm>
            <a:off x="685800"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Treasury</a:t>
            </a:r>
            <a:endParaRPr lang="en-US" sz="1100" dirty="0"/>
          </a:p>
        </p:txBody>
      </p:sp>
      <p:sp>
        <p:nvSpPr>
          <p:cNvPr id="27" name="Shape 22"/>
          <p:cNvSpPr/>
          <p:nvPr/>
        </p:nvSpPr>
        <p:spPr>
          <a:xfrm>
            <a:off x="8078724" y="3749040"/>
            <a:ext cx="3564026" cy="2148840"/>
          </a:xfrm>
          <a:prstGeom prst="roundRect">
            <a:avLst>
              <a:gd name="adj" fmla="val 5106"/>
            </a:avLst>
          </a:prstGeom>
          <a:solidFill>
            <a:srgbClr val="F7F9FC"/>
          </a:solidFill>
          <a:ln w="9525">
            <a:solidFill>
              <a:srgbClr val="DDE1EE"/>
            </a:solidFill>
            <a:prstDash val="solid"/>
          </a:ln>
        </p:spPr>
      </p:sp>
      <p:sp>
        <p:nvSpPr>
          <p:cNvPr id="28" name="Shape 23"/>
          <p:cNvSpPr/>
          <p:nvPr/>
        </p:nvSpPr>
        <p:spPr>
          <a:xfrm>
            <a:off x="11048390" y="3886200"/>
            <a:ext cx="457200" cy="457200"/>
          </a:xfrm>
          <a:prstGeom prst="ellipse">
            <a:avLst/>
          </a:prstGeom>
          <a:solidFill>
            <a:srgbClr val="2F3690"/>
          </a:solidFill>
          <a:ln w="12700">
            <a:solidFill>
              <a:srgbClr val="2F3690"/>
            </a:solidFill>
            <a:prstDash val="solid"/>
          </a:ln>
        </p:spPr>
      </p:sp>
      <p:pic>
        <p:nvPicPr>
          <p:cNvPr id="29" name="Image 3" descr="preencoded.png">    </p:cNvPr>
          <p:cNvPicPr>
            <a:picLocks noChangeAspect="1"/>
          </p:cNvPicPr>
          <p:nvPr/>
        </p:nvPicPr>
        <p:blipFill>
          <a:blip r:embed="rId4"/>
          <a:stretch>
            <a:fillRect/>
          </a:stretch>
        </p:blipFill>
        <p:spPr>
          <a:xfrm>
            <a:off x="11171834" y="4009644"/>
            <a:ext cx="210312" cy="210312"/>
          </a:xfrm>
          <a:prstGeom prst="rect">
            <a:avLst/>
          </a:prstGeom>
        </p:spPr>
      </p:pic>
      <p:sp>
        <p:nvSpPr>
          <p:cNvPr id="30" name="Text 24"/>
          <p:cNvSpPr txBox="1"/>
          <p:nvPr/>
        </p:nvSpPr>
        <p:spPr>
          <a:xfrm>
            <a:off x="8215884"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ValidatorsBoard</a:t>
            </a:r>
            <a:endParaRPr lang="en-US" sz="1400" dirty="0"/>
          </a:p>
        </p:txBody>
      </p:sp>
      <p:sp>
        <p:nvSpPr>
          <p:cNvPr id="31" name="Text 25"/>
          <p:cNvSpPr txBox="1"/>
          <p:nvPr/>
        </p:nvSpPr>
        <p:spPr>
          <a:xfrm>
            <a:off x="8215884"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0x4444…4444</a:t>
            </a:r>
            <a:endParaRPr lang="en-US" sz="1100" dirty="0"/>
          </a:p>
        </p:txBody>
      </p:sp>
      <p:sp>
        <p:nvSpPr>
          <p:cNvPr id="32" name="Text 26"/>
          <p:cNvSpPr txBox="1"/>
          <p:nvPr/>
        </p:nvSpPr>
        <p:spPr>
          <a:xfrm>
            <a:off x="8215884"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هیأت ۵نفره؛ رأی تأییدی مستمر؛ اختیارات تفویضی محدود</a:t>
            </a:r>
            <a:endParaRPr lang="en-US" sz="1250" dirty="0"/>
          </a:p>
        </p:txBody>
      </p:sp>
      <p:sp>
        <p:nvSpPr>
          <p:cNvPr id="33" name="Text 27"/>
          <p:cNvSpPr txBox="1"/>
          <p:nvPr/>
        </p:nvSpPr>
        <p:spPr>
          <a:xfrm>
            <a:off x="8215884"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Distributor، Treasury، IdentityRegistry</a:t>
            </a:r>
            <a:endParaRPr lang="en-US" sz="1100" dirty="0"/>
          </a:p>
        </p:txBody>
      </p:sp>
      <p:sp>
        <p:nvSpPr>
          <p:cNvPr id="34" name="Shape 28"/>
          <p:cNvSpPr/>
          <p:nvPr/>
        </p:nvSpPr>
        <p:spPr>
          <a:xfrm>
            <a:off x="4314139" y="3749040"/>
            <a:ext cx="3564026" cy="2148840"/>
          </a:xfrm>
          <a:prstGeom prst="roundRect">
            <a:avLst>
              <a:gd name="adj" fmla="val 5106"/>
            </a:avLst>
          </a:prstGeom>
          <a:solidFill>
            <a:srgbClr val="F7F9FC"/>
          </a:solidFill>
          <a:ln w="9525">
            <a:solidFill>
              <a:srgbClr val="DDE1EE"/>
            </a:solidFill>
            <a:prstDash val="solid"/>
          </a:ln>
        </p:spPr>
      </p:sp>
      <p:sp>
        <p:nvSpPr>
          <p:cNvPr id="35" name="Shape 29"/>
          <p:cNvSpPr/>
          <p:nvPr/>
        </p:nvSpPr>
        <p:spPr>
          <a:xfrm>
            <a:off x="7283806" y="3886200"/>
            <a:ext cx="457200" cy="457200"/>
          </a:xfrm>
          <a:prstGeom prst="ellipse">
            <a:avLst/>
          </a:prstGeom>
          <a:solidFill>
            <a:srgbClr val="2F3690"/>
          </a:solidFill>
          <a:ln w="12700">
            <a:solidFill>
              <a:srgbClr val="2F3690"/>
            </a:solidFill>
            <a:prstDash val="solid"/>
          </a:ln>
        </p:spPr>
      </p:sp>
      <p:pic>
        <p:nvPicPr>
          <p:cNvPr id="36" name="Image 4" descr="preencoded.png">    </p:cNvPr>
          <p:cNvPicPr>
            <a:picLocks noChangeAspect="1"/>
          </p:cNvPicPr>
          <p:nvPr/>
        </p:nvPicPr>
        <p:blipFill>
          <a:blip r:embed="rId5"/>
          <a:stretch>
            <a:fillRect/>
          </a:stretch>
        </p:blipFill>
        <p:spPr>
          <a:xfrm>
            <a:off x="7407250" y="4009644"/>
            <a:ext cx="210312" cy="210312"/>
          </a:xfrm>
          <a:prstGeom prst="rect">
            <a:avLst/>
          </a:prstGeom>
        </p:spPr>
      </p:pic>
      <p:sp>
        <p:nvSpPr>
          <p:cNvPr id="37" name="Text 30"/>
          <p:cNvSpPr txBox="1"/>
          <p:nvPr/>
        </p:nvSpPr>
        <p:spPr>
          <a:xfrm>
            <a:off x="4451299"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ValidatorsTreasury</a:t>
            </a:r>
            <a:endParaRPr lang="en-US" sz="1400" dirty="0"/>
          </a:p>
        </p:txBody>
      </p:sp>
      <p:sp>
        <p:nvSpPr>
          <p:cNvPr id="38" name="Text 31"/>
          <p:cNvSpPr txBox="1"/>
          <p:nvPr/>
        </p:nvSpPr>
        <p:spPr>
          <a:xfrm>
            <a:off x="4451299"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0x5555…5555</a:t>
            </a:r>
            <a:endParaRPr lang="en-US" sz="1100" dirty="0"/>
          </a:p>
        </p:txBody>
      </p:sp>
      <p:sp>
        <p:nvSpPr>
          <p:cNvPr id="39" name="Text 32"/>
          <p:cNvSpPr txBox="1"/>
          <p:nvPr/>
        </p:nvSpPr>
        <p:spPr>
          <a:xfrm>
            <a:off x="4451299"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خزانه‌ی ولیدیتورها؛ خرج فقط با هیأت و زیر سقف‌های مجمع</a:t>
            </a:r>
            <a:endParaRPr lang="en-US" sz="1250" dirty="0"/>
          </a:p>
        </p:txBody>
      </p:sp>
      <p:sp>
        <p:nvSpPr>
          <p:cNvPr id="40" name="Text 33"/>
          <p:cNvSpPr txBox="1"/>
          <p:nvPr/>
        </p:nvSpPr>
        <p:spPr>
          <a:xfrm>
            <a:off x="4451299"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Board</a:t>
            </a:r>
            <a:endParaRPr lang="en-US" sz="1100" dirty="0"/>
          </a:p>
        </p:txBody>
      </p:sp>
      <p:sp>
        <p:nvSpPr>
          <p:cNvPr id="41" name="Shape 34"/>
          <p:cNvSpPr/>
          <p:nvPr/>
        </p:nvSpPr>
        <p:spPr>
          <a:xfrm>
            <a:off x="548640" y="3749040"/>
            <a:ext cx="3564026" cy="2148840"/>
          </a:xfrm>
          <a:prstGeom prst="roundRect">
            <a:avLst>
              <a:gd name="adj" fmla="val 5106"/>
            </a:avLst>
          </a:prstGeom>
          <a:solidFill>
            <a:srgbClr val="F7F9FC"/>
          </a:solidFill>
          <a:ln w="9525">
            <a:solidFill>
              <a:srgbClr val="DDE1EE"/>
            </a:solidFill>
            <a:prstDash val="solid"/>
          </a:ln>
        </p:spPr>
      </p:sp>
      <p:sp>
        <p:nvSpPr>
          <p:cNvPr id="42" name="Shape 35"/>
          <p:cNvSpPr/>
          <p:nvPr/>
        </p:nvSpPr>
        <p:spPr>
          <a:xfrm>
            <a:off x="3518306" y="3886200"/>
            <a:ext cx="457200" cy="457200"/>
          </a:xfrm>
          <a:prstGeom prst="ellipse">
            <a:avLst/>
          </a:prstGeom>
          <a:solidFill>
            <a:srgbClr val="2F3690"/>
          </a:solidFill>
          <a:ln w="12700">
            <a:solidFill>
              <a:srgbClr val="2F3690"/>
            </a:solidFill>
            <a:prstDash val="solid"/>
          </a:ln>
        </p:spPr>
      </p:sp>
      <p:pic>
        <p:nvPicPr>
          <p:cNvPr id="43" name="Image 5" descr="preencoded.png">    </p:cNvPr>
          <p:cNvPicPr>
            <a:picLocks noChangeAspect="1"/>
          </p:cNvPicPr>
          <p:nvPr/>
        </p:nvPicPr>
        <p:blipFill>
          <a:blip r:embed="rId6"/>
          <a:stretch>
            <a:fillRect/>
          </a:stretch>
        </p:blipFill>
        <p:spPr>
          <a:xfrm>
            <a:off x="3641750" y="4009644"/>
            <a:ext cx="210312" cy="210312"/>
          </a:xfrm>
          <a:prstGeom prst="rect">
            <a:avLst/>
          </a:prstGeom>
        </p:spPr>
      </p:pic>
      <p:sp>
        <p:nvSpPr>
          <p:cNvPr id="44" name="Text 36"/>
          <p:cNvSpPr txBox="1"/>
          <p:nvPr/>
        </p:nvSpPr>
        <p:spPr>
          <a:xfrm>
            <a:off x="685800"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IdentityRegistry</a:t>
            </a:r>
            <a:endParaRPr lang="en-US" sz="1400" dirty="0"/>
          </a:p>
        </p:txBody>
      </p:sp>
      <p:sp>
        <p:nvSpPr>
          <p:cNvPr id="45" name="Text 37"/>
          <p:cNvSpPr txBox="1"/>
          <p:nvPr/>
        </p:nvSpPr>
        <p:spPr>
          <a:xfrm>
            <a:off x="685800"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0x6666…6666</a:t>
            </a:r>
            <a:endParaRPr lang="en-US" sz="1100" dirty="0"/>
          </a:p>
        </p:txBody>
      </p:sp>
      <p:sp>
        <p:nvSpPr>
          <p:cNvPr id="46" name="Text 38"/>
          <p:cNvSpPr txBox="1"/>
          <p:nvPr/>
        </p:nvSpPr>
        <p:spPr>
          <a:xfrm>
            <a:off x="685800"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هویت خوداظهاری و وریفای برای همه‌ی کاربران؛ فقط فلگ و commitment روی زنجیره</a:t>
            </a:r>
            <a:endParaRPr lang="en-US" sz="1250" dirty="0"/>
          </a:p>
        </p:txBody>
      </p:sp>
      <p:sp>
        <p:nvSpPr>
          <p:cNvPr id="47" name="Text 39"/>
          <p:cNvSpPr txBox="1"/>
          <p:nvPr/>
        </p:nvSpPr>
        <p:spPr>
          <a:xfrm>
            <a:off x="685800"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FoundationDAO</a:t>
            </a:r>
            <a:endParaRPr lang="en-US" sz="1100" dirty="0"/>
          </a:p>
        </p:txBody>
      </p:sp>
      <p:sp>
        <p:nvSpPr>
          <p:cNvPr id="48" name="Text 40"/>
          <p:cNvSpPr txBox="1"/>
          <p:nvPr/>
        </p:nvSpPr>
        <p:spPr>
          <a:xfrm>
            <a:off x="548640" y="6053328"/>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SurenSale و ServiceStaking قراردادهای مستقل‌اند و جزو این شش قرارداد genesis نیستند.</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اصل طراحی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سورن ارز بومی است</a:t>
            </a:r>
            <a:endParaRPr lang="en-US" sz="1600" dirty="0"/>
          </a:p>
        </p:txBody>
      </p:sp>
      <p:sp>
        <p:nvSpPr>
          <p:cNvPr id="10" name="Text 7"/>
          <p:cNvSpPr txBox="1"/>
          <p:nvPr/>
        </p:nvSpPr>
        <p:spPr>
          <a:xfrm>
            <a:off x="8261604"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مثل ETH در اتریوم؛ همه‌جا با msg.value، بدون قرارداد توکن و بدون approve/transferFrom.</a:t>
            </a:r>
            <a:endParaRPr lang="en-US" sz="130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Besu رسمی، بدون فورک</a:t>
            </a:r>
            <a:endParaRPr lang="en-US" sz="1600" dirty="0"/>
          </a:p>
        </p:txBody>
      </p:sp>
      <p:sp>
        <p:nvSpPr>
          <p:cNvPr id="15" name="Text 11"/>
          <p:cNvSpPr txBox="1"/>
          <p:nvPr/>
        </p:nvSpPr>
        <p:spPr>
          <a:xfrm>
            <a:off x="4497019"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تقسیم پاداش در قرارداد انجام می‌شود؛ زنجیره فقط دو تنظیم استاندارد Besu را به کار می‌برد: گیرنده‌ی پاداش بلاک (miningbeneficiary) و مقدار آن (blockreward).</a:t>
            </a:r>
            <a:endParaRPr lang="en-US" sz="130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آدرس ثابت در genesis</a:t>
            </a:r>
            <a:endParaRPr lang="en-US" sz="1600" dirty="0"/>
          </a:p>
        </p:txBody>
      </p:sp>
      <p:sp>
        <p:nvSpPr>
          <p:cNvPr id="20" name="Text 15"/>
          <p:cNvSpPr txBox="1"/>
          <p:nvPr/>
        </p:nvSpPr>
        <p:spPr>
          <a:xfrm>
            <a:off x="731520"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قراردادها بدون constructor و بدون مرحله‌ی سیم‌کشی بعد از استقرار؛ هرکدام آدرس بقیه را constant می‌داند.</a:t>
            </a:r>
            <a:endParaRPr lang="en-US" sz="130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بدون ادمین مرکزی</a:t>
            </a:r>
            <a:endParaRPr lang="en-US" sz="1600" dirty="0"/>
          </a:p>
        </p:txBody>
      </p:sp>
      <p:sp>
        <p:nvSpPr>
          <p:cNvPr id="25" name="Text 19"/>
          <p:cNvSpPr txBox="1"/>
          <p:nvPr/>
        </p:nvSpPr>
        <p:spPr>
          <a:xfrm>
            <a:off x="8261604"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پس از راه‌اندازی هیچ کلید مدیریتی وجود ندارد؛ هر تغییر از یک مسیر رأی یا کلید محدود می‌گذرد.</a:t>
            </a:r>
            <a:endParaRPr lang="en-US" sz="130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جداسازی قدرت</a:t>
            </a:r>
            <a:endParaRPr lang="en-US" sz="1600" dirty="0"/>
          </a:p>
        </p:txBody>
      </p:sp>
      <p:sp>
        <p:nvSpPr>
          <p:cNvPr id="30" name="Text 23"/>
          <p:cNvSpPr txBox="1"/>
          <p:nvPr/>
        </p:nvSpPr>
        <p:spPr>
          <a:xfrm>
            <a:off x="4497019"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هیچ مسیر کدی به قراردادهای ولیدیتوری ندارد؛ مرز در کد است، نه در رویه.</a:t>
            </a:r>
            <a:endParaRPr lang="en-US" sz="130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چهار کلید سرویس جدا</a:t>
            </a:r>
            <a:endParaRPr lang="en-US" sz="1600" dirty="0"/>
          </a:p>
        </p:txBody>
      </p:sp>
      <p:sp>
        <p:nvSpPr>
          <p:cNvPr id="35" name="Text 27"/>
          <p:cNvSpPr txBox="1"/>
          <p:nvPr/>
        </p:nvSpPr>
        <p:spPr>
          <a:xfrm>
            <a:off x="731520"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verifier، distributionOracle، identityOracle و paymentOracle؛ هرکدام کلید و سطح دسترسی مستقل در گاوصندوق کلید (HashiCorp Vault).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مسیر پاداش: از تولید بلاک تا پرداخت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9128455" y="1463040"/>
            <a:ext cx="2514600" cy="3429000"/>
          </a:xfrm>
          <a:prstGeom prst="roundRect">
            <a:avLst>
              <a:gd name="adj" fmla="val 4364"/>
            </a:avLst>
          </a:prstGeom>
          <a:solidFill>
            <a:srgbClr val="F7F9FC"/>
          </a:solidFill>
          <a:ln w="9525">
            <a:solidFill>
              <a:srgbClr val="DDE1EE"/>
            </a:solidFill>
            <a:prstDash val="solid"/>
          </a:ln>
        </p:spPr>
      </p:sp>
      <p:sp>
        <p:nvSpPr>
          <p:cNvPr id="7" name="Shape 5"/>
          <p:cNvSpPr/>
          <p:nvPr/>
        </p:nvSpPr>
        <p:spPr>
          <a:xfrm>
            <a:off x="11002975" y="164592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26419" y="1769364"/>
            <a:ext cx="210312" cy="210312"/>
          </a:xfrm>
          <a:prstGeom prst="rect">
            <a:avLst/>
          </a:prstGeom>
        </p:spPr>
      </p:pic>
      <p:sp>
        <p:nvSpPr>
          <p:cNvPr id="9" name="Text 6"/>
          <p:cNvSpPr txBox="1"/>
          <p:nvPr/>
        </p:nvSpPr>
        <p:spPr>
          <a:xfrm>
            <a:off x="9265615"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۱. بلاک</a:t>
            </a:r>
            <a:endParaRPr lang="en-US" sz="1450" dirty="0"/>
          </a:p>
        </p:txBody>
      </p:sp>
      <p:sp>
        <p:nvSpPr>
          <p:cNvPr id="10" name="Text 7"/>
          <p:cNvSpPr txBox="1"/>
          <p:nvPr/>
        </p:nvSpPr>
        <p:spPr>
          <a:xfrm>
            <a:off x="9265615"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بلاک ۲ سورن ریوارد به‌علاوه‌ی فی تراکنش‌ها مستقیم به آدرس 0x2222 (گیرنده‌ی پاداش بلاک در تنظیمات Besu) واریز می‌شود؛ این یک اعتبار مستقیم است، نه فراخوانی قرارداد.</a:t>
            </a:r>
            <a:endParaRPr lang="en-US" sz="1250" dirty="0"/>
          </a:p>
        </p:txBody>
      </p:sp>
      <p:sp>
        <p:nvSpPr>
          <p:cNvPr id="11" name="Shape 8"/>
          <p:cNvSpPr/>
          <p:nvPr/>
        </p:nvSpPr>
        <p:spPr>
          <a:xfrm flipH="1">
            <a:off x="8819388" y="3154680"/>
            <a:ext cx="272491" cy="0"/>
          </a:xfrm>
          <a:prstGeom prst="line">
            <a:avLst/>
          </a:prstGeom>
          <a:noFill/>
          <a:ln w="31750">
            <a:solidFill>
              <a:srgbClr val="2F3690"/>
            </a:solidFill>
            <a:prstDash val="solid"/>
            <a:tailEnd type="triangle"/>
          </a:ln>
        </p:spPr>
      </p:sp>
      <p:sp>
        <p:nvSpPr>
          <p:cNvPr id="12" name="Shape 9"/>
          <p:cNvSpPr/>
          <p:nvPr/>
        </p:nvSpPr>
        <p:spPr>
          <a:xfrm>
            <a:off x="6268212" y="1463040"/>
            <a:ext cx="2514600" cy="3429000"/>
          </a:xfrm>
          <a:prstGeom prst="roundRect">
            <a:avLst>
              <a:gd name="adj" fmla="val 4364"/>
            </a:avLst>
          </a:prstGeom>
          <a:solidFill>
            <a:srgbClr val="F7F9FC"/>
          </a:solidFill>
          <a:ln w="9525">
            <a:solidFill>
              <a:srgbClr val="DDE1EE"/>
            </a:solidFill>
            <a:prstDash val="solid"/>
          </a:ln>
        </p:spPr>
      </p:sp>
      <p:sp>
        <p:nvSpPr>
          <p:cNvPr id="13" name="Shape 10"/>
          <p:cNvSpPr/>
          <p:nvPr/>
        </p:nvSpPr>
        <p:spPr>
          <a:xfrm>
            <a:off x="8142732" y="1645920"/>
            <a:ext cx="457200" cy="45720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8266176" y="1769364"/>
            <a:ext cx="210312" cy="210312"/>
          </a:xfrm>
          <a:prstGeom prst="rect">
            <a:avLst/>
          </a:prstGeom>
        </p:spPr>
      </p:pic>
      <p:sp>
        <p:nvSpPr>
          <p:cNvPr id="15" name="Text 11"/>
          <p:cNvSpPr txBox="1"/>
          <p:nvPr/>
        </p:nvSpPr>
        <p:spPr>
          <a:xfrm>
            <a:off x="6405372"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۲. RewardRouter (آف‌چین)</a:t>
            </a:r>
            <a:endParaRPr lang="en-US" sz="1450" dirty="0"/>
          </a:p>
        </p:txBody>
      </p:sp>
      <p:sp>
        <p:nvSpPr>
          <p:cNvPr id="16" name="Text 12"/>
          <p:cNvSpPr txBox="1"/>
          <p:nvPr/>
        </p:nvSpPr>
        <p:spPr>
          <a:xfrm>
            <a:off x="6405372"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حداقل هر ۲۳ ساعت: تولیدکننده‌ی هر بلاک را از داده‌ی زنجیره می‌خواند، پاداش و فی بازه را محاسبه می‌کند و آدرس‌ها را صعودی تجمیع می‌کند.</a:t>
            </a:r>
            <a:endParaRPr lang="en-US" sz="1250" dirty="0"/>
          </a:p>
        </p:txBody>
      </p:sp>
      <p:sp>
        <p:nvSpPr>
          <p:cNvPr id="17" name="Shape 13"/>
          <p:cNvSpPr/>
          <p:nvPr/>
        </p:nvSpPr>
        <p:spPr>
          <a:xfrm flipH="1">
            <a:off x="5959145" y="3154680"/>
            <a:ext cx="272491" cy="0"/>
          </a:xfrm>
          <a:prstGeom prst="line">
            <a:avLst/>
          </a:prstGeom>
          <a:noFill/>
          <a:ln w="31750">
            <a:solidFill>
              <a:srgbClr val="2F3690"/>
            </a:solidFill>
            <a:prstDash val="solid"/>
            <a:tailEnd type="triangle"/>
          </a:ln>
        </p:spPr>
      </p:sp>
      <p:sp>
        <p:nvSpPr>
          <p:cNvPr id="18" name="Shape 14"/>
          <p:cNvSpPr/>
          <p:nvPr/>
        </p:nvSpPr>
        <p:spPr>
          <a:xfrm>
            <a:off x="3407969" y="1463040"/>
            <a:ext cx="2514600" cy="3429000"/>
          </a:xfrm>
          <a:prstGeom prst="roundRect">
            <a:avLst>
              <a:gd name="adj" fmla="val 4364"/>
            </a:avLst>
          </a:prstGeom>
          <a:solidFill>
            <a:srgbClr val="F7F9FC"/>
          </a:solidFill>
          <a:ln w="9525">
            <a:solidFill>
              <a:srgbClr val="DDE1EE"/>
            </a:solidFill>
            <a:prstDash val="solid"/>
          </a:ln>
        </p:spPr>
      </p:sp>
      <p:sp>
        <p:nvSpPr>
          <p:cNvPr id="19" name="Shape 15"/>
          <p:cNvSpPr/>
          <p:nvPr/>
        </p:nvSpPr>
        <p:spPr>
          <a:xfrm>
            <a:off x="5282489" y="164592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5405933" y="1769364"/>
            <a:ext cx="210312" cy="210312"/>
          </a:xfrm>
          <a:prstGeom prst="rect">
            <a:avLst/>
          </a:prstGeom>
        </p:spPr>
      </p:pic>
      <p:sp>
        <p:nvSpPr>
          <p:cNvPr id="21" name="Text 16"/>
          <p:cNvSpPr txBox="1"/>
          <p:nvPr/>
        </p:nvSpPr>
        <p:spPr>
          <a:xfrm>
            <a:off x="3545129"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۳. distributeRewards</a:t>
            </a:r>
            <a:endParaRPr lang="en-US" sz="1450" dirty="0"/>
          </a:p>
        </p:txBody>
      </p:sp>
      <p:sp>
        <p:nvSpPr>
          <p:cNvPr id="22" name="Text 17"/>
          <p:cNvSpPr txBox="1"/>
          <p:nvPr/>
        </p:nvSpPr>
        <p:spPr>
          <a:xfrm>
            <a:off x="3545129"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فقط distributionOracle صدا می‌زند؛ بازه، تعداد بلاک هر تولیدکننده، مجموع پاداش و مجموع فی را اعلام می‌کند.</a:t>
            </a:r>
            <a:endParaRPr lang="en-US" sz="1250" dirty="0"/>
          </a:p>
        </p:txBody>
      </p:sp>
      <p:sp>
        <p:nvSpPr>
          <p:cNvPr id="23" name="Shape 18"/>
          <p:cNvSpPr/>
          <p:nvPr/>
        </p:nvSpPr>
        <p:spPr>
          <a:xfrm flipH="1">
            <a:off x="3098902" y="3154680"/>
            <a:ext cx="272491" cy="0"/>
          </a:xfrm>
          <a:prstGeom prst="line">
            <a:avLst/>
          </a:prstGeom>
          <a:noFill/>
          <a:ln w="31750">
            <a:solidFill>
              <a:srgbClr val="2F3690"/>
            </a:solidFill>
            <a:prstDash val="solid"/>
            <a:tailEnd type="triangle"/>
          </a:ln>
        </p:spPr>
      </p:sp>
      <p:sp>
        <p:nvSpPr>
          <p:cNvPr id="24" name="Shape 19"/>
          <p:cNvSpPr/>
          <p:nvPr/>
        </p:nvSpPr>
        <p:spPr>
          <a:xfrm>
            <a:off x="547726" y="1463040"/>
            <a:ext cx="2514600" cy="3429000"/>
          </a:xfrm>
          <a:prstGeom prst="roundRect">
            <a:avLst>
              <a:gd name="adj" fmla="val 4364"/>
            </a:avLst>
          </a:prstGeom>
          <a:solidFill>
            <a:srgbClr val="EEF0FB"/>
          </a:solidFill>
          <a:ln w="9525">
            <a:solidFill>
              <a:srgbClr val="EEF0FB"/>
            </a:solidFill>
            <a:prstDash val="solid"/>
          </a:ln>
        </p:spPr>
      </p:sp>
      <p:sp>
        <p:nvSpPr>
          <p:cNvPr id="25" name="Shape 20"/>
          <p:cNvSpPr/>
          <p:nvPr/>
        </p:nvSpPr>
        <p:spPr>
          <a:xfrm>
            <a:off x="2422246" y="1645920"/>
            <a:ext cx="457200" cy="457200"/>
          </a:xfrm>
          <a:prstGeom prst="ellipse">
            <a:avLst/>
          </a:prstGeom>
          <a:solidFill>
            <a:srgbClr val="2F3690"/>
          </a:solidFill>
          <a:ln w="12700">
            <a:solidFill>
              <a:srgbClr val="2F3690"/>
            </a:solidFill>
            <a:prstDash val="solid"/>
          </a:ln>
        </p:spPr>
      </p:sp>
      <p:pic>
        <p:nvPicPr>
          <p:cNvPr id="26" name="Image 3" descr="preencoded.png">    </p:cNvPr>
          <p:cNvPicPr>
            <a:picLocks noChangeAspect="1"/>
          </p:cNvPicPr>
          <p:nvPr/>
        </p:nvPicPr>
        <p:blipFill>
          <a:blip r:embed="rId4"/>
          <a:stretch>
            <a:fillRect/>
          </a:stretch>
        </p:blipFill>
        <p:spPr>
          <a:xfrm>
            <a:off x="2545690" y="1769364"/>
            <a:ext cx="210312" cy="210312"/>
          </a:xfrm>
          <a:prstGeom prst="rect">
            <a:avLst/>
          </a:prstGeom>
        </p:spPr>
      </p:pic>
      <p:sp>
        <p:nvSpPr>
          <p:cNvPr id="27" name="Text 21"/>
          <p:cNvSpPr txBox="1"/>
          <p:nvPr/>
        </p:nvSpPr>
        <p:spPr>
          <a:xfrm>
            <a:off x="684886"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۴. BlockRewardDistributor</a:t>
            </a:r>
            <a:endParaRPr lang="en-US" sz="1450" dirty="0"/>
          </a:p>
        </p:txBody>
      </p:sp>
      <p:sp>
        <p:nvSpPr>
          <p:cNvPr id="28" name="Text 22"/>
          <p:cNvSpPr txBox="1"/>
          <p:nvPr/>
        </p:nvSpPr>
        <p:spPr>
          <a:xfrm>
            <a:off x="684886"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کنترل‌های قرارداد را اجرا می‌کند، سپس پرداخت می‌کند: بنیاد، ولیدیتورها، خزانه و سوزاندن بخشی از فی.</a:t>
            </a:r>
            <a:endParaRPr lang="en-US" sz="1250" dirty="0"/>
          </a:p>
        </p:txBody>
      </p:sp>
      <p:sp>
        <p:nvSpPr>
          <p:cNvPr id="29" name="Text 23"/>
          <p:cNvSpPr txBox="1"/>
          <p:nvPr/>
        </p:nvSpPr>
        <p:spPr>
          <a:xfrm>
            <a:off x="8899855" y="5120640"/>
            <a:ext cx="274320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نتیجه‌ی هر توزیع</a:t>
            </a:r>
            <a:endParaRPr lang="en-US" sz="1300" dirty="0"/>
          </a:p>
        </p:txBody>
      </p:sp>
      <p:sp>
        <p:nvSpPr>
          <p:cNvPr id="30" name="Shape 24"/>
          <p:cNvSpPr/>
          <p:nvPr/>
        </p:nvSpPr>
        <p:spPr>
          <a:xfrm>
            <a:off x="9006840" y="5468112"/>
            <a:ext cx="2636444" cy="777240"/>
          </a:xfrm>
          <a:prstGeom prst="roundRect">
            <a:avLst>
              <a:gd name="adj" fmla="val 14118"/>
            </a:avLst>
          </a:prstGeom>
          <a:solidFill>
            <a:srgbClr val="FFFFFF"/>
          </a:solidFill>
          <a:ln w="9525">
            <a:solidFill>
              <a:srgbClr val="DDE1EE"/>
            </a:solidFill>
            <a:prstDash val="solid"/>
          </a:ln>
        </p:spPr>
      </p:sp>
      <p:sp>
        <p:nvSpPr>
          <p:cNvPr id="31" name="Text 25"/>
          <p:cNvSpPr txBox="1"/>
          <p:nvPr/>
        </p:nvSpPr>
        <p:spPr>
          <a:xfrm>
            <a:off x="91165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بنیاد</a:t>
            </a:r>
            <a:endParaRPr lang="en-US" sz="1300" dirty="0"/>
          </a:p>
        </p:txBody>
      </p:sp>
      <p:sp>
        <p:nvSpPr>
          <p:cNvPr id="32" name="Text 26"/>
          <p:cNvSpPr txBox="1"/>
          <p:nvPr/>
        </p:nvSpPr>
        <p:spPr>
          <a:xfrm>
            <a:off x="91165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۱۵٪ ریوارد</a:t>
            </a:r>
            <a:endParaRPr lang="en-US" sz="1100" dirty="0"/>
          </a:p>
        </p:txBody>
      </p:sp>
      <p:sp>
        <p:nvSpPr>
          <p:cNvPr id="33" name="Shape 27"/>
          <p:cNvSpPr/>
          <p:nvPr/>
        </p:nvSpPr>
        <p:spPr>
          <a:xfrm>
            <a:off x="6186830" y="5468112"/>
            <a:ext cx="2636444" cy="777240"/>
          </a:xfrm>
          <a:prstGeom prst="roundRect">
            <a:avLst>
              <a:gd name="adj" fmla="val 14118"/>
            </a:avLst>
          </a:prstGeom>
          <a:solidFill>
            <a:srgbClr val="FFFFFF"/>
          </a:solidFill>
          <a:ln w="9525">
            <a:solidFill>
              <a:srgbClr val="DDE1EE"/>
            </a:solidFill>
            <a:prstDash val="solid"/>
          </a:ln>
        </p:spPr>
      </p:sp>
      <p:sp>
        <p:nvSpPr>
          <p:cNvPr id="34" name="Text 28"/>
          <p:cNvSpPr txBox="1"/>
          <p:nvPr/>
        </p:nvSpPr>
        <p:spPr>
          <a:xfrm>
            <a:off x="629655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ولیدیتورها</a:t>
            </a:r>
            <a:endParaRPr lang="en-US" sz="1300" dirty="0"/>
          </a:p>
        </p:txBody>
      </p:sp>
      <p:sp>
        <p:nvSpPr>
          <p:cNvPr id="35" name="Text 29"/>
          <p:cNvSpPr txBox="1"/>
          <p:nvPr/>
        </p:nvSpPr>
        <p:spPr>
          <a:xfrm>
            <a:off x="629655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سهم مستقیم + ۷۰٪ فی + کارمزد عضویت</a:t>
            </a:r>
            <a:endParaRPr lang="en-US" sz="1100" dirty="0"/>
          </a:p>
        </p:txBody>
      </p:sp>
      <p:sp>
        <p:nvSpPr>
          <p:cNvPr id="36" name="Shape 30"/>
          <p:cNvSpPr/>
          <p:nvPr/>
        </p:nvSpPr>
        <p:spPr>
          <a:xfrm>
            <a:off x="3367735" y="5468112"/>
            <a:ext cx="2636444" cy="777240"/>
          </a:xfrm>
          <a:prstGeom prst="roundRect">
            <a:avLst>
              <a:gd name="adj" fmla="val 14118"/>
            </a:avLst>
          </a:prstGeom>
          <a:solidFill>
            <a:srgbClr val="FFFFFF"/>
          </a:solidFill>
          <a:ln w="9525">
            <a:solidFill>
              <a:srgbClr val="DDE1EE"/>
            </a:solidFill>
            <a:prstDash val="solid"/>
          </a:ln>
        </p:spPr>
      </p:sp>
      <p:sp>
        <p:nvSpPr>
          <p:cNvPr id="37" name="Text 31"/>
          <p:cNvSpPr txBox="1"/>
          <p:nvPr/>
        </p:nvSpPr>
        <p:spPr>
          <a:xfrm>
            <a:off x="3477463"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خزانه</a:t>
            </a:r>
            <a:endParaRPr lang="en-US" sz="1300" dirty="0"/>
          </a:p>
        </p:txBody>
      </p:sp>
      <p:sp>
        <p:nvSpPr>
          <p:cNvPr id="38" name="Text 32"/>
          <p:cNvSpPr txBox="1"/>
          <p:nvPr/>
        </p:nvSpPr>
        <p:spPr>
          <a:xfrm>
            <a:off x="3477463"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باقی‌مانده‌ی ریوارد</a:t>
            </a:r>
            <a:endParaRPr lang="en-US" sz="1100" dirty="0"/>
          </a:p>
        </p:txBody>
      </p:sp>
      <p:sp>
        <p:nvSpPr>
          <p:cNvPr id="39" name="Shape 33"/>
          <p:cNvSpPr/>
          <p:nvPr/>
        </p:nvSpPr>
        <p:spPr>
          <a:xfrm>
            <a:off x="548640" y="5468112"/>
            <a:ext cx="2636444" cy="777240"/>
          </a:xfrm>
          <a:prstGeom prst="roundRect">
            <a:avLst>
              <a:gd name="adj" fmla="val 14118"/>
            </a:avLst>
          </a:prstGeom>
          <a:solidFill>
            <a:srgbClr val="FFFFFF"/>
          </a:solidFill>
          <a:ln w="9525">
            <a:solidFill>
              <a:srgbClr val="DDE1EE"/>
            </a:solidFill>
            <a:prstDash val="solid"/>
          </a:ln>
        </p:spPr>
      </p:sp>
      <p:sp>
        <p:nvSpPr>
          <p:cNvPr id="40" name="Text 34"/>
          <p:cNvSpPr txBox="1"/>
          <p:nvPr/>
        </p:nvSpPr>
        <p:spPr>
          <a:xfrm>
            <a:off x="6583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سوزانده‌شده</a:t>
            </a:r>
            <a:endParaRPr lang="en-US" sz="1300" dirty="0"/>
          </a:p>
        </p:txBody>
      </p:sp>
      <p:sp>
        <p:nvSpPr>
          <p:cNvPr id="41" name="Text 35"/>
          <p:cNvSpPr txBox="1"/>
          <p:nvPr/>
        </p:nvSpPr>
        <p:spPr>
          <a:xfrm>
            <a:off x="6583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۳۰٪ فی معمولی</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کنترل‌های قرارداد هنگام توزیع پاداش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sp>
        <p:nvSpPr>
          <p:cNvPr id="6" name="Shape 4"/>
          <p:cNvSpPr/>
          <p:nvPr/>
        </p:nvSpPr>
        <p:spPr>
          <a:xfrm>
            <a:off x="548640" y="1417320"/>
            <a:ext cx="11094415" cy="676656"/>
          </a:xfrm>
          <a:prstGeom prst="roundRect">
            <a:avLst>
              <a:gd name="adj" fmla="val 16216"/>
            </a:avLst>
          </a:prstGeom>
          <a:solidFill>
            <a:srgbClr val="F7F9FC"/>
          </a:solidFill>
          <a:ln w="9525">
            <a:solidFill>
              <a:srgbClr val="DDE1EE"/>
            </a:solidFill>
            <a:prstDash val="solid"/>
          </a:ln>
        </p:spPr>
      </p:sp>
      <p:sp>
        <p:nvSpPr>
          <p:cNvPr id="7" name="Shape 5"/>
          <p:cNvSpPr/>
          <p:nvPr/>
        </p:nvSpPr>
        <p:spPr>
          <a:xfrm>
            <a:off x="11085271" y="1545336"/>
            <a:ext cx="420624" cy="420624"/>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98840" y="1658904"/>
            <a:ext cx="193487" cy="193487"/>
          </a:xfrm>
          <a:prstGeom prst="rect">
            <a:avLst/>
          </a:prstGeom>
        </p:spPr>
      </p:pic>
      <p:sp>
        <p:nvSpPr>
          <p:cNvPr id="9" name="Text 6"/>
          <p:cNvSpPr txBox="1"/>
          <p:nvPr/>
        </p:nvSpPr>
        <p:spPr>
          <a:xfrm>
            <a:off x="8808415" y="1417320"/>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فاصله‌ی زمانی</a:t>
            </a:r>
            <a:endParaRPr lang="en-US" sz="1500" dirty="0"/>
          </a:p>
        </p:txBody>
      </p:sp>
      <p:sp>
        <p:nvSpPr>
          <p:cNvPr id="10" name="Text 7"/>
          <p:cNvSpPr txBox="1"/>
          <p:nvPr/>
        </p:nvSpPr>
        <p:spPr>
          <a:xfrm>
            <a:off x="731520" y="1417320"/>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حداقل ۲۳ ساعت بین دو توزیع (جز اولین توزیع).</a:t>
            </a:r>
            <a:endParaRPr lang="en-US" sz="1250" dirty="0"/>
          </a:p>
        </p:txBody>
      </p:sp>
      <p:sp>
        <p:nvSpPr>
          <p:cNvPr id="11" name="Shape 8"/>
          <p:cNvSpPr/>
          <p:nvPr/>
        </p:nvSpPr>
        <p:spPr>
          <a:xfrm>
            <a:off x="548640" y="2203704"/>
            <a:ext cx="11094415" cy="676656"/>
          </a:xfrm>
          <a:prstGeom prst="roundRect">
            <a:avLst>
              <a:gd name="adj" fmla="val 16216"/>
            </a:avLst>
          </a:prstGeom>
          <a:solidFill>
            <a:srgbClr val="F7F9FC"/>
          </a:solidFill>
          <a:ln w="9525">
            <a:solidFill>
              <a:srgbClr val="DDE1EE"/>
            </a:solidFill>
            <a:prstDash val="solid"/>
          </a:ln>
        </p:spPr>
      </p:sp>
      <p:sp>
        <p:nvSpPr>
          <p:cNvPr id="12" name="Shape 9"/>
          <p:cNvSpPr/>
          <p:nvPr/>
        </p:nvSpPr>
        <p:spPr>
          <a:xfrm>
            <a:off x="11085271" y="2331720"/>
            <a:ext cx="420624" cy="420624"/>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11198840" y="2445288"/>
            <a:ext cx="193487" cy="193487"/>
          </a:xfrm>
          <a:prstGeom prst="rect">
            <a:avLst/>
          </a:prstGeom>
        </p:spPr>
      </p:pic>
      <p:sp>
        <p:nvSpPr>
          <p:cNvPr id="14" name="Text 10"/>
          <p:cNvSpPr txBox="1"/>
          <p:nvPr/>
        </p:nvSpPr>
        <p:spPr>
          <a:xfrm>
            <a:off x="8808415" y="2203704"/>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پیوستگی بازه</a:t>
            </a:r>
            <a:endParaRPr lang="en-US" sz="1500" dirty="0"/>
          </a:p>
        </p:txBody>
      </p:sp>
      <p:sp>
        <p:nvSpPr>
          <p:cNvPr id="15" name="Text 11"/>
          <p:cNvSpPr txBox="1"/>
          <p:nvPr/>
        </p:nvSpPr>
        <p:spPr>
          <a:xfrm>
            <a:off x="731520" y="2203704"/>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بازه دقیقاً از آخرین بلاک تسویه‌شده + ۱ شروع شود؛ بدون تکرار، همپوشانی یا شکاف؛ بلاک‌های بازه تولید شده باشند و مجموع بلاک‌های گزارش‌شده از اندازه‌ی بازه بیشتر نباشد.</a:t>
            </a:r>
            <a:endParaRPr lang="en-US" sz="1250" dirty="0"/>
          </a:p>
        </p:txBody>
      </p:sp>
      <p:sp>
        <p:nvSpPr>
          <p:cNvPr id="16" name="Shape 12"/>
          <p:cNvSpPr/>
          <p:nvPr/>
        </p:nvSpPr>
        <p:spPr>
          <a:xfrm>
            <a:off x="548640" y="2990088"/>
            <a:ext cx="11094415" cy="676656"/>
          </a:xfrm>
          <a:prstGeom prst="roundRect">
            <a:avLst>
              <a:gd name="adj" fmla="val 16216"/>
            </a:avLst>
          </a:prstGeom>
          <a:solidFill>
            <a:srgbClr val="F7F9FC"/>
          </a:solidFill>
          <a:ln w="9525">
            <a:solidFill>
              <a:srgbClr val="DDE1EE"/>
            </a:solidFill>
            <a:prstDash val="solid"/>
          </a:ln>
        </p:spPr>
      </p:sp>
      <p:sp>
        <p:nvSpPr>
          <p:cNvPr id="17" name="Shape 13"/>
          <p:cNvSpPr/>
          <p:nvPr/>
        </p:nvSpPr>
        <p:spPr>
          <a:xfrm>
            <a:off x="11085271" y="3118104"/>
            <a:ext cx="420624" cy="420624"/>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198840" y="3231672"/>
            <a:ext cx="193487" cy="193487"/>
          </a:xfrm>
          <a:prstGeom prst="rect">
            <a:avLst/>
          </a:prstGeom>
        </p:spPr>
      </p:pic>
      <p:sp>
        <p:nvSpPr>
          <p:cNvPr id="19" name="Text 14"/>
          <p:cNvSpPr txBox="1"/>
          <p:nvPr/>
        </p:nvSpPr>
        <p:spPr>
          <a:xfrm>
            <a:off x="8808415" y="2990088"/>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سقف پاداش</a:t>
            </a:r>
            <a:endParaRPr lang="en-US" sz="1500" dirty="0"/>
          </a:p>
        </p:txBody>
      </p:sp>
      <p:sp>
        <p:nvSpPr>
          <p:cNvPr id="20" name="Text 15"/>
          <p:cNvSpPr txBox="1"/>
          <p:nvPr/>
        </p:nvSpPr>
        <p:spPr>
          <a:xfrm>
            <a:off x="731520" y="2990088"/>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مجموع پاداش اعلام‌شده نباید از مجموع نرخ مصوبِ هر بلاک در همان بازه بیشتر باشد (maxRewardsForRange).</a:t>
            </a:r>
            <a:endParaRPr lang="en-US" sz="1250" dirty="0"/>
          </a:p>
        </p:txBody>
      </p:sp>
      <p:sp>
        <p:nvSpPr>
          <p:cNvPr id="21" name="Shape 16"/>
          <p:cNvSpPr/>
          <p:nvPr/>
        </p:nvSpPr>
        <p:spPr>
          <a:xfrm>
            <a:off x="548640" y="3776472"/>
            <a:ext cx="11094415" cy="676656"/>
          </a:xfrm>
          <a:prstGeom prst="roundRect">
            <a:avLst>
              <a:gd name="adj" fmla="val 16216"/>
            </a:avLst>
          </a:prstGeom>
          <a:solidFill>
            <a:srgbClr val="F7F9FC"/>
          </a:solidFill>
          <a:ln w="9525">
            <a:solidFill>
              <a:srgbClr val="DDE1EE"/>
            </a:solidFill>
            <a:prstDash val="solid"/>
          </a:ln>
        </p:spPr>
      </p:sp>
      <p:sp>
        <p:nvSpPr>
          <p:cNvPr id="22" name="Shape 17"/>
          <p:cNvSpPr/>
          <p:nvPr/>
        </p:nvSpPr>
        <p:spPr>
          <a:xfrm>
            <a:off x="11085271" y="3904488"/>
            <a:ext cx="420624" cy="420624"/>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198840" y="4018056"/>
            <a:ext cx="193487" cy="193487"/>
          </a:xfrm>
          <a:prstGeom prst="rect">
            <a:avLst/>
          </a:prstGeom>
        </p:spPr>
      </p:pic>
      <p:sp>
        <p:nvSpPr>
          <p:cNvPr id="24" name="Text 18"/>
          <p:cNvSpPr txBox="1"/>
          <p:nvPr/>
        </p:nvSpPr>
        <p:spPr>
          <a:xfrm>
            <a:off x="8808415" y="3776472"/>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ترتیب صعودی</a:t>
            </a:r>
            <a:endParaRPr lang="en-US" sz="1500" dirty="0"/>
          </a:p>
        </p:txBody>
      </p:sp>
      <p:sp>
        <p:nvSpPr>
          <p:cNvPr id="25" name="Text 19"/>
          <p:cNvSpPr txBox="1"/>
          <p:nvPr/>
        </p:nvSpPr>
        <p:spPr>
          <a:xfrm>
            <a:off x="731520" y="3776472"/>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آدرس‌ها اکیداً صعودی و بدون تکرارند، تا هر ولیدیتور دقیقاً یک بار پرداخت بگیرد.</a:t>
            </a:r>
            <a:endParaRPr lang="en-US" sz="1250" dirty="0"/>
          </a:p>
        </p:txBody>
      </p:sp>
      <p:sp>
        <p:nvSpPr>
          <p:cNvPr id="26" name="Shape 20"/>
          <p:cNvSpPr/>
          <p:nvPr/>
        </p:nvSpPr>
        <p:spPr>
          <a:xfrm>
            <a:off x="548640" y="4562856"/>
            <a:ext cx="11094415" cy="676656"/>
          </a:xfrm>
          <a:prstGeom prst="roundRect">
            <a:avLst>
              <a:gd name="adj" fmla="val 16216"/>
            </a:avLst>
          </a:prstGeom>
          <a:solidFill>
            <a:srgbClr val="F7F9FC"/>
          </a:solidFill>
          <a:ln w="9525">
            <a:solidFill>
              <a:srgbClr val="DDE1EE"/>
            </a:solidFill>
            <a:prstDash val="solid"/>
          </a:ln>
        </p:spPr>
      </p:sp>
      <p:sp>
        <p:nvSpPr>
          <p:cNvPr id="27" name="Shape 21"/>
          <p:cNvSpPr/>
          <p:nvPr/>
        </p:nvSpPr>
        <p:spPr>
          <a:xfrm>
            <a:off x="11085271" y="4690872"/>
            <a:ext cx="420624" cy="420624"/>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11198840" y="4804440"/>
            <a:ext cx="193487" cy="193487"/>
          </a:xfrm>
          <a:prstGeom prst="rect">
            <a:avLst/>
          </a:prstGeom>
        </p:spPr>
      </p:pic>
      <p:sp>
        <p:nvSpPr>
          <p:cNvPr id="29" name="Text 22"/>
          <p:cNvSpPr txBox="1"/>
          <p:nvPr/>
        </p:nvSpPr>
        <p:spPr>
          <a:xfrm>
            <a:off x="8808415" y="4562856"/>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استحقاق تاریخی</a:t>
            </a:r>
            <a:endParaRPr lang="en-US" sz="1500" dirty="0"/>
          </a:p>
        </p:txBody>
      </p:sp>
      <p:sp>
        <p:nvSpPr>
          <p:cNvPr id="30" name="Text 23"/>
          <p:cNvSpPr txBox="1"/>
          <p:nvPr/>
        </p:nvSpPr>
        <p:spPr>
          <a:xfrm>
            <a:off x="731520" y="4562856"/>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فقط آدرسی که هرگز ولیدیتور مشروع بوده پرداخت می‌گیرد؛ خروج یا تعلیق پس از تولید بلاک، سهم آن کار را حذف نمی‌کند.</a:t>
            </a:r>
            <a:endParaRPr lang="en-US" sz="1250" dirty="0"/>
          </a:p>
        </p:txBody>
      </p:sp>
      <p:sp>
        <p:nvSpPr>
          <p:cNvPr id="31" name="Shape 24"/>
          <p:cNvSpPr/>
          <p:nvPr/>
        </p:nvSpPr>
        <p:spPr>
          <a:xfrm>
            <a:off x="548640" y="5440680"/>
            <a:ext cx="11094415" cy="822960"/>
          </a:xfrm>
          <a:prstGeom prst="roundRect">
            <a:avLst>
              <a:gd name="adj" fmla="val 13333"/>
            </a:avLst>
          </a:prstGeom>
          <a:solidFill>
            <a:srgbClr val="FCEAE4"/>
          </a:solidFill>
          <a:ln w="9525">
            <a:solidFill>
              <a:srgbClr val="FCEAE4"/>
            </a:solidFill>
            <a:prstDash val="solid"/>
          </a:ln>
        </p:spPr>
      </p:sp>
      <p:sp>
        <p:nvSpPr>
          <p:cNvPr id="32" name="Text 25"/>
          <p:cNvSpPr txBox="1"/>
          <p:nvPr/>
        </p:nvSpPr>
        <p:spPr>
          <a:xfrm>
            <a:off x="822960" y="5486400"/>
            <a:ext cx="10545775" cy="731520"/>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مرز اعتماد: </a:t>
            </a:r>
            <a:pPr rtl="1" algn="r" indent="0" marL="0">
              <a:lnSpc>
                <a:spcPct val="105000"/>
              </a:lnSpc>
              <a:buNone/>
            </a:pPr>
            <a:r>
              <a:rPr lang="fa-IR" altLang="en-US" sz="1300" dirty="0">
                <a:solidFill>
                  <a:srgbClr val="C8431F"/>
                </a:solidFill>
                <a:latin typeface="Vazirmatn" pitchFamily="34" charset="0"/>
                <a:ea typeface="Vazirmatn" pitchFamily="34" charset="-122"/>
                <a:cs typeface="Vazirmatn" pitchFamily="34" charset="-120"/>
              </a:rPr>
              <a:t>سقف فقط پاداش ناخالص را محدود می‌کند. انتساب هر بلاک به ولیدیتور، صحت کارمزد و برابری نرخ ثبت‌شده با نرخ واقعی Besu را قرارداد اثبات نمی‌کند؛ این‌ها به RewardRouter و بررسی مستقل سپرده شده‌اند.</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سورن در یک نگاه: چیست و برای چه استفاده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sp>
        <p:nvSpPr>
          <p:cNvPr id="6" name="Shape 4"/>
          <p:cNvSpPr/>
          <p:nvPr/>
        </p:nvSpPr>
        <p:spPr>
          <a:xfrm>
            <a:off x="7436815" y="1417320"/>
            <a:ext cx="4206240" cy="1078992"/>
          </a:xfrm>
          <a:prstGeom prst="roundRect">
            <a:avLst>
              <a:gd name="adj" fmla="val 10169"/>
            </a:avLst>
          </a:prstGeom>
          <a:solidFill>
            <a:srgbClr val="EEF0FB"/>
          </a:solidFill>
          <a:ln w="9525">
            <a:solidFill>
              <a:srgbClr val="EEF0FB"/>
            </a:solidFill>
            <a:prstDash val="solid"/>
          </a:ln>
        </p:spPr>
      </p:sp>
      <p:sp>
        <p:nvSpPr>
          <p:cNvPr id="7" name="Text 5"/>
          <p:cNvSpPr txBox="1"/>
          <p:nvPr/>
        </p:nvSpPr>
        <p:spPr>
          <a:xfrm>
            <a:off x="7592263" y="149047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ارز بومی شبکه</a:t>
            </a:r>
            <a:endParaRPr lang="en-US" sz="1350" dirty="0"/>
          </a:p>
        </p:txBody>
      </p:sp>
      <p:sp>
        <p:nvSpPr>
          <p:cNvPr id="8" name="Text 6"/>
          <p:cNvSpPr txBox="1"/>
          <p:nvPr/>
        </p:nvSpPr>
        <p:spPr>
          <a:xfrm>
            <a:off x="7592263" y="181965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مثل ETH در اتریوم بخشی از خود پروتکل است، نه یک توکن ERC20. انتقال با مقدار تراکنش انجام می‌شود، نه با تابع انتقال توکن.</a:t>
            </a:r>
            <a:endParaRPr lang="en-US" sz="1100" dirty="0"/>
          </a:p>
        </p:txBody>
      </p:sp>
      <p:sp>
        <p:nvSpPr>
          <p:cNvPr id="9" name="Shape 7"/>
          <p:cNvSpPr/>
          <p:nvPr/>
        </p:nvSpPr>
        <p:spPr>
          <a:xfrm>
            <a:off x="7436815" y="2606040"/>
            <a:ext cx="4206240" cy="1078992"/>
          </a:xfrm>
          <a:prstGeom prst="roundRect">
            <a:avLst>
              <a:gd name="adj" fmla="val 10169"/>
            </a:avLst>
          </a:prstGeom>
          <a:solidFill>
            <a:srgbClr val="EEF0FB"/>
          </a:solidFill>
          <a:ln w="9525">
            <a:solidFill>
              <a:srgbClr val="EEF0FB"/>
            </a:solidFill>
            <a:prstDash val="solid"/>
          </a:ln>
        </p:spPr>
      </p:sp>
      <p:sp>
        <p:nvSpPr>
          <p:cNvPr id="10" name="Text 8"/>
          <p:cNvSpPr txBox="1"/>
          <p:nvPr/>
        </p:nvSpPr>
        <p:spPr>
          <a:xfrm>
            <a:off x="7592263" y="267919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۱۸ رقم اعشار</a:t>
            </a:r>
            <a:endParaRPr lang="en-US" sz="1350" dirty="0"/>
          </a:p>
        </p:txBody>
      </p:sp>
      <p:sp>
        <p:nvSpPr>
          <p:cNvPr id="11" name="Text 9"/>
          <p:cNvSpPr txBox="1"/>
          <p:nvPr/>
        </p:nvSpPr>
        <p:spPr>
          <a:xfrm>
            <a:off x="7592263" y="300837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کوچک‌ترین واحد wei است؛ ۱۰¹⁸ wei برابر یک سورن.</a:t>
            </a:r>
            <a:endParaRPr lang="en-US" sz="1100" dirty="0"/>
          </a:p>
        </p:txBody>
      </p:sp>
      <p:sp>
        <p:nvSpPr>
          <p:cNvPr id="12" name="Shape 10"/>
          <p:cNvSpPr/>
          <p:nvPr/>
        </p:nvSpPr>
        <p:spPr>
          <a:xfrm>
            <a:off x="7436815" y="3794760"/>
            <a:ext cx="4206240" cy="1078992"/>
          </a:xfrm>
          <a:prstGeom prst="roundRect">
            <a:avLst>
              <a:gd name="adj" fmla="val 10169"/>
            </a:avLst>
          </a:prstGeom>
          <a:solidFill>
            <a:srgbClr val="EEF0FB"/>
          </a:solidFill>
          <a:ln w="9525">
            <a:solidFill>
              <a:srgbClr val="EEF0FB"/>
            </a:solidFill>
            <a:prstDash val="solid"/>
          </a:ln>
        </p:spPr>
      </p:sp>
      <p:sp>
        <p:nvSpPr>
          <p:cNvPr id="13" name="Text 11"/>
          <p:cNvSpPr txBox="1"/>
          <p:nvPr/>
        </p:nvSpPr>
        <p:spPr>
          <a:xfrm>
            <a:off x="7592263" y="386791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انتشار دائمی</a:t>
            </a:r>
            <a:endParaRPr lang="en-US" sz="1350" dirty="0"/>
          </a:p>
        </p:txBody>
      </p:sp>
      <p:sp>
        <p:nvSpPr>
          <p:cNvPr id="14" name="Text 12"/>
          <p:cNvSpPr txBox="1"/>
          <p:nvPr/>
        </p:nvSpPr>
        <p:spPr>
          <a:xfrm>
            <a:off x="7592263" y="419709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هر بلاک ۲ سورن تازه می‌سازد؛ سقف عرضه و halving ندارد.</a:t>
            </a:r>
            <a:endParaRPr lang="en-US" sz="1100" dirty="0"/>
          </a:p>
        </p:txBody>
      </p:sp>
      <p:sp>
        <p:nvSpPr>
          <p:cNvPr id="15" name="Shape 13"/>
          <p:cNvSpPr/>
          <p:nvPr/>
        </p:nvSpPr>
        <p:spPr>
          <a:xfrm>
            <a:off x="7436815" y="4983480"/>
            <a:ext cx="4206240" cy="1078992"/>
          </a:xfrm>
          <a:prstGeom prst="roundRect">
            <a:avLst>
              <a:gd name="adj" fmla="val 10169"/>
            </a:avLst>
          </a:prstGeom>
          <a:solidFill>
            <a:srgbClr val="E3F4EC"/>
          </a:solidFill>
          <a:ln w="9525">
            <a:solidFill>
              <a:srgbClr val="E3F4EC"/>
            </a:solidFill>
            <a:prstDash val="solid"/>
          </a:ln>
        </p:spPr>
      </p:sp>
      <p:sp>
        <p:nvSpPr>
          <p:cNvPr id="16" name="Text 14"/>
          <p:cNvSpPr txBox="1"/>
          <p:nvPr/>
        </p:nvSpPr>
        <p:spPr>
          <a:xfrm>
            <a:off x="7592263" y="505663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رأی از سورن نمی‌آید</a:t>
            </a:r>
            <a:endParaRPr lang="en-US" sz="1350" dirty="0"/>
          </a:p>
        </p:txBody>
      </p:sp>
      <p:sp>
        <p:nvSpPr>
          <p:cNvPr id="17" name="Text 15"/>
          <p:cNvSpPr txBox="1"/>
          <p:nvPr/>
        </p:nvSpPr>
        <p:spPr>
          <a:xfrm>
            <a:off x="7592263" y="538581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صرف داشتن سورن حق رأی نمی‌دهد. حق رأی فقط با قفل‌کردن وثیقه و ولیدیتور فعال‌شدن به دست می‌آید.</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812280" cy="914400"/>
        </p:xfrm>
        <a:graphic>
          <a:graphicData uri="http://schemas.openxmlformats.org/drawingml/2006/table">
            <a:tbl>
              <a:tblPr/>
              <a:tblGrid>
                <a:gridCol w="777240"/>
                <a:gridCol w="4114800"/>
                <a:gridCol w="192024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توضیح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کاربرد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1323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هر تراکنش و فراخوانی قرارداد به سورن هزینه دارد (قیمت گاز ثابت)؛ محرک اصلی تقاضا اجرای دپ‌ها روی سور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تراکنش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قفل‌شدن مبلغ ورود؛ در خروج داوطلبانه کاملاً قابل‌استرداد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وثیقه‌ی ولیدیتور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۴٪ وثیقه، یک‌بار و بازگشت‌ناپذیر؛ به تولیدکنندگان بلاک‌ها می‌رسد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عضویت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باقی‌مانده‌ی ریوارد و بخش جریمه‌شده‌ی وثیقه؛ خرج‌شدنی فقط با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دارایی خزانه‌ی ولیدیتورها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772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طراحی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سورن توسط کاربر یا صاحب دپ برای دسترسی بهتر به یک سرویس (نام‌گذاری، ثبت‌زمان اسناد و …)</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استیک برای دسترسی به سرویس‌های مشترک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9" name="Text 16"/>
          <p:cNvSpPr txBox="1"/>
          <p:nvPr/>
        </p:nvSpPr>
        <p:spPr>
          <a:xfrm>
            <a:off x="548640" y="5897880"/>
            <a:ext cx="6812280" cy="50292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مأموریت رشد تقاضا با بنیاد است: تبلیغات، آموزش و اجرای چند دپ اولیه. کدام دپ‌های مشخص اول ساخته شوند هنوز تعیین نشده است. هیچ کنترل محتوایی از طرف بنیاد یا ولیدیتورها روی دپ‌ها وجود ندارد.</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جریان سورن: از انتشار تا مصرف</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8076895" y="1417320"/>
            <a:ext cx="3566160" cy="1051560"/>
          </a:xfrm>
          <a:prstGeom prst="roundRect">
            <a:avLst>
              <a:gd name="adj" fmla="val 10435"/>
            </a:avLst>
          </a:prstGeom>
          <a:solidFill>
            <a:srgbClr val="EEF0FB"/>
          </a:solidFill>
          <a:ln w="9525">
            <a:solidFill>
              <a:srgbClr val="EEF0FB"/>
            </a:solidFill>
            <a:prstDash val="solid"/>
          </a:ln>
        </p:spPr>
      </p:sp>
      <p:sp>
        <p:nvSpPr>
          <p:cNvPr id="7" name="Text 5"/>
          <p:cNvSpPr txBox="1"/>
          <p:nvPr/>
        </p:nvSpPr>
        <p:spPr>
          <a:xfrm>
            <a:off x="8214055" y="141732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ریوارد هر بلاک: ۲ سورن (۲۱٬۰۲۴٬۰۰۰ در سال)</a:t>
            </a:r>
            <a:endParaRPr lang="en-US" sz="1250" dirty="0"/>
          </a:p>
        </p:txBody>
      </p:sp>
      <p:sp>
        <p:nvSpPr>
          <p:cNvPr id="8" name="Shape 6"/>
          <p:cNvSpPr/>
          <p:nvPr/>
        </p:nvSpPr>
        <p:spPr>
          <a:xfrm flipH="1">
            <a:off x="7482535" y="1943100"/>
            <a:ext cx="548640" cy="0"/>
          </a:xfrm>
          <a:prstGeom prst="line">
            <a:avLst/>
          </a:prstGeom>
          <a:noFill/>
          <a:ln w="31750">
            <a:solidFill>
              <a:srgbClr val="2F3690"/>
            </a:solidFill>
            <a:prstDash val="solid"/>
            <a:tailEnd type="triangle"/>
          </a:ln>
        </p:spPr>
      </p:sp>
      <p:sp>
        <p:nvSpPr>
          <p:cNvPr id="9" name="Shape 7"/>
          <p:cNvSpPr/>
          <p:nvPr/>
        </p:nvSpPr>
        <p:spPr>
          <a:xfrm>
            <a:off x="5171237" y="1417320"/>
            <a:ext cx="2174138" cy="1051560"/>
          </a:xfrm>
          <a:prstGeom prst="roundRect">
            <a:avLst>
              <a:gd name="adj" fmla="val 10435"/>
            </a:avLst>
          </a:prstGeom>
          <a:solidFill>
            <a:srgbClr val="FFFFFF"/>
          </a:solidFill>
          <a:ln w="19050">
            <a:solidFill>
              <a:srgbClr val="2F3690"/>
            </a:solidFill>
            <a:prstDash val="solid"/>
          </a:ln>
        </p:spPr>
      </p:sp>
      <p:sp>
        <p:nvSpPr>
          <p:cNvPr id="10" name="Text 8"/>
          <p:cNvSpPr txBox="1"/>
          <p:nvPr/>
        </p:nvSpPr>
        <p:spPr>
          <a:xfrm>
            <a:off x="5262677"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بنیاد</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ثابت</a:t>
            </a:r>
            <a:endParaRPr lang="en-US" sz="1300" dirty="0"/>
          </a:p>
        </p:txBody>
      </p:sp>
      <p:sp>
        <p:nvSpPr>
          <p:cNvPr id="11" name="Shape 9"/>
          <p:cNvSpPr/>
          <p:nvPr/>
        </p:nvSpPr>
        <p:spPr>
          <a:xfrm>
            <a:off x="2859938" y="1417320"/>
            <a:ext cx="2174138" cy="1051560"/>
          </a:xfrm>
          <a:prstGeom prst="roundRect">
            <a:avLst>
              <a:gd name="adj" fmla="val 10435"/>
            </a:avLst>
          </a:prstGeom>
          <a:solidFill>
            <a:srgbClr val="FFFFFF"/>
          </a:solidFill>
          <a:ln w="19050">
            <a:solidFill>
              <a:srgbClr val="3D46A8"/>
            </a:solidFill>
            <a:prstDash val="solid"/>
          </a:ln>
        </p:spPr>
      </p:sp>
      <p:sp>
        <p:nvSpPr>
          <p:cNvPr id="12" name="Text 10"/>
          <p:cNvSpPr txBox="1"/>
          <p:nvPr/>
        </p:nvSpPr>
        <p:spPr>
          <a:xfrm>
            <a:off x="2951378"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۴۰ تا ۶۵٪ (شروع ۵۰٪)</a:t>
            </a:r>
            <a:endParaRPr lang="en-US" sz="1300" dirty="0"/>
          </a:p>
        </p:txBody>
      </p:sp>
      <p:sp>
        <p:nvSpPr>
          <p:cNvPr id="13" name="Shape 11"/>
          <p:cNvSpPr/>
          <p:nvPr/>
        </p:nvSpPr>
        <p:spPr>
          <a:xfrm>
            <a:off x="548640" y="1417320"/>
            <a:ext cx="2174138" cy="1051560"/>
          </a:xfrm>
          <a:prstGeom prst="roundRect">
            <a:avLst>
              <a:gd name="adj" fmla="val 10435"/>
            </a:avLst>
          </a:prstGeom>
          <a:solidFill>
            <a:srgbClr val="FFFFFF"/>
          </a:solidFill>
          <a:ln w="19050">
            <a:solidFill>
              <a:srgbClr val="5F6472"/>
            </a:solidFill>
            <a:prstDash val="solid"/>
          </a:ln>
        </p:spPr>
      </p:sp>
      <p:sp>
        <p:nvSpPr>
          <p:cNvPr id="14" name="Text 12"/>
          <p:cNvSpPr txBox="1"/>
          <p:nvPr/>
        </p:nvSpPr>
        <p:spPr>
          <a:xfrm>
            <a:off x="640080"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خزانه‌ی 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a:t>
            </a:r>
            <a:endParaRPr lang="en-US" sz="1300" dirty="0"/>
          </a:p>
        </p:txBody>
      </p:sp>
      <p:sp>
        <p:nvSpPr>
          <p:cNvPr id="15" name="Shape 13"/>
          <p:cNvSpPr/>
          <p:nvPr/>
        </p:nvSpPr>
        <p:spPr>
          <a:xfrm>
            <a:off x="8076895" y="2651760"/>
            <a:ext cx="3566160" cy="1051560"/>
          </a:xfrm>
          <a:prstGeom prst="roundRect">
            <a:avLst>
              <a:gd name="adj" fmla="val 10435"/>
            </a:avLst>
          </a:prstGeom>
          <a:solidFill>
            <a:srgbClr val="EEF0FB"/>
          </a:solidFill>
          <a:ln w="9525">
            <a:solidFill>
              <a:srgbClr val="EEF0FB"/>
            </a:solidFill>
            <a:prstDash val="solid"/>
          </a:ln>
        </p:spPr>
      </p:sp>
      <p:sp>
        <p:nvSpPr>
          <p:cNvPr id="16" name="Text 14"/>
          <p:cNvSpPr txBox="1"/>
          <p:nvPr/>
        </p:nvSpPr>
        <p:spPr>
          <a:xfrm>
            <a:off x="8214055" y="265176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تراکنش‌های معمولی</a:t>
            </a:r>
            <a:endParaRPr lang="en-US" sz="1250" dirty="0"/>
          </a:p>
        </p:txBody>
      </p:sp>
      <p:sp>
        <p:nvSpPr>
          <p:cNvPr id="17" name="Shape 15"/>
          <p:cNvSpPr/>
          <p:nvPr/>
        </p:nvSpPr>
        <p:spPr>
          <a:xfrm flipH="1">
            <a:off x="7482535" y="3177540"/>
            <a:ext cx="548640" cy="0"/>
          </a:xfrm>
          <a:prstGeom prst="line">
            <a:avLst/>
          </a:prstGeom>
          <a:noFill/>
          <a:ln w="31750">
            <a:solidFill>
              <a:srgbClr val="2F3690"/>
            </a:solidFill>
            <a:prstDash val="solid"/>
            <a:tailEnd type="triangle"/>
          </a:ln>
        </p:spPr>
      </p:sp>
      <p:sp>
        <p:nvSpPr>
          <p:cNvPr id="18" name="Shape 16"/>
          <p:cNvSpPr/>
          <p:nvPr/>
        </p:nvSpPr>
        <p:spPr>
          <a:xfrm>
            <a:off x="4015588" y="2651760"/>
            <a:ext cx="3329788" cy="1051560"/>
          </a:xfrm>
          <a:prstGeom prst="roundRect">
            <a:avLst>
              <a:gd name="adj" fmla="val 10435"/>
            </a:avLst>
          </a:prstGeom>
          <a:solidFill>
            <a:srgbClr val="FFFFFF"/>
          </a:solidFill>
          <a:ln w="19050">
            <a:solidFill>
              <a:srgbClr val="C8431F"/>
            </a:solidFill>
            <a:prstDash val="solid"/>
          </a:ln>
        </p:spPr>
      </p:sp>
      <p:sp>
        <p:nvSpPr>
          <p:cNvPr id="19" name="Text 17"/>
          <p:cNvSpPr txBox="1"/>
          <p:nvPr/>
        </p:nvSpPr>
        <p:spPr>
          <a:xfrm>
            <a:off x="4107028"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سوزانده</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۳۰٪ ثابت</a:t>
            </a:r>
            <a:endParaRPr lang="en-US" sz="1300" dirty="0"/>
          </a:p>
        </p:txBody>
      </p:sp>
      <p:sp>
        <p:nvSpPr>
          <p:cNvPr id="20" name="Shape 18"/>
          <p:cNvSpPr/>
          <p:nvPr/>
        </p:nvSpPr>
        <p:spPr>
          <a:xfrm>
            <a:off x="548640" y="2651760"/>
            <a:ext cx="3329788" cy="1051560"/>
          </a:xfrm>
          <a:prstGeom prst="roundRect">
            <a:avLst>
              <a:gd name="adj" fmla="val 10435"/>
            </a:avLst>
          </a:prstGeom>
          <a:solidFill>
            <a:srgbClr val="FFFFFF"/>
          </a:solidFill>
          <a:ln w="19050">
            <a:solidFill>
              <a:srgbClr val="3D46A8"/>
            </a:solidFill>
            <a:prstDash val="solid"/>
          </a:ln>
        </p:spPr>
      </p:sp>
      <p:sp>
        <p:nvSpPr>
          <p:cNvPr id="21" name="Text 19"/>
          <p:cNvSpPr txBox="1"/>
          <p:nvPr/>
        </p:nvSpPr>
        <p:spPr>
          <a:xfrm>
            <a:off x="640080"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۷۰٪ به نسبت بلاک</a:t>
            </a:r>
            <a:endParaRPr lang="en-US" sz="1300" dirty="0"/>
          </a:p>
        </p:txBody>
      </p:sp>
      <p:sp>
        <p:nvSpPr>
          <p:cNvPr id="22" name="Shape 20"/>
          <p:cNvSpPr/>
          <p:nvPr/>
        </p:nvSpPr>
        <p:spPr>
          <a:xfrm>
            <a:off x="8076895" y="3886200"/>
            <a:ext cx="3566160" cy="1051560"/>
          </a:xfrm>
          <a:prstGeom prst="roundRect">
            <a:avLst>
              <a:gd name="adj" fmla="val 10435"/>
            </a:avLst>
          </a:prstGeom>
          <a:solidFill>
            <a:srgbClr val="EEF0FB"/>
          </a:solidFill>
          <a:ln w="9525">
            <a:solidFill>
              <a:srgbClr val="EEF0FB"/>
            </a:solidFill>
            <a:prstDash val="solid"/>
          </a:ln>
        </p:spPr>
      </p:sp>
      <p:sp>
        <p:nvSpPr>
          <p:cNvPr id="23" name="Text 21"/>
          <p:cNvSpPr txBox="1"/>
          <p:nvPr/>
        </p:nvSpPr>
        <p:spPr>
          <a:xfrm>
            <a:off x="8214055" y="388620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عضویت (۴٪ وثیقه، رویداد جدا)</a:t>
            </a:r>
            <a:endParaRPr lang="en-US" sz="1250" dirty="0"/>
          </a:p>
        </p:txBody>
      </p:sp>
      <p:sp>
        <p:nvSpPr>
          <p:cNvPr id="24" name="Shape 22"/>
          <p:cNvSpPr/>
          <p:nvPr/>
        </p:nvSpPr>
        <p:spPr>
          <a:xfrm flipH="1">
            <a:off x="7482535" y="4411980"/>
            <a:ext cx="548640" cy="0"/>
          </a:xfrm>
          <a:prstGeom prst="line">
            <a:avLst/>
          </a:prstGeom>
          <a:noFill/>
          <a:ln w="31750">
            <a:solidFill>
              <a:srgbClr val="2F3690"/>
            </a:solidFill>
            <a:prstDash val="solid"/>
            <a:tailEnd type="triangle"/>
          </a:ln>
        </p:spPr>
      </p:sp>
      <p:sp>
        <p:nvSpPr>
          <p:cNvPr id="25" name="Shape 23"/>
          <p:cNvSpPr/>
          <p:nvPr/>
        </p:nvSpPr>
        <p:spPr>
          <a:xfrm>
            <a:off x="548640" y="3886200"/>
            <a:ext cx="6796735" cy="1051560"/>
          </a:xfrm>
          <a:prstGeom prst="roundRect">
            <a:avLst>
              <a:gd name="adj" fmla="val 10435"/>
            </a:avLst>
          </a:prstGeom>
          <a:solidFill>
            <a:srgbClr val="FFFFFF"/>
          </a:solidFill>
          <a:ln w="19050">
            <a:solidFill>
              <a:srgbClr val="3D46A8"/>
            </a:solidFill>
            <a:prstDash val="solid"/>
          </a:ln>
        </p:spPr>
      </p:sp>
      <p:sp>
        <p:nvSpPr>
          <p:cNvPr id="26" name="Text 24"/>
          <p:cNvSpPr txBox="1"/>
          <p:nvPr/>
        </p:nvSpPr>
        <p:spPr>
          <a:xfrm>
            <a:off x="640080" y="3886200"/>
            <a:ext cx="6613855"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تولیدکنندگان بازه‌ی توزیع بعدی</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۱۰۰٪ بدون سوزاندن</a:t>
            </a:r>
            <a:endParaRPr lang="en-US" sz="1300" dirty="0"/>
          </a:p>
        </p:txBody>
      </p:sp>
      <p:sp>
        <p:nvSpPr>
          <p:cNvPr id="27" name="Shape 25"/>
          <p:cNvSpPr/>
          <p:nvPr/>
        </p:nvSpPr>
        <p:spPr>
          <a:xfrm>
            <a:off x="548640" y="5166360"/>
            <a:ext cx="11094415" cy="1188720"/>
          </a:xfrm>
          <a:prstGeom prst="roundRect">
            <a:avLst>
              <a:gd name="adj" fmla="val 9231"/>
            </a:avLst>
          </a:prstGeom>
          <a:solidFill>
            <a:srgbClr val="F7F9FC"/>
          </a:solidFill>
          <a:ln w="9525">
            <a:solidFill>
              <a:srgbClr val="DDE1EE"/>
            </a:solidFill>
            <a:prstDash val="solid"/>
          </a:ln>
        </p:spPr>
      </p:sp>
      <p:sp>
        <p:nvSpPr>
          <p:cNvPr id="28" name="Text 26"/>
          <p:cNvSpPr txBox="1"/>
          <p:nvPr/>
        </p:nvSpPr>
        <p:spPr>
          <a:xfrm>
            <a:off x="731520" y="5230368"/>
            <a:ext cx="10728655"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مصرف‌های خارج از گردش آزاد</a:t>
            </a:r>
            <a:endParaRPr lang="en-US" sz="1300" dirty="0"/>
          </a:p>
        </p:txBody>
      </p:sp>
      <p:sp>
        <p:nvSpPr>
          <p:cNvPr id="29" name="Text 27"/>
          <p:cNvSpPr txBox="1"/>
          <p:nvPr/>
        </p:nvSpPr>
        <p:spPr>
          <a:xfrm>
            <a:off x="731520" y="5532120"/>
            <a:ext cx="10728655" cy="7772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وثیقه‌ی ولیدیتور در ValidatorsRegistry قفل می‌ماند و در خروج داوطلبانه برمی‌گردد؛ بخش جریمه‌شده‌ی آن به خزانه می‌رود. سوزاندن فقط از کارمزد معمولی انجام می‌شود (ریوارد و کارمزد عضویت معاف‌اند)، پس انتشار ریوارد را فقط تا حدی خنثی می‌کند، نه کامل.</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توکنومیکس سورن در اعداد: عرضه و قیمت‌گذاری سه‌فازی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006840" y="1417320"/>
            <a:ext cx="2636444" cy="1143000"/>
          </a:xfrm>
          <a:prstGeom prst="roundRect">
            <a:avLst>
              <a:gd name="adj" fmla="val 9600"/>
            </a:avLst>
          </a:prstGeom>
          <a:solidFill>
            <a:srgbClr val="EEF0FB"/>
          </a:solidFill>
          <a:ln w="9525">
            <a:solidFill>
              <a:srgbClr val="EEF0FB"/>
            </a:solidFill>
            <a:prstDash val="solid"/>
          </a:ln>
        </p:spPr>
      </p:sp>
      <p:sp>
        <p:nvSpPr>
          <p:cNvPr id="7" name="Text 5"/>
          <p:cNvSpPr txBox="1"/>
          <p:nvPr/>
        </p:nvSpPr>
        <p:spPr>
          <a:xfrm>
            <a:off x="90068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۳۵٫۵۳ میلیون</a:t>
            </a:r>
            <a:endParaRPr lang="en-US" sz="2200" dirty="0"/>
          </a:p>
        </p:txBody>
      </p:sp>
      <p:sp>
        <p:nvSpPr>
          <p:cNvPr id="8" name="Text 6"/>
          <p:cNvSpPr txBox="1"/>
          <p:nvPr/>
        </p:nvSpPr>
        <p:spPr>
          <a:xfrm>
            <a:off x="91165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پایه‌ی عرضه‌ی اولیه‌ی فعلی (ردیف ۱ و ۳؛ ردیف ۲ تعیین نشده)</a:t>
            </a:r>
            <a:endParaRPr lang="en-US" sz="1050" dirty="0"/>
          </a:p>
        </p:txBody>
      </p:sp>
      <p:sp>
        <p:nvSpPr>
          <p:cNvPr id="9" name="Shape 7"/>
          <p:cNvSpPr/>
          <p:nvPr/>
        </p:nvSpPr>
        <p:spPr>
          <a:xfrm>
            <a:off x="6186830" y="1417320"/>
            <a:ext cx="2636444" cy="1143000"/>
          </a:xfrm>
          <a:prstGeom prst="roundRect">
            <a:avLst>
              <a:gd name="adj" fmla="val 9600"/>
            </a:avLst>
          </a:prstGeom>
          <a:solidFill>
            <a:srgbClr val="EEF0FB"/>
          </a:solidFill>
          <a:ln w="9525">
            <a:solidFill>
              <a:srgbClr val="EEF0FB"/>
            </a:solidFill>
            <a:prstDash val="solid"/>
          </a:ln>
        </p:spPr>
      </p:sp>
      <p:sp>
        <p:nvSpPr>
          <p:cNvPr id="10" name="Text 8"/>
          <p:cNvSpPr txBox="1"/>
          <p:nvPr/>
        </p:nvSpPr>
        <p:spPr>
          <a:xfrm>
            <a:off x="618683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۲۱٫۰۲۴ میلیون</a:t>
            </a:r>
            <a:endParaRPr lang="en-US" sz="2200" dirty="0"/>
          </a:p>
        </p:txBody>
      </p:sp>
      <p:sp>
        <p:nvSpPr>
          <p:cNvPr id="11" name="Text 9"/>
          <p:cNvSpPr txBox="1"/>
          <p:nvPr/>
        </p:nvSpPr>
        <p:spPr>
          <a:xfrm>
            <a:off x="629655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انتشار سالانه، دائمی و بدون halving</a:t>
            </a:r>
            <a:endParaRPr lang="en-US" sz="1050" dirty="0"/>
          </a:p>
        </p:txBody>
      </p:sp>
      <p:sp>
        <p:nvSpPr>
          <p:cNvPr id="12" name="Shape 10"/>
          <p:cNvSpPr/>
          <p:nvPr/>
        </p:nvSpPr>
        <p:spPr>
          <a:xfrm>
            <a:off x="3367735" y="1417320"/>
            <a:ext cx="2636444" cy="1143000"/>
          </a:xfrm>
          <a:prstGeom prst="roundRect">
            <a:avLst>
              <a:gd name="adj" fmla="val 9600"/>
            </a:avLst>
          </a:prstGeom>
          <a:solidFill>
            <a:srgbClr val="EEF0FB"/>
          </a:solidFill>
          <a:ln w="9525">
            <a:solidFill>
              <a:srgbClr val="EEF0FB"/>
            </a:solidFill>
            <a:prstDash val="solid"/>
          </a:ln>
        </p:spPr>
      </p:sp>
      <p:sp>
        <p:nvSpPr>
          <p:cNvPr id="13" name="Text 11"/>
          <p:cNvSpPr txBox="1"/>
          <p:nvPr/>
        </p:nvSpPr>
        <p:spPr>
          <a:xfrm>
            <a:off x="3367735"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۵۹٪ ← ۴٫۸٪</a:t>
            </a:r>
            <a:endParaRPr lang="en-US" sz="2200" dirty="0"/>
          </a:p>
        </p:txBody>
      </p:sp>
      <p:sp>
        <p:nvSpPr>
          <p:cNvPr id="14" name="Text 12"/>
          <p:cNvSpPr txBox="1"/>
          <p:nvPr/>
        </p:nvSpPr>
        <p:spPr>
          <a:xfrm>
            <a:off x="3477463"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نرخ رشد سالانه‌ی عرضه در سال ۱ و در سال ۲۰</a:t>
            </a:r>
            <a:endParaRPr lang="en-US" sz="1050" dirty="0"/>
          </a:p>
        </p:txBody>
      </p:sp>
      <p:sp>
        <p:nvSpPr>
          <p:cNvPr id="15" name="Shape 13"/>
          <p:cNvSpPr/>
          <p:nvPr/>
        </p:nvSpPr>
        <p:spPr>
          <a:xfrm>
            <a:off x="548640" y="1417320"/>
            <a:ext cx="2636444" cy="1143000"/>
          </a:xfrm>
          <a:prstGeom prst="roundRect">
            <a:avLst>
              <a:gd name="adj" fmla="val 9600"/>
            </a:avLst>
          </a:prstGeom>
          <a:solidFill>
            <a:srgbClr val="EEF0FB"/>
          </a:solidFill>
          <a:ln w="9525">
            <a:solidFill>
              <a:srgbClr val="EEF0FB"/>
            </a:solidFill>
            <a:prstDash val="solid"/>
          </a:ln>
        </p:spPr>
      </p:sp>
      <p:sp>
        <p:nvSpPr>
          <p:cNvPr id="16" name="Text 14"/>
          <p:cNvSpPr txBox="1"/>
          <p:nvPr/>
        </p:nvSpPr>
        <p:spPr>
          <a:xfrm>
            <a:off x="5486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۲۰ میلیون</a:t>
            </a:r>
            <a:endParaRPr lang="en-US" sz="2200" dirty="0"/>
          </a:p>
        </p:txBody>
      </p:sp>
      <p:sp>
        <p:nvSpPr>
          <p:cNvPr id="17" name="Text 15"/>
          <p:cNvSpPr txBox="1"/>
          <p:nvPr/>
        </p:nvSpPr>
        <p:spPr>
          <a:xfrm>
            <a:off x="6583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موجودی فروش بنیاد (ردیف ۱ genesis)</a:t>
            </a:r>
            <a:endParaRPr lang="en-US" sz="1050" dirty="0"/>
          </a:p>
        </p:txBody>
      </p:sp>
      <p:sp>
        <p:nvSpPr>
          <p:cNvPr id="18" name="Shape 16"/>
          <p:cNvSpPr/>
          <p:nvPr/>
        </p:nvSpPr>
        <p:spPr>
          <a:xfrm>
            <a:off x="8078724" y="2788920"/>
            <a:ext cx="3564026" cy="1783080"/>
          </a:xfrm>
          <a:prstGeom prst="roundRect">
            <a:avLst>
              <a:gd name="adj" fmla="val 6154"/>
            </a:avLst>
          </a:prstGeom>
          <a:solidFill>
            <a:srgbClr val="FFFFFF"/>
          </a:solidFill>
          <a:ln w="19050">
            <a:solidFill>
              <a:srgbClr val="2F3690"/>
            </a:solidFill>
            <a:prstDash val="solid"/>
          </a:ln>
        </p:spPr>
      </p:sp>
      <p:sp>
        <p:nvSpPr>
          <p:cNvPr id="19" name="Text 17"/>
          <p:cNvSpPr txBox="1"/>
          <p:nvPr/>
        </p:nvSpPr>
        <p:spPr>
          <a:xfrm>
            <a:off x="8215884"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فاز ۱: قیمت ثابت، ۶ ماه</a:t>
            </a:r>
            <a:endParaRPr lang="en-US" sz="1350" dirty="0"/>
          </a:p>
        </p:txBody>
      </p:sp>
      <p:sp>
        <p:nvSpPr>
          <p:cNvPr id="20" name="Text 18"/>
          <p:cNvSpPr txBox="1"/>
          <p:nvPr/>
        </p:nvSpPr>
        <p:spPr>
          <a:xfrm>
            <a:off x="8215884"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فقط می‌فروشد؛ قیمت از ۱۰۰ تومان شروع می‌شود و ماهانه ۳٪ مرکب رشد می‌کند (حدود ۱۱۶ تومان در ماه ششم). سیگنال اصلی: سرعت فروش موجودی بنیاد.</a:t>
            </a:r>
            <a:endParaRPr lang="en-US" sz="1100" dirty="0"/>
          </a:p>
        </p:txBody>
      </p:sp>
      <p:sp>
        <p:nvSpPr>
          <p:cNvPr id="21" name="Shape 19"/>
          <p:cNvSpPr/>
          <p:nvPr/>
        </p:nvSpPr>
        <p:spPr>
          <a:xfrm>
            <a:off x="4314139" y="2788920"/>
            <a:ext cx="3564026" cy="1783080"/>
          </a:xfrm>
          <a:prstGeom prst="roundRect">
            <a:avLst>
              <a:gd name="adj" fmla="val 6154"/>
            </a:avLst>
          </a:prstGeom>
          <a:solidFill>
            <a:srgbClr val="FFFFFF"/>
          </a:solidFill>
          <a:ln w="19050">
            <a:solidFill>
              <a:srgbClr val="3D46A8"/>
            </a:solidFill>
            <a:prstDash val="solid"/>
          </a:ln>
        </p:spPr>
      </p:sp>
      <p:sp>
        <p:nvSpPr>
          <p:cNvPr id="22" name="Text 20"/>
          <p:cNvSpPr txBox="1"/>
          <p:nvPr/>
        </p:nvSpPr>
        <p:spPr>
          <a:xfrm>
            <a:off x="4451299"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3D46A8"/>
                </a:solidFill>
                <a:latin typeface="Vazirmatn" pitchFamily="34" charset="0"/>
                <a:ea typeface="Vazirmatn" pitchFamily="34" charset="-122"/>
                <a:cs typeface="Vazirmatn" pitchFamily="34" charset="-120"/>
              </a:rPr>
              <a:t>فاز ۲: گذار کنترل‌شده، ۴۵ روز</a:t>
            </a:r>
            <a:endParaRPr lang="en-US" sz="1350" dirty="0"/>
          </a:p>
        </p:txBody>
      </p:sp>
      <p:sp>
        <p:nvSpPr>
          <p:cNvPr id="23" name="Text 21"/>
          <p:cNvSpPr txBox="1"/>
          <p:nvPr/>
        </p:nvSpPr>
        <p:spPr>
          <a:xfrm>
            <a:off x="4451299"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هنوز تنها فروشنده است؛ قیمت روزانه ±۰٫۵٪ بر پایه‌ی حجم فروش نسبت به میانگین ۷روزه؛ کف ۹۰ و سقف ۱۵۰ تومان. این هنوز کشف قیمت واقعی نیست.</a:t>
            </a:r>
            <a:endParaRPr lang="en-US" sz="1100" dirty="0"/>
          </a:p>
        </p:txBody>
      </p:sp>
      <p:sp>
        <p:nvSpPr>
          <p:cNvPr id="24" name="Shape 22"/>
          <p:cNvSpPr/>
          <p:nvPr/>
        </p:nvSpPr>
        <p:spPr>
          <a:xfrm>
            <a:off x="548640" y="2788920"/>
            <a:ext cx="3564026" cy="1783080"/>
          </a:xfrm>
          <a:prstGeom prst="roundRect">
            <a:avLst>
              <a:gd name="adj" fmla="val 6154"/>
            </a:avLst>
          </a:prstGeom>
          <a:solidFill>
            <a:srgbClr val="FFFFFF"/>
          </a:solidFill>
          <a:ln w="19050">
            <a:solidFill>
              <a:srgbClr val="C8431F"/>
            </a:solidFill>
            <a:prstDash val="solid"/>
          </a:ln>
        </p:spPr>
      </p:sp>
      <p:sp>
        <p:nvSpPr>
          <p:cNvPr id="25" name="Text 23"/>
          <p:cNvSpPr txBox="1"/>
          <p:nvPr/>
        </p:nvSpPr>
        <p:spPr>
          <a:xfrm>
            <a:off x="685800"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فاز ۳: بازار آزاد</a:t>
            </a:r>
            <a:endParaRPr lang="en-US" sz="1350" dirty="0"/>
          </a:p>
        </p:txBody>
      </p:sp>
      <p:sp>
        <p:nvSpPr>
          <p:cNvPr id="26" name="Text 24"/>
          <p:cNvSpPr txBox="1"/>
          <p:nvPr/>
        </p:nvSpPr>
        <p:spPr>
          <a:xfrm>
            <a:off x="685800"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قیمت کاملاً با عرضه و تقاضا تعیین می‌شود و بنیاد دیگر قیمت‌گذار نیست.</a:t>
            </a:r>
            <a:endParaRPr lang="en-US" sz="1100" dirty="0"/>
          </a:p>
        </p:txBody>
      </p:sp>
      <p:sp>
        <p:nvSpPr>
          <p:cNvPr id="27" name="Shape 25"/>
          <p:cNvSpPr/>
          <p:nvPr/>
        </p:nvSpPr>
        <p:spPr>
          <a:xfrm>
            <a:off x="8078724" y="4754880"/>
            <a:ext cx="3564026" cy="1554480"/>
          </a:xfrm>
          <a:prstGeom prst="roundRect">
            <a:avLst>
              <a:gd name="adj" fmla="val 7059"/>
            </a:avLst>
          </a:prstGeom>
          <a:solidFill>
            <a:srgbClr val="F7F9FC"/>
          </a:solidFill>
          <a:ln w="9525">
            <a:solidFill>
              <a:srgbClr val="DDE1EE"/>
            </a:solidFill>
            <a:prstDash val="solid"/>
          </a:ln>
        </p:spPr>
      </p:sp>
      <p:sp>
        <p:nvSpPr>
          <p:cNvPr id="28" name="Text 26"/>
          <p:cNvSpPr txBox="1"/>
          <p:nvPr/>
        </p:nvSpPr>
        <p:spPr>
          <a:xfrm>
            <a:off x="8215884"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فشار نزولی</a:t>
            </a:r>
            <a:endParaRPr lang="en-US" sz="1300" dirty="0"/>
          </a:p>
        </p:txBody>
      </p:sp>
      <p:sp>
        <p:nvSpPr>
          <p:cNvPr id="29" name="Text 27"/>
          <p:cNvSpPr txBox="1"/>
          <p:nvPr/>
        </p:nvSpPr>
        <p:spPr>
          <a:xfrm>
            <a:off x="8215884"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انتشار پیوسته‌ی ۲۱ میلیون در سال؛ سوزاندن ۳۰٪ کارمزد فقط بخش جزئی آن را خنثی می‌کند، چون منبع غالب انتشار ریوارد است نه کارمزد.</a:t>
            </a:r>
            <a:endParaRPr lang="en-US" sz="1050" dirty="0"/>
          </a:p>
        </p:txBody>
      </p:sp>
      <p:sp>
        <p:nvSpPr>
          <p:cNvPr id="30" name="Shape 28"/>
          <p:cNvSpPr/>
          <p:nvPr/>
        </p:nvSpPr>
        <p:spPr>
          <a:xfrm>
            <a:off x="4314139" y="4754880"/>
            <a:ext cx="3564026" cy="1554480"/>
          </a:xfrm>
          <a:prstGeom prst="roundRect">
            <a:avLst>
              <a:gd name="adj" fmla="val 7059"/>
            </a:avLst>
          </a:prstGeom>
          <a:solidFill>
            <a:srgbClr val="F7F9FC"/>
          </a:solidFill>
          <a:ln w="9525">
            <a:solidFill>
              <a:srgbClr val="DDE1EE"/>
            </a:solidFill>
            <a:prstDash val="solid"/>
          </a:ln>
        </p:spPr>
      </p:sp>
      <p:sp>
        <p:nvSpPr>
          <p:cNvPr id="31" name="Text 29"/>
          <p:cNvSpPr txBox="1"/>
          <p:nvPr/>
        </p:nvSpPr>
        <p:spPr>
          <a:xfrm>
            <a:off x="4451299"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F7A55"/>
                </a:solidFill>
                <a:latin typeface="Vazirmatn" pitchFamily="34" charset="0"/>
                <a:ea typeface="Vazirmatn" pitchFamily="34" charset="-122"/>
                <a:cs typeface="Vazirmatn" pitchFamily="34" charset="-120"/>
              </a:rPr>
              <a:t>فشار صعودی</a:t>
            </a:r>
            <a:endParaRPr lang="en-US" sz="1300" dirty="0"/>
          </a:p>
        </p:txBody>
      </p:sp>
      <p:sp>
        <p:nvSpPr>
          <p:cNvPr id="32" name="Text 30"/>
          <p:cNvSpPr txBox="1"/>
          <p:nvPr/>
        </p:nvSpPr>
        <p:spPr>
          <a:xfrm>
            <a:off x="4451299"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قفل‌شدن وثیقه‌ی ولیدیتورهای تازه؛ هزینه‌ی ورود با شمار ولیدیتورها نمایی بالا می‌رود (حدود ۵۰۰ هزار سورن برای نفر اول تا بیش از ۲ میلیون نزدیک ۱۰۰ نفر).</a:t>
            </a:r>
            <a:endParaRPr lang="en-US" sz="1050" dirty="0"/>
          </a:p>
        </p:txBody>
      </p:sp>
      <p:sp>
        <p:nvSpPr>
          <p:cNvPr id="33" name="Shape 31"/>
          <p:cNvSpPr/>
          <p:nvPr/>
        </p:nvSpPr>
        <p:spPr>
          <a:xfrm>
            <a:off x="548640" y="4754880"/>
            <a:ext cx="3564026" cy="1554480"/>
          </a:xfrm>
          <a:prstGeom prst="roundRect">
            <a:avLst>
              <a:gd name="adj" fmla="val 7059"/>
            </a:avLst>
          </a:prstGeom>
          <a:solidFill>
            <a:srgbClr val="F7F9FC"/>
          </a:solidFill>
          <a:ln w="9525">
            <a:solidFill>
              <a:srgbClr val="DDE1EE"/>
            </a:solidFill>
            <a:prstDash val="solid"/>
          </a:ln>
        </p:spPr>
      </p:sp>
      <p:sp>
        <p:nvSpPr>
          <p:cNvPr id="34" name="Text 32"/>
          <p:cNvSpPr txBox="1"/>
          <p:nvPr/>
        </p:nvSpPr>
        <p:spPr>
          <a:xfrm>
            <a:off x="685800"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عدم قطعیت</a:t>
            </a:r>
            <a:endParaRPr lang="en-US" sz="1300" dirty="0"/>
          </a:p>
        </p:txBody>
      </p:sp>
      <p:sp>
        <p:nvSpPr>
          <p:cNvPr id="35" name="Text 33"/>
          <p:cNvSpPr txBox="1"/>
          <p:nvPr/>
        </p:nvSpPr>
        <p:spPr>
          <a:xfrm>
            <a:off x="685800"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«۱۰۰ تومان» یک فرض کاری است، نه ارزش برآمده از بازار. قیمت به تومان لنگر شده (نه دلار)، پس تورم یا نوسان تومان یک لایه ریسک اضافه می‌کند.</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عرضه‌ی اولیه: سه ردیف مجزا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8097012" y="1417320"/>
            <a:ext cx="3545738" cy="3246120"/>
          </a:xfrm>
          <a:prstGeom prst="roundRect">
            <a:avLst>
              <a:gd name="adj" fmla="val 3380"/>
            </a:avLst>
          </a:prstGeom>
          <a:solidFill>
            <a:srgbClr val="EEF0FB"/>
          </a:solidFill>
          <a:ln w="9525">
            <a:solidFill>
              <a:srgbClr val="EEF0FB"/>
            </a:solidFill>
            <a:prstDash val="solid"/>
          </a:ln>
        </p:spPr>
      </p:sp>
      <p:sp>
        <p:nvSpPr>
          <p:cNvPr id="7" name="Shape 5"/>
          <p:cNvSpPr/>
          <p:nvPr/>
        </p:nvSpPr>
        <p:spPr>
          <a:xfrm>
            <a:off x="11002670" y="1600200"/>
            <a:ext cx="457200" cy="457200"/>
          </a:xfrm>
          <a:prstGeom prst="ellipse">
            <a:avLst/>
          </a:prstGeom>
          <a:solidFill>
            <a:srgbClr val="2F3690"/>
          </a:solidFill>
          <a:ln w="12700">
            <a:solidFill>
              <a:srgbClr val="2F3690"/>
            </a:solidFill>
            <a:prstDash val="solid"/>
          </a:ln>
        </p:spPr>
      </p:sp>
      <p:sp>
        <p:nvSpPr>
          <p:cNvPr id="8" name="Text 6"/>
          <p:cNvSpPr txBox="1"/>
          <p:nvPr/>
        </p:nvSpPr>
        <p:spPr>
          <a:xfrm>
            <a:off x="11002670"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8279892"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توسعه‌ی اکوسیستم</a:t>
            </a:r>
            <a:endParaRPr lang="en-US" sz="1500" dirty="0"/>
          </a:p>
        </p:txBody>
      </p:sp>
      <p:sp>
        <p:nvSpPr>
          <p:cNvPr id="10" name="Text 8"/>
          <p:cNvSpPr txBox="1"/>
          <p:nvPr/>
        </p:nvSpPr>
        <p:spPr>
          <a:xfrm>
            <a:off x="8279892"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۲۰٬۰۰۰٬۰۰۰</a:t>
            </a:r>
            <a:endParaRPr lang="en-US" sz="3600" dirty="0"/>
          </a:p>
        </p:txBody>
      </p:sp>
      <p:sp>
        <p:nvSpPr>
          <p:cNvPr id="11" name="Text 9"/>
          <p:cNvSpPr txBox="1"/>
          <p:nvPr/>
        </p:nvSpPr>
        <p:spPr>
          <a:xfrm>
            <a:off x="8279892"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2" name="Text 10"/>
          <p:cNvSpPr txBox="1"/>
          <p:nvPr/>
        </p:nvSpPr>
        <p:spPr>
          <a:xfrm>
            <a:off x="8279892"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یک‌جا به FoundationDAO</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توسعه، آموزش و تبلیغات؛ منبع فروش دوره‌ی قیمت ثابت</a:t>
            </a:r>
            <a:endParaRPr lang="en-US" sz="1250" dirty="0"/>
          </a:p>
        </p:txBody>
      </p:sp>
      <p:sp>
        <p:nvSpPr>
          <p:cNvPr id="13" name="Shape 11"/>
          <p:cNvSpPr/>
          <p:nvPr/>
        </p:nvSpPr>
        <p:spPr>
          <a:xfrm>
            <a:off x="4323283" y="1417320"/>
            <a:ext cx="3545738" cy="3246120"/>
          </a:xfrm>
          <a:prstGeom prst="roundRect">
            <a:avLst>
              <a:gd name="adj" fmla="val 3380"/>
            </a:avLst>
          </a:prstGeom>
          <a:solidFill>
            <a:srgbClr val="FCEAE4"/>
          </a:solidFill>
          <a:ln w="9525">
            <a:solidFill>
              <a:srgbClr val="FCEAE4"/>
            </a:solidFill>
            <a:prstDash val="solid"/>
          </a:ln>
        </p:spPr>
      </p:sp>
      <p:sp>
        <p:nvSpPr>
          <p:cNvPr id="14" name="Shape 12"/>
          <p:cNvSpPr/>
          <p:nvPr/>
        </p:nvSpPr>
        <p:spPr>
          <a:xfrm>
            <a:off x="7228942" y="1600200"/>
            <a:ext cx="457200" cy="457200"/>
          </a:xfrm>
          <a:prstGeom prst="ellipse">
            <a:avLst/>
          </a:prstGeom>
          <a:solidFill>
            <a:srgbClr val="C8431F"/>
          </a:solidFill>
          <a:ln w="12700">
            <a:solidFill>
              <a:srgbClr val="C8431F"/>
            </a:solidFill>
            <a:prstDash val="solid"/>
          </a:ln>
        </p:spPr>
      </p:sp>
      <p:sp>
        <p:nvSpPr>
          <p:cNvPr id="15" name="Text 13"/>
          <p:cNvSpPr txBox="1"/>
          <p:nvPr/>
        </p:nvSpPr>
        <p:spPr>
          <a:xfrm>
            <a:off x="7228942"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6" name="Text 14"/>
          <p:cNvSpPr txBox="1"/>
          <p:nvPr/>
        </p:nvSpPr>
        <p:spPr>
          <a:xfrm>
            <a:off x="4506163"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جبران ولیدیتورهای شبکه‌ی قبلی</a:t>
            </a:r>
            <a:endParaRPr lang="en-US" sz="1500" dirty="0"/>
          </a:p>
        </p:txBody>
      </p:sp>
      <p:sp>
        <p:nvSpPr>
          <p:cNvPr id="17" name="Text 15"/>
          <p:cNvSpPr txBox="1"/>
          <p:nvPr/>
        </p:nvSpPr>
        <p:spPr>
          <a:xfrm>
            <a:off x="4506163"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2600" b="1" dirty="0">
                <a:solidFill>
                  <a:srgbClr val="C8431F"/>
                </a:solidFill>
                <a:latin typeface="Vazirmatn" pitchFamily="34" charset="0"/>
                <a:ea typeface="Vazirmatn" pitchFamily="34" charset="-122"/>
                <a:cs typeface="Vazirmatn" pitchFamily="34" charset="-120"/>
              </a:rPr>
              <a:t>تعیین‌نشده</a:t>
            </a:r>
            <a:endParaRPr lang="en-US" sz="2600" dirty="0"/>
          </a:p>
        </p:txBody>
      </p:sp>
      <p:sp>
        <p:nvSpPr>
          <p:cNvPr id="18" name="Text 16"/>
          <p:cNvSpPr txBox="1"/>
          <p:nvPr/>
        </p:nvSpPr>
        <p:spPr>
          <a:xfrm>
            <a:off x="4506163"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9" name="Text 17"/>
          <p:cNvSpPr txBox="1"/>
          <p:nvPr/>
        </p:nvSpPr>
        <p:spPr>
          <a:xfrm>
            <a:off x="4506163"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به آدرس هر ولیدیتور سابق</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جبران سورن ازدست‌رفته؛ مبلغ کل و فهرست آدرس‌ها هنوز نهایی نشده</a:t>
            </a:r>
            <a:endParaRPr lang="en-US" sz="1250" dirty="0"/>
          </a:p>
        </p:txBody>
      </p:sp>
      <p:sp>
        <p:nvSpPr>
          <p:cNvPr id="20" name="Shape 18"/>
          <p:cNvSpPr/>
          <p:nvPr/>
        </p:nvSpPr>
        <p:spPr>
          <a:xfrm>
            <a:off x="548640" y="1417320"/>
            <a:ext cx="3545738" cy="3246120"/>
          </a:xfrm>
          <a:prstGeom prst="roundRect">
            <a:avLst>
              <a:gd name="adj" fmla="val 3380"/>
            </a:avLst>
          </a:prstGeom>
          <a:solidFill>
            <a:srgbClr val="EEF0FB"/>
          </a:solidFill>
          <a:ln w="9525">
            <a:solidFill>
              <a:srgbClr val="EEF0FB"/>
            </a:solidFill>
            <a:prstDash val="solid"/>
          </a:ln>
        </p:spPr>
      </p:sp>
      <p:sp>
        <p:nvSpPr>
          <p:cNvPr id="21" name="Shape 19"/>
          <p:cNvSpPr/>
          <p:nvPr/>
        </p:nvSpPr>
        <p:spPr>
          <a:xfrm>
            <a:off x="3454298" y="1600200"/>
            <a:ext cx="457200" cy="457200"/>
          </a:xfrm>
          <a:prstGeom prst="ellipse">
            <a:avLst/>
          </a:prstGeom>
          <a:solidFill>
            <a:srgbClr val="2F3690"/>
          </a:solidFill>
          <a:ln w="12700">
            <a:solidFill>
              <a:srgbClr val="2F3690"/>
            </a:solidFill>
            <a:prstDash val="solid"/>
          </a:ln>
        </p:spPr>
      </p:sp>
      <p:sp>
        <p:nvSpPr>
          <p:cNvPr id="22" name="Text 20"/>
          <p:cNvSpPr txBox="1"/>
          <p:nvPr/>
        </p:nvSpPr>
        <p:spPr>
          <a:xfrm>
            <a:off x="3454298"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23" name="Text 21"/>
          <p:cNvSpPr txBox="1"/>
          <p:nvPr/>
        </p:nvSpPr>
        <p:spPr>
          <a:xfrm>
            <a:off x="731520"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تسویه‌ی بدهی بنیاد</a:t>
            </a:r>
            <a:endParaRPr lang="en-US" sz="1500" dirty="0"/>
          </a:p>
        </p:txBody>
      </p:sp>
      <p:sp>
        <p:nvSpPr>
          <p:cNvPr id="24" name="Text 22"/>
          <p:cNvSpPr txBox="1"/>
          <p:nvPr/>
        </p:nvSpPr>
        <p:spPr>
          <a:xfrm>
            <a:off x="731520"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۱۵٬۵۳۰٬۰۰۰</a:t>
            </a:r>
            <a:endParaRPr lang="en-US" sz="3600" dirty="0"/>
          </a:p>
        </p:txBody>
      </p:sp>
      <p:sp>
        <p:nvSpPr>
          <p:cNvPr id="25" name="Text 23"/>
          <p:cNvSpPr txBox="1"/>
          <p:nvPr/>
        </p:nvSpPr>
        <p:spPr>
          <a:xfrm>
            <a:off x="731520"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26" name="Text 24"/>
          <p:cNvSpPr txBox="1"/>
          <p:nvPr/>
        </p:nvSpPr>
        <p:spPr>
          <a:xfrm>
            <a:off x="731520"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و ردیفی به هر طلبکار</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حقوق، دستمزد و قرض افشاشده؛ بدون استخر مشترک تا کسی به پرداخت خودش رأی ندهد</a:t>
            </a:r>
            <a:endParaRPr lang="en-US" sz="1250" dirty="0"/>
          </a:p>
        </p:txBody>
      </p:sp>
      <p:sp>
        <p:nvSpPr>
          <p:cNvPr id="27" name="Shape 25"/>
          <p:cNvSpPr/>
          <p:nvPr/>
        </p:nvSpPr>
        <p:spPr>
          <a:xfrm>
            <a:off x="8097012" y="4892040"/>
            <a:ext cx="3545738" cy="1280160"/>
          </a:xfrm>
          <a:prstGeom prst="roundRect">
            <a:avLst>
              <a:gd name="adj" fmla="val 8571"/>
            </a:avLst>
          </a:prstGeom>
          <a:solidFill>
            <a:srgbClr val="F7F9FC"/>
          </a:solidFill>
          <a:ln w="9525">
            <a:solidFill>
              <a:srgbClr val="DDE1EE"/>
            </a:solidFill>
            <a:prstDash val="solid"/>
          </a:ln>
        </p:spPr>
      </p:sp>
      <p:sp>
        <p:nvSpPr>
          <p:cNvPr id="28" name="Text 26"/>
          <p:cNvSpPr txBox="1"/>
          <p:nvPr/>
        </p:nvSpPr>
        <p:spPr>
          <a:xfrm>
            <a:off x="8279892"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سه ردیف مجزا و افزایشی‌اند: ردیف ۲ و ۳ علاوه بر ردیف ۱ صادر می‌شوند.</a:t>
            </a:r>
            <a:endParaRPr lang="en-US" sz="1250" dirty="0"/>
          </a:p>
        </p:txBody>
      </p:sp>
      <p:sp>
        <p:nvSpPr>
          <p:cNvPr id="29" name="Shape 27"/>
          <p:cNvSpPr/>
          <p:nvPr/>
        </p:nvSpPr>
        <p:spPr>
          <a:xfrm>
            <a:off x="4323283" y="4892040"/>
            <a:ext cx="3545738" cy="1280160"/>
          </a:xfrm>
          <a:prstGeom prst="roundRect">
            <a:avLst>
              <a:gd name="adj" fmla="val 8571"/>
            </a:avLst>
          </a:prstGeom>
          <a:solidFill>
            <a:srgbClr val="F7F9FC"/>
          </a:solidFill>
          <a:ln w="9525">
            <a:solidFill>
              <a:srgbClr val="DDE1EE"/>
            </a:solidFill>
            <a:prstDash val="solid"/>
          </a:ln>
        </p:spPr>
      </p:sp>
      <p:sp>
        <p:nvSpPr>
          <p:cNvPr id="30" name="Text 28"/>
          <p:cNvSpPr txBox="1"/>
          <p:nvPr/>
        </p:nvSpPr>
        <p:spPr>
          <a:xfrm>
            <a:off x="4506163"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هیچ سهم دیگری در genesis نیست: نه تیم، نه سرمایه‌گذار خصوصی، نه فروش عمومی جدا.</a:t>
            </a:r>
            <a:endParaRPr lang="en-US" sz="1250" dirty="0"/>
          </a:p>
        </p:txBody>
      </p:sp>
      <p:sp>
        <p:nvSpPr>
          <p:cNvPr id="31" name="Shape 29"/>
          <p:cNvSpPr/>
          <p:nvPr/>
        </p:nvSpPr>
        <p:spPr>
          <a:xfrm>
            <a:off x="548640" y="4892040"/>
            <a:ext cx="3545738" cy="1280160"/>
          </a:xfrm>
          <a:prstGeom prst="roundRect">
            <a:avLst>
              <a:gd name="adj" fmla="val 8571"/>
            </a:avLst>
          </a:prstGeom>
          <a:solidFill>
            <a:srgbClr val="F7F9FC"/>
          </a:solidFill>
          <a:ln w="9525">
            <a:solidFill>
              <a:srgbClr val="DDE1EE"/>
            </a:solidFill>
            <a:prstDash val="solid"/>
          </a:ln>
        </p:spPr>
      </p:sp>
      <p:sp>
        <p:nvSpPr>
          <p:cNvPr id="32" name="Text 30"/>
          <p:cNvSpPr txBox="1"/>
          <p:nvPr/>
        </p:nvSpPr>
        <p:spPr>
          <a:xfrm>
            <a:off x="731520"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پایه‌ی محاسبه‌ی عرضه فعلاً ۳۵٬۵۳۰٬۰۰۰ سورن (ردیف ۱ و ۳)؛ با تعیین ردیف ۲ باید بازمحاسبه شود.</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انتشار ثابت؛ نرخ رشد درصدی خودبه‌خود کم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graphicFrame>
        <p:nvGraphicFramePr>
          <p:cNvPr id="6" name="Chart 0" descr=""/>
          <p:cNvGraphicFramePr/>
          <p:nvPr/>
        </p:nvGraphicFramePr>
        <p:xfrm>
          <a:off x="548640" y="1417320"/>
          <a:ext cx="685800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669280"/>
            <a:ext cx="685800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عرضه‌ی کل تجمعی در پایان هر سال (میلیون سورن، ناخالص)</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665415" y="1463040"/>
          <a:ext cx="3977640" cy="914400"/>
        </p:xfrm>
        <a:graphic>
          <a:graphicData uri="http://schemas.openxmlformats.org/drawingml/2006/table">
            <a:tbl>
              <a:tblPr/>
              <a:tblGrid>
                <a:gridCol w="1508760"/>
                <a:gridCol w="1554480"/>
                <a:gridCol w="914400"/>
              </a:tblGrid>
              <a:tr h="36576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رشد سالانه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عرضه (میلیون)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سال</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۵۹٫۱۷٪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۵۶٫۵۵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۳۷٫۱۸٪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۷۷٫۵۸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۱۷٫۵۷٪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۱۴۰٫۶۵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۹٫۳۵٪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۲۴۵٫۷۷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۴٫۸۳٪</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۴۵۶٫۰۱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7665415" y="3794760"/>
            <a:ext cx="3977640" cy="20116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نرخ رشد سالانه = انتشار همان سال ÷ عرضه‌ی ابتدای سال.</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انتشار هر سال ۲۱٬۰۲۴٬۰۰۰ سورن است؛ بدون halving.</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جدول ناخالص است (سوزاندن فی کم نشده) و ردیف ۲ genesis را شامل نمی‌شود.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تقسیم هر بلاک: ریوارد، کارمزد و کارمزد عضویت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Text 4"/>
          <p:cNvSpPr txBox="1"/>
          <p:nvPr/>
        </p:nvSpPr>
        <p:spPr>
          <a:xfrm>
            <a:off x="548640" y="14173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ریوارد هر بلاک (۲ سورن)</a:t>
            </a:r>
            <a:endParaRPr lang="en-US" sz="1400" dirty="0"/>
          </a:p>
        </p:txBody>
      </p:sp>
      <p:sp>
        <p:nvSpPr>
          <p:cNvPr id="7" name="Shape 5"/>
          <p:cNvSpPr/>
          <p:nvPr/>
        </p:nvSpPr>
        <p:spPr>
          <a:xfrm>
            <a:off x="9978847" y="1783080"/>
            <a:ext cx="1627586" cy="777240"/>
          </a:xfrm>
          <a:prstGeom prst="rect">
            <a:avLst/>
          </a:prstGeom>
          <a:solidFill>
            <a:srgbClr val="3D46A8"/>
          </a:solidFill>
          <a:ln w="12700">
            <a:solidFill>
              <a:srgbClr val="FFFFFF"/>
            </a:solidFill>
            <a:prstDash val="solid"/>
          </a:ln>
        </p:spPr>
      </p:sp>
      <p:sp>
        <p:nvSpPr>
          <p:cNvPr id="8" name="Text 6"/>
          <p:cNvSpPr txBox="1"/>
          <p:nvPr/>
        </p:nvSpPr>
        <p:spPr>
          <a:xfrm>
            <a:off x="10070287" y="1783080"/>
            <a:ext cx="1444706"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بنیاد ۱۵٪</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۳٬۱۵۳٬۶۰۰ در سال</a:t>
            </a:r>
            <a:endParaRPr lang="en-US" sz="1400" dirty="0"/>
          </a:p>
        </p:txBody>
      </p:sp>
      <p:sp>
        <p:nvSpPr>
          <p:cNvPr id="9" name="Shape 7"/>
          <p:cNvSpPr/>
          <p:nvPr/>
        </p:nvSpPr>
        <p:spPr>
          <a:xfrm>
            <a:off x="4432097" y="1783080"/>
            <a:ext cx="5510632" cy="777240"/>
          </a:xfrm>
          <a:prstGeom prst="rect">
            <a:avLst/>
          </a:prstGeom>
          <a:solidFill>
            <a:srgbClr val="2F3690"/>
          </a:solidFill>
          <a:ln w="12700">
            <a:solidFill>
              <a:srgbClr val="FFFFFF"/>
            </a:solidFill>
            <a:prstDash val="solid"/>
          </a:ln>
        </p:spPr>
      </p:sp>
      <p:sp>
        <p:nvSpPr>
          <p:cNvPr id="10" name="Text 8"/>
          <p:cNvSpPr txBox="1"/>
          <p:nvPr/>
        </p:nvSpPr>
        <p:spPr>
          <a:xfrm>
            <a:off x="4523537" y="1783080"/>
            <a:ext cx="5327752"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۵۰٪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حکمرانی‌شونده ۴۰ تا ۶۵٪ — ۱۰٬۵۱۲٬۰۰۰ در سال</a:t>
            </a:r>
            <a:endParaRPr lang="en-US" sz="1400" dirty="0"/>
          </a:p>
        </p:txBody>
      </p:sp>
      <p:sp>
        <p:nvSpPr>
          <p:cNvPr id="11" name="Shape 9"/>
          <p:cNvSpPr/>
          <p:nvPr/>
        </p:nvSpPr>
        <p:spPr>
          <a:xfrm>
            <a:off x="548640" y="1783080"/>
            <a:ext cx="3846469" cy="777240"/>
          </a:xfrm>
          <a:prstGeom prst="rect">
            <a:avLst/>
          </a:prstGeom>
          <a:solidFill>
            <a:srgbClr val="F2B84B"/>
          </a:solidFill>
          <a:ln w="12700">
            <a:solidFill>
              <a:srgbClr val="FFFFFF"/>
            </a:solidFill>
            <a:prstDash val="solid"/>
          </a:ln>
        </p:spPr>
      </p:sp>
      <p:sp>
        <p:nvSpPr>
          <p:cNvPr id="12" name="Text 10"/>
          <p:cNvSpPr txBox="1"/>
          <p:nvPr/>
        </p:nvSpPr>
        <p:spPr>
          <a:xfrm>
            <a:off x="640080" y="1783080"/>
            <a:ext cx="366358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 ۳۵٪</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 — ۷٬۳۵۸٬۴۰۰</a:t>
            </a:r>
            <a:endParaRPr lang="en-US" sz="1400" dirty="0"/>
          </a:p>
        </p:txBody>
      </p:sp>
      <p:sp>
        <p:nvSpPr>
          <p:cNvPr id="13" name="Text 11"/>
          <p:cNvSpPr txBox="1"/>
          <p:nvPr/>
        </p:nvSpPr>
        <p:spPr>
          <a:xfrm>
            <a:off x="548640" y="30175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تراکنش‌های معمولی</a:t>
            </a:r>
            <a:endParaRPr lang="en-US" sz="1400" dirty="0"/>
          </a:p>
        </p:txBody>
      </p:sp>
      <p:sp>
        <p:nvSpPr>
          <p:cNvPr id="14" name="Shape 12"/>
          <p:cNvSpPr/>
          <p:nvPr/>
        </p:nvSpPr>
        <p:spPr>
          <a:xfrm>
            <a:off x="8314639" y="3383280"/>
            <a:ext cx="3291749" cy="777240"/>
          </a:xfrm>
          <a:prstGeom prst="rect">
            <a:avLst/>
          </a:prstGeom>
          <a:solidFill>
            <a:srgbClr val="5F6472"/>
          </a:solidFill>
          <a:ln w="12700">
            <a:solidFill>
              <a:srgbClr val="FFFFFF"/>
            </a:solidFill>
            <a:prstDash val="solid"/>
          </a:ln>
        </p:spPr>
      </p:sp>
      <p:sp>
        <p:nvSpPr>
          <p:cNvPr id="15" name="Text 13"/>
          <p:cNvSpPr txBox="1"/>
          <p:nvPr/>
        </p:nvSpPr>
        <p:spPr>
          <a:xfrm>
            <a:off x="8406079" y="3383280"/>
            <a:ext cx="310886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سوزانده ۳۰٪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ثابت و غیرقابل‌حکمرانی</a:t>
            </a:r>
            <a:endParaRPr lang="en-US" sz="1400" dirty="0"/>
          </a:p>
        </p:txBody>
      </p:sp>
      <p:sp>
        <p:nvSpPr>
          <p:cNvPr id="16" name="Shape 14"/>
          <p:cNvSpPr/>
          <p:nvPr/>
        </p:nvSpPr>
        <p:spPr>
          <a:xfrm>
            <a:off x="548640" y="3383280"/>
            <a:ext cx="7729515" cy="777240"/>
          </a:xfrm>
          <a:prstGeom prst="rect">
            <a:avLst/>
          </a:prstGeom>
          <a:solidFill>
            <a:srgbClr val="2F3690"/>
          </a:solidFill>
          <a:ln w="12700">
            <a:solidFill>
              <a:srgbClr val="FFFFFF"/>
            </a:solidFill>
            <a:prstDash val="solid"/>
          </a:ln>
        </p:spPr>
      </p:sp>
      <p:sp>
        <p:nvSpPr>
          <p:cNvPr id="17" name="Text 15"/>
          <p:cNvSpPr txBox="1"/>
          <p:nvPr/>
        </p:nvSpPr>
        <p:spPr>
          <a:xfrm>
            <a:off x="640080" y="3383280"/>
            <a:ext cx="7546635"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۷۰٪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به نسبت بلاک تولیدشده در بازه‌ی همان توزیع</a:t>
            </a:r>
            <a:endParaRPr lang="en-US" sz="1400" dirty="0"/>
          </a:p>
        </p:txBody>
      </p:sp>
      <p:sp>
        <p:nvSpPr>
          <p:cNvPr id="18" name="Text 16"/>
          <p:cNvSpPr txBox="1"/>
          <p:nvPr/>
        </p:nvSpPr>
        <p:spPr>
          <a:xfrm>
            <a:off x="548640" y="46177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(۴٪ وثیقه، یک‌بار)</a:t>
            </a:r>
            <a:endParaRPr lang="en-US" sz="1400" dirty="0"/>
          </a:p>
        </p:txBody>
      </p:sp>
      <p:sp>
        <p:nvSpPr>
          <p:cNvPr id="19" name="Shape 17"/>
          <p:cNvSpPr/>
          <p:nvPr/>
        </p:nvSpPr>
        <p:spPr>
          <a:xfrm>
            <a:off x="548640" y="4983480"/>
            <a:ext cx="11057839" cy="777240"/>
          </a:xfrm>
          <a:prstGeom prst="rect">
            <a:avLst/>
          </a:prstGeom>
          <a:solidFill>
            <a:srgbClr val="2F3690"/>
          </a:solidFill>
          <a:ln w="12700">
            <a:solidFill>
              <a:srgbClr val="FFFFFF"/>
            </a:solidFill>
            <a:prstDash val="solid"/>
          </a:ln>
        </p:spPr>
      </p:sp>
      <p:sp>
        <p:nvSpPr>
          <p:cNvPr id="20" name="Text 18"/>
          <p:cNvSpPr txBox="1"/>
          <p:nvPr/>
        </p:nvSpPr>
        <p:spPr>
          <a:xfrm>
            <a:off x="640080" y="4983480"/>
            <a:ext cx="1087495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۱۰۰٪ به تولیدکنندگان بلاک‌های بازه‌ی توزیع بعدی</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بدون سوزاندن؛ به نسبت تعداد بلاک</a:t>
            </a:r>
            <a:endParaRPr lang="en-US" sz="1400" dirty="0"/>
          </a:p>
        </p:txBody>
      </p:sp>
      <p:sp>
        <p:nvSpPr>
          <p:cNvPr id="21" name="Text 19"/>
          <p:cNvSpPr txBox="1"/>
          <p:nvPr/>
        </p:nvSpPr>
        <p:spPr>
          <a:xfrm>
            <a:off x="548640" y="5897880"/>
            <a:ext cx="11094415" cy="4572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ارقام سالانه با پیش‌فرض‌های فعلی (۵۰٪ سهم مستقیم) و ۲۱٬۰۲۴٬۰۰۰ سورن ریوارد در سال‌اند. سهم ۱۵٪ بنیاد از کل ریوارد کسر می‌شود و به تصمیم درباره‌ی نسبت ولیدیتور و خزانه بستگی ندارد.</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کارمزد تراکنش: قیمت گاز ثابت و سوزاندن ۳۰٪</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08015" y="1508760"/>
          <a:ext cx="6035040" cy="914400"/>
        </p:xfrm>
        <a:graphic>
          <a:graphicData uri="http://schemas.openxmlformats.org/drawingml/2006/table">
            <a:tbl>
              <a:tblPr/>
              <a:tblGrid>
                <a:gridCol w="1463040"/>
                <a:gridCol w="1143000"/>
                <a:gridCol w="1325880"/>
                <a:gridCol w="2103120"/>
              </a:tblGrid>
              <a:tr h="50292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به تومان (۱۰۰ تومان/سورن)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کارمزد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گاز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تراکنش</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ساده‌ی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توکن ERC20</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 تا ۱۵۰۰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 تا ۱۵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۶۵٬۰۰۰ تا ۱۵۰٬۰۰۰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ثبت متن کوتاه در قرارداد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08015" y="4160520"/>
            <a:ext cx="6035040" cy="9144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قیمت گاز ثابت است و برابر ۱۰¹⁴ wei (wei کوچک‌ترین واحد سورن است؛ یعنی ۰٫۰۰۰۱ سورن به ازای هر واحد گاز)؛ در genesis گزینه‌ی zeroBaseFee فعال است. پیش‌بینی‌پذیری به تومان فقط در دوره‌ی قیمت ثابت فروش برقرار است.</a:t>
            </a:r>
            <a:endParaRPr lang="en-US" sz="1250" dirty="0"/>
          </a:p>
        </p:txBody>
      </p:sp>
      <p:sp>
        <p:nvSpPr>
          <p:cNvPr id="8" name="Shape 5"/>
          <p:cNvSpPr/>
          <p:nvPr/>
        </p:nvSpPr>
        <p:spPr>
          <a:xfrm>
            <a:off x="548640"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4709160"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1"/>
          <a:stretch>
            <a:fillRect/>
          </a:stretch>
        </p:blipFill>
        <p:spPr>
          <a:xfrm>
            <a:off x="4832604" y="1723644"/>
            <a:ext cx="210312" cy="210312"/>
          </a:xfrm>
          <a:prstGeom prst="rect">
            <a:avLst/>
          </a:prstGeom>
        </p:spPr>
      </p:pic>
      <p:sp>
        <p:nvSpPr>
          <p:cNvPr id="11" name="Text 7"/>
          <p:cNvSpPr txBox="1"/>
          <p:nvPr/>
        </p:nvSpPr>
        <p:spPr>
          <a:xfrm>
            <a:off x="731520"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سوزاندن ۳۰٪ از کارمزد معمولی</a:t>
            </a:r>
            <a:endParaRPr lang="en-US" sz="1400" dirty="0"/>
          </a:p>
        </p:txBody>
      </p:sp>
      <p:sp>
        <p:nvSpPr>
          <p:cNvPr id="12" name="Text 8"/>
          <p:cNvSpPr txBox="1"/>
          <p:nvPr/>
        </p:nvSpPr>
        <p:spPr>
          <a:xfrm>
            <a:off x="731520"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ثابت و غیرقابل‌حکمرانی: ولیدیتورها انگیزه‌ی مستقیم برای کاهش آن دارند و نهاد متقابلی برای حفظ آن وجود ندارد.</a:t>
            </a:r>
            <a:endParaRPr lang="en-US" sz="1200" dirty="0"/>
          </a:p>
        </p:txBody>
      </p:sp>
      <p:sp>
        <p:nvSpPr>
          <p:cNvPr id="13" name="Shape 9"/>
          <p:cNvSpPr/>
          <p:nvPr/>
        </p:nvSpPr>
        <p:spPr>
          <a:xfrm>
            <a:off x="548640"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4709160"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4832604" y="3278124"/>
            <a:ext cx="210312" cy="210312"/>
          </a:xfrm>
          <a:prstGeom prst="rect">
            <a:avLst/>
          </a:prstGeom>
        </p:spPr>
      </p:pic>
      <p:sp>
        <p:nvSpPr>
          <p:cNvPr id="16" name="Text 11"/>
          <p:cNvSpPr txBox="1"/>
          <p:nvPr/>
        </p:nvSpPr>
        <p:spPr>
          <a:xfrm>
            <a:off x="731520"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معاف از سوزاندن</a:t>
            </a:r>
            <a:endParaRPr lang="en-US" sz="1400" dirty="0"/>
          </a:p>
        </p:txBody>
      </p:sp>
      <p:sp>
        <p:nvSpPr>
          <p:cNvPr id="17" name="Text 12"/>
          <p:cNvSpPr txBox="1"/>
          <p:nvPr/>
        </p:nvSpPr>
        <p:spPr>
          <a:xfrm>
            <a:off x="731520"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ورود هر ولیدیتور جدید یک پرداخت نقدی قابل‌ردیابی به ولیدیتورهای فعال می‌دهد و انگیزه‌ی جذب عضو را می‌سازد.</a:t>
            </a:r>
            <a:endParaRPr lang="en-US" sz="1200" dirty="0"/>
          </a:p>
        </p:txBody>
      </p:sp>
      <p:sp>
        <p:nvSpPr>
          <p:cNvPr id="18" name="Shape 13"/>
          <p:cNvSpPr/>
          <p:nvPr/>
        </p:nvSpPr>
        <p:spPr>
          <a:xfrm>
            <a:off x="548640"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4709160" y="470916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4832604" y="4832604"/>
            <a:ext cx="210312" cy="210312"/>
          </a:xfrm>
          <a:prstGeom prst="rect">
            <a:avLst/>
          </a:prstGeom>
        </p:spPr>
      </p:pic>
      <p:sp>
        <p:nvSpPr>
          <p:cNvPr id="21" name="Text 15"/>
          <p:cNvSpPr txBox="1"/>
          <p:nvPr/>
        </p:nvSpPr>
        <p:spPr>
          <a:xfrm>
            <a:off x="731520"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gasPrice بدون مسیر رأی</a:t>
            </a:r>
            <a:endParaRPr lang="en-US" sz="1400" dirty="0"/>
          </a:p>
        </p:txBody>
      </p:sp>
      <p:sp>
        <p:nvSpPr>
          <p:cNvPr id="22" name="Text 16"/>
          <p:cNvSpPr txBox="1"/>
          <p:nvPr/>
        </p:nvSpPr>
        <p:spPr>
          <a:xfrm>
            <a:off x="731520"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تغییر آن فقط با به‌روزرسانی پیکربندی نودها ممکن است.</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منحنی هزینه‌ی ورود: دوبرابرشدن وثیقه در هر ۴۰ ولیدیتور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graphicFrame>
        <p:nvGraphicFramePr>
          <p:cNvPr id="6" name="Chart 0" descr=""/>
          <p:cNvGraphicFramePr/>
          <p:nvPr/>
        </p:nvGraphicFramePr>
        <p:xfrm>
          <a:off x="548640" y="146304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5321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محور افقی: تعداد ولیدیتور پرداخت‌کننده؛ محور عمودی: وثیقه‌ی نفر بعدی (میلیون سورن)</a:t>
            </a:r>
            <a:endParaRPr lang="en-US" sz="1200" dirty="0"/>
          </a:p>
        </p:txBody>
      </p:sp>
      <p:sp>
        <p:nvSpPr>
          <p:cNvPr id="8" name="Shape 5"/>
          <p:cNvSpPr/>
          <p:nvPr/>
        </p:nvSpPr>
        <p:spPr>
          <a:xfrm>
            <a:off x="7391095" y="1463040"/>
            <a:ext cx="4251960" cy="1051560"/>
          </a:xfrm>
          <a:prstGeom prst="roundRect">
            <a:avLst>
              <a:gd name="adj" fmla="val 10435"/>
            </a:avLst>
          </a:prstGeom>
          <a:solidFill>
            <a:srgbClr val="F7F9FC"/>
          </a:solidFill>
          <a:ln w="9525">
            <a:solidFill>
              <a:srgbClr val="DDE1EE"/>
            </a:solidFill>
            <a:prstDash val="solid"/>
          </a:ln>
        </p:spPr>
      </p:sp>
      <p:sp>
        <p:nvSpPr>
          <p:cNvPr id="9" name="Text 6"/>
          <p:cNvSpPr txBox="1"/>
          <p:nvPr/>
        </p:nvSpPr>
        <p:spPr>
          <a:xfrm>
            <a:off x="7573975" y="1554480"/>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پایه</a:t>
            </a:r>
            <a:endParaRPr lang="en-US" sz="1350" dirty="0"/>
          </a:p>
        </p:txBody>
      </p:sp>
      <p:sp>
        <p:nvSpPr>
          <p:cNvPr id="10" name="Text 7"/>
          <p:cNvSpPr txBox="1"/>
          <p:nvPr/>
        </p:nvSpPr>
        <p:spPr>
          <a:xfrm>
            <a:off x="7573975" y="1847088"/>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۵۰۰٬۰۰۰ سورن برای اولین ولیدیتور پرداخت‌کننده (نفر هشتم شبکه)؛ ۷ مؤسس رایگان در منحنی شمرده نمی‌شوند.</a:t>
            </a:r>
            <a:endParaRPr lang="en-US" sz="1150" dirty="0"/>
          </a:p>
        </p:txBody>
      </p:sp>
      <p:sp>
        <p:nvSpPr>
          <p:cNvPr id="11" name="Shape 8"/>
          <p:cNvSpPr/>
          <p:nvPr/>
        </p:nvSpPr>
        <p:spPr>
          <a:xfrm>
            <a:off x="7391095" y="2633472"/>
            <a:ext cx="4251960" cy="1051560"/>
          </a:xfrm>
          <a:prstGeom prst="roundRect">
            <a:avLst>
              <a:gd name="adj" fmla="val 10435"/>
            </a:avLst>
          </a:prstGeom>
          <a:solidFill>
            <a:srgbClr val="F7F9FC"/>
          </a:solidFill>
          <a:ln w="9525">
            <a:solidFill>
              <a:srgbClr val="DDE1EE"/>
            </a:solidFill>
            <a:prstDash val="solid"/>
          </a:ln>
        </p:spPr>
      </p:sp>
      <p:sp>
        <p:nvSpPr>
          <p:cNvPr id="12" name="Text 9"/>
          <p:cNvSpPr txBox="1"/>
          <p:nvPr/>
        </p:nvSpPr>
        <p:spPr>
          <a:xfrm>
            <a:off x="7573975" y="2724912"/>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کارمزد عضویت</a:t>
            </a:r>
            <a:endParaRPr lang="en-US" sz="1350" dirty="0"/>
          </a:p>
        </p:txBody>
      </p:sp>
      <p:sp>
        <p:nvSpPr>
          <p:cNvPr id="13" name="Text 10"/>
          <p:cNvSpPr txBox="1"/>
          <p:nvPr/>
        </p:nvSpPr>
        <p:spPr>
          <a:xfrm>
            <a:off x="7573975" y="3017520"/>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۴٪ وثیقه، غیرقابل‌استرداد؛ وثیقه در خروج داوطلبانه کامل برمی‌گردد.</a:t>
            </a:r>
            <a:endParaRPr lang="en-US" sz="1150" dirty="0"/>
          </a:p>
        </p:txBody>
      </p:sp>
      <p:sp>
        <p:nvSpPr>
          <p:cNvPr id="14" name="Shape 11"/>
          <p:cNvSpPr/>
          <p:nvPr/>
        </p:nvSpPr>
        <p:spPr>
          <a:xfrm>
            <a:off x="7391095" y="3803904"/>
            <a:ext cx="4251960" cy="1051560"/>
          </a:xfrm>
          <a:prstGeom prst="roundRect">
            <a:avLst>
              <a:gd name="adj" fmla="val 10435"/>
            </a:avLst>
          </a:prstGeom>
          <a:solidFill>
            <a:srgbClr val="F7F9FC"/>
          </a:solidFill>
          <a:ln w="9525">
            <a:solidFill>
              <a:srgbClr val="DDE1EE"/>
            </a:solidFill>
            <a:prstDash val="solid"/>
          </a:ln>
        </p:spPr>
      </p:sp>
      <p:sp>
        <p:nvSpPr>
          <p:cNvPr id="15" name="Text 12"/>
          <p:cNvSpPr txBox="1"/>
          <p:nvPr/>
        </p:nvSpPr>
        <p:spPr>
          <a:xfrm>
            <a:off x="7573975" y="3895344"/>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حدود مجاز هیأت</a:t>
            </a:r>
            <a:endParaRPr lang="en-US" sz="1350" dirty="0"/>
          </a:p>
        </p:txBody>
      </p:sp>
      <p:sp>
        <p:nvSpPr>
          <p:cNvPr id="16" name="Text 13"/>
          <p:cNvSpPr txBox="1"/>
          <p:nvPr/>
        </p:nvSpPr>
        <p:spPr>
          <a:xfrm>
            <a:off x="7573975" y="4187952"/>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پایه ۱۰۰ هزار تا ۲ میلیون؛ کارمزد ۱ تا ۱۰٪؛ دوبرابرشدن هر ۲۰ تا ۸۰ نفر؛ پس از هر تغییر ۱۸۰ روز قفل مشترک.</a:t>
            </a:r>
            <a:endParaRPr lang="en-US" sz="1150" dirty="0"/>
          </a:p>
        </p:txBody>
      </p:sp>
      <p:sp>
        <p:nvSpPr>
          <p:cNvPr id="17" name="Shape 14"/>
          <p:cNvSpPr/>
          <p:nvPr/>
        </p:nvSpPr>
        <p:spPr>
          <a:xfrm>
            <a:off x="7391095" y="4974336"/>
            <a:ext cx="4251960" cy="1051560"/>
          </a:xfrm>
          <a:prstGeom prst="roundRect">
            <a:avLst>
              <a:gd name="adj" fmla="val 10435"/>
            </a:avLst>
          </a:prstGeom>
          <a:solidFill>
            <a:srgbClr val="F7F9FC"/>
          </a:solidFill>
          <a:ln w="9525">
            <a:solidFill>
              <a:srgbClr val="DDE1EE"/>
            </a:solidFill>
            <a:prstDash val="solid"/>
          </a:ln>
        </p:spPr>
      </p:sp>
      <p:sp>
        <p:nvSpPr>
          <p:cNvPr id="18" name="Text 15"/>
          <p:cNvSpPr txBox="1"/>
          <p:nvPr/>
        </p:nvSpPr>
        <p:spPr>
          <a:xfrm>
            <a:off x="7573975" y="5065776"/>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هدف طراحی</a:t>
            </a:r>
            <a:endParaRPr lang="en-US" sz="1350" dirty="0"/>
          </a:p>
        </p:txBody>
      </p:sp>
      <p:sp>
        <p:nvSpPr>
          <p:cNvPr id="19" name="Text 16"/>
          <p:cNvSpPr txBox="1"/>
          <p:nvPr/>
        </p:nvSpPr>
        <p:spPr>
          <a:xfrm>
            <a:off x="7573975" y="5358384"/>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 تا ۱۰۰ ولیدیتور؛ بیرون از این بازه عمداً سریع گران می‌شود (حدود ۱۴ میلیون در ۲۰۰ ولیدیتور).</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درآمد ولیدیتور و تنش اقتصادی شناخته‌شده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6" name="Chart 0" descr=""/>
          <p:cNvGraphicFramePr/>
          <p:nvPr/>
        </p:nvGraphicFramePr>
        <p:xfrm>
          <a:off x="548640" y="146304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440680"/>
            <a:ext cx="603504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مستقیم ریوارد برای هر ولیدیتور در سال (هزار سورن) = ۵۰٪ ریوارد ÷ تعداد ولیدیتور فعال؛ بدون فی و کارمزد عضویت</a:t>
            </a:r>
            <a:endParaRPr lang="en-US" sz="1200" dirty="0"/>
          </a:p>
        </p:txBody>
      </p:sp>
      <p:sp>
        <p:nvSpPr>
          <p:cNvPr id="8" name="Shape 5"/>
          <p:cNvSpPr/>
          <p:nvPr/>
        </p:nvSpPr>
        <p:spPr>
          <a:xfrm>
            <a:off x="6888175"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7071055"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دو نیروی هم‌زمان</a:t>
            </a:r>
            <a:endParaRPr lang="en-US" sz="1400" dirty="0"/>
          </a:p>
        </p:txBody>
      </p:sp>
      <p:sp>
        <p:nvSpPr>
          <p:cNvPr id="12" name="Text 8"/>
          <p:cNvSpPr txBox="1"/>
          <p:nvPr/>
        </p:nvSpPr>
        <p:spPr>
          <a:xfrm>
            <a:off x="7071055"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با بزرگ‌ترشدن شبکه، هزینه‌ی ورود بالا می‌رود و درآمد سرانه پایین می‌آید؛ تعادل طبیعی نزدیک بازه‌ی ۵۰ تا ۱۰۰ ولیدیتور است.</a:t>
            </a:r>
            <a:endParaRPr lang="en-US" sz="1200" dirty="0"/>
          </a:p>
        </p:txBody>
      </p:sp>
      <p:sp>
        <p:nvSpPr>
          <p:cNvPr id="13" name="Shape 9"/>
          <p:cNvSpPr/>
          <p:nvPr/>
        </p:nvSpPr>
        <p:spPr>
          <a:xfrm>
            <a:off x="6888175"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11048695"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278124"/>
            <a:ext cx="210312" cy="210312"/>
          </a:xfrm>
          <a:prstGeom prst="rect">
            <a:avLst/>
          </a:prstGeom>
        </p:spPr>
      </p:pic>
      <p:sp>
        <p:nvSpPr>
          <p:cNvPr id="16" name="Text 11"/>
          <p:cNvSpPr txBox="1"/>
          <p:nvPr/>
        </p:nvSpPr>
        <p:spPr>
          <a:xfrm>
            <a:off x="7071055"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ظرفیت وثیقه</a:t>
            </a:r>
            <a:endParaRPr lang="en-US" sz="1400" dirty="0"/>
          </a:p>
        </p:txBody>
      </p:sp>
      <p:sp>
        <p:nvSpPr>
          <p:cNvPr id="17" name="Text 12"/>
          <p:cNvSpPr txBox="1"/>
          <p:nvPr/>
        </p:nvSpPr>
        <p:spPr>
          <a:xfrm>
            <a:off x="7071055"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جمع وثیقه‌ی ۱۰۰ ولیدیتور پرداخت‌کننده حدود ۱۳۳ میلیون سورن است (محاسبه از فرمول)، یعنی چندین برابر انتشار سالانه.</a:t>
            </a:r>
            <a:endParaRPr lang="en-US" sz="1200" dirty="0"/>
          </a:p>
        </p:txBody>
      </p:sp>
      <p:sp>
        <p:nvSpPr>
          <p:cNvPr id="18" name="Shape 13"/>
          <p:cNvSpPr/>
          <p:nvPr/>
        </p:nvSpPr>
        <p:spPr>
          <a:xfrm>
            <a:off x="6888175"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11048695" y="4709160"/>
            <a:ext cx="457200" cy="457200"/>
          </a:xfrm>
          <a:prstGeom prst="ellipse">
            <a:avLst/>
          </a:prstGeom>
          <a:solidFill>
            <a:srgbClr val="C8431F"/>
          </a:solidFill>
          <a:ln w="12700">
            <a:solidFill>
              <a:srgbClr val="C8431F"/>
            </a:solidFill>
            <a:prstDash val="solid"/>
          </a:ln>
        </p:spPr>
      </p:sp>
      <p:pic>
        <p:nvPicPr>
          <p:cNvPr id="20" name="Image 2" descr="preencoded.png">    </p:cNvPr>
          <p:cNvPicPr>
            <a:picLocks noChangeAspect="1"/>
          </p:cNvPicPr>
          <p:nvPr/>
        </p:nvPicPr>
        <p:blipFill>
          <a:blip r:embed="rId4"/>
          <a:stretch>
            <a:fillRect/>
          </a:stretch>
        </p:blipFill>
        <p:spPr>
          <a:xfrm>
            <a:off x="11172139" y="4832604"/>
            <a:ext cx="210312" cy="210312"/>
          </a:xfrm>
          <a:prstGeom prst="rect">
            <a:avLst/>
          </a:prstGeom>
        </p:spPr>
      </p:pic>
      <p:sp>
        <p:nvSpPr>
          <p:cNvPr id="21" name="Text 15"/>
          <p:cNvSpPr txBox="1"/>
          <p:nvPr/>
        </p:nvSpPr>
        <p:spPr>
          <a:xfrm>
            <a:off x="7071055"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جبران رقیق‌شدن</a:t>
            </a:r>
            <a:endParaRPr lang="en-US" sz="1400" dirty="0"/>
          </a:p>
        </p:txBody>
      </p:sp>
      <p:sp>
        <p:nvSpPr>
          <p:cNvPr id="22" name="Text 16"/>
          <p:cNvSpPr txBox="1"/>
          <p:nvPr/>
        </p:nvSpPr>
        <p:spPr>
          <a:xfrm>
            <a:off x="7071055"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اثر خالص کارمزد عضویت برای ولیدیتور موجود تا حدود ۱۰۲ ولیدیتور منفی است؛ برای فاز اولیه‌ی زیر ۱۰۰ نفر آگاهانه پذیرفته شده است.</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چرخه‌ی عمر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sp>
        <p:nvSpPr>
          <p:cNvPr id="6" name="Shape 4"/>
          <p:cNvSpPr/>
          <p:nvPr/>
        </p:nvSpPr>
        <p:spPr>
          <a:xfrm>
            <a:off x="9448495" y="2103120"/>
            <a:ext cx="2194560" cy="914400"/>
          </a:xfrm>
          <a:prstGeom prst="roundRect">
            <a:avLst>
              <a:gd name="adj" fmla="val 12000"/>
            </a:avLst>
          </a:prstGeom>
          <a:solidFill>
            <a:srgbClr val="5F6472"/>
          </a:solidFill>
          <a:ln w="9525">
            <a:solidFill>
              <a:srgbClr val="5F6472"/>
            </a:solidFill>
            <a:prstDash val="solid"/>
          </a:ln>
        </p:spPr>
      </p:sp>
      <p:sp>
        <p:nvSpPr>
          <p:cNvPr id="7" name="Text 5"/>
          <p:cNvSpPr txBox="1"/>
          <p:nvPr/>
        </p:nvSpPr>
        <p:spPr>
          <a:xfrm>
            <a:off x="94484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عضویت‌نشده</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None</a:t>
            </a:r>
            <a:endParaRPr lang="en-US" sz="1600" dirty="0"/>
          </a:p>
        </p:txBody>
      </p:sp>
      <p:sp>
        <p:nvSpPr>
          <p:cNvPr id="8" name="Shape 6"/>
          <p:cNvSpPr/>
          <p:nvPr/>
        </p:nvSpPr>
        <p:spPr>
          <a:xfrm flipH="1">
            <a:off x="8716975" y="2560320"/>
            <a:ext cx="685800" cy="0"/>
          </a:xfrm>
          <a:prstGeom prst="line">
            <a:avLst/>
          </a:prstGeom>
          <a:noFill/>
          <a:ln w="31750">
            <a:solidFill>
              <a:srgbClr val="2F3690"/>
            </a:solidFill>
            <a:prstDash val="solid"/>
            <a:tailEnd type="triangle"/>
          </a:ln>
        </p:spPr>
      </p:sp>
      <p:sp>
        <p:nvSpPr>
          <p:cNvPr id="9" name="Shape 7"/>
          <p:cNvSpPr/>
          <p:nvPr/>
        </p:nvSpPr>
        <p:spPr>
          <a:xfrm>
            <a:off x="6476695" y="2103120"/>
            <a:ext cx="2194560" cy="914400"/>
          </a:xfrm>
          <a:prstGeom prst="roundRect">
            <a:avLst>
              <a:gd name="adj" fmla="val 12000"/>
            </a:avLst>
          </a:prstGeom>
          <a:solidFill>
            <a:srgbClr val="3D46A8"/>
          </a:solidFill>
          <a:ln w="9525">
            <a:solidFill>
              <a:srgbClr val="3D46A8"/>
            </a:solidFill>
            <a:prstDash val="solid"/>
          </a:ln>
        </p:spPr>
      </p:sp>
      <p:sp>
        <p:nvSpPr>
          <p:cNvPr id="10" name="Text 8"/>
          <p:cNvSpPr txBox="1"/>
          <p:nvPr/>
        </p:nvSpPr>
        <p:spPr>
          <a:xfrm>
            <a:off x="64766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دوره‌ی آزمایشی</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Probation</a:t>
            </a:r>
            <a:endParaRPr lang="en-US" sz="1600" dirty="0"/>
          </a:p>
        </p:txBody>
      </p:sp>
      <p:sp>
        <p:nvSpPr>
          <p:cNvPr id="11" name="Shape 9"/>
          <p:cNvSpPr/>
          <p:nvPr/>
        </p:nvSpPr>
        <p:spPr>
          <a:xfrm flipH="1">
            <a:off x="5745175" y="2560320"/>
            <a:ext cx="685800" cy="0"/>
          </a:xfrm>
          <a:prstGeom prst="line">
            <a:avLst/>
          </a:prstGeom>
          <a:noFill/>
          <a:ln w="31750">
            <a:solidFill>
              <a:srgbClr val="2F3690"/>
            </a:solidFill>
            <a:prstDash val="solid"/>
            <a:tailEnd type="triangle"/>
          </a:ln>
        </p:spPr>
      </p:sp>
      <p:sp>
        <p:nvSpPr>
          <p:cNvPr id="12" name="Shape 10"/>
          <p:cNvSpPr/>
          <p:nvPr/>
        </p:nvSpPr>
        <p:spPr>
          <a:xfrm>
            <a:off x="3504895" y="2103120"/>
            <a:ext cx="2194560" cy="914400"/>
          </a:xfrm>
          <a:prstGeom prst="roundRect">
            <a:avLst>
              <a:gd name="adj" fmla="val 12000"/>
            </a:avLst>
          </a:prstGeom>
          <a:solidFill>
            <a:srgbClr val="2F3690"/>
          </a:solidFill>
          <a:ln w="9525">
            <a:solidFill>
              <a:srgbClr val="2F3690"/>
            </a:solidFill>
            <a:prstDash val="solid"/>
          </a:ln>
        </p:spPr>
      </p:sp>
      <p:sp>
        <p:nvSpPr>
          <p:cNvPr id="13" name="Text 11"/>
          <p:cNvSpPr txBox="1"/>
          <p:nvPr/>
        </p:nvSpPr>
        <p:spPr>
          <a:xfrm>
            <a:off x="35048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فعال</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Active</a:t>
            </a:r>
            <a:endParaRPr lang="en-US" sz="1600" dirty="0"/>
          </a:p>
        </p:txBody>
      </p:sp>
      <p:sp>
        <p:nvSpPr>
          <p:cNvPr id="14" name="Shape 12"/>
          <p:cNvSpPr/>
          <p:nvPr/>
        </p:nvSpPr>
        <p:spPr>
          <a:xfrm flipH="1">
            <a:off x="2773375" y="2560320"/>
            <a:ext cx="685800" cy="0"/>
          </a:xfrm>
          <a:prstGeom prst="line">
            <a:avLst/>
          </a:prstGeom>
          <a:noFill/>
          <a:ln w="31750">
            <a:solidFill>
              <a:srgbClr val="2F3690"/>
            </a:solidFill>
            <a:prstDash val="solid"/>
            <a:tailEnd type="triangle"/>
          </a:ln>
        </p:spPr>
      </p:sp>
      <p:sp>
        <p:nvSpPr>
          <p:cNvPr id="15" name="Shape 13"/>
          <p:cNvSpPr/>
          <p:nvPr/>
        </p:nvSpPr>
        <p:spPr>
          <a:xfrm>
            <a:off x="533095" y="2103120"/>
            <a:ext cx="2194560" cy="914400"/>
          </a:xfrm>
          <a:prstGeom prst="roundRect">
            <a:avLst>
              <a:gd name="adj" fmla="val 12000"/>
            </a:avLst>
          </a:prstGeom>
          <a:solidFill>
            <a:srgbClr val="C8431F"/>
          </a:solidFill>
          <a:ln w="9525">
            <a:solidFill>
              <a:srgbClr val="C8431F"/>
            </a:solidFill>
            <a:prstDash val="solid"/>
          </a:ln>
        </p:spPr>
      </p:sp>
      <p:sp>
        <p:nvSpPr>
          <p:cNvPr id="16" name="Text 14"/>
          <p:cNvSpPr txBox="1"/>
          <p:nvPr/>
        </p:nvSpPr>
        <p:spPr>
          <a:xfrm>
            <a:off x="5330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معلق</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Demoted</a:t>
            </a:r>
            <a:endParaRPr lang="en-US" sz="1600" dirty="0"/>
          </a:p>
        </p:txBody>
      </p:sp>
      <p:sp>
        <p:nvSpPr>
          <p:cNvPr id="17" name="Shape 15"/>
          <p:cNvSpPr/>
          <p:nvPr/>
        </p:nvSpPr>
        <p:spPr>
          <a:xfrm>
            <a:off x="1630375" y="3063240"/>
            <a:ext cx="2971800" cy="0"/>
          </a:xfrm>
          <a:prstGeom prst="line">
            <a:avLst/>
          </a:prstGeom>
          <a:noFill/>
          <a:ln w="25400">
            <a:solidFill>
              <a:srgbClr val="C8431F"/>
            </a:solidFill>
            <a:prstDash val="solid"/>
            <a:tailEnd type="triangle"/>
          </a:ln>
        </p:spPr>
      </p:sp>
      <p:sp>
        <p:nvSpPr>
          <p:cNvPr id="18" name="Text 16"/>
          <p:cNvSpPr txBox="1"/>
          <p:nvPr/>
        </p:nvSpPr>
        <p:spPr>
          <a:xfrm>
            <a:off x="83512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requestMembership</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وثیقه + کارمزد</a:t>
            </a:r>
            <a:endParaRPr lang="en-US" sz="1100" dirty="0"/>
          </a:p>
        </p:txBody>
      </p:sp>
      <p:sp>
        <p:nvSpPr>
          <p:cNvPr id="19" name="Text 17"/>
          <p:cNvSpPr txBox="1"/>
          <p:nvPr/>
        </p:nvSpPr>
        <p:spPr>
          <a:xfrm>
            <a:off x="53794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recordActivation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پس از ۱ هفته و تأیید آف‌چین</a:t>
            </a:r>
            <a:endParaRPr lang="en-US" sz="1100" dirty="0"/>
          </a:p>
        </p:txBody>
      </p:sp>
      <p:sp>
        <p:nvSpPr>
          <p:cNvPr id="20" name="Text 18"/>
          <p:cNvSpPr txBox="1"/>
          <p:nvPr/>
        </p:nvSpPr>
        <p:spPr>
          <a:xfrm>
            <a:off x="24076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recordSuspension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حذف فوری از مجموعه</a:t>
            </a:r>
            <a:endParaRPr lang="en-US" sz="1100" dirty="0"/>
          </a:p>
        </p:txBody>
      </p:sp>
      <p:sp>
        <p:nvSpPr>
          <p:cNvPr id="21" name="Text 19"/>
          <p:cNvSpPr txBox="1"/>
          <p:nvPr/>
        </p:nvSpPr>
        <p:spPr>
          <a:xfrm>
            <a:off x="3322015" y="3127248"/>
            <a:ext cx="5852160" cy="27432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C8431F"/>
                </a:solidFill>
                <a:latin typeface="Vazirmatn" pitchFamily="34" charset="0"/>
                <a:ea typeface="Vazirmatn" pitchFamily="34" charset="-122"/>
                <a:cs typeface="Vazirmatn" pitchFamily="34" charset="-120"/>
              </a:rPr>
              <a:t>recordRecovery: پس از ۴۸ ساعت و نبود پرونده‌ی جریمه‌ی باز</a:t>
            </a:r>
            <a:endParaRPr lang="en-US" sz="1100" dirty="0"/>
          </a:p>
        </p:txBody>
      </p:sp>
      <p:sp>
        <p:nvSpPr>
          <p:cNvPr id="22" name="Shape 20"/>
          <p:cNvSpPr/>
          <p:nvPr/>
        </p:nvSpPr>
        <p:spPr>
          <a:xfrm>
            <a:off x="9006840" y="3977640"/>
            <a:ext cx="2636444" cy="2240280"/>
          </a:xfrm>
          <a:prstGeom prst="roundRect">
            <a:avLst>
              <a:gd name="adj" fmla="val 4898"/>
            </a:avLst>
          </a:prstGeom>
          <a:solidFill>
            <a:srgbClr val="F7F9FC"/>
          </a:solidFill>
          <a:ln w="9525">
            <a:solidFill>
              <a:srgbClr val="DDE1EE"/>
            </a:solidFill>
            <a:prstDash val="solid"/>
          </a:ln>
        </p:spPr>
      </p:sp>
      <p:sp>
        <p:nvSpPr>
          <p:cNvPr id="23" name="Text 21"/>
          <p:cNvSpPr txBox="1"/>
          <p:nvPr/>
        </p:nvSpPr>
        <p:spPr>
          <a:xfrm>
            <a:off x="91440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دوره‌ی آزمایشی</a:t>
            </a:r>
            <a:endParaRPr lang="en-US" sz="1450" dirty="0"/>
          </a:p>
        </p:txBody>
      </p:sp>
      <p:sp>
        <p:nvSpPr>
          <p:cNvPr id="24" name="Text 22"/>
          <p:cNvSpPr txBox="1"/>
          <p:nvPr/>
        </p:nvSpPr>
        <p:spPr>
          <a:xfrm>
            <a:off x="91440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یک هفته؛ هنوز در getValidators نیست؛ وثیقه قفل است. حداکثر یک عضویت تازه در هر ۲۴ ساعت.</a:t>
            </a:r>
            <a:endParaRPr lang="en-US" sz="1300" dirty="0"/>
          </a:p>
        </p:txBody>
      </p:sp>
      <p:sp>
        <p:nvSpPr>
          <p:cNvPr id="25" name="Shape 23"/>
          <p:cNvSpPr/>
          <p:nvPr/>
        </p:nvSpPr>
        <p:spPr>
          <a:xfrm>
            <a:off x="6186830" y="3977640"/>
            <a:ext cx="2636444" cy="2240280"/>
          </a:xfrm>
          <a:prstGeom prst="roundRect">
            <a:avLst>
              <a:gd name="adj" fmla="val 4898"/>
            </a:avLst>
          </a:prstGeom>
          <a:solidFill>
            <a:srgbClr val="F7F9FC"/>
          </a:solidFill>
          <a:ln w="9525">
            <a:solidFill>
              <a:srgbClr val="DDE1EE"/>
            </a:solidFill>
            <a:prstDash val="solid"/>
          </a:ln>
        </p:spPr>
      </p:sp>
      <p:sp>
        <p:nvSpPr>
          <p:cNvPr id="26" name="Text 24"/>
          <p:cNvSpPr txBox="1"/>
          <p:nvPr/>
        </p:nvSpPr>
        <p:spPr>
          <a:xfrm>
            <a:off x="632399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فعال</a:t>
            </a:r>
            <a:endParaRPr lang="en-US" sz="1450" dirty="0"/>
          </a:p>
        </p:txBody>
      </p:sp>
      <p:sp>
        <p:nvSpPr>
          <p:cNvPr id="27" name="Text 25"/>
          <p:cNvSpPr txBox="1"/>
          <p:nvPr/>
        </p:nvSpPr>
        <p:spPr>
          <a:xfrm>
            <a:off x="632399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عضو مجموعه‌ی اجماع؛ در رأی‌گیری‌ها شرکت می‌کند؛ پاداش به نسبت بلاک تولیدشده.</a:t>
            </a:r>
            <a:endParaRPr lang="en-US" sz="1300" dirty="0"/>
          </a:p>
        </p:txBody>
      </p:sp>
      <p:sp>
        <p:nvSpPr>
          <p:cNvPr id="28" name="Shape 26"/>
          <p:cNvSpPr/>
          <p:nvPr/>
        </p:nvSpPr>
        <p:spPr>
          <a:xfrm>
            <a:off x="3367735" y="3977640"/>
            <a:ext cx="2636444" cy="2240280"/>
          </a:xfrm>
          <a:prstGeom prst="roundRect">
            <a:avLst>
              <a:gd name="adj" fmla="val 4898"/>
            </a:avLst>
          </a:prstGeom>
          <a:solidFill>
            <a:srgbClr val="F7F9FC"/>
          </a:solidFill>
          <a:ln w="9525">
            <a:solidFill>
              <a:srgbClr val="DDE1EE"/>
            </a:solidFill>
            <a:prstDash val="solid"/>
          </a:ln>
        </p:spPr>
      </p:sp>
      <p:sp>
        <p:nvSpPr>
          <p:cNvPr id="29" name="Text 27"/>
          <p:cNvSpPr txBox="1"/>
          <p:nvPr/>
        </p:nvSpPr>
        <p:spPr>
          <a:xfrm>
            <a:off x="3504895"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معلق</a:t>
            </a:r>
            <a:endParaRPr lang="en-US" sz="1450" dirty="0"/>
          </a:p>
        </p:txBody>
      </p:sp>
      <p:sp>
        <p:nvSpPr>
          <p:cNvPr id="30" name="Text 28"/>
          <p:cNvSpPr txBox="1"/>
          <p:nvPr/>
        </p:nvSpPr>
        <p:spPr>
          <a:xfrm>
            <a:off x="3504895"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تعلیق پس از ۴ ساعت غیرفعالیِ تأییدشده؛ جریمه ۱٪ وثیقه فقط پس از مسیر اعتراض و رأی.</a:t>
            </a:r>
            <a:endParaRPr lang="en-US" sz="1300" dirty="0"/>
          </a:p>
        </p:txBody>
      </p:sp>
      <p:sp>
        <p:nvSpPr>
          <p:cNvPr id="31" name="Shape 29"/>
          <p:cNvSpPr/>
          <p:nvPr/>
        </p:nvSpPr>
        <p:spPr>
          <a:xfrm>
            <a:off x="548640" y="3977640"/>
            <a:ext cx="2636444" cy="2240280"/>
          </a:xfrm>
          <a:prstGeom prst="roundRect">
            <a:avLst>
              <a:gd name="adj" fmla="val 4898"/>
            </a:avLst>
          </a:prstGeom>
          <a:solidFill>
            <a:srgbClr val="F0F1F5"/>
          </a:solidFill>
          <a:ln w="9525">
            <a:solidFill>
              <a:srgbClr val="F0F1F5"/>
            </a:solidFill>
            <a:prstDash val="solid"/>
          </a:ln>
        </p:spPr>
      </p:sp>
      <p:sp>
        <p:nvSpPr>
          <p:cNvPr id="32" name="Text 30"/>
          <p:cNvSpPr txBox="1"/>
          <p:nvPr/>
        </p:nvSpPr>
        <p:spPr>
          <a:xfrm>
            <a:off x="6858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در حال خروج</a:t>
            </a:r>
            <a:endParaRPr lang="en-US" sz="1450" dirty="0"/>
          </a:p>
        </p:txBody>
      </p:sp>
      <p:sp>
        <p:nvSpPr>
          <p:cNvPr id="33" name="Text 31"/>
          <p:cNvSpPr txBox="1"/>
          <p:nvPr/>
        </p:nvSpPr>
        <p:spPr>
          <a:xfrm>
            <a:off x="6858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درخواست خروج فوراً وظیفه را پایان می‌دهد؛ انتظار ۷ روزه؛ تا ۷۲ ساعت Verifier می‌تواند پرونده‌ی تخلف پیش از خروج ثبت کند؛ سپس برداشت.</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تعلیق: از تشخیص تا جریمه‌ی نهایی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8078724" y="1417320"/>
            <a:ext cx="3564026" cy="1874520"/>
          </a:xfrm>
          <a:prstGeom prst="roundRect">
            <a:avLst>
              <a:gd name="adj" fmla="val 5854"/>
            </a:avLst>
          </a:prstGeom>
          <a:solidFill>
            <a:srgbClr val="F7F9FC"/>
          </a:solidFill>
          <a:ln w="9525">
            <a:solidFill>
              <a:srgbClr val="DDE1EE"/>
            </a:solidFill>
            <a:prstDash val="solid"/>
          </a:ln>
        </p:spPr>
      </p:sp>
      <p:sp>
        <p:nvSpPr>
          <p:cNvPr id="7" name="Shape 5"/>
          <p:cNvSpPr/>
          <p:nvPr/>
        </p:nvSpPr>
        <p:spPr>
          <a:xfrm>
            <a:off x="11048390" y="1554480"/>
            <a:ext cx="438912" cy="438912"/>
          </a:xfrm>
          <a:prstGeom prst="ellipse">
            <a:avLst/>
          </a:prstGeom>
          <a:solidFill>
            <a:srgbClr val="2F3690"/>
          </a:solidFill>
          <a:ln w="12700">
            <a:solidFill>
              <a:srgbClr val="2F3690"/>
            </a:solidFill>
            <a:prstDash val="solid"/>
          </a:ln>
        </p:spPr>
      </p:sp>
      <p:sp>
        <p:nvSpPr>
          <p:cNvPr id="8" name="Text 6"/>
          <p:cNvSpPr txBox="1"/>
          <p:nvPr/>
        </p:nvSpPr>
        <p:spPr>
          <a:xfrm>
            <a:off x="11048390"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۱</a:t>
            </a:r>
            <a:endParaRPr lang="en-US" sz="1500" dirty="0"/>
          </a:p>
        </p:txBody>
      </p:sp>
      <p:sp>
        <p:nvSpPr>
          <p:cNvPr id="9" name="Text 7"/>
          <p:cNvSpPr txBox="1"/>
          <p:nvPr/>
        </p:nvSpPr>
        <p:spPr>
          <a:xfrm>
            <a:off x="8215884"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حذف فوری</a:t>
            </a:r>
            <a:endParaRPr lang="en-US" sz="1500" dirty="0"/>
          </a:p>
        </p:txBody>
      </p:sp>
      <p:sp>
        <p:nvSpPr>
          <p:cNvPr id="10" name="Text 8"/>
          <p:cNvSpPr txBox="1"/>
          <p:nvPr/>
        </p:nvSpPr>
        <p:spPr>
          <a:xfrm>
            <a:off x="8215884"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با recordSuspension ولیدیتور فوراً و بدون قید از مجموعه‌ی فعال خارج می‌شود تا QBFT نصابش را با اندازه‌ی مجموعه‌ی زنده هماهنگ کند.</a:t>
            </a:r>
            <a:endParaRPr lang="en-US" sz="1200" dirty="0"/>
          </a:p>
        </p:txBody>
      </p:sp>
      <p:sp>
        <p:nvSpPr>
          <p:cNvPr id="11" name="Shape 9"/>
          <p:cNvSpPr/>
          <p:nvPr/>
        </p:nvSpPr>
        <p:spPr>
          <a:xfrm>
            <a:off x="4314139" y="1417320"/>
            <a:ext cx="3564026" cy="1874520"/>
          </a:xfrm>
          <a:prstGeom prst="roundRect">
            <a:avLst>
              <a:gd name="adj" fmla="val 5854"/>
            </a:avLst>
          </a:prstGeom>
          <a:solidFill>
            <a:srgbClr val="EEF0FB"/>
          </a:solidFill>
          <a:ln w="9525">
            <a:solidFill>
              <a:srgbClr val="EEF0FB"/>
            </a:solidFill>
            <a:prstDash val="solid"/>
          </a:ln>
        </p:spPr>
      </p:sp>
      <p:sp>
        <p:nvSpPr>
          <p:cNvPr id="12" name="Shape 10"/>
          <p:cNvSpPr/>
          <p:nvPr/>
        </p:nvSpPr>
        <p:spPr>
          <a:xfrm>
            <a:off x="7283806" y="1554480"/>
            <a:ext cx="438912" cy="438912"/>
          </a:xfrm>
          <a:prstGeom prst="ellipse">
            <a:avLst/>
          </a:prstGeom>
          <a:solidFill>
            <a:srgbClr val="2F3690"/>
          </a:solidFill>
          <a:ln w="12700">
            <a:solidFill>
              <a:srgbClr val="2F3690"/>
            </a:solidFill>
            <a:prstDash val="solid"/>
          </a:ln>
        </p:spPr>
      </p:sp>
      <p:sp>
        <p:nvSpPr>
          <p:cNvPr id="13" name="Text 11"/>
          <p:cNvSpPr txBox="1"/>
          <p:nvPr/>
        </p:nvSpPr>
        <p:spPr>
          <a:xfrm>
            <a:off x="72838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۲</a:t>
            </a:r>
            <a:endParaRPr lang="en-US" sz="1500" dirty="0"/>
          </a:p>
        </p:txBody>
      </p:sp>
      <p:sp>
        <p:nvSpPr>
          <p:cNvPr id="14" name="Text 12"/>
          <p:cNvSpPr txBox="1"/>
          <p:nvPr/>
        </p:nvSpPr>
        <p:spPr>
          <a:xfrm>
            <a:off x="4451299"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چک رخداد جمعی</a:t>
            </a:r>
            <a:endParaRPr lang="en-US" sz="1500" dirty="0"/>
          </a:p>
        </p:txBody>
      </p:sp>
      <p:sp>
        <p:nvSpPr>
          <p:cNvPr id="15" name="Text 13"/>
          <p:cNvSpPr txBox="1"/>
          <p:nvPr/>
        </p:nvSpPr>
        <p:spPr>
          <a:xfrm>
            <a:off x="4451299"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در یک پنجره‌ی ۱ ساعته بیش از ۲۰٪ ولیدیتورهای فعال معلق شوند، همه از جریمه معاف می‌شوند (نشانه‌ی احتمالی خرابی خود Verifier). این چک همیشه اول اجرا می‌شود.</a:t>
            </a:r>
            <a:endParaRPr lang="en-US" sz="1200" dirty="0"/>
          </a:p>
        </p:txBody>
      </p:sp>
      <p:sp>
        <p:nvSpPr>
          <p:cNvPr id="16" name="Shape 14"/>
          <p:cNvSpPr/>
          <p:nvPr/>
        </p:nvSpPr>
        <p:spPr>
          <a:xfrm>
            <a:off x="548640" y="1417320"/>
            <a:ext cx="3564026" cy="1874520"/>
          </a:xfrm>
          <a:prstGeom prst="roundRect">
            <a:avLst>
              <a:gd name="adj" fmla="val 5854"/>
            </a:avLst>
          </a:prstGeom>
          <a:solidFill>
            <a:srgbClr val="F7F9FC"/>
          </a:solidFill>
          <a:ln w="9525">
            <a:solidFill>
              <a:srgbClr val="DDE1EE"/>
            </a:solidFill>
            <a:prstDash val="solid"/>
          </a:ln>
        </p:spPr>
      </p:sp>
      <p:sp>
        <p:nvSpPr>
          <p:cNvPr id="17" name="Shape 15"/>
          <p:cNvSpPr/>
          <p:nvPr/>
        </p:nvSpPr>
        <p:spPr>
          <a:xfrm>
            <a:off x="3518306" y="1554480"/>
            <a:ext cx="438912" cy="438912"/>
          </a:xfrm>
          <a:prstGeom prst="ellipse">
            <a:avLst/>
          </a:prstGeom>
          <a:solidFill>
            <a:srgbClr val="2F3690"/>
          </a:solidFill>
          <a:ln w="12700">
            <a:solidFill>
              <a:srgbClr val="2F3690"/>
            </a:solidFill>
            <a:prstDash val="solid"/>
          </a:ln>
        </p:spPr>
      </p:sp>
      <p:sp>
        <p:nvSpPr>
          <p:cNvPr id="18" name="Text 16"/>
          <p:cNvSpPr txBox="1"/>
          <p:nvPr/>
        </p:nvSpPr>
        <p:spPr>
          <a:xfrm>
            <a:off x="35183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۳</a:t>
            </a:r>
            <a:endParaRPr lang="en-US" sz="1500" dirty="0"/>
          </a:p>
        </p:txBody>
      </p:sp>
      <p:sp>
        <p:nvSpPr>
          <p:cNvPr id="19" name="Text 17"/>
          <p:cNvSpPr txBox="1"/>
          <p:nvPr/>
        </p:nvSpPr>
        <p:spPr>
          <a:xfrm>
            <a:off x="685800"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تحویل شواهد</a:t>
            </a:r>
            <a:endParaRPr lang="en-US" sz="1500" dirty="0"/>
          </a:p>
        </p:txBody>
      </p:sp>
      <p:sp>
        <p:nvSpPr>
          <p:cNvPr id="20" name="Text 18"/>
          <p:cNvSpPr txBox="1"/>
          <p:nvPr/>
        </p:nvSpPr>
        <p:spPr>
          <a:xfrm>
            <a:off x="685800"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ولیدیتور با confirmDelivery فقط دریافت بسته‌ی شواهد را تأیید می‌کند. اگر تأیید نکند، مجمع درباره‌ی «آیا تحویل شده» رأی می‌دهد.</a:t>
            </a:r>
            <a:endParaRPr lang="en-US" sz="1200" dirty="0"/>
          </a:p>
        </p:txBody>
      </p:sp>
      <p:sp>
        <p:nvSpPr>
          <p:cNvPr id="21" name="Shape 19"/>
          <p:cNvSpPr/>
          <p:nvPr/>
        </p:nvSpPr>
        <p:spPr>
          <a:xfrm>
            <a:off x="8078724" y="3474720"/>
            <a:ext cx="3564026" cy="1874520"/>
          </a:xfrm>
          <a:prstGeom prst="roundRect">
            <a:avLst>
              <a:gd name="adj" fmla="val 5854"/>
            </a:avLst>
          </a:prstGeom>
          <a:solidFill>
            <a:srgbClr val="F7F9FC"/>
          </a:solidFill>
          <a:ln w="9525">
            <a:solidFill>
              <a:srgbClr val="DDE1EE"/>
            </a:solidFill>
            <a:prstDash val="solid"/>
          </a:ln>
        </p:spPr>
      </p:sp>
      <p:sp>
        <p:nvSpPr>
          <p:cNvPr id="22" name="Shape 20"/>
          <p:cNvSpPr/>
          <p:nvPr/>
        </p:nvSpPr>
        <p:spPr>
          <a:xfrm>
            <a:off x="11048390" y="3611880"/>
            <a:ext cx="438912" cy="438912"/>
          </a:xfrm>
          <a:prstGeom prst="ellipse">
            <a:avLst/>
          </a:prstGeom>
          <a:solidFill>
            <a:srgbClr val="2F3690"/>
          </a:solidFill>
          <a:ln w="12700">
            <a:solidFill>
              <a:srgbClr val="2F3690"/>
            </a:solidFill>
            <a:prstDash val="solid"/>
          </a:ln>
        </p:spPr>
      </p:sp>
      <p:sp>
        <p:nvSpPr>
          <p:cNvPr id="23" name="Text 21"/>
          <p:cNvSpPr txBox="1"/>
          <p:nvPr/>
        </p:nvSpPr>
        <p:spPr>
          <a:xfrm>
            <a:off x="11048390"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۴</a:t>
            </a:r>
            <a:endParaRPr lang="en-US" sz="1500" dirty="0"/>
          </a:p>
        </p:txBody>
      </p:sp>
      <p:sp>
        <p:nvSpPr>
          <p:cNvPr id="24" name="Text 22"/>
          <p:cNvSpPr txBox="1"/>
          <p:nvPr/>
        </p:nvSpPr>
        <p:spPr>
          <a:xfrm>
            <a:off x="8215884"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پنجره‌ی اعتراض</a:t>
            </a:r>
            <a:endParaRPr lang="en-US" sz="1500" dirty="0"/>
          </a:p>
        </p:txBody>
      </p:sp>
      <p:sp>
        <p:nvSpPr>
          <p:cNvPr id="25" name="Text 23"/>
          <p:cNvSpPr txBox="1"/>
          <p:nvPr/>
        </p:nvSpPr>
        <p:spPr>
          <a:xfrm>
            <a:off x="8215884"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از لحظه‌ی تحویل ثابت‌شده ۷۲ ساعت؛ فقط خود ولیدیتور می‌تواند اعتراض ثبت کند.</a:t>
            </a:r>
            <a:endParaRPr lang="en-US" sz="1200" dirty="0"/>
          </a:p>
        </p:txBody>
      </p:sp>
      <p:sp>
        <p:nvSpPr>
          <p:cNvPr id="26" name="Shape 24"/>
          <p:cNvSpPr/>
          <p:nvPr/>
        </p:nvSpPr>
        <p:spPr>
          <a:xfrm>
            <a:off x="4314139" y="3474720"/>
            <a:ext cx="3564026" cy="1874520"/>
          </a:xfrm>
          <a:prstGeom prst="roundRect">
            <a:avLst>
              <a:gd name="adj" fmla="val 5854"/>
            </a:avLst>
          </a:prstGeom>
          <a:solidFill>
            <a:srgbClr val="F7F9FC"/>
          </a:solidFill>
          <a:ln w="9525">
            <a:solidFill>
              <a:srgbClr val="DDE1EE"/>
            </a:solidFill>
            <a:prstDash val="solid"/>
          </a:ln>
        </p:spPr>
      </p:sp>
      <p:sp>
        <p:nvSpPr>
          <p:cNvPr id="27" name="Shape 25"/>
          <p:cNvSpPr/>
          <p:nvPr/>
        </p:nvSpPr>
        <p:spPr>
          <a:xfrm>
            <a:off x="7283806" y="3611880"/>
            <a:ext cx="438912" cy="438912"/>
          </a:xfrm>
          <a:prstGeom prst="ellipse">
            <a:avLst/>
          </a:prstGeom>
          <a:solidFill>
            <a:srgbClr val="2F3690"/>
          </a:solidFill>
          <a:ln w="12700">
            <a:solidFill>
              <a:srgbClr val="2F3690"/>
            </a:solidFill>
            <a:prstDash val="solid"/>
          </a:ln>
        </p:spPr>
      </p:sp>
      <p:sp>
        <p:nvSpPr>
          <p:cNvPr id="28" name="Text 26"/>
          <p:cNvSpPr txBox="1"/>
          <p:nvPr/>
        </p:nvSpPr>
        <p:spPr>
          <a:xfrm>
            <a:off x="72838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۵</a:t>
            </a:r>
            <a:endParaRPr lang="en-US" sz="1500" dirty="0"/>
          </a:p>
        </p:txBody>
      </p:sp>
      <p:sp>
        <p:nvSpPr>
          <p:cNvPr id="29" name="Text 27"/>
          <p:cNvSpPr txBox="1"/>
          <p:nvPr/>
        </p:nvSpPr>
        <p:spPr>
          <a:xfrm>
            <a:off x="4451299"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رأی مجمع</a:t>
            </a:r>
            <a:endParaRPr lang="en-US" sz="1500" dirty="0"/>
          </a:p>
        </p:txBody>
      </p:sp>
      <p:sp>
        <p:nvSpPr>
          <p:cNvPr id="30" name="Text 28"/>
          <p:cNvSpPr txBox="1"/>
          <p:nvPr/>
        </p:nvSpPr>
        <p:spPr>
          <a:xfrm>
            <a:off x="4451299"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اکثریت ساده‌ی ولیدیتورهای فعال (جز موضوع) با مهلت ۷ روز. نرسیدن به نصاب یعنی رد جریمه؛ تعلیق اجماعی لغو نمی‌شود.</a:t>
            </a:r>
            <a:endParaRPr lang="en-US" sz="1200" dirty="0"/>
          </a:p>
        </p:txBody>
      </p:sp>
      <p:sp>
        <p:nvSpPr>
          <p:cNvPr id="31" name="Shape 29"/>
          <p:cNvSpPr/>
          <p:nvPr/>
        </p:nvSpPr>
        <p:spPr>
          <a:xfrm>
            <a:off x="548640" y="3474720"/>
            <a:ext cx="3564026" cy="1874520"/>
          </a:xfrm>
          <a:prstGeom prst="roundRect">
            <a:avLst>
              <a:gd name="adj" fmla="val 5854"/>
            </a:avLst>
          </a:prstGeom>
          <a:solidFill>
            <a:srgbClr val="F7F9FC"/>
          </a:solidFill>
          <a:ln w="9525">
            <a:solidFill>
              <a:srgbClr val="DDE1EE"/>
            </a:solidFill>
            <a:prstDash val="solid"/>
          </a:ln>
        </p:spPr>
      </p:sp>
      <p:sp>
        <p:nvSpPr>
          <p:cNvPr id="32" name="Shape 30"/>
          <p:cNvSpPr/>
          <p:nvPr/>
        </p:nvSpPr>
        <p:spPr>
          <a:xfrm>
            <a:off x="3518306" y="3611880"/>
            <a:ext cx="438912" cy="438912"/>
          </a:xfrm>
          <a:prstGeom prst="ellipse">
            <a:avLst/>
          </a:prstGeom>
          <a:solidFill>
            <a:srgbClr val="2F3690"/>
          </a:solidFill>
          <a:ln w="12700">
            <a:solidFill>
              <a:srgbClr val="2F3690"/>
            </a:solidFill>
            <a:prstDash val="solid"/>
          </a:ln>
        </p:spPr>
      </p:sp>
      <p:sp>
        <p:nvSpPr>
          <p:cNvPr id="33" name="Text 31"/>
          <p:cNvSpPr txBox="1"/>
          <p:nvPr/>
        </p:nvSpPr>
        <p:spPr>
          <a:xfrm>
            <a:off x="35183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۶</a:t>
            </a:r>
            <a:endParaRPr lang="en-US" sz="1500" dirty="0"/>
          </a:p>
        </p:txBody>
      </p:sp>
      <p:sp>
        <p:nvSpPr>
          <p:cNvPr id="34" name="Text 32"/>
          <p:cNvSpPr txBox="1"/>
          <p:nvPr/>
        </p:nvSpPr>
        <p:spPr>
          <a:xfrm>
            <a:off x="685800"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بدون اعتراض</a:t>
            </a:r>
            <a:endParaRPr lang="en-US" sz="1500" dirty="0"/>
          </a:p>
        </p:txBody>
      </p:sp>
      <p:sp>
        <p:nvSpPr>
          <p:cNvPr id="35" name="Text 33"/>
          <p:cNvSpPr txBox="1"/>
          <p:nvPr/>
        </p:nvSpPr>
        <p:spPr>
          <a:xfrm>
            <a:off x="685800"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اعتراضی نیاید، پس از ۷۲ ساعت جریمه‌ی ثبت‌شده (۱٪ وثیقه در لحظه‌ی ثبت پرونده) اجرا و به خزانه می‌رود.</a:t>
            </a:r>
            <a:endParaRPr lang="en-US" sz="1200" dirty="0"/>
          </a:p>
        </p:txBody>
      </p:sp>
      <p:sp>
        <p:nvSpPr>
          <p:cNvPr id="36" name="Text 34"/>
          <p:cNvSpPr txBox="1"/>
          <p:nvPr/>
        </p:nvSpPr>
        <p:spPr>
          <a:xfrm>
            <a:off x="548640" y="5623560"/>
            <a:ext cx="11094415" cy="6400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بسته‌ی شواهد عمومی منتشر نمی‌شود: رمزگذاری‌شده، نزد حداقل دو نگهدارنده‌ی مستقل از اپراتور Verifier، ۹۰ روز. مرجع رسیدگی مجمع کامل است، نه هیأت، چون هیأت خودش Verifier را عزل و نصب می‌کند.</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شرایط و تعهدات هر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 داخل ایران</a:t>
            </a:r>
            <a:endParaRPr lang="en-US" sz="1550" dirty="0"/>
          </a:p>
        </p:txBody>
      </p:sp>
      <p:sp>
        <p:nvSpPr>
          <p:cNvPr id="10" name="Text 7"/>
          <p:cNvSpPr txBox="1"/>
          <p:nvPr/>
        </p:nvSpPr>
        <p:spPr>
          <a:xfrm>
            <a:off x="8261604"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نود باید همیشه فیزیکی در ایران باشد (شرط مداوم). Verifier با IP-geolocation بررسی می‌کند؛ با VPN قابل‌دورزدن است و مکمل تعهد قراردادی است.</a:t>
            </a:r>
            <a:endParaRPr lang="en-US" sz="125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اجرای پیوسته‌ی نود</a:t>
            </a:r>
            <a:endParaRPr lang="en-US" sz="1550" dirty="0"/>
          </a:p>
        </p:txBody>
      </p:sp>
      <p:sp>
        <p:nvSpPr>
          <p:cNvPr id="15" name="Text 11"/>
          <p:cNvSpPr txBox="1"/>
          <p:nvPr/>
        </p:nvSpPr>
        <p:spPr>
          <a:xfrm>
            <a:off x="4497019"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Verifier هر ۶۰ دقیقه آف‌چین بررسی می‌کند؛ فقط تغییر وضعیت با هش شواهد روی زنجیره ثبت می‌شود.</a:t>
            </a:r>
            <a:endParaRPr lang="en-US" sz="125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هویت پیش از رأی‌دادن</a:t>
            </a:r>
            <a:endParaRPr lang="en-US" sz="1550" dirty="0"/>
          </a:p>
        </p:txBody>
      </p:sp>
      <p:sp>
        <p:nvSpPr>
          <p:cNvPr id="20" name="Text 15"/>
          <p:cNvSpPr txBox="1"/>
          <p:nvPr/>
        </p:nvSpPr>
        <p:spPr>
          <a:xfrm>
            <a:off x="731520"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ثبت خوداظهاری در IdentityRegistry و وریفای موبایل و تلگرام؛ فقط فلگ وریفای روی زنجیره می‌آید.</a:t>
            </a:r>
            <a:endParaRPr lang="en-US" sz="125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حقیقی یا حقوقی</a:t>
            </a:r>
            <a:endParaRPr lang="en-US" sz="1550" dirty="0"/>
          </a:p>
        </p:txBody>
      </p:sp>
      <p:sp>
        <p:nvSpPr>
          <p:cNvPr id="25" name="Text 19"/>
          <p:cNvSpPr txBox="1"/>
          <p:nvPr/>
        </p:nvSpPr>
        <p:spPr>
          <a:xfrm>
            <a:off x="8261604"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دو می‌توانند ولیدیتور شوند؛ Validator Agreement هر دو حالت را پوشش می‌دهد.</a:t>
            </a:r>
            <a:endParaRPr lang="en-US" sz="125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Validator Agreement</a:t>
            </a:r>
            <a:endParaRPr lang="en-US" sz="1550" dirty="0"/>
          </a:p>
        </p:txBody>
      </p:sp>
      <p:sp>
        <p:nvSpPr>
          <p:cNvPr id="30" name="Text 23"/>
          <p:cNvSpPr txBox="1"/>
          <p:nvPr/>
        </p:nvSpPr>
        <p:spPr>
          <a:xfrm>
            <a:off x="4497019"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قرارداد حقوقی مستقیم با هر ولیدیتور؛ خاموشی هماهنگ عمدی را نقض می‌شمارد؛ فعلاً بدون بند صلاحیت قضایی (ریسک پذیرفته‌شده).</a:t>
            </a:r>
            <a:endParaRPr lang="en-US" sz="125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نرخ ورود محدود</a:t>
            </a:r>
            <a:endParaRPr lang="en-US" sz="1550" dirty="0"/>
          </a:p>
        </p:txBody>
      </p:sp>
      <p:sp>
        <p:nvSpPr>
          <p:cNvPr id="35" name="Text 27"/>
          <p:cNvSpPr txBox="1"/>
          <p:nvPr/>
        </p:nvSpPr>
        <p:spPr>
          <a:xfrm>
            <a:off x="731520"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حداکثر یک عضویت تازه در هر ۲۴ ساعت، تا ورود دسته‌جمعی ممکن نباشد.</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مجلس ولیدیتوری: مجمع و هیأت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Shape 4"/>
          <p:cNvSpPr/>
          <p:nvPr/>
        </p:nvSpPr>
        <p:spPr>
          <a:xfrm>
            <a:off x="6202375" y="1417320"/>
            <a:ext cx="5440680" cy="3886200"/>
          </a:xfrm>
          <a:prstGeom prst="roundRect">
            <a:avLst>
              <a:gd name="adj" fmla="val 2824"/>
            </a:avLst>
          </a:prstGeom>
          <a:solidFill>
            <a:srgbClr val="EEF0FB"/>
          </a:solidFill>
          <a:ln w="9525">
            <a:solidFill>
              <a:srgbClr val="EEF0FB"/>
            </a:solidFill>
            <a:prstDash val="solid"/>
          </a:ln>
        </p:spPr>
      </p:sp>
      <p:sp>
        <p:nvSpPr>
          <p:cNvPr id="7" name="Shape 5"/>
          <p:cNvSpPr/>
          <p:nvPr/>
        </p:nvSpPr>
        <p:spPr>
          <a:xfrm>
            <a:off x="548640" y="1417320"/>
            <a:ext cx="5440680" cy="3886200"/>
          </a:xfrm>
          <a:prstGeom prst="roundRect">
            <a:avLst>
              <a:gd name="adj" fmla="val 2824"/>
            </a:avLst>
          </a:prstGeom>
          <a:solidFill>
            <a:srgbClr val="F7F9FC"/>
          </a:solidFill>
          <a:ln w="9525">
            <a:solidFill>
              <a:srgbClr val="DDE1EE"/>
            </a:solidFill>
            <a:prstDash val="solid"/>
          </a:ln>
        </p:spPr>
      </p:sp>
      <p:sp>
        <p:nvSpPr>
          <p:cNvPr id="8" name="Shape 6"/>
          <p:cNvSpPr/>
          <p:nvPr/>
        </p:nvSpPr>
        <p:spPr>
          <a:xfrm>
            <a:off x="10957255" y="1600200"/>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10" name="Text 7"/>
          <p:cNvSpPr txBox="1"/>
          <p:nvPr/>
        </p:nvSpPr>
        <p:spPr>
          <a:xfrm>
            <a:off x="6385255"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مجمع ولیدیتورها (همه‌ی فعال‌ها)</a:t>
            </a:r>
            <a:endParaRPr lang="en-US" sz="1700" dirty="0"/>
          </a:p>
        </p:txBody>
      </p:sp>
      <p:sp>
        <p:nvSpPr>
          <p:cNvPr id="11" name="Text 8"/>
          <p:cNvSpPr txBox="1"/>
          <p:nvPr/>
        </p:nvSpPr>
        <p:spPr>
          <a:xfrm>
            <a:off x="6430975"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هر آدرس Active در ValidatorsRegistry یک رأی 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فقط کسانی رأی می‌دهند که هنگام ساخت پیشنهاد Active بوده‌اند؛ نصاب همان لحظه ثابت می‌شود.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ورود یا خروج بعدی پیشنهاد را باطل نمی‌کند؛ رأی ثبت‌شده می‌ماند و فرد خارج‌شده رأی تازه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نصاب: اکثریت ساده (پارامترهای امنیتی، اعتراض جریمه)؛ دوسوم (تغییر سهم و نرخ پاداش).</a:t>
            </a:r>
            <a:endParaRPr lang="en-US" sz="1350" dirty="0"/>
          </a:p>
        </p:txBody>
      </p:sp>
      <p:sp>
        <p:nvSpPr>
          <p:cNvPr id="12" name="Shape 9"/>
          <p:cNvSpPr/>
          <p:nvPr/>
        </p:nvSpPr>
        <p:spPr>
          <a:xfrm>
            <a:off x="5303520" y="1600200"/>
            <a:ext cx="502920" cy="502920"/>
          </a:xfrm>
          <a:prstGeom prst="ellipse">
            <a:avLst/>
          </a:prstGeom>
          <a:solidFill>
            <a:srgbClr val="3D46A8"/>
          </a:solidFill>
          <a:ln w="12700">
            <a:solidFill>
              <a:srgbClr val="3D46A8"/>
            </a:solidFill>
            <a:prstDash val="solid"/>
          </a:ln>
        </p:spPr>
      </p:sp>
      <p:pic>
        <p:nvPicPr>
          <p:cNvPr id="13" name="Image 1" descr="preencoded.png">    </p:cNvPr>
          <p:cNvPicPr>
            <a:picLocks noChangeAspect="1"/>
          </p:cNvPicPr>
          <p:nvPr/>
        </p:nvPicPr>
        <p:blipFill>
          <a:blip r:embed="rId2"/>
          <a:stretch>
            <a:fillRect/>
          </a:stretch>
        </p:blipFill>
        <p:spPr>
          <a:xfrm>
            <a:off x="5439308" y="1735988"/>
            <a:ext cx="231343" cy="231343"/>
          </a:xfrm>
          <a:prstGeom prst="rect">
            <a:avLst/>
          </a:prstGeom>
        </p:spPr>
      </p:pic>
      <p:sp>
        <p:nvSpPr>
          <p:cNvPr id="14" name="Text 10"/>
          <p:cNvSpPr txBox="1"/>
          <p:nvPr/>
        </p:nvSpPr>
        <p:spPr>
          <a:xfrm>
            <a:off x="731520"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3D46A8"/>
                </a:solidFill>
                <a:latin typeface="Vazirmatn" pitchFamily="34" charset="0"/>
                <a:ea typeface="Vazirmatn" pitchFamily="34" charset="-122"/>
                <a:cs typeface="Vazirmatn" pitchFamily="34" charset="-120"/>
              </a:rPr>
              <a:t>هیأت ولیدیتورها (۵ صندلی)</a:t>
            </a:r>
            <a:endParaRPr lang="en-US" sz="1700" dirty="0"/>
          </a:p>
        </p:txBody>
      </p:sp>
      <p:sp>
        <p:nvSpPr>
          <p:cNvPr id="15" name="Text 11"/>
          <p:cNvSpPr txBox="1"/>
          <p:nvPr/>
        </p:nvSpPr>
        <p:spPr>
          <a:xfrm>
            <a:off x="777240"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رأی تأییدی مستمر: هر ولیدیتور تا ۵ کاندیدا و هر لحظه قابل‌پس‌گیری.</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نتیجه فقط با refreshBoard (حداکثر هر ۳۰ روز) اعمال می‌شود و نبودِ رأی هیأت را خالی نمی‌کند.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اختیار عضو با درخواست خروج فوراً قطع می‌شود؛ مسیر عزل اضطراری وجود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اکشن‌ها با ۳ رأی از ۵؛ تغییر ترکیب هیأت، پیشنهادهای ناتمام را باطل می‌کند.</a:t>
            </a:r>
            <a:endParaRPr lang="en-US" sz="1350" dirty="0"/>
          </a:p>
        </p:txBody>
      </p:sp>
      <p:sp>
        <p:nvSpPr>
          <p:cNvPr id="16" name="Shape 12"/>
          <p:cNvSpPr/>
          <p:nvPr/>
        </p:nvSpPr>
        <p:spPr>
          <a:xfrm>
            <a:off x="548640" y="5486400"/>
            <a:ext cx="11094415" cy="777240"/>
          </a:xfrm>
          <a:prstGeom prst="roundRect">
            <a:avLst>
              <a:gd name="adj" fmla="val 14118"/>
            </a:avLst>
          </a:prstGeom>
          <a:solidFill>
            <a:srgbClr val="E3F4EC"/>
          </a:solidFill>
          <a:ln w="9525">
            <a:solidFill>
              <a:srgbClr val="E3F4EC"/>
            </a:solidFill>
            <a:prstDash val="solid"/>
          </a:ln>
        </p:spPr>
      </p:sp>
      <p:sp>
        <p:nvSpPr>
          <p:cNvPr id="17" name="Text 13"/>
          <p:cNvSpPr txBox="1"/>
          <p:nvPr/>
        </p:nvSpPr>
        <p:spPr>
          <a:xfrm>
            <a:off x="822960" y="5486400"/>
            <a:ext cx="10545775" cy="777240"/>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چرا دو مجلس: ولیدیتور عادی به سهم مستقیم بیشتر و هیأت به خزانه‌ی بزرگ‌تر گرایش دارد؛ لازم‌بودن تصویب هر دو، حرکت یک‌طرفه‌ی هرکدام به نفع خودش را مسدود می‌کند.</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هیأت ولیدیتورها: شش اختیار تفویضی و حدود آن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Text 4"/>
          <p:cNvSpPr txBox="1"/>
          <p:nvPr/>
        </p:nvSpPr>
        <p:spPr>
          <a:xfrm>
            <a:off x="6156655" y="1371600"/>
            <a:ext cx="54864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اختیارات هیأت</a:t>
            </a:r>
            <a:endParaRPr lang="en-US" sz="1600" dirty="0"/>
          </a:p>
        </p:txBody>
      </p:sp>
      <p:sp>
        <p:nvSpPr>
          <p:cNvPr id="7" name="Shape 5"/>
          <p:cNvSpPr/>
          <p:nvPr/>
        </p:nvSpPr>
        <p:spPr>
          <a:xfrm>
            <a:off x="5333695" y="1783080"/>
            <a:ext cx="6309360" cy="603504"/>
          </a:xfrm>
          <a:prstGeom prst="roundRect">
            <a:avLst>
              <a:gd name="adj" fmla="val 18182"/>
            </a:avLst>
          </a:prstGeom>
          <a:solidFill>
            <a:srgbClr val="F7F9FC"/>
          </a:solidFill>
          <a:ln w="9525">
            <a:solidFill>
              <a:srgbClr val="DDE1EE"/>
            </a:solidFill>
            <a:prstDash val="solid"/>
          </a:ln>
        </p:spPr>
      </p:sp>
      <p:sp>
        <p:nvSpPr>
          <p:cNvPr id="8" name="Shape 6"/>
          <p:cNvSpPr/>
          <p:nvPr/>
        </p:nvSpPr>
        <p:spPr>
          <a:xfrm>
            <a:off x="11149279" y="1892808"/>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49279" y="189280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351215" y="178308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distributionOracle</a:t>
            </a:r>
            <a:endParaRPr lang="en-US" sz="1350" dirty="0"/>
          </a:p>
        </p:txBody>
      </p:sp>
      <p:sp>
        <p:nvSpPr>
          <p:cNvPr id="11" name="Text 9"/>
          <p:cNvSpPr txBox="1"/>
          <p:nvPr/>
        </p:nvSpPr>
        <p:spPr>
          <a:xfrm>
            <a:off x="5470855" y="178308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عملیاتی RewardRouter</a:t>
            </a:r>
            <a:endParaRPr lang="en-US" sz="1200" dirty="0"/>
          </a:p>
        </p:txBody>
      </p:sp>
      <p:sp>
        <p:nvSpPr>
          <p:cNvPr id="12" name="Shape 10"/>
          <p:cNvSpPr/>
          <p:nvPr/>
        </p:nvSpPr>
        <p:spPr>
          <a:xfrm>
            <a:off x="5333695" y="2496312"/>
            <a:ext cx="6309360" cy="603504"/>
          </a:xfrm>
          <a:prstGeom prst="roundRect">
            <a:avLst>
              <a:gd name="adj" fmla="val 18182"/>
            </a:avLst>
          </a:prstGeom>
          <a:solidFill>
            <a:srgbClr val="F7F9FC"/>
          </a:solidFill>
          <a:ln w="9525">
            <a:solidFill>
              <a:srgbClr val="DDE1EE"/>
            </a:solidFill>
            <a:prstDash val="solid"/>
          </a:ln>
        </p:spPr>
      </p:sp>
      <p:sp>
        <p:nvSpPr>
          <p:cNvPr id="13" name="Shape 11"/>
          <p:cNvSpPr/>
          <p:nvPr/>
        </p:nvSpPr>
        <p:spPr>
          <a:xfrm>
            <a:off x="11149279" y="2606040"/>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49279" y="260604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351215" y="2496312"/>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تصویب پرداخت خزانه</a:t>
            </a:r>
            <a:endParaRPr lang="en-US" sz="1350" dirty="0"/>
          </a:p>
        </p:txBody>
      </p:sp>
      <p:sp>
        <p:nvSpPr>
          <p:cNvPr id="16" name="Text 14"/>
          <p:cNvSpPr txBox="1"/>
          <p:nvPr/>
        </p:nvSpPr>
        <p:spPr>
          <a:xfrm>
            <a:off x="5470855" y="2496312"/>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حداقل ۳ رأی و زیر سقف‌های مجمع</a:t>
            </a:r>
            <a:endParaRPr lang="en-US" sz="1200" dirty="0"/>
          </a:p>
        </p:txBody>
      </p:sp>
      <p:sp>
        <p:nvSpPr>
          <p:cNvPr id="17" name="Shape 15"/>
          <p:cNvSpPr/>
          <p:nvPr/>
        </p:nvSpPr>
        <p:spPr>
          <a:xfrm>
            <a:off x="5333695" y="3209544"/>
            <a:ext cx="6309360" cy="603504"/>
          </a:xfrm>
          <a:prstGeom prst="roundRect">
            <a:avLst>
              <a:gd name="adj" fmla="val 18182"/>
            </a:avLst>
          </a:prstGeom>
          <a:solidFill>
            <a:srgbClr val="F7F9FC"/>
          </a:solidFill>
          <a:ln w="9525">
            <a:solidFill>
              <a:srgbClr val="DDE1EE"/>
            </a:solidFill>
            <a:prstDash val="solid"/>
          </a:ln>
        </p:spPr>
      </p:sp>
      <p:sp>
        <p:nvSpPr>
          <p:cNvPr id="18" name="Shape 16"/>
          <p:cNvSpPr/>
          <p:nvPr/>
        </p:nvSpPr>
        <p:spPr>
          <a:xfrm>
            <a:off x="11149279" y="3319272"/>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49279" y="33192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351215" y="3209544"/>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آستانه‌ی ورود (پایه)</a:t>
            </a:r>
            <a:endParaRPr lang="en-US" sz="1350" dirty="0"/>
          </a:p>
        </p:txBody>
      </p:sp>
      <p:sp>
        <p:nvSpPr>
          <p:cNvPr id="21" name="Text 19"/>
          <p:cNvSpPr txBox="1"/>
          <p:nvPr/>
        </p:nvSpPr>
        <p:spPr>
          <a:xfrm>
            <a:off x="5470855" y="3209544"/>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۱۰۰ هزار تا ۲ میلیون سورن</a:t>
            </a:r>
            <a:endParaRPr lang="en-US" sz="1200" dirty="0"/>
          </a:p>
        </p:txBody>
      </p:sp>
      <p:sp>
        <p:nvSpPr>
          <p:cNvPr id="22" name="Shape 20"/>
          <p:cNvSpPr/>
          <p:nvPr/>
        </p:nvSpPr>
        <p:spPr>
          <a:xfrm>
            <a:off x="5333695" y="3922776"/>
            <a:ext cx="6309360" cy="603504"/>
          </a:xfrm>
          <a:prstGeom prst="roundRect">
            <a:avLst>
              <a:gd name="adj" fmla="val 18182"/>
            </a:avLst>
          </a:prstGeom>
          <a:solidFill>
            <a:srgbClr val="F7F9FC"/>
          </a:solidFill>
          <a:ln w="9525">
            <a:solidFill>
              <a:srgbClr val="DDE1EE"/>
            </a:solidFill>
            <a:prstDash val="solid"/>
          </a:ln>
        </p:spPr>
      </p:sp>
      <p:sp>
        <p:nvSpPr>
          <p:cNvPr id="23" name="Shape 21"/>
          <p:cNvSpPr/>
          <p:nvPr/>
        </p:nvSpPr>
        <p:spPr>
          <a:xfrm>
            <a:off x="11149279" y="40325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49279" y="40325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351215" y="3922776"/>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ضریب رشد وثیقه</a:t>
            </a:r>
            <a:endParaRPr lang="en-US" sz="1350" dirty="0"/>
          </a:p>
        </p:txBody>
      </p:sp>
      <p:sp>
        <p:nvSpPr>
          <p:cNvPr id="26" name="Text 24"/>
          <p:cNvSpPr txBox="1"/>
          <p:nvPr/>
        </p:nvSpPr>
        <p:spPr>
          <a:xfrm>
            <a:off x="5470855" y="3922776"/>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دوبرابرشدن هر ۲۰ تا ۸۰ ولیدیتور</a:t>
            </a:r>
            <a:endParaRPr lang="en-US" sz="1200" dirty="0"/>
          </a:p>
        </p:txBody>
      </p:sp>
      <p:sp>
        <p:nvSpPr>
          <p:cNvPr id="27" name="Shape 25"/>
          <p:cNvSpPr/>
          <p:nvPr/>
        </p:nvSpPr>
        <p:spPr>
          <a:xfrm>
            <a:off x="5333695" y="4636008"/>
            <a:ext cx="6309360" cy="603504"/>
          </a:xfrm>
          <a:prstGeom prst="roundRect">
            <a:avLst>
              <a:gd name="adj" fmla="val 18182"/>
            </a:avLst>
          </a:prstGeom>
          <a:solidFill>
            <a:srgbClr val="F7F9FC"/>
          </a:solidFill>
          <a:ln w="9525">
            <a:solidFill>
              <a:srgbClr val="DDE1EE"/>
            </a:solidFill>
            <a:prstDash val="solid"/>
          </a:ln>
        </p:spPr>
      </p:sp>
      <p:sp>
        <p:nvSpPr>
          <p:cNvPr id="28" name="Shape 26"/>
          <p:cNvSpPr/>
          <p:nvPr/>
        </p:nvSpPr>
        <p:spPr>
          <a:xfrm>
            <a:off x="11149279" y="4745736"/>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49279" y="47457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351215" y="4636008"/>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درصد کارمزد عضویت</a:t>
            </a:r>
            <a:endParaRPr lang="en-US" sz="1350" dirty="0"/>
          </a:p>
        </p:txBody>
      </p:sp>
      <p:sp>
        <p:nvSpPr>
          <p:cNvPr id="31" name="Text 29"/>
          <p:cNvSpPr txBox="1"/>
          <p:nvPr/>
        </p:nvSpPr>
        <p:spPr>
          <a:xfrm>
            <a:off x="5470855" y="4636008"/>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 تا ۱۰٪</a:t>
            </a:r>
            <a:endParaRPr lang="en-US" sz="1200" dirty="0"/>
          </a:p>
        </p:txBody>
      </p:sp>
      <p:sp>
        <p:nvSpPr>
          <p:cNvPr id="32" name="Shape 30"/>
          <p:cNvSpPr/>
          <p:nvPr/>
        </p:nvSpPr>
        <p:spPr>
          <a:xfrm>
            <a:off x="5333695" y="5349240"/>
            <a:ext cx="6309360" cy="603504"/>
          </a:xfrm>
          <a:prstGeom prst="roundRect">
            <a:avLst>
              <a:gd name="adj" fmla="val 18182"/>
            </a:avLst>
          </a:prstGeom>
          <a:solidFill>
            <a:srgbClr val="F7F9FC"/>
          </a:solidFill>
          <a:ln w="9525">
            <a:solidFill>
              <a:srgbClr val="DDE1EE"/>
            </a:solidFill>
            <a:prstDash val="solid"/>
          </a:ln>
        </p:spPr>
      </p:sp>
      <p:sp>
        <p:nvSpPr>
          <p:cNvPr id="33" name="Shape 31"/>
          <p:cNvSpPr/>
          <p:nvPr/>
        </p:nvSpPr>
        <p:spPr>
          <a:xfrm>
            <a:off x="11149279" y="5458968"/>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49279" y="545896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351215" y="534924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کلید verifier</a:t>
            </a:r>
            <a:endParaRPr lang="en-US" sz="1350" dirty="0"/>
          </a:p>
        </p:txBody>
      </p:sp>
      <p:sp>
        <p:nvSpPr>
          <p:cNvPr id="36" name="Text 34"/>
          <p:cNvSpPr txBox="1"/>
          <p:nvPr/>
        </p:nvSpPr>
        <p:spPr>
          <a:xfrm>
            <a:off x="5470855" y="534924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تصمیم‌های وضعیت ولیدیتور</a:t>
            </a:r>
            <a:endParaRPr lang="en-US" sz="1200" dirty="0"/>
          </a:p>
        </p:txBody>
      </p:sp>
      <p:sp>
        <p:nvSpPr>
          <p:cNvPr id="37" name="Shape 35"/>
          <p:cNvSpPr/>
          <p:nvPr/>
        </p:nvSpPr>
        <p:spPr>
          <a:xfrm>
            <a:off x="548640" y="1371600"/>
            <a:ext cx="4526280" cy="4754880"/>
          </a:xfrm>
          <a:prstGeom prst="roundRect">
            <a:avLst>
              <a:gd name="adj" fmla="val 2424"/>
            </a:avLst>
          </a:prstGeom>
          <a:solidFill>
            <a:srgbClr val="F0F1F5"/>
          </a:solidFill>
          <a:ln w="9525">
            <a:solidFill>
              <a:srgbClr val="F0F1F5"/>
            </a:solidFill>
            <a:prstDash val="solid"/>
          </a:ln>
        </p:spPr>
      </p:sp>
      <p:sp>
        <p:nvSpPr>
          <p:cNvPr id="38" name="Text 36"/>
          <p:cNvSpPr txBox="1"/>
          <p:nvPr/>
        </p:nvSpPr>
        <p:spPr>
          <a:xfrm>
            <a:off x="731520" y="1508760"/>
            <a:ext cx="416052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5F6472"/>
                </a:solidFill>
                <a:latin typeface="Vazirmatn" pitchFamily="34" charset="0"/>
                <a:ea typeface="Vazirmatn" pitchFamily="34" charset="-122"/>
                <a:cs typeface="Vazirmatn" pitchFamily="34" charset="-120"/>
              </a:rPr>
              <a:t>آنچه هیأت نمی‌تواند</a:t>
            </a:r>
            <a:endParaRPr lang="en-US" sz="1600" dirty="0"/>
          </a:p>
        </p:txBody>
      </p:sp>
      <p:sp>
        <p:nvSpPr>
          <p:cNvPr id="39" name="Text 37"/>
          <p:cNvSpPr txBox="1"/>
          <p:nvPr/>
        </p:nvSpPr>
        <p:spPr>
          <a:xfrm>
            <a:off x="731520" y="1965960"/>
            <a:ext cx="4160520" cy="402336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سایر پارامترهای امنیتی (دوره‌ی آزمایشی، بازگشت، درصد جریمه، انتظار خروج) فقط با رأی کامل مجمع.</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سقف‌های خزانه فقط با رأی مجمع و تأخیر ۷ روزه.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آدرس قراردادهای اصلی و رسیدگی به جریمه‌ها (مرجع: مجمع کامل).</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اگر اعضای دارای اختیار کمتر از ۳ نفر شوند، پرداخت خزانه متوقف می‌شود.</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نقشه‌ی تصمیم‌ها: چه کسی، با چه نصابی، با چه تأخیری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87775"/>
                <a:gridCol w="1920240"/>
                <a:gridCol w="2286000"/>
                <a:gridCol w="320040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شرط یا تأخیر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مرجع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تصمیم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حدود مجاز؛ ۱۸۰ روز قفل مشترک پس از هر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 پارامتر اقتصادی ورود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قیدهای کد (مثلاً انتظار خروج بلندتر از ۷۲ ساعت)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پارامترهای امنیتی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۱۸۰ روز بین دو تغییر؛ انقضا ۳۰ روز</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سهم مستقیم ولیدیتورها (۴۰ تا ۶۵٪)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و حداقل ۲۰۱٬۶۰۰ بلاک تا شروع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نرخ پاداش هر بلاک</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تا ۵۰٬۰۰۰ هر پرداخت و ۲۰۰٬۰۰۰ در پنجره‌ی ۳۰روزه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۳ رأی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خرج از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پیش از اعمال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تغییر سقف‌های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اعتراض ۷۲ ساعته و مهلت رأی ۷ 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(به‌جز موضوع)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جریمه‌ی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سایر پیشنهادها اکثریت ساده (۸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افزودن یا حذف عضو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تغییر نرخ پاداش بلاک: حکمرانی روی زنجیره، اعمال روی Besu</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9951415" y="1463040"/>
            <a:ext cx="1691640" cy="2057400"/>
          </a:xfrm>
          <a:prstGeom prst="roundRect">
            <a:avLst>
              <a:gd name="adj" fmla="val 6486"/>
            </a:avLst>
          </a:prstGeom>
          <a:solidFill>
            <a:srgbClr val="EEF0FB"/>
          </a:solidFill>
          <a:ln w="9525">
            <a:solidFill>
              <a:srgbClr val="EEF0FB"/>
            </a:solidFill>
            <a:prstDash val="solid"/>
          </a:ln>
        </p:spPr>
      </p:sp>
      <p:sp>
        <p:nvSpPr>
          <p:cNvPr id="7" name="Shape 5"/>
          <p:cNvSpPr/>
          <p:nvPr/>
        </p:nvSpPr>
        <p:spPr>
          <a:xfrm>
            <a:off x="10568635" y="1572768"/>
            <a:ext cx="457200" cy="457200"/>
          </a:xfrm>
          <a:prstGeom prst="ellipse">
            <a:avLst/>
          </a:prstGeom>
          <a:solidFill>
            <a:srgbClr val="2F3690"/>
          </a:solidFill>
          <a:ln w="12700">
            <a:solidFill>
              <a:srgbClr val="2F3690"/>
            </a:solidFill>
            <a:prstDash val="solid"/>
          </a:ln>
        </p:spPr>
      </p:sp>
      <p:sp>
        <p:nvSpPr>
          <p:cNvPr id="8" name="Text 6"/>
          <p:cNvSpPr txBox="1"/>
          <p:nvPr/>
        </p:nvSpPr>
        <p:spPr>
          <a:xfrm>
            <a:off x="1056863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9" name="Text 7"/>
          <p:cNvSpPr txBox="1"/>
          <p:nvPr/>
        </p:nvSpPr>
        <p:spPr>
          <a:xfrm>
            <a:off x="1004285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پیشنهاد</a:t>
            </a:r>
            <a:endParaRPr lang="en-US" sz="1300" dirty="0"/>
          </a:p>
        </p:txBody>
      </p:sp>
      <p:sp>
        <p:nvSpPr>
          <p:cNvPr id="10" name="Text 8"/>
          <p:cNvSpPr txBox="1"/>
          <p:nvPr/>
        </p:nvSpPr>
        <p:spPr>
          <a:xfrm>
            <a:off x="1004285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ولیدیتور فعال ارتفاع شروع و نرخ را پیشنهاد می‌دهد</a:t>
            </a:r>
            <a:endParaRPr lang="en-US" sz="1100" dirty="0"/>
          </a:p>
        </p:txBody>
      </p:sp>
      <p:sp>
        <p:nvSpPr>
          <p:cNvPr id="11" name="Shape 9"/>
          <p:cNvSpPr/>
          <p:nvPr/>
        </p:nvSpPr>
        <p:spPr>
          <a:xfrm flipH="1">
            <a:off x="9782251" y="2468880"/>
            <a:ext cx="150876" cy="0"/>
          </a:xfrm>
          <a:prstGeom prst="line">
            <a:avLst/>
          </a:prstGeom>
          <a:noFill/>
          <a:ln w="25400">
            <a:solidFill>
              <a:srgbClr val="2F3690"/>
            </a:solidFill>
            <a:prstDash val="solid"/>
            <a:tailEnd type="triangle"/>
          </a:ln>
        </p:spPr>
      </p:sp>
      <p:sp>
        <p:nvSpPr>
          <p:cNvPr id="12" name="Shape 10"/>
          <p:cNvSpPr/>
          <p:nvPr/>
        </p:nvSpPr>
        <p:spPr>
          <a:xfrm>
            <a:off x="8072323" y="1463040"/>
            <a:ext cx="1691640" cy="2057400"/>
          </a:xfrm>
          <a:prstGeom prst="roundRect">
            <a:avLst>
              <a:gd name="adj" fmla="val 6486"/>
            </a:avLst>
          </a:prstGeom>
          <a:solidFill>
            <a:srgbClr val="F7F9FC"/>
          </a:solidFill>
          <a:ln w="9525">
            <a:solidFill>
              <a:srgbClr val="DDE1EE"/>
            </a:solidFill>
            <a:prstDash val="solid"/>
          </a:ln>
        </p:spPr>
      </p:sp>
      <p:sp>
        <p:nvSpPr>
          <p:cNvPr id="13" name="Shape 11"/>
          <p:cNvSpPr/>
          <p:nvPr/>
        </p:nvSpPr>
        <p:spPr>
          <a:xfrm>
            <a:off x="8689543" y="1572768"/>
            <a:ext cx="457200" cy="457200"/>
          </a:xfrm>
          <a:prstGeom prst="ellipse">
            <a:avLst/>
          </a:prstGeom>
          <a:solidFill>
            <a:srgbClr val="2F3690"/>
          </a:solidFill>
          <a:ln w="12700">
            <a:solidFill>
              <a:srgbClr val="2F3690"/>
            </a:solidFill>
            <a:prstDash val="solid"/>
          </a:ln>
        </p:spPr>
      </p:sp>
      <p:sp>
        <p:nvSpPr>
          <p:cNvPr id="14" name="Text 12"/>
          <p:cNvSpPr txBox="1"/>
          <p:nvPr/>
        </p:nvSpPr>
        <p:spPr>
          <a:xfrm>
            <a:off x="8689543"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15" name="Text 13"/>
          <p:cNvSpPr txBox="1"/>
          <p:nvPr/>
        </p:nvSpPr>
        <p:spPr>
          <a:xfrm>
            <a:off x="8163763"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رأی‌گیری تا ۳۰ روز</a:t>
            </a:r>
            <a:endParaRPr lang="en-US" sz="1300" dirty="0"/>
          </a:p>
        </p:txBody>
      </p:sp>
      <p:sp>
        <p:nvSpPr>
          <p:cNvPr id="16" name="Text 14"/>
          <p:cNvSpPr txBox="1"/>
          <p:nvPr/>
        </p:nvSpPr>
        <p:spPr>
          <a:xfrm>
            <a:off x="8163763"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هیأت ۳ از ۵ و دوسوم ولیدیتورهای واجد هنگام ساخت</a:t>
            </a:r>
            <a:endParaRPr lang="en-US" sz="1100" dirty="0"/>
          </a:p>
        </p:txBody>
      </p:sp>
      <p:sp>
        <p:nvSpPr>
          <p:cNvPr id="17" name="Shape 15"/>
          <p:cNvSpPr/>
          <p:nvPr/>
        </p:nvSpPr>
        <p:spPr>
          <a:xfrm flipH="1">
            <a:off x="7903159" y="2468880"/>
            <a:ext cx="150876" cy="0"/>
          </a:xfrm>
          <a:prstGeom prst="line">
            <a:avLst/>
          </a:prstGeom>
          <a:noFill/>
          <a:ln w="25400">
            <a:solidFill>
              <a:srgbClr val="2F3690"/>
            </a:solidFill>
            <a:prstDash val="solid"/>
            <a:tailEnd type="triangle"/>
          </a:ln>
        </p:spPr>
      </p:sp>
      <p:sp>
        <p:nvSpPr>
          <p:cNvPr id="18" name="Shape 16"/>
          <p:cNvSpPr/>
          <p:nvPr/>
        </p:nvSpPr>
        <p:spPr>
          <a:xfrm>
            <a:off x="6193231" y="1463040"/>
            <a:ext cx="1691640" cy="2057400"/>
          </a:xfrm>
          <a:prstGeom prst="roundRect">
            <a:avLst>
              <a:gd name="adj" fmla="val 6486"/>
            </a:avLst>
          </a:prstGeom>
          <a:solidFill>
            <a:srgbClr val="EEF0FB"/>
          </a:solidFill>
          <a:ln w="9525">
            <a:solidFill>
              <a:srgbClr val="EEF0FB"/>
            </a:solidFill>
            <a:prstDash val="solid"/>
          </a:ln>
        </p:spPr>
      </p:sp>
      <p:sp>
        <p:nvSpPr>
          <p:cNvPr id="19" name="Shape 17"/>
          <p:cNvSpPr/>
          <p:nvPr/>
        </p:nvSpPr>
        <p:spPr>
          <a:xfrm>
            <a:off x="6810451" y="1572768"/>
            <a:ext cx="457200" cy="457200"/>
          </a:xfrm>
          <a:prstGeom prst="ellipse">
            <a:avLst/>
          </a:prstGeom>
          <a:solidFill>
            <a:srgbClr val="2F3690"/>
          </a:solidFill>
          <a:ln w="12700">
            <a:solidFill>
              <a:srgbClr val="2F3690"/>
            </a:solidFill>
            <a:prstDash val="solid"/>
          </a:ln>
        </p:spPr>
      </p:sp>
      <p:sp>
        <p:nvSpPr>
          <p:cNvPr id="20" name="Text 18"/>
          <p:cNvSpPr txBox="1"/>
          <p:nvPr/>
        </p:nvSpPr>
        <p:spPr>
          <a:xfrm>
            <a:off x="6810451"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21" name="Text 19"/>
          <p:cNvSpPr txBox="1"/>
          <p:nvPr/>
        </p:nvSpPr>
        <p:spPr>
          <a:xfrm>
            <a:off x="6284671"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تأخیر ۷ روزه</a:t>
            </a:r>
            <a:endParaRPr lang="en-US" sz="1300" dirty="0"/>
          </a:p>
        </p:txBody>
      </p:sp>
      <p:sp>
        <p:nvSpPr>
          <p:cNvPr id="22" name="Text 20"/>
          <p:cNvSpPr txBox="1"/>
          <p:nvPr/>
        </p:nvSpPr>
        <p:spPr>
          <a:xfrm>
            <a:off x="6284671"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از تکمیل هر دو مجلس</a:t>
            </a:r>
            <a:endParaRPr lang="en-US" sz="1100" dirty="0"/>
          </a:p>
        </p:txBody>
      </p:sp>
      <p:sp>
        <p:nvSpPr>
          <p:cNvPr id="23" name="Shape 21"/>
          <p:cNvSpPr/>
          <p:nvPr/>
        </p:nvSpPr>
        <p:spPr>
          <a:xfrm flipH="1">
            <a:off x="6024067" y="2468880"/>
            <a:ext cx="150876" cy="0"/>
          </a:xfrm>
          <a:prstGeom prst="line">
            <a:avLst/>
          </a:prstGeom>
          <a:noFill/>
          <a:ln w="25400">
            <a:solidFill>
              <a:srgbClr val="2F3690"/>
            </a:solidFill>
            <a:prstDash val="solid"/>
            <a:tailEnd type="triangle"/>
          </a:ln>
        </p:spPr>
      </p:sp>
      <p:sp>
        <p:nvSpPr>
          <p:cNvPr id="24" name="Shape 22"/>
          <p:cNvSpPr/>
          <p:nvPr/>
        </p:nvSpPr>
        <p:spPr>
          <a:xfrm>
            <a:off x="4314139" y="1463040"/>
            <a:ext cx="1691640" cy="2057400"/>
          </a:xfrm>
          <a:prstGeom prst="roundRect">
            <a:avLst>
              <a:gd name="adj" fmla="val 6486"/>
            </a:avLst>
          </a:prstGeom>
          <a:solidFill>
            <a:srgbClr val="F7F9FC"/>
          </a:solidFill>
          <a:ln w="9525">
            <a:solidFill>
              <a:srgbClr val="DDE1EE"/>
            </a:solidFill>
            <a:prstDash val="solid"/>
          </a:ln>
        </p:spPr>
      </p:sp>
      <p:sp>
        <p:nvSpPr>
          <p:cNvPr id="25" name="Shape 23"/>
          <p:cNvSpPr/>
          <p:nvPr/>
        </p:nvSpPr>
        <p:spPr>
          <a:xfrm>
            <a:off x="4931359" y="1572768"/>
            <a:ext cx="457200" cy="457200"/>
          </a:xfrm>
          <a:prstGeom prst="ellipse">
            <a:avLst/>
          </a:prstGeom>
          <a:solidFill>
            <a:srgbClr val="2F3690"/>
          </a:solidFill>
          <a:ln w="12700">
            <a:solidFill>
              <a:srgbClr val="2F3690"/>
            </a:solidFill>
            <a:prstDash val="solid"/>
          </a:ln>
        </p:spPr>
      </p:sp>
      <p:sp>
        <p:nvSpPr>
          <p:cNvPr id="26" name="Text 24"/>
          <p:cNvSpPr txBox="1"/>
          <p:nvPr/>
        </p:nvSpPr>
        <p:spPr>
          <a:xfrm>
            <a:off x="4931359"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27" name="Text 25"/>
          <p:cNvSpPr txBox="1"/>
          <p:nvPr/>
        </p:nvSpPr>
        <p:spPr>
          <a:xfrm>
            <a:off x="4405579"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اجرا و ثبت</a:t>
            </a:r>
            <a:endParaRPr lang="en-US" sz="1300" dirty="0"/>
          </a:p>
        </p:txBody>
      </p:sp>
      <p:sp>
        <p:nvSpPr>
          <p:cNvPr id="28" name="Text 26"/>
          <p:cNvSpPr txBox="1"/>
          <p:nvPr/>
        </p:nvSpPr>
        <p:spPr>
          <a:xfrm>
            <a:off x="4405579"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هرکس اجرا می‌کند؛ نرخ در تاریخچه‌ی فقط‌افزودنی ثبت می‌شود</a:t>
            </a:r>
            <a:endParaRPr lang="en-US" sz="1100" dirty="0"/>
          </a:p>
        </p:txBody>
      </p:sp>
      <p:sp>
        <p:nvSpPr>
          <p:cNvPr id="29" name="Shape 27"/>
          <p:cNvSpPr/>
          <p:nvPr/>
        </p:nvSpPr>
        <p:spPr>
          <a:xfrm flipH="1">
            <a:off x="4144975" y="2468880"/>
            <a:ext cx="150876" cy="0"/>
          </a:xfrm>
          <a:prstGeom prst="line">
            <a:avLst/>
          </a:prstGeom>
          <a:noFill/>
          <a:ln w="25400">
            <a:solidFill>
              <a:srgbClr val="2F3690"/>
            </a:solidFill>
            <a:prstDash val="solid"/>
            <a:tailEnd type="triangle"/>
          </a:ln>
        </p:spPr>
      </p:sp>
      <p:sp>
        <p:nvSpPr>
          <p:cNvPr id="30" name="Shape 28"/>
          <p:cNvSpPr/>
          <p:nvPr/>
        </p:nvSpPr>
        <p:spPr>
          <a:xfrm>
            <a:off x="2435047" y="1463040"/>
            <a:ext cx="1691640" cy="2057400"/>
          </a:xfrm>
          <a:prstGeom prst="roundRect">
            <a:avLst>
              <a:gd name="adj" fmla="val 6486"/>
            </a:avLst>
          </a:prstGeom>
          <a:solidFill>
            <a:srgbClr val="EEF0FB"/>
          </a:solidFill>
          <a:ln w="9525">
            <a:solidFill>
              <a:srgbClr val="EEF0FB"/>
            </a:solidFill>
            <a:prstDash val="solid"/>
          </a:ln>
        </p:spPr>
      </p:sp>
      <p:sp>
        <p:nvSpPr>
          <p:cNvPr id="31" name="Shape 29"/>
          <p:cNvSpPr/>
          <p:nvPr/>
        </p:nvSpPr>
        <p:spPr>
          <a:xfrm>
            <a:off x="3052267" y="1572768"/>
            <a:ext cx="457200" cy="457200"/>
          </a:xfrm>
          <a:prstGeom prst="ellipse">
            <a:avLst/>
          </a:prstGeom>
          <a:solidFill>
            <a:srgbClr val="2F3690"/>
          </a:solidFill>
          <a:ln w="12700">
            <a:solidFill>
              <a:srgbClr val="2F3690"/>
            </a:solidFill>
            <a:prstDash val="solid"/>
          </a:ln>
        </p:spPr>
      </p:sp>
      <p:sp>
        <p:nvSpPr>
          <p:cNvPr id="32" name="Text 30"/>
          <p:cNvSpPr txBox="1"/>
          <p:nvPr/>
        </p:nvSpPr>
        <p:spPr>
          <a:xfrm>
            <a:off x="3052267"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33" name="Text 31"/>
          <p:cNvSpPr txBox="1"/>
          <p:nvPr/>
        </p:nvSpPr>
        <p:spPr>
          <a:xfrm>
            <a:off x="2526487"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حداقل ۲۰۱٬۶۰۰ بلاک</a:t>
            </a:r>
            <a:endParaRPr lang="en-US" sz="1300" dirty="0"/>
          </a:p>
        </p:txBody>
      </p:sp>
      <p:sp>
        <p:nvSpPr>
          <p:cNvPr id="34" name="Text 32"/>
          <p:cNvSpPr txBox="1"/>
          <p:nvPr/>
        </p:nvSpPr>
        <p:spPr>
          <a:xfrm>
            <a:off x="2526487"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فاصله‌ی بلاک اجرا تا ارتفاع شروع (حدود ۷ روز؛ جدا از تأخیر زمانی)</a:t>
            </a:r>
            <a:endParaRPr lang="en-US" sz="1100" dirty="0"/>
          </a:p>
        </p:txBody>
      </p:sp>
      <p:sp>
        <p:nvSpPr>
          <p:cNvPr id="35" name="Shape 33"/>
          <p:cNvSpPr/>
          <p:nvPr/>
        </p:nvSpPr>
        <p:spPr>
          <a:xfrm flipH="1">
            <a:off x="2265883" y="2468880"/>
            <a:ext cx="150876" cy="0"/>
          </a:xfrm>
          <a:prstGeom prst="line">
            <a:avLst/>
          </a:prstGeom>
          <a:noFill/>
          <a:ln w="25400">
            <a:solidFill>
              <a:srgbClr val="2F3690"/>
            </a:solidFill>
            <a:prstDash val="solid"/>
            <a:tailEnd type="triangle"/>
          </a:ln>
        </p:spPr>
      </p:sp>
      <p:sp>
        <p:nvSpPr>
          <p:cNvPr id="36" name="Shape 34"/>
          <p:cNvSpPr/>
          <p:nvPr/>
        </p:nvSpPr>
        <p:spPr>
          <a:xfrm>
            <a:off x="555955" y="1463040"/>
            <a:ext cx="1691640" cy="2057400"/>
          </a:xfrm>
          <a:prstGeom prst="roundRect">
            <a:avLst>
              <a:gd name="adj" fmla="val 6486"/>
            </a:avLst>
          </a:prstGeom>
          <a:solidFill>
            <a:srgbClr val="FCEAE4"/>
          </a:solidFill>
          <a:ln w="9525">
            <a:solidFill>
              <a:srgbClr val="FCEAE4"/>
            </a:solidFill>
            <a:prstDash val="solid"/>
          </a:ln>
        </p:spPr>
      </p:sp>
      <p:sp>
        <p:nvSpPr>
          <p:cNvPr id="37" name="Shape 35"/>
          <p:cNvSpPr/>
          <p:nvPr/>
        </p:nvSpPr>
        <p:spPr>
          <a:xfrm>
            <a:off x="1173175" y="1572768"/>
            <a:ext cx="457200" cy="457200"/>
          </a:xfrm>
          <a:prstGeom prst="ellipse">
            <a:avLst/>
          </a:prstGeom>
          <a:solidFill>
            <a:srgbClr val="C8431F"/>
          </a:solidFill>
          <a:ln w="12700">
            <a:solidFill>
              <a:srgbClr val="C8431F"/>
            </a:solidFill>
            <a:prstDash val="solid"/>
          </a:ln>
        </p:spPr>
      </p:sp>
      <p:sp>
        <p:nvSpPr>
          <p:cNvPr id="38" name="Text 36"/>
          <p:cNvSpPr txBox="1"/>
          <p:nvPr/>
        </p:nvSpPr>
        <p:spPr>
          <a:xfrm>
            <a:off x="117317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۶</a:t>
            </a:r>
            <a:endParaRPr lang="en-US" sz="1400" dirty="0"/>
          </a:p>
        </p:txBody>
      </p:sp>
      <p:sp>
        <p:nvSpPr>
          <p:cNvPr id="39" name="Text 37"/>
          <p:cNvSpPr txBox="1"/>
          <p:nvPr/>
        </p:nvSpPr>
        <p:spPr>
          <a:xfrm>
            <a:off x="64739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اعمال در Besu</a:t>
            </a:r>
            <a:endParaRPr lang="en-US" sz="1300" dirty="0"/>
          </a:p>
        </p:txBody>
      </p:sp>
      <p:sp>
        <p:nvSpPr>
          <p:cNvPr id="40" name="Text 38"/>
          <p:cNvSpPr txBox="1"/>
          <p:nvPr/>
        </p:nvSpPr>
        <p:spPr>
          <a:xfrm>
            <a:off x="64739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تنظیم گذار (transition) در پیکربندی همه‌ی نودها، پیش از ارتفاع شروع</a:t>
            </a:r>
            <a:endParaRPr lang="en-US" sz="1100" dirty="0"/>
          </a:p>
        </p:txBody>
      </p:sp>
      <p:sp>
        <p:nvSpPr>
          <p:cNvPr id="41" name="Shape 39"/>
          <p:cNvSpPr/>
          <p:nvPr/>
        </p:nvSpPr>
        <p:spPr>
          <a:xfrm>
            <a:off x="8078724" y="3749040"/>
            <a:ext cx="3564026" cy="2468880"/>
          </a:xfrm>
          <a:prstGeom prst="roundRect">
            <a:avLst>
              <a:gd name="adj" fmla="val 4444"/>
            </a:avLst>
          </a:prstGeom>
          <a:solidFill>
            <a:srgbClr val="F7F9FC"/>
          </a:solidFill>
          <a:ln w="9525">
            <a:solidFill>
              <a:srgbClr val="DDE1EE"/>
            </a:solidFill>
            <a:prstDash val="solid"/>
          </a:ln>
        </p:spPr>
      </p:sp>
      <p:sp>
        <p:nvSpPr>
          <p:cNvPr id="42" name="Shape 40"/>
          <p:cNvSpPr/>
          <p:nvPr/>
        </p:nvSpPr>
        <p:spPr>
          <a:xfrm>
            <a:off x="11002670" y="3886200"/>
            <a:ext cx="457200" cy="457200"/>
          </a:xfrm>
          <a:prstGeom prst="ellipse">
            <a:avLst/>
          </a:prstGeom>
          <a:solidFill>
            <a:srgbClr val="2F3690"/>
          </a:solidFill>
          <a:ln w="12700">
            <a:solidFill>
              <a:srgbClr val="2F3690"/>
            </a:solidFill>
            <a:prstDash val="solid"/>
          </a:ln>
        </p:spPr>
      </p:sp>
      <p:pic>
        <p:nvPicPr>
          <p:cNvPr id="43" name="Image 0" descr="preencoded.png">    </p:cNvPr>
          <p:cNvPicPr>
            <a:picLocks noChangeAspect="1"/>
          </p:cNvPicPr>
          <p:nvPr/>
        </p:nvPicPr>
        <p:blipFill>
          <a:blip r:embed="rId1"/>
          <a:stretch>
            <a:fillRect/>
          </a:stretch>
        </p:blipFill>
        <p:spPr>
          <a:xfrm>
            <a:off x="11126114" y="4009644"/>
            <a:ext cx="210312" cy="210312"/>
          </a:xfrm>
          <a:prstGeom prst="rect">
            <a:avLst/>
          </a:prstGeom>
        </p:spPr>
      </p:pic>
      <p:sp>
        <p:nvSpPr>
          <p:cNvPr id="44" name="Text 41"/>
          <p:cNvSpPr txBox="1"/>
          <p:nvPr/>
        </p:nvSpPr>
        <p:spPr>
          <a:xfrm>
            <a:off x="8215884"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سقف تاریخی در قرارداد</a:t>
            </a:r>
            <a:endParaRPr lang="en-US" sz="1400" dirty="0"/>
          </a:p>
        </p:txBody>
      </p:sp>
      <p:sp>
        <p:nvSpPr>
          <p:cNvPr id="45" name="Text 42"/>
          <p:cNvSpPr txBox="1"/>
          <p:nvPr/>
        </p:nvSpPr>
        <p:spPr>
          <a:xfrm>
            <a:off x="8215884"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پاداش هر توزیع نباید از مجموع نرخ مصوبِ همان بازه بیشتر باشد (هزینه‌ی محاسبه: O(log n + k) با k تغییر نرخ داخل بازه).</a:t>
            </a:r>
            <a:endParaRPr lang="en-US" sz="1200" dirty="0"/>
          </a:p>
        </p:txBody>
      </p:sp>
      <p:sp>
        <p:nvSpPr>
          <p:cNvPr id="46" name="Shape 43"/>
          <p:cNvSpPr/>
          <p:nvPr/>
        </p:nvSpPr>
        <p:spPr>
          <a:xfrm>
            <a:off x="4314139" y="3749040"/>
            <a:ext cx="3564026" cy="2468880"/>
          </a:xfrm>
          <a:prstGeom prst="roundRect">
            <a:avLst>
              <a:gd name="adj" fmla="val 4444"/>
            </a:avLst>
          </a:prstGeom>
          <a:solidFill>
            <a:srgbClr val="FCEAE4"/>
          </a:solidFill>
          <a:ln w="9525">
            <a:solidFill>
              <a:srgbClr val="FCEAE4"/>
            </a:solidFill>
            <a:prstDash val="solid"/>
          </a:ln>
        </p:spPr>
      </p:sp>
      <p:sp>
        <p:nvSpPr>
          <p:cNvPr id="47" name="Shape 44"/>
          <p:cNvSpPr/>
          <p:nvPr/>
        </p:nvSpPr>
        <p:spPr>
          <a:xfrm>
            <a:off x="7238086" y="3886200"/>
            <a:ext cx="457200" cy="457200"/>
          </a:xfrm>
          <a:prstGeom prst="ellipse">
            <a:avLst/>
          </a:prstGeom>
          <a:solidFill>
            <a:srgbClr val="C8431F"/>
          </a:solidFill>
          <a:ln w="12700">
            <a:solidFill>
              <a:srgbClr val="C8431F"/>
            </a:solidFill>
            <a:prstDash val="solid"/>
          </a:ln>
        </p:spPr>
      </p:sp>
      <p:pic>
        <p:nvPicPr>
          <p:cNvPr id="48" name="Image 1" descr="preencoded.png">    </p:cNvPr>
          <p:cNvPicPr>
            <a:picLocks noChangeAspect="1"/>
          </p:cNvPicPr>
          <p:nvPr/>
        </p:nvPicPr>
        <p:blipFill>
          <a:blip r:embed="rId2"/>
          <a:stretch>
            <a:fillRect/>
          </a:stretch>
        </p:blipFill>
        <p:spPr>
          <a:xfrm>
            <a:off x="7361530" y="4009644"/>
            <a:ext cx="210312" cy="210312"/>
          </a:xfrm>
          <a:prstGeom prst="rect">
            <a:avLst/>
          </a:prstGeom>
        </p:spPr>
      </p:pic>
      <p:sp>
        <p:nvSpPr>
          <p:cNvPr id="49" name="Text 45"/>
          <p:cNvSpPr txBox="1"/>
          <p:nvPr/>
        </p:nvSpPr>
        <p:spPr>
          <a:xfrm>
            <a:off x="4451299"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اگر نرخ واقعی Besu بیشتر باشد</a:t>
            </a:r>
            <a:endParaRPr lang="en-US" sz="1400" dirty="0"/>
          </a:p>
        </p:txBody>
      </p:sp>
      <p:sp>
        <p:nvSpPr>
          <p:cNvPr id="50" name="Text 46"/>
          <p:cNvSpPr txBox="1"/>
          <p:nvPr/>
        </p:nvSpPr>
        <p:spPr>
          <a:xfrm>
            <a:off x="4451299"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توزیع آن بازه رد می‌شود و پاداش کاهش داده نمی‌شود. مسیر رفع برای بازه‌ی گذشته هنوز تعریف نشده و هیچ مسیر دورزدن اضطراری وجود ندارد.</a:t>
            </a:r>
            <a:endParaRPr lang="en-US" sz="1200" dirty="0"/>
          </a:p>
        </p:txBody>
      </p:sp>
      <p:sp>
        <p:nvSpPr>
          <p:cNvPr id="51" name="Shape 47"/>
          <p:cNvSpPr/>
          <p:nvPr/>
        </p:nvSpPr>
        <p:spPr>
          <a:xfrm>
            <a:off x="548640" y="3749040"/>
            <a:ext cx="3564026" cy="2468880"/>
          </a:xfrm>
          <a:prstGeom prst="roundRect">
            <a:avLst>
              <a:gd name="adj" fmla="val 4444"/>
            </a:avLst>
          </a:prstGeom>
          <a:solidFill>
            <a:srgbClr val="F7F9FC"/>
          </a:solidFill>
          <a:ln w="9525">
            <a:solidFill>
              <a:srgbClr val="DDE1EE"/>
            </a:solidFill>
            <a:prstDash val="solid"/>
          </a:ln>
        </p:spPr>
      </p:sp>
      <p:sp>
        <p:nvSpPr>
          <p:cNvPr id="52" name="Shape 48"/>
          <p:cNvSpPr/>
          <p:nvPr/>
        </p:nvSpPr>
        <p:spPr>
          <a:xfrm>
            <a:off x="3472586" y="3886200"/>
            <a:ext cx="457200" cy="457200"/>
          </a:xfrm>
          <a:prstGeom prst="ellipse">
            <a:avLst/>
          </a:prstGeom>
          <a:solidFill>
            <a:srgbClr val="2F3690"/>
          </a:solidFill>
          <a:ln w="12700">
            <a:solidFill>
              <a:srgbClr val="2F3690"/>
            </a:solidFill>
            <a:prstDash val="solid"/>
          </a:ln>
        </p:spPr>
      </p:sp>
      <p:pic>
        <p:nvPicPr>
          <p:cNvPr id="53" name="Image 2" descr="preencoded.png">    </p:cNvPr>
          <p:cNvPicPr>
            <a:picLocks noChangeAspect="1"/>
          </p:cNvPicPr>
          <p:nvPr/>
        </p:nvPicPr>
        <p:blipFill>
          <a:blip r:embed="rId3"/>
          <a:stretch>
            <a:fillRect/>
          </a:stretch>
        </p:blipFill>
        <p:spPr>
          <a:xfrm>
            <a:off x="3596030" y="4009644"/>
            <a:ext cx="210312" cy="210312"/>
          </a:xfrm>
          <a:prstGeom prst="rect">
            <a:avLst/>
          </a:prstGeom>
        </p:spPr>
      </p:pic>
      <p:sp>
        <p:nvSpPr>
          <p:cNvPr id="54" name="Text 49"/>
          <p:cNvSpPr txBox="1"/>
          <p:nvPr/>
        </p:nvSpPr>
        <p:spPr>
          <a:xfrm>
            <a:off x="685800"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هماهنگی عملیاتی</a:t>
            </a:r>
            <a:endParaRPr lang="en-US" sz="1400" dirty="0"/>
          </a:p>
        </p:txBody>
      </p:sp>
      <p:sp>
        <p:nvSpPr>
          <p:cNvPr id="55" name="Text 50"/>
          <p:cNvSpPr txBox="1"/>
          <p:nvPr/>
        </p:nvSpPr>
        <p:spPr>
          <a:xfrm>
            <a:off x="685800"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تغییر واقعی پاداش با transitions.qbft در پیکربندی Besu انجام می‌شود؛ لزوم تغییر فایل و ری‌استارت نودها فرضی است و روی Besu واقعی هنوز آزموده نشده.</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خزانه‌ی ولیدیتورها: انباشت با توان خرج یکی نیست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graphicFrame>
        <p:nvGraphicFramePr>
          <p:cNvPr id="6" name="Chart 0" descr=""/>
          <p:cNvGraphicFramePr/>
          <p:nvPr/>
        </p:nvGraphicFramePr>
        <p:xfrm>
          <a:off x="548640" y="1463040"/>
          <a:ext cx="521208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49240"/>
            <a:ext cx="521208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میلیون سورن در سال با پیش‌فرض‌های فعلی؛ سقف خرج = ۲۰۰٬۰۰۰ × ۳۶۵ ÷ ۳۰</a:t>
            </a:r>
            <a:endParaRPr lang="en-US" sz="1200" dirty="0"/>
          </a:p>
        </p:txBody>
      </p:sp>
      <p:sp>
        <p:nvSpPr>
          <p:cNvPr id="8" name="Shape 5"/>
          <p:cNvSpPr/>
          <p:nvPr/>
        </p:nvSpPr>
        <p:spPr>
          <a:xfrm>
            <a:off x="5973775" y="1463040"/>
            <a:ext cx="5669280" cy="1463040"/>
          </a:xfrm>
          <a:prstGeom prst="roundRect">
            <a:avLst>
              <a:gd name="adj" fmla="val 7500"/>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6156655" y="16002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منابع</a:t>
            </a:r>
            <a:endParaRPr lang="en-US" sz="1500" dirty="0"/>
          </a:p>
        </p:txBody>
      </p:sp>
      <p:sp>
        <p:nvSpPr>
          <p:cNvPr id="12" name="Text 8"/>
          <p:cNvSpPr txBox="1"/>
          <p:nvPr/>
        </p:nvSpPr>
        <p:spPr>
          <a:xfrm>
            <a:off x="6156655" y="20574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باقی‌مانده‌ی ریوارد (۲۰ تا ۴۵٪؛ پیش‌فرض ۳۵٪ یعنی ۷٬۳۵۸٬۴۰۰ سورن در سال) و بخش جریمه‌شده‌ی وثیقه. کارمزد عضویت به خزانه نمی‌رود.</a:t>
            </a:r>
            <a:endParaRPr lang="en-US" sz="1200" dirty="0"/>
          </a:p>
        </p:txBody>
      </p:sp>
      <p:sp>
        <p:nvSpPr>
          <p:cNvPr id="13" name="Shape 9"/>
          <p:cNvSpPr/>
          <p:nvPr/>
        </p:nvSpPr>
        <p:spPr>
          <a:xfrm>
            <a:off x="5973775" y="3063240"/>
            <a:ext cx="5669280" cy="1463040"/>
          </a:xfrm>
          <a:prstGeom prst="roundRect">
            <a:avLst>
              <a:gd name="adj" fmla="val 7500"/>
            </a:avLst>
          </a:prstGeom>
          <a:solidFill>
            <a:srgbClr val="F7F9FC"/>
          </a:solidFill>
          <a:ln w="9525">
            <a:solidFill>
              <a:srgbClr val="DDE1EE"/>
            </a:solidFill>
            <a:prstDash val="solid"/>
          </a:ln>
        </p:spPr>
      </p:sp>
      <p:sp>
        <p:nvSpPr>
          <p:cNvPr id="14" name="Shape 10"/>
          <p:cNvSpPr/>
          <p:nvPr/>
        </p:nvSpPr>
        <p:spPr>
          <a:xfrm>
            <a:off x="11048695" y="320040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323844"/>
            <a:ext cx="210312" cy="210312"/>
          </a:xfrm>
          <a:prstGeom prst="rect">
            <a:avLst/>
          </a:prstGeom>
        </p:spPr>
      </p:pic>
      <p:sp>
        <p:nvSpPr>
          <p:cNvPr id="16" name="Text 11"/>
          <p:cNvSpPr txBox="1"/>
          <p:nvPr/>
        </p:nvSpPr>
        <p:spPr>
          <a:xfrm>
            <a:off x="6156655" y="32004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مسیر خرج</a:t>
            </a:r>
            <a:endParaRPr lang="en-US" sz="1500" dirty="0"/>
          </a:p>
        </p:txBody>
      </p:sp>
      <p:sp>
        <p:nvSpPr>
          <p:cNvPr id="17" name="Text 12"/>
          <p:cNvSpPr txBox="1"/>
          <p:nvPr/>
        </p:nvSpPr>
        <p:spPr>
          <a:xfrm>
            <a:off x="6156655" y="36576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فقط هیأت (حداقل ۳ رأی) و فقط در سقف‌ها: ۵۰٬۰۰۰ سورن برای هر پرداخت و ۲۰۰٬۰۰۰ برای مجموع پنجره‌ی حدود ۳۰روزه؛ خرد کردن پرداخت راه دورزدن نیست.</a:t>
            </a:r>
            <a:endParaRPr lang="en-US" sz="1200" dirty="0"/>
          </a:p>
        </p:txBody>
      </p:sp>
      <p:sp>
        <p:nvSpPr>
          <p:cNvPr id="18" name="Shape 13"/>
          <p:cNvSpPr/>
          <p:nvPr/>
        </p:nvSpPr>
        <p:spPr>
          <a:xfrm>
            <a:off x="5973775" y="4663440"/>
            <a:ext cx="5669280" cy="1463040"/>
          </a:xfrm>
          <a:prstGeom prst="roundRect">
            <a:avLst>
              <a:gd name="adj" fmla="val 7500"/>
            </a:avLst>
          </a:prstGeom>
          <a:solidFill>
            <a:srgbClr val="F7F9FC"/>
          </a:solidFill>
          <a:ln w="9525">
            <a:solidFill>
              <a:srgbClr val="DDE1EE"/>
            </a:solidFill>
            <a:prstDash val="solid"/>
          </a:ln>
        </p:spPr>
      </p:sp>
      <p:sp>
        <p:nvSpPr>
          <p:cNvPr id="19" name="Shape 14"/>
          <p:cNvSpPr/>
          <p:nvPr/>
        </p:nvSpPr>
        <p:spPr>
          <a:xfrm>
            <a:off x="11048695" y="480060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4"/>
          <a:stretch>
            <a:fillRect/>
          </a:stretch>
        </p:blipFill>
        <p:spPr>
          <a:xfrm>
            <a:off x="11172139" y="4924044"/>
            <a:ext cx="210312" cy="210312"/>
          </a:xfrm>
          <a:prstGeom prst="rect">
            <a:avLst/>
          </a:prstGeom>
        </p:spPr>
      </p:pic>
      <p:sp>
        <p:nvSpPr>
          <p:cNvPr id="21" name="Text 15"/>
          <p:cNvSpPr txBox="1"/>
          <p:nvPr/>
        </p:nvSpPr>
        <p:spPr>
          <a:xfrm>
            <a:off x="6156655" y="48006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نقش مجمع</a:t>
            </a:r>
            <a:endParaRPr lang="en-US" sz="1500" dirty="0"/>
          </a:p>
        </p:txBody>
      </p:sp>
      <p:sp>
        <p:nvSpPr>
          <p:cNvPr id="22" name="Text 16"/>
          <p:cNvSpPr txBox="1"/>
          <p:nvPr/>
        </p:nvSpPr>
        <p:spPr>
          <a:xfrm>
            <a:off x="6156655" y="52578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مجمع پرداخت موردی تصویب نمی‌کند؛ فقط سقف‌ها را با تأخیر ۷روزه تغییر می‌دهد. سهم هیچ گیرنده‌ای، از جمله بنیاد، تضمین‌شده نیست.</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بنیاد سور: ساختار حقوقی و مأموریت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7802575" y="1463040"/>
            <a:ext cx="3291840" cy="731520"/>
          </a:xfrm>
          <a:prstGeom prst="roundRect">
            <a:avLst>
              <a:gd name="adj" fmla="val 15000"/>
            </a:avLst>
          </a:prstGeom>
          <a:solidFill>
            <a:srgbClr val="2F3690"/>
          </a:solidFill>
          <a:ln w="9525">
            <a:solidFill>
              <a:srgbClr val="2F3690"/>
            </a:solidFill>
            <a:prstDash val="solid"/>
          </a:ln>
        </p:spPr>
      </p:sp>
      <p:sp>
        <p:nvSpPr>
          <p:cNvPr id="7" name="Text 5"/>
          <p:cNvSpPr txBox="1"/>
          <p:nvPr/>
        </p:nvSpPr>
        <p:spPr>
          <a:xfrm>
            <a:off x="7802575" y="146304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مجمع عمومی (شرکا)</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عادی و فوق‌العاده</a:t>
            </a:r>
            <a:endParaRPr lang="en-US" sz="1400" dirty="0"/>
          </a:p>
        </p:txBody>
      </p:sp>
      <p:sp>
        <p:nvSpPr>
          <p:cNvPr id="8" name="Shape 6"/>
          <p:cNvSpPr/>
          <p:nvPr/>
        </p:nvSpPr>
        <p:spPr>
          <a:xfrm>
            <a:off x="7802575" y="2651760"/>
            <a:ext cx="3291840" cy="731520"/>
          </a:xfrm>
          <a:prstGeom prst="roundRect">
            <a:avLst>
              <a:gd name="adj" fmla="val 15000"/>
            </a:avLst>
          </a:prstGeom>
          <a:solidFill>
            <a:srgbClr val="3D46A8"/>
          </a:solidFill>
          <a:ln w="9525">
            <a:solidFill>
              <a:srgbClr val="3D46A8"/>
            </a:solidFill>
            <a:prstDash val="solid"/>
          </a:ln>
        </p:spPr>
      </p:sp>
      <p:sp>
        <p:nvSpPr>
          <p:cNvPr id="9" name="Text 7"/>
          <p:cNvSpPr txBox="1"/>
          <p:nvPr/>
        </p:nvSpPr>
        <p:spPr>
          <a:xfrm>
            <a:off x="7802575" y="265176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هیأت‌مدیره</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۵ عضو اصلی و ۲ علی‌البدل، ۲ سال</a:t>
            </a:r>
            <a:endParaRPr lang="en-US" sz="1400" dirty="0"/>
          </a:p>
        </p:txBody>
      </p:sp>
      <p:sp>
        <p:nvSpPr>
          <p:cNvPr id="10" name="Shape 8"/>
          <p:cNvSpPr/>
          <p:nvPr/>
        </p:nvSpPr>
        <p:spPr>
          <a:xfrm>
            <a:off x="5425135" y="2651760"/>
            <a:ext cx="2103120" cy="731520"/>
          </a:xfrm>
          <a:prstGeom prst="roundRect">
            <a:avLst>
              <a:gd name="adj" fmla="val 15000"/>
            </a:avLst>
          </a:prstGeom>
          <a:solidFill>
            <a:srgbClr val="F0F1F5"/>
          </a:solidFill>
          <a:ln w="9525">
            <a:solidFill>
              <a:srgbClr val="F0F1F5"/>
            </a:solidFill>
            <a:prstDash val="solid"/>
          </a:ln>
        </p:spPr>
      </p:sp>
      <p:sp>
        <p:nvSpPr>
          <p:cNvPr id="11" name="Text 9"/>
          <p:cNvSpPr txBox="1"/>
          <p:nvPr/>
        </p:nvSpPr>
        <p:spPr>
          <a:xfrm>
            <a:off x="5425135" y="2651760"/>
            <a:ext cx="210312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بازرس</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انتخاب مجمع، ۲ سال</a:t>
            </a:r>
            <a:endParaRPr lang="en-US" sz="1400" dirty="0"/>
          </a:p>
        </p:txBody>
      </p:sp>
      <p:sp>
        <p:nvSpPr>
          <p:cNvPr id="12" name="Shape 10"/>
          <p:cNvSpPr/>
          <p:nvPr/>
        </p:nvSpPr>
        <p:spPr>
          <a:xfrm>
            <a:off x="9448495" y="2194560"/>
            <a:ext cx="0" cy="457200"/>
          </a:xfrm>
          <a:prstGeom prst="line">
            <a:avLst/>
          </a:prstGeom>
          <a:noFill/>
          <a:ln w="25400">
            <a:solidFill>
              <a:srgbClr val="2F3690"/>
            </a:solidFill>
            <a:prstDash val="solid"/>
          </a:ln>
        </p:spPr>
      </p:sp>
      <p:sp>
        <p:nvSpPr>
          <p:cNvPr id="13" name="Shape 11"/>
          <p:cNvSpPr/>
          <p:nvPr/>
        </p:nvSpPr>
        <p:spPr>
          <a:xfrm flipH="1">
            <a:off x="6476695" y="2194560"/>
            <a:ext cx="4617720" cy="0"/>
          </a:xfrm>
          <a:prstGeom prst="line">
            <a:avLst/>
          </a:prstGeom>
          <a:noFill/>
          <a:ln w="19050">
            <a:solidFill>
              <a:srgbClr val="DDE1EE"/>
            </a:solidFill>
            <a:prstDash val="solid"/>
          </a:ln>
        </p:spPr>
      </p:sp>
      <p:sp>
        <p:nvSpPr>
          <p:cNvPr id="14" name="Shape 12"/>
          <p:cNvSpPr/>
          <p:nvPr/>
        </p:nvSpPr>
        <p:spPr>
          <a:xfrm>
            <a:off x="6476695" y="2194560"/>
            <a:ext cx="0" cy="457200"/>
          </a:xfrm>
          <a:prstGeom prst="line">
            <a:avLst/>
          </a:prstGeom>
          <a:noFill/>
          <a:ln w="19050">
            <a:solidFill>
              <a:srgbClr val="DDE1EE"/>
            </a:solidFill>
            <a:prstDash val="solid"/>
          </a:ln>
        </p:spPr>
      </p:sp>
      <p:sp>
        <p:nvSpPr>
          <p:cNvPr id="15" name="Shape 13"/>
          <p:cNvSpPr/>
          <p:nvPr/>
        </p:nvSpPr>
        <p:spPr>
          <a:xfrm>
            <a:off x="9539935" y="3840480"/>
            <a:ext cx="1737360" cy="731520"/>
          </a:xfrm>
          <a:prstGeom prst="roundRect">
            <a:avLst>
              <a:gd name="adj" fmla="val 15000"/>
            </a:avLst>
          </a:prstGeom>
          <a:solidFill>
            <a:srgbClr val="EEF0FB"/>
          </a:solidFill>
          <a:ln w="9525">
            <a:solidFill>
              <a:srgbClr val="EEF0FB"/>
            </a:solidFill>
            <a:prstDash val="solid"/>
          </a:ln>
        </p:spPr>
      </p:sp>
      <p:sp>
        <p:nvSpPr>
          <p:cNvPr id="16" name="Text 14"/>
          <p:cNvSpPr txBox="1"/>
          <p:nvPr/>
        </p:nvSpPr>
        <p:spPr>
          <a:xfrm>
            <a:off x="953993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رئیس هیأت‌مدیره</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17" name="Shape 15"/>
          <p:cNvSpPr/>
          <p:nvPr/>
        </p:nvSpPr>
        <p:spPr>
          <a:xfrm flipV="1">
            <a:off x="10408615" y="3611880"/>
            <a:ext cx="0" cy="228600"/>
          </a:xfrm>
          <a:prstGeom prst="line">
            <a:avLst/>
          </a:prstGeom>
          <a:noFill/>
          <a:ln w="19050">
            <a:solidFill>
              <a:srgbClr val="DDE1EE"/>
            </a:solidFill>
            <a:prstDash val="solid"/>
          </a:ln>
        </p:spPr>
      </p:sp>
      <p:sp>
        <p:nvSpPr>
          <p:cNvPr id="18" name="Shape 16"/>
          <p:cNvSpPr/>
          <p:nvPr/>
        </p:nvSpPr>
        <p:spPr>
          <a:xfrm>
            <a:off x="7665415" y="3840480"/>
            <a:ext cx="1737360" cy="731520"/>
          </a:xfrm>
          <a:prstGeom prst="roundRect">
            <a:avLst>
              <a:gd name="adj" fmla="val 15000"/>
            </a:avLst>
          </a:prstGeom>
          <a:solidFill>
            <a:srgbClr val="EEF0FB"/>
          </a:solidFill>
          <a:ln w="9525">
            <a:solidFill>
              <a:srgbClr val="EEF0FB"/>
            </a:solidFill>
            <a:prstDash val="solid"/>
          </a:ln>
        </p:spPr>
      </p:sp>
      <p:sp>
        <p:nvSpPr>
          <p:cNvPr id="19" name="Text 17"/>
          <p:cNvSpPr txBox="1"/>
          <p:nvPr/>
        </p:nvSpPr>
        <p:spPr>
          <a:xfrm>
            <a:off x="766541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خزانه‌دار</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20" name="Shape 18"/>
          <p:cNvSpPr/>
          <p:nvPr/>
        </p:nvSpPr>
        <p:spPr>
          <a:xfrm flipV="1">
            <a:off x="8534095" y="3611880"/>
            <a:ext cx="0" cy="228600"/>
          </a:xfrm>
          <a:prstGeom prst="line">
            <a:avLst/>
          </a:prstGeom>
          <a:noFill/>
          <a:ln w="19050">
            <a:solidFill>
              <a:srgbClr val="DDE1EE"/>
            </a:solidFill>
            <a:prstDash val="solid"/>
          </a:ln>
        </p:spPr>
      </p:sp>
      <p:sp>
        <p:nvSpPr>
          <p:cNvPr id="21" name="Shape 19"/>
          <p:cNvSpPr/>
          <p:nvPr/>
        </p:nvSpPr>
        <p:spPr>
          <a:xfrm>
            <a:off x="5790895" y="3840480"/>
            <a:ext cx="1737360" cy="731520"/>
          </a:xfrm>
          <a:prstGeom prst="roundRect">
            <a:avLst>
              <a:gd name="adj" fmla="val 15000"/>
            </a:avLst>
          </a:prstGeom>
          <a:solidFill>
            <a:srgbClr val="EEF0FB"/>
          </a:solidFill>
          <a:ln w="9525">
            <a:solidFill>
              <a:srgbClr val="EEF0FB"/>
            </a:solidFill>
            <a:prstDash val="solid"/>
          </a:ln>
        </p:spPr>
      </p:sp>
      <p:sp>
        <p:nvSpPr>
          <p:cNvPr id="22" name="Text 20"/>
          <p:cNvSpPr txBox="1"/>
          <p:nvPr/>
        </p:nvSpPr>
        <p:spPr>
          <a:xfrm>
            <a:off x="579089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مدیرعامل</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منصوب هیأت‌مدیره</a:t>
            </a:r>
            <a:endParaRPr lang="en-US" sz="1400" dirty="0"/>
          </a:p>
        </p:txBody>
      </p:sp>
      <p:sp>
        <p:nvSpPr>
          <p:cNvPr id="23" name="Shape 21"/>
          <p:cNvSpPr/>
          <p:nvPr/>
        </p:nvSpPr>
        <p:spPr>
          <a:xfrm flipV="1">
            <a:off x="6659575" y="3611880"/>
            <a:ext cx="0" cy="228600"/>
          </a:xfrm>
          <a:prstGeom prst="line">
            <a:avLst/>
          </a:prstGeom>
          <a:noFill/>
          <a:ln w="19050">
            <a:solidFill>
              <a:srgbClr val="DDE1EE"/>
            </a:solidFill>
            <a:prstDash val="solid"/>
          </a:ln>
        </p:spPr>
      </p:sp>
      <p:sp>
        <p:nvSpPr>
          <p:cNvPr id="24" name="Shape 22"/>
          <p:cNvSpPr/>
          <p:nvPr/>
        </p:nvSpPr>
        <p:spPr>
          <a:xfrm flipH="1">
            <a:off x="6659575" y="3611880"/>
            <a:ext cx="3749040" cy="0"/>
          </a:xfrm>
          <a:prstGeom prst="line">
            <a:avLst/>
          </a:prstGeom>
          <a:noFill/>
          <a:ln w="19050">
            <a:solidFill>
              <a:srgbClr val="DDE1EE"/>
            </a:solidFill>
            <a:prstDash val="solid"/>
          </a:ln>
        </p:spPr>
      </p:sp>
      <p:sp>
        <p:nvSpPr>
          <p:cNvPr id="25" name="Shape 23"/>
          <p:cNvSpPr/>
          <p:nvPr/>
        </p:nvSpPr>
        <p:spPr>
          <a:xfrm>
            <a:off x="9448495" y="3383280"/>
            <a:ext cx="0" cy="228600"/>
          </a:xfrm>
          <a:prstGeom prst="line">
            <a:avLst/>
          </a:prstGeom>
          <a:noFill/>
          <a:ln w="25400">
            <a:solidFill>
              <a:srgbClr val="2F3690"/>
            </a:solidFill>
            <a:prstDash val="solid"/>
          </a:ln>
        </p:spPr>
      </p:sp>
      <p:sp>
        <p:nvSpPr>
          <p:cNvPr id="26" name="Text 24"/>
          <p:cNvSpPr txBox="1"/>
          <p:nvPr/>
        </p:nvSpPr>
        <p:spPr>
          <a:xfrm>
            <a:off x="5425135" y="4892040"/>
            <a:ext cx="566928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کمیته‌های اجرایی (تفویضی از هیأت‌مدیره)</a:t>
            </a:r>
            <a:endParaRPr lang="en-US" sz="1300" dirty="0"/>
          </a:p>
        </p:txBody>
      </p:sp>
      <p:sp>
        <p:nvSpPr>
          <p:cNvPr id="27" name="Shape 25"/>
          <p:cNvSpPr/>
          <p:nvPr/>
        </p:nvSpPr>
        <p:spPr>
          <a:xfrm>
            <a:off x="9997135" y="5303520"/>
            <a:ext cx="1097280" cy="566928"/>
          </a:xfrm>
          <a:prstGeom prst="roundRect">
            <a:avLst>
              <a:gd name="adj" fmla="val 50000"/>
            </a:avLst>
          </a:prstGeom>
          <a:solidFill>
            <a:srgbClr val="F7F9FC"/>
          </a:solidFill>
          <a:ln w="9525">
            <a:solidFill>
              <a:srgbClr val="F7F9FC"/>
            </a:solidFill>
            <a:prstDash val="solid"/>
          </a:ln>
        </p:spPr>
      </p:sp>
      <p:sp>
        <p:nvSpPr>
          <p:cNvPr id="28" name="Text 26"/>
          <p:cNvSpPr txBox="1"/>
          <p:nvPr/>
        </p:nvSpPr>
        <p:spPr>
          <a:xfrm>
            <a:off x="9997135"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توسعه</a:t>
            </a:r>
            <a:endParaRPr lang="en-US" sz="1050" dirty="0"/>
          </a:p>
        </p:txBody>
      </p:sp>
      <p:sp>
        <p:nvSpPr>
          <p:cNvPr id="29" name="Shape 27"/>
          <p:cNvSpPr/>
          <p:nvPr/>
        </p:nvSpPr>
        <p:spPr>
          <a:xfrm>
            <a:off x="8826703" y="5303520"/>
            <a:ext cx="1097280" cy="566928"/>
          </a:xfrm>
          <a:prstGeom prst="roundRect">
            <a:avLst>
              <a:gd name="adj" fmla="val 50000"/>
            </a:avLst>
          </a:prstGeom>
          <a:solidFill>
            <a:srgbClr val="F7F9FC"/>
          </a:solidFill>
          <a:ln w="9525">
            <a:solidFill>
              <a:srgbClr val="F7F9FC"/>
            </a:solidFill>
            <a:prstDash val="solid"/>
          </a:ln>
        </p:spPr>
      </p:sp>
      <p:sp>
        <p:nvSpPr>
          <p:cNvPr id="30" name="Text 28"/>
          <p:cNvSpPr txBox="1"/>
          <p:nvPr/>
        </p:nvSpPr>
        <p:spPr>
          <a:xfrm>
            <a:off x="8826703"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آموزش</a:t>
            </a:r>
            <a:endParaRPr lang="en-US" sz="1050" dirty="0"/>
          </a:p>
        </p:txBody>
      </p:sp>
      <p:sp>
        <p:nvSpPr>
          <p:cNvPr id="31" name="Shape 29"/>
          <p:cNvSpPr/>
          <p:nvPr/>
        </p:nvSpPr>
        <p:spPr>
          <a:xfrm>
            <a:off x="7656271" y="5303520"/>
            <a:ext cx="1097280" cy="566928"/>
          </a:xfrm>
          <a:prstGeom prst="roundRect">
            <a:avLst>
              <a:gd name="adj" fmla="val 50000"/>
            </a:avLst>
          </a:prstGeom>
          <a:solidFill>
            <a:srgbClr val="F7F9FC"/>
          </a:solidFill>
          <a:ln w="9525">
            <a:solidFill>
              <a:srgbClr val="F7F9FC"/>
            </a:solidFill>
            <a:prstDash val="solid"/>
          </a:ln>
        </p:spPr>
      </p:sp>
      <p:sp>
        <p:nvSpPr>
          <p:cNvPr id="32" name="Text 30"/>
          <p:cNvSpPr txBox="1"/>
          <p:nvPr/>
        </p:nvSpPr>
        <p:spPr>
          <a:xfrm>
            <a:off x="7656271"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تبلیغات و روابط‌عمومی</a:t>
            </a:r>
            <a:endParaRPr lang="en-US" sz="1050" dirty="0"/>
          </a:p>
        </p:txBody>
      </p:sp>
      <p:sp>
        <p:nvSpPr>
          <p:cNvPr id="33" name="Shape 31"/>
          <p:cNvSpPr/>
          <p:nvPr/>
        </p:nvSpPr>
        <p:spPr>
          <a:xfrm>
            <a:off x="6485839" y="5303520"/>
            <a:ext cx="1097280" cy="566928"/>
          </a:xfrm>
          <a:prstGeom prst="roundRect">
            <a:avLst>
              <a:gd name="adj" fmla="val 50000"/>
            </a:avLst>
          </a:prstGeom>
          <a:solidFill>
            <a:srgbClr val="F7F9FC"/>
          </a:solidFill>
          <a:ln w="9525">
            <a:solidFill>
              <a:srgbClr val="F7F9FC"/>
            </a:solidFill>
            <a:prstDash val="solid"/>
          </a:ln>
        </p:spPr>
      </p:sp>
      <p:sp>
        <p:nvSpPr>
          <p:cNvPr id="34" name="Text 32"/>
          <p:cNvSpPr txBox="1"/>
          <p:nvPr/>
        </p:nvSpPr>
        <p:spPr>
          <a:xfrm>
            <a:off x="6485839"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حقوقی و تطبیق</a:t>
            </a:r>
            <a:endParaRPr lang="en-US" sz="1050" dirty="0"/>
          </a:p>
        </p:txBody>
      </p:sp>
      <p:sp>
        <p:nvSpPr>
          <p:cNvPr id="35" name="Shape 33"/>
          <p:cNvSpPr/>
          <p:nvPr/>
        </p:nvSpPr>
        <p:spPr>
          <a:xfrm>
            <a:off x="5315407" y="5303520"/>
            <a:ext cx="1097280" cy="566928"/>
          </a:xfrm>
          <a:prstGeom prst="roundRect">
            <a:avLst>
              <a:gd name="adj" fmla="val 50000"/>
            </a:avLst>
          </a:prstGeom>
          <a:solidFill>
            <a:srgbClr val="F7F9FC"/>
          </a:solidFill>
          <a:ln w="9525">
            <a:solidFill>
              <a:srgbClr val="F7F9FC"/>
            </a:solidFill>
            <a:prstDash val="solid"/>
          </a:ln>
        </p:spPr>
      </p:sp>
      <p:sp>
        <p:nvSpPr>
          <p:cNvPr id="36" name="Text 34"/>
          <p:cNvSpPr txBox="1"/>
          <p:nvPr/>
        </p:nvSpPr>
        <p:spPr>
          <a:xfrm>
            <a:off x="5315407"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مالی و حسابرسی</a:t>
            </a:r>
            <a:endParaRPr lang="en-US" sz="1050" dirty="0"/>
          </a:p>
        </p:txBody>
      </p:sp>
      <p:sp>
        <p:nvSpPr>
          <p:cNvPr id="37" name="Shape 35"/>
          <p:cNvSpPr/>
          <p:nvPr/>
        </p:nvSpPr>
        <p:spPr>
          <a:xfrm>
            <a:off x="548640" y="1463040"/>
            <a:ext cx="4480560" cy="4434840"/>
          </a:xfrm>
          <a:prstGeom prst="roundRect">
            <a:avLst>
              <a:gd name="adj" fmla="val 2474"/>
            </a:avLst>
          </a:prstGeom>
          <a:solidFill>
            <a:srgbClr val="F7F9FC"/>
          </a:solidFill>
          <a:ln w="9525">
            <a:solidFill>
              <a:srgbClr val="DDE1EE"/>
            </a:solidFill>
            <a:prstDash val="solid"/>
          </a:ln>
        </p:spPr>
      </p:sp>
      <p:sp>
        <p:nvSpPr>
          <p:cNvPr id="38" name="Text 36"/>
          <p:cNvSpPr txBox="1"/>
          <p:nvPr/>
        </p:nvSpPr>
        <p:spPr>
          <a:xfrm>
            <a:off x="731520" y="1600200"/>
            <a:ext cx="41148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جایگاه و مأموریت</a:t>
            </a:r>
            <a:endParaRPr lang="en-US" sz="1600" dirty="0"/>
          </a:p>
        </p:txBody>
      </p:sp>
      <p:sp>
        <p:nvSpPr>
          <p:cNvPr id="39" name="Text 37"/>
          <p:cNvSpPr txBox="1"/>
          <p:nvPr/>
        </p:nvSpPr>
        <p:spPr>
          <a:xfrm>
            <a:off x="731520" y="2011680"/>
            <a:ext cx="4114800" cy="384048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بنیاد نوآوری و توسعه‌ی فناوری زنجیره‌ی بلوک سور؛ مؤسسه‌ی غیرتجاری، تأسیس‌شده در ایران.</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مأموریت: توسعه، آموزش و تبلیغ اکوسیستم.</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هیچ کنترلی روی اجماع، ولیدیتورها و پارامترهای شبکه ندارد؛ این مرز تصمیم پروژه است و در قراردادها اجرا می‌شود، نه در اساسنامه.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 این هم‌پوشانی ریسک روایتی و حقوقی آگاهانه‌پذیرفته‌شده است.</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و منابع مالی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248095" y="1463040"/>
          <a:ext cx="5394960" cy="914400"/>
        </p:xfrm>
        <a:graphic>
          <a:graphicData uri="http://schemas.openxmlformats.org/drawingml/2006/table">
            <a:tbl>
              <a:tblPr/>
              <a:tblGrid>
                <a:gridCol w="2377440"/>
                <a:gridCol w="3017520"/>
              </a:tblGrid>
              <a:tr h="41148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نصاب با ۱۵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پیشنهاد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دوسوم: ۱۰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افزودن یا حذف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ERC20 و اجرای دلخواه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48095" y="3703320"/>
            <a:ext cx="5394960" cy="24688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قرارداد ۱۵ عضو دارد؛ همه‌ی اعضا یک نقش دارند.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فقط دو کلید را کنترل می‌کند: identityOracle و paymentOracle.</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 هیچ مسیر رسمی روی زنجیره برای درخواست بودجه از خزانه ندارد.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اجرای پیشنهاد در همان تراکنش رسیدن به نصاب انجام می‌شود.</a:t>
            </a:r>
            <a:endParaRPr lang="en-US" sz="1250" dirty="0"/>
          </a:p>
        </p:txBody>
      </p:sp>
      <p:sp>
        <p:nvSpPr>
          <p:cNvPr id="8" name="Shape 5"/>
          <p:cNvSpPr/>
          <p:nvPr/>
        </p:nvSpPr>
        <p:spPr>
          <a:xfrm>
            <a:off x="548640" y="1463040"/>
            <a:ext cx="5394960" cy="2148840"/>
          </a:xfrm>
          <a:prstGeom prst="roundRect">
            <a:avLst>
              <a:gd name="adj" fmla="val 5106"/>
            </a:avLst>
          </a:prstGeom>
          <a:solidFill>
            <a:srgbClr val="EEF0FB"/>
          </a:solidFill>
          <a:ln w="9525">
            <a:solidFill>
              <a:srgbClr val="EEF0FB"/>
            </a:solidFill>
            <a:prstDash val="solid"/>
          </a:ln>
        </p:spPr>
      </p:sp>
      <p:sp>
        <p:nvSpPr>
          <p:cNvPr id="9" name="Text 6"/>
          <p:cNvSpPr txBox="1"/>
          <p:nvPr/>
        </p:nvSpPr>
        <p:spPr>
          <a:xfrm>
            <a:off x="777240" y="164592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۲۰ میلیون</a:t>
            </a:r>
            <a:endParaRPr lang="en-US" sz="3400" dirty="0"/>
          </a:p>
        </p:txBody>
      </p:sp>
      <p:sp>
        <p:nvSpPr>
          <p:cNvPr id="10" name="Text 7"/>
          <p:cNvSpPr txBox="1"/>
          <p:nvPr/>
        </p:nvSpPr>
        <p:spPr>
          <a:xfrm>
            <a:off x="777240" y="242316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یک‌باره در genesis</a:t>
            </a:r>
            <a:endParaRPr lang="en-US" sz="1500" dirty="0"/>
          </a:p>
        </p:txBody>
      </p:sp>
      <p:sp>
        <p:nvSpPr>
          <p:cNvPr id="11" name="Text 8"/>
          <p:cNvSpPr txBox="1"/>
          <p:nvPr/>
        </p:nvSpPr>
        <p:spPr>
          <a:xfrm>
            <a:off x="777240" y="283464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توسعه، آموزش، تبلیغات و فروش دوره‌ی قیمت ثابت</a:t>
            </a:r>
            <a:endParaRPr lang="en-US" sz="1250" dirty="0"/>
          </a:p>
        </p:txBody>
      </p:sp>
      <p:sp>
        <p:nvSpPr>
          <p:cNvPr id="12" name="Shape 9"/>
          <p:cNvSpPr/>
          <p:nvPr/>
        </p:nvSpPr>
        <p:spPr>
          <a:xfrm>
            <a:off x="548640" y="3794760"/>
            <a:ext cx="5394960" cy="2148840"/>
          </a:xfrm>
          <a:prstGeom prst="roundRect">
            <a:avLst>
              <a:gd name="adj" fmla="val 5106"/>
            </a:avLst>
          </a:prstGeom>
          <a:solidFill>
            <a:srgbClr val="EEF0FB"/>
          </a:solidFill>
          <a:ln w="9525">
            <a:solidFill>
              <a:srgbClr val="EEF0FB"/>
            </a:solidFill>
            <a:prstDash val="solid"/>
          </a:ln>
        </p:spPr>
      </p:sp>
      <p:sp>
        <p:nvSpPr>
          <p:cNvPr id="13" name="Text 10"/>
          <p:cNvSpPr txBox="1"/>
          <p:nvPr/>
        </p:nvSpPr>
        <p:spPr>
          <a:xfrm>
            <a:off x="777240" y="397764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 ۳٫۱۵ میلیون</a:t>
            </a:r>
            <a:endParaRPr lang="en-US" sz="3400" dirty="0"/>
          </a:p>
        </p:txBody>
      </p:sp>
      <p:sp>
        <p:nvSpPr>
          <p:cNvPr id="14" name="Text 11"/>
          <p:cNvSpPr txBox="1"/>
          <p:nvPr/>
        </p:nvSpPr>
        <p:spPr>
          <a:xfrm>
            <a:off x="777240" y="475488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در سال، خودکار</a:t>
            </a:r>
            <a:endParaRPr lang="en-US" sz="1500" dirty="0"/>
          </a:p>
        </p:txBody>
      </p:sp>
      <p:sp>
        <p:nvSpPr>
          <p:cNvPr id="15" name="Text 12"/>
          <p:cNvSpPr txBox="1"/>
          <p:nvPr/>
        </p:nvSpPr>
        <p:spPr>
          <a:xfrm>
            <a:off x="777240" y="516636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۱۵٪ از کل ریوارد؛ فقط هزینه‌ی جاری و حقوق، نه بودجه‌ی کمپین</a:t>
            </a:r>
            <a:endParaRPr lang="en-US" sz="1250" dirty="0"/>
          </a:p>
        </p:txBody>
      </p:sp>
      <p:sp>
        <p:nvSpPr>
          <p:cNvPr id="16" name="Text 13"/>
          <p:cNvSpPr txBox="1"/>
          <p:nvPr/>
        </p:nvSpPr>
        <p:spPr>
          <a:xfrm>
            <a:off x="548640" y="6126480"/>
            <a:ext cx="539496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برای هر چیز فراتر از این دو، مسیر رسمی روی زنجیره وجود ندارد.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پیش‌فروش سورن: سه مرحله و قیمت هر مرحله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Text 4"/>
          <p:cNvSpPr txBox="1"/>
          <p:nvPr/>
        </p:nvSpPr>
        <p:spPr>
          <a:xfrm>
            <a:off x="548640" y="1371600"/>
            <a:ext cx="11094415" cy="73152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سورن را از موجودی ۲۰ میلیونی خودش (ردیف ۱ genesis) و فقط با قرارداد SurenSale می‌فروشد. پرداخت به تومان و از طریق درگاه است؛ سورن خریدار در همان تراکنش از قرارداد منتقل می‌شود. بنیاد فقط می‌فروشد و هرگز بازخرید نمی‌کند.</a:t>
            </a:r>
            <a:endParaRPr lang="en-US" sz="1300" dirty="0"/>
          </a:p>
        </p:txBody>
      </p:sp>
      <p:sp>
        <p:nvSpPr>
          <p:cNvPr id="7" name="Shape 5"/>
          <p:cNvSpPr/>
          <p:nvPr/>
        </p:nvSpPr>
        <p:spPr>
          <a:xfrm>
            <a:off x="8078724" y="2240280"/>
            <a:ext cx="3564026" cy="2377440"/>
          </a:xfrm>
          <a:prstGeom prst="roundRect">
            <a:avLst>
              <a:gd name="adj" fmla="val 4615"/>
            </a:avLst>
          </a:prstGeom>
          <a:solidFill>
            <a:srgbClr val="FFFFFF"/>
          </a:solidFill>
          <a:ln w="22225">
            <a:solidFill>
              <a:srgbClr val="2F3690"/>
            </a:solidFill>
            <a:prstDash val="solid"/>
          </a:ln>
        </p:spPr>
      </p:sp>
      <p:sp>
        <p:nvSpPr>
          <p:cNvPr id="8" name="Text 6"/>
          <p:cNvSpPr txBox="1"/>
          <p:nvPr/>
        </p:nvSpPr>
        <p:spPr>
          <a:xfrm>
            <a:off x="8215884"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مرحله‌ی ۱: قیمت ثابت</a:t>
            </a:r>
            <a:endParaRPr lang="en-US" sz="1450" dirty="0"/>
          </a:p>
        </p:txBody>
      </p:sp>
      <p:sp>
        <p:nvSpPr>
          <p:cNvPr id="9" name="Text 7"/>
          <p:cNvSpPr txBox="1"/>
          <p:nvPr/>
        </p:nvSpPr>
        <p:spPr>
          <a:xfrm>
            <a:off x="8215884"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 تا ۱۸۰ (۶ ماه ۳۰روزه)</a:t>
            </a:r>
            <a:endParaRPr lang="en-US" sz="1150" dirty="0"/>
          </a:p>
        </p:txBody>
      </p:sp>
      <p:sp>
        <p:nvSpPr>
          <p:cNvPr id="10" name="Text 8"/>
          <p:cNvSpPr txBox="1"/>
          <p:nvPr/>
        </p:nvSpPr>
        <p:spPr>
          <a:xfrm>
            <a:off x="8215884"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۱۰۰ تا ۱۱۶ تومان</a:t>
            </a:r>
            <a:endParaRPr lang="en-US" sz="1700" dirty="0"/>
          </a:p>
        </p:txBody>
      </p:sp>
      <p:sp>
        <p:nvSpPr>
          <p:cNvPr id="11" name="Text 9"/>
          <p:cNvSpPr txBox="1"/>
          <p:nvPr/>
        </p:nvSpPr>
        <p:spPr>
          <a:xfrm>
            <a:off x="8215884"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ماه قیمت پله‌ای بالاتر؛ جدول ثابت و مستقل از حجم فروش. رشد کل ۱۶٪.</a:t>
            </a:r>
            <a:endParaRPr lang="en-US" sz="1150" dirty="0"/>
          </a:p>
        </p:txBody>
      </p:sp>
      <p:sp>
        <p:nvSpPr>
          <p:cNvPr id="12" name="Shape 10"/>
          <p:cNvSpPr/>
          <p:nvPr/>
        </p:nvSpPr>
        <p:spPr>
          <a:xfrm>
            <a:off x="4314139" y="2240280"/>
            <a:ext cx="3564026" cy="2377440"/>
          </a:xfrm>
          <a:prstGeom prst="roundRect">
            <a:avLst>
              <a:gd name="adj" fmla="val 4615"/>
            </a:avLst>
          </a:prstGeom>
          <a:solidFill>
            <a:srgbClr val="FFFFFF"/>
          </a:solidFill>
          <a:ln w="22225">
            <a:solidFill>
              <a:srgbClr val="3D46A8"/>
            </a:solidFill>
            <a:prstDash val="solid"/>
          </a:ln>
        </p:spPr>
      </p:sp>
      <p:sp>
        <p:nvSpPr>
          <p:cNvPr id="13" name="Text 11"/>
          <p:cNvSpPr txBox="1"/>
          <p:nvPr/>
        </p:nvSpPr>
        <p:spPr>
          <a:xfrm>
            <a:off x="4451299"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مرحله‌ی میانی: گذار کنترل‌شده</a:t>
            </a:r>
            <a:endParaRPr lang="en-US" sz="1450" dirty="0"/>
          </a:p>
        </p:txBody>
      </p:sp>
      <p:sp>
        <p:nvSpPr>
          <p:cNvPr id="14" name="Text 12"/>
          <p:cNvSpPr txBox="1"/>
          <p:nvPr/>
        </p:nvSpPr>
        <p:spPr>
          <a:xfrm>
            <a:off x="4451299"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۱۸۱ تا ۲۲۵ (۴۵ روز)</a:t>
            </a:r>
            <a:endParaRPr lang="en-US" sz="1150" dirty="0"/>
          </a:p>
        </p:txBody>
      </p:sp>
      <p:sp>
        <p:nvSpPr>
          <p:cNvPr id="15" name="Text 13"/>
          <p:cNvSpPr txBox="1"/>
          <p:nvPr/>
        </p:nvSpPr>
        <p:spPr>
          <a:xfrm>
            <a:off x="4451299"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شروع ۱۱۶ تومان، تغییر روزانه</a:t>
            </a:r>
            <a:endParaRPr lang="en-US" sz="1700" dirty="0"/>
          </a:p>
        </p:txBody>
      </p:sp>
      <p:sp>
        <p:nvSpPr>
          <p:cNvPr id="16" name="Text 14"/>
          <p:cNvSpPr txBox="1"/>
          <p:nvPr/>
        </p:nvSpPr>
        <p:spPr>
          <a:xfrm>
            <a:off x="4451299"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روز بر پایه‌ی حجم فروش روز قبل تا ۰٫۵٪ بالا یا پایین می‌رود. بنیاد هنوز تنها فروشنده است.</a:t>
            </a:r>
            <a:endParaRPr lang="en-US" sz="1150" dirty="0"/>
          </a:p>
        </p:txBody>
      </p:sp>
      <p:sp>
        <p:nvSpPr>
          <p:cNvPr id="17" name="Shape 15"/>
          <p:cNvSpPr/>
          <p:nvPr/>
        </p:nvSpPr>
        <p:spPr>
          <a:xfrm>
            <a:off x="548640" y="2240280"/>
            <a:ext cx="3564026" cy="2377440"/>
          </a:xfrm>
          <a:prstGeom prst="roundRect">
            <a:avLst>
              <a:gd name="adj" fmla="val 4615"/>
            </a:avLst>
          </a:prstGeom>
          <a:solidFill>
            <a:srgbClr val="FFFFFF"/>
          </a:solidFill>
          <a:ln w="22225">
            <a:solidFill>
              <a:srgbClr val="C8431F"/>
            </a:solidFill>
            <a:prstDash val="solid"/>
          </a:ln>
        </p:spPr>
      </p:sp>
      <p:sp>
        <p:nvSpPr>
          <p:cNvPr id="18" name="Text 16"/>
          <p:cNvSpPr txBox="1"/>
          <p:nvPr/>
        </p:nvSpPr>
        <p:spPr>
          <a:xfrm>
            <a:off x="685800"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C8431F"/>
                </a:solidFill>
                <a:latin typeface="Vazirmatn" pitchFamily="34" charset="0"/>
                <a:ea typeface="Vazirmatn" pitchFamily="34" charset="-122"/>
                <a:cs typeface="Vazirmatn" pitchFamily="34" charset="-120"/>
              </a:rPr>
              <a:t>پس از گذار: پایان فروش</a:t>
            </a:r>
            <a:endParaRPr lang="en-US" sz="1450" dirty="0"/>
          </a:p>
        </p:txBody>
      </p:sp>
      <p:sp>
        <p:nvSpPr>
          <p:cNvPr id="19" name="Text 17"/>
          <p:cNvSpPr txBox="1"/>
          <p:nvPr/>
        </p:nvSpPr>
        <p:spPr>
          <a:xfrm>
            <a:off x="685800"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از روز ۲۲۶</a:t>
            </a:r>
            <a:endParaRPr lang="en-US" sz="1150" dirty="0"/>
          </a:p>
        </p:txBody>
      </p:sp>
      <p:sp>
        <p:nvSpPr>
          <p:cNvPr id="20" name="Text 18"/>
          <p:cNvSpPr txBox="1"/>
          <p:nvPr/>
        </p:nvSpPr>
        <p:spPr>
          <a:xfrm>
            <a:off x="685800"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قیمت را بازار تعیین می‌کند</a:t>
            </a:r>
            <a:endParaRPr lang="en-US" sz="1700" dirty="0"/>
          </a:p>
        </p:txBody>
      </p:sp>
      <p:sp>
        <p:nvSpPr>
          <p:cNvPr id="21" name="Text 19"/>
          <p:cNvSpPr txBox="1"/>
          <p:nvPr/>
        </p:nvSpPr>
        <p:spPr>
          <a:xfrm>
            <a:off x="685800"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قرارداد دیگر پرداخت نمی‌پذیرد؛ موجودی فروش‌نرفته را فقط بنیاد می‌تواند برداشت کند.</a:t>
            </a:r>
            <a:endParaRPr lang="en-US" sz="1150" dirty="0"/>
          </a:p>
        </p:txBody>
      </p:sp>
      <p:sp>
        <p:nvSpPr>
          <p:cNvPr id="22" name="Shape 20"/>
          <p:cNvSpPr/>
          <p:nvPr/>
        </p:nvSpPr>
        <p:spPr>
          <a:xfrm>
            <a:off x="8078724" y="4800600"/>
            <a:ext cx="3564026" cy="1508760"/>
          </a:xfrm>
          <a:prstGeom prst="roundRect">
            <a:avLst>
              <a:gd name="adj" fmla="val 7273"/>
            </a:avLst>
          </a:prstGeom>
          <a:solidFill>
            <a:srgbClr val="F7F9FC"/>
          </a:solidFill>
          <a:ln w="9525">
            <a:solidFill>
              <a:srgbClr val="DDE1EE"/>
            </a:solidFill>
            <a:prstDash val="solid"/>
          </a:ln>
        </p:spPr>
      </p:sp>
      <p:sp>
        <p:nvSpPr>
          <p:cNvPr id="23" name="Text 21"/>
          <p:cNvSpPr txBox="1"/>
          <p:nvPr/>
        </p:nvSpPr>
        <p:spPr>
          <a:xfrm>
            <a:off x="8215884"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پایان فروش</a:t>
            </a:r>
            <a:endParaRPr lang="en-US" sz="1300" dirty="0"/>
          </a:p>
        </p:txBody>
      </p:sp>
      <p:sp>
        <p:nvSpPr>
          <p:cNvPr id="24" name="Text 22"/>
          <p:cNvSpPr txBox="1"/>
          <p:nvPr/>
        </p:nvSpPr>
        <p:spPr>
          <a:xfrm>
            <a:off x="8215884"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هرکدام زودتر برسد: پایان روز ۲۲۵، یا تمام‌شدن موجودی قرارداد. دوره‌ی قیمت ثابت ۶ ماهه قابل‌بازنگری است؛ اگر تقاضا هنوز قوی باشد، دور دوم قیمت ثابت جداگانه تصمیم‌گیری می‌شود.</a:t>
            </a:r>
            <a:endParaRPr lang="en-US" sz="1050" dirty="0"/>
          </a:p>
        </p:txBody>
      </p:sp>
      <p:sp>
        <p:nvSpPr>
          <p:cNvPr id="25" name="Shape 23"/>
          <p:cNvSpPr/>
          <p:nvPr/>
        </p:nvSpPr>
        <p:spPr>
          <a:xfrm>
            <a:off x="4314139" y="4800600"/>
            <a:ext cx="3564026" cy="1508760"/>
          </a:xfrm>
          <a:prstGeom prst="roundRect">
            <a:avLst>
              <a:gd name="adj" fmla="val 7273"/>
            </a:avLst>
          </a:prstGeom>
          <a:solidFill>
            <a:srgbClr val="F7F9FC"/>
          </a:solidFill>
          <a:ln w="9525">
            <a:solidFill>
              <a:srgbClr val="DDE1EE"/>
            </a:solidFill>
            <a:prstDash val="solid"/>
          </a:ln>
        </p:spPr>
      </p:sp>
      <p:sp>
        <p:nvSpPr>
          <p:cNvPr id="26" name="Text 24"/>
          <p:cNvSpPr txBox="1"/>
          <p:nvPr/>
        </p:nvSpPr>
        <p:spPr>
          <a:xfrm>
            <a:off x="4451299"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موجودی</a:t>
            </a:r>
            <a:endParaRPr lang="en-US" sz="1300" dirty="0"/>
          </a:p>
        </p:txBody>
      </p:sp>
      <p:sp>
        <p:nvSpPr>
          <p:cNvPr id="27" name="Text 25"/>
          <p:cNvSpPr txBox="1"/>
          <p:nvPr/>
        </p:nvSpPr>
        <p:spPr>
          <a:xfrm>
            <a:off x="4451299"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کل ۲۰ میلیون سورن یک‌جا به قرارداد داده نمی‌شود؛ بنیاد دوره‌ای (مثلاً ماهانه و به‌اندازه‌ی نیاز همان ماه) تأمین می‌کند تا سقف زیان یک کلید هک‌شده محدود بماند. مبلغ و تناوب هنوز تعیین نشده است.</a:t>
            </a:r>
            <a:endParaRPr lang="en-US" sz="1050" dirty="0"/>
          </a:p>
        </p:txBody>
      </p:sp>
      <p:sp>
        <p:nvSpPr>
          <p:cNvPr id="28" name="Shape 26"/>
          <p:cNvSpPr/>
          <p:nvPr/>
        </p:nvSpPr>
        <p:spPr>
          <a:xfrm>
            <a:off x="548640" y="4800600"/>
            <a:ext cx="3564026" cy="1508760"/>
          </a:xfrm>
          <a:prstGeom prst="roundRect">
            <a:avLst>
              <a:gd name="adj" fmla="val 7273"/>
            </a:avLst>
          </a:prstGeom>
          <a:solidFill>
            <a:srgbClr val="F7F9FC"/>
          </a:solidFill>
          <a:ln w="9525">
            <a:solidFill>
              <a:srgbClr val="DDE1EE"/>
            </a:solidFill>
            <a:prstDash val="solid"/>
          </a:ln>
        </p:spPr>
      </p:sp>
      <p:sp>
        <p:nvSpPr>
          <p:cNvPr id="29" name="Text 27"/>
          <p:cNvSpPr txBox="1"/>
          <p:nvPr/>
        </p:nvSpPr>
        <p:spPr>
          <a:xfrm>
            <a:off x="685800"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بازار ثانویه</a:t>
            </a:r>
            <a:endParaRPr lang="en-US" sz="1300" dirty="0"/>
          </a:p>
        </p:txBody>
      </p:sp>
      <p:sp>
        <p:nvSpPr>
          <p:cNvPr id="30" name="Text 28"/>
          <p:cNvSpPr txBox="1"/>
          <p:nvPr/>
        </p:nvSpPr>
        <p:spPr>
          <a:xfrm>
            <a:off x="685800"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در همه‌ی مراحل معامله‌ی همتا‌به‌همتا آزاد است. چون بنیاد بازخرید نمی‌کند، قیمت بنیاد سقفی برای قیمت بازار می‌سازد ولی هیچ کفی ندارد.</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اول: قیمت ثابت ۶ ماهه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graphicFrame>
        <p:nvGraphicFramePr>
          <p:cNvPr id="6" name="Chart 0" descr=""/>
          <p:cNvGraphicFramePr/>
          <p:nvPr/>
        </p:nvGraphicFramePr>
        <p:xfrm>
          <a:off x="548640" y="1417320"/>
          <a:ext cx="539496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94960"/>
            <a:ext cx="5394960" cy="274320"/>
          </a:xfrm>
          <a:prstGeom prst="rect">
            <a:avLst/>
          </a:prstGeom>
          <a:noFill/>
          <a:ln/>
        </p:spPr>
        <p:txBody>
          <a:bodyPr wrap="square" lIns="0" tIns="0" rIns="0" bIns="0" rtlCol="0" anchor="t"/>
          <a:lstStyle/>
          <a:p>
            <a:pPr rtl="1" algn="ct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قیمت هر سورن به تومان در هر ماه</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02375" y="1417320"/>
          <a:ext cx="5440680" cy="914400"/>
        </p:xfrm>
        <a:graphic>
          <a:graphicData uri="http://schemas.openxmlformats.org/drawingml/2006/table">
            <a:tbl>
              <a:tblPr/>
              <a:tblGrid>
                <a:gridCol w="2011680"/>
                <a:gridCol w="1371600"/>
                <a:gridCol w="1325880"/>
                <a:gridCol w="7315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سورن برای ۱ میلیون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قیمت (تومان)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روزها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ماه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 تا ۳۰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۹٬۷۰۹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۳۱ تا ۶۰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۹٬۴۳۴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۶۱ تا 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۹٬۱۷۴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 تا ۱۲۰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۸٬۸۵۰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۱۲۱ تا ۱۵۰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۸٬۶۲۱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۱۵۱ تا ۱۸۰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9" name="Text 5"/>
          <p:cNvSpPr txBox="1"/>
          <p:nvPr/>
        </p:nvSpPr>
        <p:spPr>
          <a:xfrm>
            <a:off x="6202375" y="4297680"/>
            <a:ext cx="5440680" cy="205740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قیمت فقط از زمان بلاک خوانده می‌شود: ماه = ⌊(زمان − شروع فروش) ÷ ۳۰ روز⌋ و آخرین ماه ثابت می‌ماند. جدول در قرارداد ثابت نوشته شده است (رشد ۳٪ مرکب ماهانه، گرد‌شده به نزدیک‌ترین تومان).</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۶ ماه: انتشار سالانه (۲۱ میلیون) تقریباً برابر کل موجودی بنیاد است و هر ماه اضافه یعنی رقیق‌شدن بیشتر پیش از بازار آزاد؛ ۶ ماه برگشت‌پذیرتر از ۱۲ ماه است.</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پله‌ی درصدی: با هر قیمت پایه‌ای معنا دارد و رشد ملایم فقط پاداش مشارکت زودهنگام است.</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میانی: گذار ۴۵ روزه و قیمت‌گذاری روزانه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Text 4"/>
          <p:cNvSpPr txBox="1"/>
          <p:nvPr/>
        </p:nvSpPr>
        <p:spPr>
          <a:xfrm>
            <a:off x="548640" y="1371600"/>
            <a:ext cx="11094415" cy="5943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اینکه قیمت از «۱۱۶ تومان تضمینی» ناگهان به بازار آزاد نپرد، ۴۵ روز قیمت‌گذاری پویا و متقارن اجرا می‌شود. قیمت هر روز ثابت است؛ تغییر برای روز بعد با حجم فروش همین روز تعیین می‌شود.</a:t>
            </a:r>
            <a:endParaRPr lang="en-US" sz="12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202375" y="2103120"/>
          <a:ext cx="5440680" cy="914400"/>
        </p:xfrm>
        <a:graphic>
          <a:graphicData uri="http://schemas.openxmlformats.org/drawingml/2006/table">
            <a:tbl>
              <a:tblPr/>
              <a:tblGrid>
                <a:gridCol w="2148840"/>
                <a:gridCol w="329184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تغییر قیمت روز بعد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حجم فروش آن روز (سورن)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افزایش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بیش از ۱۲۰٪ میانگین ۷ روز گذشته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بدون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بین ۸۰٪ و ۱۲۰٪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کاهش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کمتر از ۸۰٪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Shape 5"/>
          <p:cNvSpPr/>
          <p:nvPr/>
        </p:nvSpPr>
        <p:spPr>
          <a:xfrm>
            <a:off x="6202375" y="4114800"/>
            <a:ext cx="5440680" cy="2194560"/>
          </a:xfrm>
          <a:prstGeom prst="roundRect">
            <a:avLst>
              <a:gd name="adj" fmla="val 5000"/>
            </a:avLst>
          </a:prstGeom>
          <a:solidFill>
            <a:srgbClr val="EEF0FB"/>
          </a:solidFill>
          <a:ln w="9525">
            <a:solidFill>
              <a:srgbClr val="EEF0FB"/>
            </a:solidFill>
            <a:prstDash val="solid"/>
          </a:ln>
        </p:spPr>
      </p:sp>
      <p:sp>
        <p:nvSpPr>
          <p:cNvPr id="9" name="Text 6"/>
          <p:cNvSpPr txBox="1"/>
          <p:nvPr/>
        </p:nvSpPr>
        <p:spPr>
          <a:xfrm>
            <a:off x="6385255" y="4187952"/>
            <a:ext cx="5074920"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مثال عددی</a:t>
            </a:r>
            <a:endParaRPr lang="en-US" sz="1400" dirty="0"/>
          </a:p>
        </p:txBody>
      </p:sp>
      <p:sp>
        <p:nvSpPr>
          <p:cNvPr id="10" name="Text 7"/>
          <p:cNvSpPr txBox="1"/>
          <p:nvPr/>
        </p:nvSpPr>
        <p:spPr>
          <a:xfrm>
            <a:off x="6385255" y="457200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امروز ۱۱۶٫۰۰۰ تومان است. میانگین ۷ روز قبل ۱۰۰ هزار سورن و فروش امروز ۱۳۰ هزار سورن بوده (بالاتر از آستانه‌ی ۱۲۰ هزار).</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فردا = ۱۱۶٫۰۰۰ + ۰٫۵٪ = ۱۱۶٫۵۸۰ تومان؛ با ۱ میلیون تومان آن روز ۸٬۵۷۸ سورن می‌خرید.</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با دقت هزارم تومان محاسبه می‌شود، پس هر پله دقیقاً ۰٫۵٪ است و به تومان کامل گرد نمی‌شود.</a:t>
            </a:r>
            <a:endParaRPr lang="en-US" sz="1150" dirty="0"/>
          </a:p>
        </p:txBody>
      </p:sp>
      <p:sp>
        <p:nvSpPr>
          <p:cNvPr id="11" name="Shape 8"/>
          <p:cNvSpPr/>
          <p:nvPr/>
        </p:nvSpPr>
        <p:spPr>
          <a:xfrm>
            <a:off x="548640" y="2103120"/>
            <a:ext cx="5440680" cy="960120"/>
          </a:xfrm>
          <a:prstGeom prst="roundRect">
            <a:avLst>
              <a:gd name="adj" fmla="val 11429"/>
            </a:avLst>
          </a:prstGeom>
          <a:solidFill>
            <a:srgbClr val="FFFFFF"/>
          </a:solidFill>
          <a:ln w="15875">
            <a:solidFill>
              <a:srgbClr val="2F3690"/>
            </a:solidFill>
            <a:prstDash val="solid"/>
          </a:ln>
        </p:spPr>
      </p:sp>
      <p:sp>
        <p:nvSpPr>
          <p:cNvPr id="12" name="Text 9"/>
          <p:cNvSpPr txBox="1"/>
          <p:nvPr/>
        </p:nvSpPr>
        <p:spPr>
          <a:xfrm>
            <a:off x="685800" y="215798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آغاز</a:t>
            </a:r>
            <a:endParaRPr lang="en-US" sz="1250" dirty="0"/>
          </a:p>
        </p:txBody>
      </p:sp>
      <p:sp>
        <p:nvSpPr>
          <p:cNvPr id="13" name="Text 10"/>
          <p:cNvSpPr txBox="1"/>
          <p:nvPr/>
        </p:nvSpPr>
        <p:spPr>
          <a:xfrm>
            <a:off x="685800" y="245059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قیمت از آخرین قیمت ثابت (۱۱۶) شروع می‌شود. روز اول و هر روزی که میانگین قبلی وجود ندارد بدون تغییر است.</a:t>
            </a:r>
            <a:endParaRPr lang="en-US" sz="1000" dirty="0"/>
          </a:p>
        </p:txBody>
      </p:sp>
      <p:sp>
        <p:nvSpPr>
          <p:cNvPr id="14" name="Shape 11"/>
          <p:cNvSpPr/>
          <p:nvPr/>
        </p:nvSpPr>
        <p:spPr>
          <a:xfrm>
            <a:off x="548640" y="3154680"/>
            <a:ext cx="5440680" cy="960120"/>
          </a:xfrm>
          <a:prstGeom prst="roundRect">
            <a:avLst>
              <a:gd name="adj" fmla="val 11429"/>
            </a:avLst>
          </a:prstGeom>
          <a:solidFill>
            <a:srgbClr val="FFFFFF"/>
          </a:solidFill>
          <a:ln w="15875">
            <a:solidFill>
              <a:srgbClr val="C8431F"/>
            </a:solidFill>
            <a:prstDash val="solid"/>
          </a:ln>
        </p:spPr>
      </p:sp>
      <p:sp>
        <p:nvSpPr>
          <p:cNvPr id="15" name="Text 12"/>
          <p:cNvSpPr txBox="1"/>
          <p:nvPr/>
        </p:nvSpPr>
        <p:spPr>
          <a:xfrm>
            <a:off x="685800" y="320954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کف و سقف مطلق</a:t>
            </a:r>
            <a:endParaRPr lang="en-US" sz="1250" dirty="0"/>
          </a:p>
        </p:txBody>
      </p:sp>
      <p:sp>
        <p:nvSpPr>
          <p:cNvPr id="16" name="Text 13"/>
          <p:cNvSpPr txBox="1"/>
          <p:nvPr/>
        </p:nvSpPr>
        <p:spPr>
          <a:xfrm>
            <a:off x="685800" y="350215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کف ۹۰ و سقف ۱۵۰ تومان. با ۰٫۵٪ در روز از ۱۱۶، در ۴۴ تغییر پیاپی حداکثر به حدود ۱۴۴٫۴ یا حداقل حدود ۹۳٫۱ می‌رسد؛ پس در عمل این کف و سقف در این ۴۵ روز فعال نمی‌شوند (محاسبه از فرمول).</a:t>
            </a:r>
            <a:endParaRPr lang="en-US" sz="1000" dirty="0"/>
          </a:p>
        </p:txBody>
      </p:sp>
      <p:sp>
        <p:nvSpPr>
          <p:cNvPr id="17" name="Shape 14"/>
          <p:cNvSpPr/>
          <p:nvPr/>
        </p:nvSpPr>
        <p:spPr>
          <a:xfrm>
            <a:off x="548640" y="4206240"/>
            <a:ext cx="5440680" cy="960120"/>
          </a:xfrm>
          <a:prstGeom prst="roundRect">
            <a:avLst>
              <a:gd name="adj" fmla="val 11429"/>
            </a:avLst>
          </a:prstGeom>
          <a:solidFill>
            <a:srgbClr val="FFFFFF"/>
          </a:solidFill>
          <a:ln w="15875">
            <a:solidFill>
              <a:srgbClr val="3D46A8"/>
            </a:solidFill>
            <a:prstDash val="solid"/>
          </a:ln>
        </p:spPr>
      </p:sp>
      <p:sp>
        <p:nvSpPr>
          <p:cNvPr id="18" name="Text 15"/>
          <p:cNvSpPr txBox="1"/>
          <p:nvPr/>
        </p:nvSpPr>
        <p:spPr>
          <a:xfrm>
            <a:off x="685800" y="426110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3D46A8"/>
                </a:solidFill>
                <a:latin typeface="Vazirmatn" pitchFamily="34" charset="0"/>
                <a:ea typeface="Vazirmatn" pitchFamily="34" charset="-122"/>
                <a:cs typeface="Vazirmatn" pitchFamily="34" charset="-120"/>
              </a:rPr>
              <a:t>اجرا</a:t>
            </a:r>
            <a:endParaRPr lang="en-US" sz="1250" dirty="0"/>
          </a:p>
        </p:txBody>
      </p:sp>
      <p:sp>
        <p:nvSpPr>
          <p:cNvPr id="19" name="Text 16"/>
          <p:cNvSpPr txBox="1"/>
          <p:nvPr/>
        </p:nvSpPr>
        <p:spPr>
          <a:xfrm>
            <a:off x="685800" y="455371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تابع advanceTransitionPrice بدون مجوز است؛ هر پرداخت قبل از قیمت‌گذاری خودش آن را برای روزهای کامل‌شده صدا می‌زند. پس نیازی به ربات روزانه نیست.</a:t>
            </a:r>
            <a:endParaRPr lang="en-US" sz="1000" dirty="0"/>
          </a:p>
        </p:txBody>
      </p:sp>
      <p:sp>
        <p:nvSpPr>
          <p:cNvPr id="20" name="Shape 17"/>
          <p:cNvSpPr/>
          <p:nvPr/>
        </p:nvSpPr>
        <p:spPr>
          <a:xfrm>
            <a:off x="548640" y="5257800"/>
            <a:ext cx="5440680" cy="960120"/>
          </a:xfrm>
          <a:prstGeom prst="roundRect">
            <a:avLst>
              <a:gd name="adj" fmla="val 11429"/>
            </a:avLst>
          </a:prstGeom>
          <a:solidFill>
            <a:srgbClr val="FFFFFF"/>
          </a:solidFill>
          <a:ln w="15875">
            <a:solidFill>
              <a:srgbClr val="5F6472"/>
            </a:solidFill>
            <a:prstDash val="solid"/>
          </a:ln>
        </p:spPr>
      </p:sp>
      <p:sp>
        <p:nvSpPr>
          <p:cNvPr id="21" name="Text 18"/>
          <p:cNvSpPr txBox="1"/>
          <p:nvPr/>
        </p:nvSpPr>
        <p:spPr>
          <a:xfrm>
            <a:off x="685800" y="531266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5F6472"/>
                </a:solidFill>
                <a:latin typeface="Vazirmatn" pitchFamily="34" charset="0"/>
                <a:ea typeface="Vazirmatn" pitchFamily="34" charset="-122"/>
                <a:cs typeface="Vazirmatn" pitchFamily="34" charset="-120"/>
              </a:rPr>
              <a:t>پایان</a:t>
            </a:r>
            <a:endParaRPr lang="en-US" sz="1250" dirty="0"/>
          </a:p>
        </p:txBody>
      </p:sp>
      <p:sp>
        <p:nvSpPr>
          <p:cNvPr id="22" name="Text 19"/>
          <p:cNvSpPr txBox="1"/>
          <p:nvPr/>
        </p:nvSpPr>
        <p:spPr>
          <a:xfrm>
            <a:off x="685800" y="560527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پایان روز ۴۵ یا تمام‌شدن موجودی. پس از آن SurenSale پرداخت نمی‌پذیرد و بنیاد باقی‌مانده را برمی‌دارد. هنوز بازار آزاد واقعی نیست، چون تنها فروشنده بنیاد است.</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نحوه‌ی خرید: از پرداخت تومانی تا دریافت سورن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Shape 4"/>
          <p:cNvSpPr/>
          <p:nvPr/>
        </p:nvSpPr>
        <p:spPr>
          <a:xfrm>
            <a:off x="4967935" y="1371600"/>
            <a:ext cx="6675120" cy="566928"/>
          </a:xfrm>
          <a:prstGeom prst="roundRect">
            <a:avLst>
              <a:gd name="adj" fmla="val 19355"/>
            </a:avLst>
          </a:prstGeom>
          <a:solidFill>
            <a:srgbClr val="F7F9FC"/>
          </a:solidFill>
          <a:ln w="9525">
            <a:solidFill>
              <a:srgbClr val="DDE1EE"/>
            </a:solidFill>
            <a:prstDash val="solid"/>
          </a:ln>
        </p:spPr>
      </p:sp>
      <p:sp>
        <p:nvSpPr>
          <p:cNvPr id="7" name="Shape 5"/>
          <p:cNvSpPr/>
          <p:nvPr/>
        </p:nvSpPr>
        <p:spPr>
          <a:xfrm>
            <a:off x="11185855" y="1472184"/>
            <a:ext cx="365760" cy="365760"/>
          </a:xfrm>
          <a:prstGeom prst="ellipse">
            <a:avLst/>
          </a:prstGeom>
          <a:solidFill>
            <a:srgbClr val="2F3690"/>
          </a:solidFill>
          <a:ln w="12700">
            <a:solidFill>
              <a:srgbClr val="2F3690"/>
            </a:solidFill>
            <a:prstDash val="solid"/>
          </a:ln>
        </p:spPr>
      </p:sp>
      <p:sp>
        <p:nvSpPr>
          <p:cNvPr id="8" name="Text 6"/>
          <p:cNvSpPr txBox="1"/>
          <p:nvPr/>
        </p:nvSpPr>
        <p:spPr>
          <a:xfrm>
            <a:off x="11185855" y="14721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۱</a:t>
            </a:r>
            <a:endParaRPr lang="en-US" sz="1250" dirty="0"/>
          </a:p>
        </p:txBody>
      </p:sp>
      <p:sp>
        <p:nvSpPr>
          <p:cNvPr id="9" name="Text 7"/>
          <p:cNvSpPr txBox="1"/>
          <p:nvPr/>
        </p:nvSpPr>
        <p:spPr>
          <a:xfrm>
            <a:off x="9631375" y="13716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ورود مشخصات</a:t>
            </a:r>
            <a:endParaRPr lang="en-US" sz="1200" dirty="0"/>
          </a:p>
        </p:txBody>
      </p:sp>
      <p:sp>
        <p:nvSpPr>
          <p:cNvPr id="10" name="Text 8"/>
          <p:cNvSpPr txBox="1"/>
          <p:nvPr/>
        </p:nvSpPr>
        <p:spPr>
          <a:xfrm>
            <a:off x="5105095" y="13716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آدرس کیف‌پول و مبلغ تومانی را در پرتال فروش وارد می‌کند.</a:t>
            </a:r>
            <a:endParaRPr lang="en-US" sz="980" dirty="0"/>
          </a:p>
        </p:txBody>
      </p:sp>
      <p:sp>
        <p:nvSpPr>
          <p:cNvPr id="11" name="Shape 9"/>
          <p:cNvSpPr/>
          <p:nvPr/>
        </p:nvSpPr>
        <p:spPr>
          <a:xfrm>
            <a:off x="4967935" y="2011680"/>
            <a:ext cx="6675120" cy="566928"/>
          </a:xfrm>
          <a:prstGeom prst="roundRect">
            <a:avLst>
              <a:gd name="adj" fmla="val 19355"/>
            </a:avLst>
          </a:prstGeom>
          <a:solidFill>
            <a:srgbClr val="FFFFFF"/>
          </a:solidFill>
          <a:ln w="9525">
            <a:solidFill>
              <a:srgbClr val="DDE1EE"/>
            </a:solidFill>
            <a:prstDash val="solid"/>
          </a:ln>
        </p:spPr>
      </p:sp>
      <p:sp>
        <p:nvSpPr>
          <p:cNvPr id="12" name="Shape 10"/>
          <p:cNvSpPr/>
          <p:nvPr/>
        </p:nvSpPr>
        <p:spPr>
          <a:xfrm>
            <a:off x="11185855" y="2112264"/>
            <a:ext cx="365760" cy="365760"/>
          </a:xfrm>
          <a:prstGeom prst="ellipse">
            <a:avLst/>
          </a:prstGeom>
          <a:solidFill>
            <a:srgbClr val="2F3690"/>
          </a:solidFill>
          <a:ln w="12700">
            <a:solidFill>
              <a:srgbClr val="2F3690"/>
            </a:solidFill>
            <a:prstDash val="solid"/>
          </a:ln>
        </p:spPr>
      </p:sp>
      <p:sp>
        <p:nvSpPr>
          <p:cNvPr id="13" name="Text 11"/>
          <p:cNvSpPr txBox="1"/>
          <p:nvPr/>
        </p:nvSpPr>
        <p:spPr>
          <a:xfrm>
            <a:off x="11185855" y="211226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۲</a:t>
            </a:r>
            <a:endParaRPr lang="en-US" sz="1250" dirty="0"/>
          </a:p>
        </p:txBody>
      </p:sp>
      <p:sp>
        <p:nvSpPr>
          <p:cNvPr id="14" name="Text 12"/>
          <p:cNvSpPr txBox="1"/>
          <p:nvPr/>
        </p:nvSpPr>
        <p:spPr>
          <a:xfrm>
            <a:off x="9631375" y="201168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رزرو موجودی</a:t>
            </a:r>
            <a:endParaRPr lang="en-US" sz="1200" dirty="0"/>
          </a:p>
        </p:txBody>
      </p:sp>
      <p:sp>
        <p:nvSpPr>
          <p:cNvPr id="15" name="Text 13"/>
          <p:cNvSpPr txBox="1"/>
          <p:nvPr/>
        </p:nvSpPr>
        <p:spPr>
          <a:xfrm>
            <a:off x="5105095" y="201168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سورن معادل با قیمت همان لحظه محاسبه می‌شود؛ اگر از موجودی آزاد (موجودی قرارداد منهای رزروهای فعال) کمتر باشد، ۱۵ دقیقه رزرو ثبت می‌شود، وگرنه همان‌جا «موجودی کافی نیست».</a:t>
            </a:r>
            <a:endParaRPr lang="en-US" sz="980" dirty="0"/>
          </a:p>
        </p:txBody>
      </p:sp>
      <p:sp>
        <p:nvSpPr>
          <p:cNvPr id="16" name="Shape 14"/>
          <p:cNvSpPr/>
          <p:nvPr/>
        </p:nvSpPr>
        <p:spPr>
          <a:xfrm>
            <a:off x="4967935" y="2651760"/>
            <a:ext cx="6675120" cy="566928"/>
          </a:xfrm>
          <a:prstGeom prst="roundRect">
            <a:avLst>
              <a:gd name="adj" fmla="val 19355"/>
            </a:avLst>
          </a:prstGeom>
          <a:solidFill>
            <a:srgbClr val="F7F9FC"/>
          </a:solidFill>
          <a:ln w="9525">
            <a:solidFill>
              <a:srgbClr val="DDE1EE"/>
            </a:solidFill>
            <a:prstDash val="solid"/>
          </a:ln>
        </p:spPr>
      </p:sp>
      <p:sp>
        <p:nvSpPr>
          <p:cNvPr id="17" name="Shape 15"/>
          <p:cNvSpPr/>
          <p:nvPr/>
        </p:nvSpPr>
        <p:spPr>
          <a:xfrm>
            <a:off x="11185855" y="2752344"/>
            <a:ext cx="365760" cy="365760"/>
          </a:xfrm>
          <a:prstGeom prst="ellipse">
            <a:avLst/>
          </a:prstGeom>
          <a:solidFill>
            <a:srgbClr val="2F3690"/>
          </a:solidFill>
          <a:ln w="12700">
            <a:solidFill>
              <a:srgbClr val="2F3690"/>
            </a:solidFill>
            <a:prstDash val="solid"/>
          </a:ln>
        </p:spPr>
      </p:sp>
      <p:sp>
        <p:nvSpPr>
          <p:cNvPr id="18" name="Text 16"/>
          <p:cNvSpPr txBox="1"/>
          <p:nvPr/>
        </p:nvSpPr>
        <p:spPr>
          <a:xfrm>
            <a:off x="11185855" y="275234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۳</a:t>
            </a:r>
            <a:endParaRPr lang="en-US" sz="1250" dirty="0"/>
          </a:p>
        </p:txBody>
      </p:sp>
      <p:sp>
        <p:nvSpPr>
          <p:cNvPr id="19" name="Text 17"/>
          <p:cNvSpPr txBox="1"/>
          <p:nvPr/>
        </p:nvSpPr>
        <p:spPr>
          <a:xfrm>
            <a:off x="9631375" y="265176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a:t>
            </a:r>
            <a:endParaRPr lang="en-US" sz="1200" dirty="0"/>
          </a:p>
        </p:txBody>
      </p:sp>
      <p:sp>
        <p:nvSpPr>
          <p:cNvPr id="20" name="Text 18"/>
          <p:cNvSpPr txBox="1"/>
          <p:nvPr/>
        </p:nvSpPr>
        <p:spPr>
          <a:xfrm>
            <a:off x="5105095" y="265176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به درگاه پرداخت هدایت می‌شود و تومان می‌پردازد.</a:t>
            </a:r>
            <a:endParaRPr lang="en-US" sz="980" dirty="0"/>
          </a:p>
        </p:txBody>
      </p:sp>
      <p:sp>
        <p:nvSpPr>
          <p:cNvPr id="21" name="Shape 19"/>
          <p:cNvSpPr/>
          <p:nvPr/>
        </p:nvSpPr>
        <p:spPr>
          <a:xfrm>
            <a:off x="4967935" y="3291840"/>
            <a:ext cx="6675120" cy="566928"/>
          </a:xfrm>
          <a:prstGeom prst="roundRect">
            <a:avLst>
              <a:gd name="adj" fmla="val 19355"/>
            </a:avLst>
          </a:prstGeom>
          <a:solidFill>
            <a:srgbClr val="FFFFFF"/>
          </a:solidFill>
          <a:ln w="9525">
            <a:solidFill>
              <a:srgbClr val="DDE1EE"/>
            </a:solidFill>
            <a:prstDash val="solid"/>
          </a:ln>
        </p:spPr>
      </p:sp>
      <p:sp>
        <p:nvSpPr>
          <p:cNvPr id="22" name="Shape 20"/>
          <p:cNvSpPr/>
          <p:nvPr/>
        </p:nvSpPr>
        <p:spPr>
          <a:xfrm>
            <a:off x="11185855" y="3392424"/>
            <a:ext cx="365760" cy="365760"/>
          </a:xfrm>
          <a:prstGeom prst="ellipse">
            <a:avLst/>
          </a:prstGeom>
          <a:solidFill>
            <a:srgbClr val="2F3690"/>
          </a:solidFill>
          <a:ln w="12700">
            <a:solidFill>
              <a:srgbClr val="2F3690"/>
            </a:solidFill>
            <a:prstDash val="solid"/>
          </a:ln>
        </p:spPr>
      </p:sp>
      <p:sp>
        <p:nvSpPr>
          <p:cNvPr id="23" name="Text 21"/>
          <p:cNvSpPr txBox="1"/>
          <p:nvPr/>
        </p:nvSpPr>
        <p:spPr>
          <a:xfrm>
            <a:off x="11185855" y="339242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۴</a:t>
            </a:r>
            <a:endParaRPr lang="en-US" sz="1250" dirty="0"/>
          </a:p>
        </p:txBody>
      </p:sp>
      <p:sp>
        <p:nvSpPr>
          <p:cNvPr id="24" name="Text 22"/>
          <p:cNvSpPr txBox="1"/>
          <p:nvPr/>
        </p:nvSpPr>
        <p:spPr>
          <a:xfrm>
            <a:off x="9631375" y="329184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راستی‌آزمایی</a:t>
            </a:r>
            <a:endParaRPr lang="en-US" sz="1200" dirty="0"/>
          </a:p>
        </p:txBody>
      </p:sp>
      <p:sp>
        <p:nvSpPr>
          <p:cNvPr id="25" name="Text 23"/>
          <p:cNvSpPr txBox="1"/>
          <p:nvPr/>
        </p:nvSpPr>
        <p:spPr>
          <a:xfrm>
            <a:off x="5105095" y="329184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PaymentReporter webhook درگاه را می‌گیرد و پرداخت را مستقل از خود API درگاه دوباره تأیید می‌کند.</a:t>
            </a:r>
            <a:endParaRPr lang="en-US" sz="980" dirty="0"/>
          </a:p>
        </p:txBody>
      </p:sp>
      <p:sp>
        <p:nvSpPr>
          <p:cNvPr id="26" name="Shape 24"/>
          <p:cNvSpPr/>
          <p:nvPr/>
        </p:nvSpPr>
        <p:spPr>
          <a:xfrm>
            <a:off x="4967935" y="3931920"/>
            <a:ext cx="6675120" cy="566928"/>
          </a:xfrm>
          <a:prstGeom prst="roundRect">
            <a:avLst>
              <a:gd name="adj" fmla="val 19355"/>
            </a:avLst>
          </a:prstGeom>
          <a:solidFill>
            <a:srgbClr val="F7F9FC"/>
          </a:solidFill>
          <a:ln w="9525">
            <a:solidFill>
              <a:srgbClr val="DDE1EE"/>
            </a:solidFill>
            <a:prstDash val="solid"/>
          </a:ln>
        </p:spPr>
      </p:sp>
      <p:sp>
        <p:nvSpPr>
          <p:cNvPr id="27" name="Shape 25"/>
          <p:cNvSpPr/>
          <p:nvPr/>
        </p:nvSpPr>
        <p:spPr>
          <a:xfrm>
            <a:off x="11185855" y="4032504"/>
            <a:ext cx="365760" cy="365760"/>
          </a:xfrm>
          <a:prstGeom prst="ellipse">
            <a:avLst/>
          </a:prstGeom>
          <a:solidFill>
            <a:srgbClr val="2F3690"/>
          </a:solidFill>
          <a:ln w="12700">
            <a:solidFill>
              <a:srgbClr val="2F3690"/>
            </a:solidFill>
            <a:prstDash val="solid"/>
          </a:ln>
        </p:spPr>
      </p:sp>
      <p:sp>
        <p:nvSpPr>
          <p:cNvPr id="28" name="Text 26"/>
          <p:cNvSpPr txBox="1"/>
          <p:nvPr/>
        </p:nvSpPr>
        <p:spPr>
          <a:xfrm>
            <a:off x="11185855" y="403250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۵</a:t>
            </a:r>
            <a:endParaRPr lang="en-US" sz="1250" dirty="0"/>
          </a:p>
        </p:txBody>
      </p:sp>
      <p:sp>
        <p:nvSpPr>
          <p:cNvPr id="29" name="Text 27"/>
          <p:cNvSpPr txBox="1"/>
          <p:nvPr/>
        </p:nvSpPr>
        <p:spPr>
          <a:xfrm>
            <a:off x="9631375" y="393192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ثبت و انتقال</a:t>
            </a:r>
            <a:endParaRPr lang="en-US" sz="1200" dirty="0"/>
          </a:p>
        </p:txBody>
      </p:sp>
      <p:sp>
        <p:nvSpPr>
          <p:cNvPr id="30" name="Text 28"/>
          <p:cNvSpPr txBox="1"/>
          <p:nvPr/>
        </p:nvSpPr>
        <p:spPr>
          <a:xfrm>
            <a:off x="5105095" y="393192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reportPayment را با کلید paymentOracle می‌فرستد؛ قرارداد قیمت را خودش حساب می‌کند و در همان تراکنش سورن را به خریدار می‌فرستد.</a:t>
            </a:r>
            <a:endParaRPr lang="en-US" sz="980" dirty="0"/>
          </a:p>
        </p:txBody>
      </p:sp>
      <p:sp>
        <p:nvSpPr>
          <p:cNvPr id="31" name="Shape 29"/>
          <p:cNvSpPr/>
          <p:nvPr/>
        </p:nvSpPr>
        <p:spPr>
          <a:xfrm>
            <a:off x="4967935" y="4572000"/>
            <a:ext cx="6675120" cy="566928"/>
          </a:xfrm>
          <a:prstGeom prst="roundRect">
            <a:avLst>
              <a:gd name="adj" fmla="val 19355"/>
            </a:avLst>
          </a:prstGeom>
          <a:solidFill>
            <a:srgbClr val="FFFFFF"/>
          </a:solidFill>
          <a:ln w="9525">
            <a:solidFill>
              <a:srgbClr val="DDE1EE"/>
            </a:solidFill>
            <a:prstDash val="solid"/>
          </a:ln>
        </p:spPr>
      </p:sp>
      <p:sp>
        <p:nvSpPr>
          <p:cNvPr id="32" name="Shape 30"/>
          <p:cNvSpPr/>
          <p:nvPr/>
        </p:nvSpPr>
        <p:spPr>
          <a:xfrm>
            <a:off x="11185855" y="4672584"/>
            <a:ext cx="365760" cy="365760"/>
          </a:xfrm>
          <a:prstGeom prst="ellipse">
            <a:avLst/>
          </a:prstGeom>
          <a:solidFill>
            <a:srgbClr val="2F3690"/>
          </a:solidFill>
          <a:ln w="12700">
            <a:solidFill>
              <a:srgbClr val="2F3690"/>
            </a:solidFill>
            <a:prstDash val="solid"/>
          </a:ln>
        </p:spPr>
      </p:sp>
      <p:sp>
        <p:nvSpPr>
          <p:cNvPr id="33" name="Text 31"/>
          <p:cNvSpPr txBox="1"/>
          <p:nvPr/>
        </p:nvSpPr>
        <p:spPr>
          <a:xfrm>
            <a:off x="11185855" y="46725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۶</a:t>
            </a:r>
            <a:endParaRPr lang="en-US" sz="1250" dirty="0"/>
          </a:p>
        </p:txBody>
      </p:sp>
      <p:sp>
        <p:nvSpPr>
          <p:cNvPr id="34" name="Text 32"/>
          <p:cNvSpPr txBox="1"/>
          <p:nvPr/>
        </p:nvSpPr>
        <p:spPr>
          <a:xfrm>
            <a:off x="9631375" y="45720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پیگیری</a:t>
            </a:r>
            <a:endParaRPr lang="en-US" sz="1200" dirty="0"/>
          </a:p>
        </p:txBody>
      </p:sp>
      <p:sp>
        <p:nvSpPr>
          <p:cNvPr id="35" name="Text 33"/>
          <p:cNvSpPr txBox="1"/>
          <p:nvPr/>
        </p:nvSpPr>
        <p:spPr>
          <a:xfrm>
            <a:off x="5105095" y="45720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پرتال هر ۳ تا ۵ ثانیه وضعیت را می‌پرسد تا نتیجه (در انتظار، ثبت‌شده، ناموفق) و هش تراکنش را نشان دهد.</a:t>
            </a:r>
            <a:endParaRPr lang="en-US" sz="980" dirty="0"/>
          </a:p>
        </p:txBody>
      </p:sp>
      <p:sp>
        <p:nvSpPr>
          <p:cNvPr id="36" name="Shape 34"/>
          <p:cNvSpPr/>
          <p:nvPr/>
        </p:nvSpPr>
        <p:spPr>
          <a:xfrm>
            <a:off x="548640" y="1371600"/>
            <a:ext cx="4206240" cy="2103120"/>
          </a:xfrm>
          <a:prstGeom prst="roundRect">
            <a:avLst>
              <a:gd name="adj" fmla="val 5217"/>
            </a:avLst>
          </a:prstGeom>
          <a:solidFill>
            <a:srgbClr val="EEF0FB"/>
          </a:solidFill>
          <a:ln w="9525">
            <a:solidFill>
              <a:srgbClr val="EEF0FB"/>
            </a:solidFill>
            <a:prstDash val="solid"/>
          </a:ln>
        </p:spPr>
      </p:sp>
      <p:sp>
        <p:nvSpPr>
          <p:cNvPr id="37" name="Text 35"/>
          <p:cNvSpPr txBox="1"/>
          <p:nvPr/>
        </p:nvSpPr>
        <p:spPr>
          <a:xfrm>
            <a:off x="685800" y="1444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محاسبه‌ی مقدار سورن</a:t>
            </a:r>
            <a:endParaRPr lang="en-US" sz="1350" dirty="0"/>
          </a:p>
        </p:txBody>
      </p:sp>
      <p:sp>
        <p:nvSpPr>
          <p:cNvPr id="38" name="Text 36"/>
          <p:cNvSpPr txBox="1"/>
          <p:nvPr/>
        </p:nvSpPr>
        <p:spPr>
          <a:xfrm>
            <a:off x="685800" y="1828800"/>
            <a:ext cx="3931920" cy="160020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سورن = مبلغ تومان × ۱۰¹⁸ ÷ قیمت همان لحظه</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مثال: ۱ میلیون تومان در ماه اول ۱۰٬۰۰۰ و در ماه ششم ۸٬۶۲۱ سورن می‌دهد.</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هر پرداخت با کد پیگیری یکتا فقط یک‌بار پذیرفته می‌شود.</a:t>
            </a:r>
            <a:endParaRPr lang="en-US" sz="1100" dirty="0"/>
          </a:p>
        </p:txBody>
      </p:sp>
      <p:sp>
        <p:nvSpPr>
          <p:cNvPr id="39" name="Shape 37"/>
          <p:cNvSpPr/>
          <p:nvPr/>
        </p:nvSpPr>
        <p:spPr>
          <a:xfrm>
            <a:off x="548640" y="3657600"/>
            <a:ext cx="4206240" cy="2651760"/>
          </a:xfrm>
          <a:prstGeom prst="roundRect">
            <a:avLst>
              <a:gd name="adj" fmla="val 4138"/>
            </a:avLst>
          </a:prstGeom>
          <a:solidFill>
            <a:srgbClr val="FCEAE4"/>
          </a:solidFill>
          <a:ln w="9525">
            <a:solidFill>
              <a:srgbClr val="FCEAE4"/>
            </a:solidFill>
            <a:prstDash val="solid"/>
          </a:ln>
        </p:spPr>
      </p:sp>
      <p:sp>
        <p:nvSpPr>
          <p:cNvPr id="40" name="Text 38"/>
          <p:cNvSpPr txBox="1"/>
          <p:nvPr/>
        </p:nvSpPr>
        <p:spPr>
          <a:xfrm>
            <a:off x="685800" y="3730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امنیت و خطر</a:t>
            </a:r>
            <a:endParaRPr lang="en-US" sz="1350" dirty="0"/>
          </a:p>
        </p:txBody>
      </p:sp>
      <p:sp>
        <p:nvSpPr>
          <p:cNvPr id="41" name="Text 39"/>
          <p:cNvSpPr txBox="1"/>
          <p:nvPr/>
        </p:nvSpPr>
        <p:spPr>
          <a:xfrm>
            <a:off x="685800" y="4114800"/>
            <a:ext cx="3931920" cy="21488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کلید paymentOracle نمی‌تواند قیمت را عوض کند؛ فقط می‌تواند پرداخت ساختگی گزارش دهد، آن هم تا سقف موجودی همان لحظه‌ی قرارداد (به همین دلیل موجودی دوره‌ای تأمین می‌شود).</a:t>
            </a:r>
            <a:endParaRPr lang="en-US" sz="1000" dirty="0"/>
          </a:p>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اگر کاربر پول بدهد ولی گزارش روی زنجیره شکست بخورد (موجودی کافی نبوده)، هشدار فوری ارسال می‌شود. روش جبران (بازگشت وجه یا تأمین فوری و انتقال دستی) و انتخاب درگاه هنوز تعیین نشده است.</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و زیرساخت‌ها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هویت مشترک و زیرساخت‌های مشترک اکوسیستم</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10957255"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9" name="Text 6"/>
          <p:cNvSpPr txBox="1"/>
          <p:nvPr/>
        </p:nvSpPr>
        <p:spPr>
          <a:xfrm>
            <a:off x="6339535" y="1627632"/>
            <a:ext cx="4480560" cy="45720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IdentityRegistry (0x6666…6666)</a:t>
            </a:r>
            <a:endParaRPr lang="en-US" sz="1600" dirty="0"/>
          </a:p>
        </p:txBody>
      </p:sp>
      <p:sp>
        <p:nvSpPr>
          <p:cNvPr id="10" name="Text 7"/>
          <p:cNvSpPr txBox="1"/>
          <p:nvPr/>
        </p:nvSpPr>
        <p:spPr>
          <a:xfrm>
            <a:off x="6430975" y="2286000"/>
            <a:ext cx="4983480" cy="37490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مرجع هویت برای همه‌ی کاربران شبکه، نه فقط ولیدیتورها.</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خوداظهاری (نام و نوع شخصیت) بدون وریفای؛ پیش‌نیاز رأی‌دادن در هیأت.</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وریفای موبایل و تلگرام و لایه‌ی اختیاری KYC فقط به‌صورت فلگ و commitment هش‌شده؛ داده‌ی خام هرگز روی زنجیره نمی‌آید.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کلید identityOracle را FoundationDAO می‌چرخاند؛ کلید verifier ولیدیتورها مسیر چرخش جدا 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کوئری «تطبیق» تابع on-chain نیست، چون ورودی تراکنش همیشه عمومی است.</a:t>
            </a:r>
            <a:endParaRPr lang="en-US" sz="1250" dirty="0"/>
          </a:p>
        </p:txBody>
      </p:sp>
      <p:sp>
        <p:nvSpPr>
          <p:cNvPr id="11" name="Shape 8"/>
          <p:cNvSpPr/>
          <p:nvPr/>
        </p:nvSpPr>
        <p:spPr>
          <a:xfrm>
            <a:off x="548640" y="1417320"/>
            <a:ext cx="5440680" cy="1371600"/>
          </a:xfrm>
          <a:prstGeom prst="roundRect">
            <a:avLst>
              <a:gd name="adj" fmla="val 8000"/>
            </a:avLst>
          </a:prstGeom>
          <a:solidFill>
            <a:srgbClr val="F7F9FC"/>
          </a:solidFill>
          <a:ln w="9525">
            <a:solidFill>
              <a:srgbClr val="DDE1EE"/>
            </a:solidFill>
            <a:prstDash val="solid"/>
          </a:ln>
        </p:spPr>
      </p:sp>
      <p:sp>
        <p:nvSpPr>
          <p:cNvPr id="12" name="Shape 9"/>
          <p:cNvSpPr/>
          <p:nvPr/>
        </p:nvSpPr>
        <p:spPr>
          <a:xfrm>
            <a:off x="4434840" y="1554480"/>
            <a:ext cx="1371600" cy="347472"/>
          </a:xfrm>
          <a:prstGeom prst="roundRect">
            <a:avLst>
              <a:gd name="adj" fmla="val 50000"/>
            </a:avLst>
          </a:prstGeom>
          <a:solidFill>
            <a:srgbClr val="E3F4EC"/>
          </a:solidFill>
          <a:ln w="9525">
            <a:solidFill>
              <a:srgbClr val="E3F4EC"/>
            </a:solidFill>
            <a:prstDash val="solid"/>
          </a:ln>
        </p:spPr>
      </p:sp>
      <p:sp>
        <p:nvSpPr>
          <p:cNvPr id="13" name="Text 10"/>
          <p:cNvSpPr txBox="1"/>
          <p:nvPr/>
        </p:nvSpPr>
        <p:spPr>
          <a:xfrm>
            <a:off x="4434840" y="155448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1F7A55"/>
                </a:solidFill>
                <a:latin typeface="Vazirmatn" pitchFamily="34" charset="0"/>
                <a:ea typeface="Vazirmatn" pitchFamily="34" charset="-122"/>
                <a:cs typeface="Vazirmatn" pitchFamily="34" charset="-120"/>
              </a:rPr>
              <a:t>پیاده‌سازی‌شده</a:t>
            </a:r>
            <a:endParaRPr lang="en-US" sz="1150" dirty="0"/>
          </a:p>
        </p:txBody>
      </p:sp>
      <p:sp>
        <p:nvSpPr>
          <p:cNvPr id="14" name="Text 11"/>
          <p:cNvSpPr txBox="1"/>
          <p:nvPr/>
        </p:nvSpPr>
        <p:spPr>
          <a:xfrm>
            <a:off x="731520" y="198424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رجیستری هویت مشترک (IdentityRegistry)</a:t>
            </a:r>
            <a:endParaRPr lang="en-US" sz="1250" dirty="0"/>
          </a:p>
        </p:txBody>
      </p:sp>
      <p:sp>
        <p:nvSpPr>
          <p:cNvPr id="15" name="Shape 12"/>
          <p:cNvSpPr/>
          <p:nvPr/>
        </p:nvSpPr>
        <p:spPr>
          <a:xfrm>
            <a:off x="548640" y="2926080"/>
            <a:ext cx="5440680" cy="1371600"/>
          </a:xfrm>
          <a:prstGeom prst="roundRect">
            <a:avLst>
              <a:gd name="adj" fmla="val 8000"/>
            </a:avLst>
          </a:prstGeom>
          <a:solidFill>
            <a:srgbClr val="F7F9FC"/>
          </a:solidFill>
          <a:ln w="9525">
            <a:solidFill>
              <a:srgbClr val="DDE1EE"/>
            </a:solidFill>
            <a:prstDash val="solid"/>
          </a:ln>
        </p:spPr>
      </p:sp>
      <p:sp>
        <p:nvSpPr>
          <p:cNvPr id="16" name="Shape 13"/>
          <p:cNvSpPr/>
          <p:nvPr/>
        </p:nvSpPr>
        <p:spPr>
          <a:xfrm>
            <a:off x="4434840" y="3063240"/>
            <a:ext cx="1371600" cy="347472"/>
          </a:xfrm>
          <a:prstGeom prst="roundRect">
            <a:avLst>
              <a:gd name="adj" fmla="val 50000"/>
            </a:avLst>
          </a:prstGeom>
          <a:solidFill>
            <a:srgbClr val="EEF0FB"/>
          </a:solidFill>
          <a:ln w="9525">
            <a:solidFill>
              <a:srgbClr val="EEF0FB"/>
            </a:solidFill>
            <a:prstDash val="solid"/>
          </a:ln>
        </p:spPr>
      </p:sp>
      <p:sp>
        <p:nvSpPr>
          <p:cNvPr id="17" name="Text 14"/>
          <p:cNvSpPr txBox="1"/>
          <p:nvPr/>
        </p:nvSpPr>
        <p:spPr>
          <a:xfrm>
            <a:off x="4434840" y="306324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2F3690"/>
                </a:solidFill>
                <a:latin typeface="Vazirmatn" pitchFamily="34" charset="0"/>
                <a:ea typeface="Vazirmatn" pitchFamily="34" charset="-122"/>
                <a:cs typeface="Vazirmatn" pitchFamily="34" charset="-120"/>
              </a:rPr>
              <a:t>آماده‌ی شروع</a:t>
            </a:r>
            <a:endParaRPr lang="en-US" sz="1150" dirty="0"/>
          </a:p>
        </p:txBody>
      </p:sp>
      <p:sp>
        <p:nvSpPr>
          <p:cNvPr id="18" name="Text 15"/>
          <p:cNvSpPr txBox="1"/>
          <p:nvPr/>
        </p:nvSpPr>
        <p:spPr>
          <a:xfrm>
            <a:off x="731520" y="349300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ثبت‌زمان اسناد؛ نام‌گذاری (مشابه ENS)؛ قالب «DAO آماده»؛ صدور و اعتبارسنجی مدرک</a:t>
            </a:r>
            <a:endParaRPr lang="en-US" sz="1250" dirty="0"/>
          </a:p>
        </p:txBody>
      </p:sp>
      <p:sp>
        <p:nvSpPr>
          <p:cNvPr id="19" name="Shape 16"/>
          <p:cNvSpPr/>
          <p:nvPr/>
        </p:nvSpPr>
        <p:spPr>
          <a:xfrm>
            <a:off x="548640" y="4434840"/>
            <a:ext cx="5440680" cy="1371600"/>
          </a:xfrm>
          <a:prstGeom prst="roundRect">
            <a:avLst>
              <a:gd name="adj" fmla="val 8000"/>
            </a:avLst>
          </a:prstGeom>
          <a:solidFill>
            <a:srgbClr val="F7F9FC"/>
          </a:solidFill>
          <a:ln w="9525">
            <a:solidFill>
              <a:srgbClr val="DDE1EE"/>
            </a:solidFill>
            <a:prstDash val="solid"/>
          </a:ln>
        </p:spPr>
      </p:sp>
      <p:sp>
        <p:nvSpPr>
          <p:cNvPr id="20" name="Shape 17"/>
          <p:cNvSpPr/>
          <p:nvPr/>
        </p:nvSpPr>
        <p:spPr>
          <a:xfrm>
            <a:off x="4434840" y="4572000"/>
            <a:ext cx="1371600" cy="347472"/>
          </a:xfrm>
          <a:prstGeom prst="roundRect">
            <a:avLst>
              <a:gd name="adj" fmla="val 50000"/>
            </a:avLst>
          </a:prstGeom>
          <a:solidFill>
            <a:srgbClr val="FCEAE4"/>
          </a:solidFill>
          <a:ln w="9525">
            <a:solidFill>
              <a:srgbClr val="FCEAE4"/>
            </a:solidFill>
            <a:prstDash val="solid"/>
          </a:ln>
        </p:spPr>
      </p:sp>
      <p:sp>
        <p:nvSpPr>
          <p:cNvPr id="21" name="Text 18"/>
          <p:cNvSpPr txBox="1"/>
          <p:nvPr/>
        </p:nvSpPr>
        <p:spPr>
          <a:xfrm>
            <a:off x="4434840" y="457200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C8431F"/>
                </a:solidFill>
                <a:latin typeface="Vazirmatn" pitchFamily="34" charset="0"/>
                <a:ea typeface="Vazirmatn" pitchFamily="34" charset="-122"/>
                <a:cs typeface="Vazirmatn" pitchFamily="34" charset="-120"/>
              </a:rPr>
              <a:t>پیشنهادی</a:t>
            </a:r>
            <a:endParaRPr lang="en-US" sz="1150" dirty="0"/>
          </a:p>
        </p:txBody>
      </p:sp>
      <p:sp>
        <p:nvSpPr>
          <p:cNvPr id="22" name="Text 19"/>
          <p:cNvSpPr txBox="1"/>
          <p:nvPr/>
        </p:nvSpPr>
        <p:spPr>
          <a:xfrm>
            <a:off x="731520" y="500176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ServiceStaking (قفل سورن برای دسترسی به سرویس‌ها)؛ Zether (محرمانگی مبلغ در سطح قرارداد)</a:t>
            </a:r>
            <a:endParaRPr lang="en-US" sz="1250" dirty="0"/>
          </a:p>
        </p:txBody>
      </p:sp>
      <p:sp>
        <p:nvSpPr>
          <p:cNvPr id="23" name="Text 20"/>
          <p:cNvSpPr txBox="1"/>
          <p:nvPr/>
        </p:nvSpPr>
        <p:spPr>
          <a:xfrm>
            <a:off x="548640" y="5943600"/>
            <a:ext cx="5440680" cy="45720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سور محرمانگی در سطح پروتکل نمی‌سازد: قابلیت Tessera خود Besu منسوخ اعلام شده است.</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نرم‌افزارهای آف‌چین طرح و وضعیت مستندات آن‌ها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sp>
        <p:nvSpPr>
          <p:cNvPr id="6" name="Shape 4"/>
          <p:cNvSpPr/>
          <p:nvPr/>
        </p:nvSpPr>
        <p:spPr>
          <a:xfrm>
            <a:off x="9006840" y="1371600"/>
            <a:ext cx="2636444" cy="1371600"/>
          </a:xfrm>
          <a:prstGeom prst="roundRect">
            <a:avLst>
              <a:gd name="adj" fmla="val 8000"/>
            </a:avLst>
          </a:prstGeom>
          <a:solidFill>
            <a:srgbClr val="EEF0FB"/>
          </a:solidFill>
          <a:ln w="9525">
            <a:solidFill>
              <a:srgbClr val="EEF0FB"/>
            </a:solidFill>
            <a:prstDash val="solid"/>
          </a:ln>
        </p:spPr>
      </p:sp>
      <p:sp>
        <p:nvSpPr>
          <p:cNvPr id="7" name="Text 5"/>
          <p:cNvSpPr txBox="1"/>
          <p:nvPr/>
        </p:nvSpPr>
        <p:spPr>
          <a:xfrm>
            <a:off x="91165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RewardRouter</a:t>
            </a:r>
            <a:endParaRPr lang="en-US" sz="1300" dirty="0"/>
          </a:p>
        </p:txBody>
      </p:sp>
      <p:sp>
        <p:nvSpPr>
          <p:cNvPr id="8" name="Text 6"/>
          <p:cNvSpPr txBox="1"/>
          <p:nvPr/>
        </p:nvSpPr>
        <p:spPr>
          <a:xfrm>
            <a:off x="91165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محاسبه و ارسال توزیع پاداش هر ۲۳ ساعت</a:t>
            </a:r>
            <a:endParaRPr lang="en-US" sz="1100" dirty="0"/>
          </a:p>
        </p:txBody>
      </p:sp>
      <p:sp>
        <p:nvSpPr>
          <p:cNvPr id="9" name="Text 7"/>
          <p:cNvSpPr txBox="1"/>
          <p:nvPr/>
        </p:nvSpPr>
        <p:spPr>
          <a:xfrm>
            <a:off x="91165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distributionOracle</a:t>
            </a:r>
            <a:endParaRPr lang="en-US" sz="1000" dirty="0"/>
          </a:p>
        </p:txBody>
      </p:sp>
      <p:sp>
        <p:nvSpPr>
          <p:cNvPr id="10" name="Text 8"/>
          <p:cNvSpPr txBox="1"/>
          <p:nvPr/>
        </p:nvSpPr>
        <p:spPr>
          <a:xfrm>
            <a:off x="91165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و آزمون باز</a:t>
            </a:r>
            <a:endParaRPr lang="en-US" sz="1000" dirty="0"/>
          </a:p>
        </p:txBody>
      </p:sp>
      <p:sp>
        <p:nvSpPr>
          <p:cNvPr id="11" name="Shape 9"/>
          <p:cNvSpPr/>
          <p:nvPr/>
        </p:nvSpPr>
        <p:spPr>
          <a:xfrm>
            <a:off x="6186830" y="1371600"/>
            <a:ext cx="2636444" cy="1371600"/>
          </a:xfrm>
          <a:prstGeom prst="roundRect">
            <a:avLst>
              <a:gd name="adj" fmla="val 8000"/>
            </a:avLst>
          </a:prstGeom>
          <a:solidFill>
            <a:srgbClr val="EEF0FB"/>
          </a:solidFill>
          <a:ln w="9525">
            <a:solidFill>
              <a:srgbClr val="EEF0FB"/>
            </a:solidFill>
            <a:prstDash val="solid"/>
          </a:ln>
        </p:spPr>
      </p:sp>
      <p:sp>
        <p:nvSpPr>
          <p:cNvPr id="12" name="Text 10"/>
          <p:cNvSpPr txBox="1"/>
          <p:nvPr/>
        </p:nvSpPr>
        <p:spPr>
          <a:xfrm>
            <a:off x="629655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Verifier</a:t>
            </a:r>
            <a:endParaRPr lang="en-US" sz="1300" dirty="0"/>
          </a:p>
        </p:txBody>
      </p:sp>
      <p:sp>
        <p:nvSpPr>
          <p:cNvPr id="13" name="Text 11"/>
          <p:cNvSpPr txBox="1"/>
          <p:nvPr/>
        </p:nvSpPr>
        <p:spPr>
          <a:xfrm>
            <a:off x="629655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پایش ساعتی و ثبت تصمیم‌های وضعیت ولیدیتور</a:t>
            </a:r>
            <a:endParaRPr lang="en-US" sz="1100" dirty="0"/>
          </a:p>
        </p:txBody>
      </p:sp>
      <p:sp>
        <p:nvSpPr>
          <p:cNvPr id="14" name="Text 12"/>
          <p:cNvSpPr txBox="1"/>
          <p:nvPr/>
        </p:nvSpPr>
        <p:spPr>
          <a:xfrm>
            <a:off x="629655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verifier</a:t>
            </a:r>
            <a:endParaRPr lang="en-US" sz="1000" dirty="0"/>
          </a:p>
        </p:txBody>
      </p:sp>
      <p:sp>
        <p:nvSpPr>
          <p:cNvPr id="15" name="Text 13"/>
          <p:cNvSpPr txBox="1"/>
          <p:nvPr/>
        </p:nvSpPr>
        <p:spPr>
          <a:xfrm>
            <a:off x="629655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16" name="Shape 14"/>
          <p:cNvSpPr/>
          <p:nvPr/>
        </p:nvSpPr>
        <p:spPr>
          <a:xfrm>
            <a:off x="3367735" y="1371600"/>
            <a:ext cx="2636444" cy="1371600"/>
          </a:xfrm>
          <a:prstGeom prst="roundRect">
            <a:avLst>
              <a:gd name="adj" fmla="val 8000"/>
            </a:avLst>
          </a:prstGeom>
          <a:solidFill>
            <a:srgbClr val="EEF0FB"/>
          </a:solidFill>
          <a:ln w="9525">
            <a:solidFill>
              <a:srgbClr val="EEF0FB"/>
            </a:solidFill>
            <a:prstDash val="solid"/>
          </a:ln>
        </p:spPr>
      </p:sp>
      <p:sp>
        <p:nvSpPr>
          <p:cNvPr id="17" name="Text 15"/>
          <p:cNvSpPr txBox="1"/>
          <p:nvPr/>
        </p:nvSpPr>
        <p:spPr>
          <a:xfrm>
            <a:off x="3477463"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Identity Service</a:t>
            </a:r>
            <a:endParaRPr lang="en-US" sz="1300" dirty="0"/>
          </a:p>
        </p:txBody>
      </p:sp>
      <p:sp>
        <p:nvSpPr>
          <p:cNvPr id="18" name="Text 16"/>
          <p:cNvSpPr txBox="1"/>
          <p:nvPr/>
        </p:nvSpPr>
        <p:spPr>
          <a:xfrm>
            <a:off x="3477463"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وریفای موبایل و تلگرام و KYC اختیاری</a:t>
            </a:r>
            <a:endParaRPr lang="en-US" sz="1100" dirty="0"/>
          </a:p>
        </p:txBody>
      </p:sp>
      <p:sp>
        <p:nvSpPr>
          <p:cNvPr id="19" name="Text 17"/>
          <p:cNvSpPr txBox="1"/>
          <p:nvPr/>
        </p:nvSpPr>
        <p:spPr>
          <a:xfrm>
            <a:off x="3477463"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identityOracle</a:t>
            </a:r>
            <a:endParaRPr lang="en-US" sz="1000" dirty="0"/>
          </a:p>
        </p:txBody>
      </p:sp>
      <p:sp>
        <p:nvSpPr>
          <p:cNvPr id="20" name="Text 18"/>
          <p:cNvSpPr txBox="1"/>
          <p:nvPr/>
        </p:nvSpPr>
        <p:spPr>
          <a:xfrm>
            <a:off x="3477463"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1" name="Shape 19"/>
          <p:cNvSpPr/>
          <p:nvPr/>
        </p:nvSpPr>
        <p:spPr>
          <a:xfrm>
            <a:off x="548640" y="1371600"/>
            <a:ext cx="2636444" cy="1371600"/>
          </a:xfrm>
          <a:prstGeom prst="roundRect">
            <a:avLst>
              <a:gd name="adj" fmla="val 8000"/>
            </a:avLst>
          </a:prstGeom>
          <a:solidFill>
            <a:srgbClr val="EEF0FB"/>
          </a:solidFill>
          <a:ln w="9525">
            <a:solidFill>
              <a:srgbClr val="EEF0FB"/>
            </a:solidFill>
            <a:prstDash val="solid"/>
          </a:ln>
        </p:spPr>
      </p:sp>
      <p:sp>
        <p:nvSpPr>
          <p:cNvPr id="22" name="Text 20"/>
          <p:cNvSpPr txBox="1"/>
          <p:nvPr/>
        </p:nvSpPr>
        <p:spPr>
          <a:xfrm>
            <a:off x="6583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PaymentReporter</a:t>
            </a:r>
            <a:endParaRPr lang="en-US" sz="1300" dirty="0"/>
          </a:p>
        </p:txBody>
      </p:sp>
      <p:sp>
        <p:nvSpPr>
          <p:cNvPr id="23" name="Text 21"/>
          <p:cNvSpPr txBox="1"/>
          <p:nvPr/>
        </p:nvSpPr>
        <p:spPr>
          <a:xfrm>
            <a:off x="6583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گزارش پرداخت تومانی به SurenSale</a:t>
            </a:r>
            <a:endParaRPr lang="en-US" sz="1100" dirty="0"/>
          </a:p>
        </p:txBody>
      </p:sp>
      <p:sp>
        <p:nvSpPr>
          <p:cNvPr id="24" name="Text 22"/>
          <p:cNvSpPr txBox="1"/>
          <p:nvPr/>
        </p:nvSpPr>
        <p:spPr>
          <a:xfrm>
            <a:off x="6583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paymentOracle</a:t>
            </a:r>
            <a:endParaRPr lang="en-US" sz="1000" dirty="0"/>
          </a:p>
        </p:txBody>
      </p:sp>
      <p:sp>
        <p:nvSpPr>
          <p:cNvPr id="25" name="Text 23"/>
          <p:cNvSpPr txBox="1"/>
          <p:nvPr/>
        </p:nvSpPr>
        <p:spPr>
          <a:xfrm>
            <a:off x="6583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6" name="Shape 24"/>
          <p:cNvSpPr/>
          <p:nvPr/>
        </p:nvSpPr>
        <p:spPr>
          <a:xfrm>
            <a:off x="9006840" y="2889504"/>
            <a:ext cx="2636444" cy="1371600"/>
          </a:xfrm>
          <a:prstGeom prst="roundRect">
            <a:avLst>
              <a:gd name="adj" fmla="val 8000"/>
            </a:avLst>
          </a:prstGeom>
          <a:solidFill>
            <a:srgbClr val="F7F9FC"/>
          </a:solidFill>
          <a:ln w="9525">
            <a:solidFill>
              <a:srgbClr val="DDE1EE"/>
            </a:solidFill>
            <a:prstDash val="solid"/>
          </a:ln>
        </p:spPr>
      </p:sp>
      <p:sp>
        <p:nvSpPr>
          <p:cNvPr id="27" name="Text 25"/>
          <p:cNvSpPr txBox="1"/>
          <p:nvPr/>
        </p:nvSpPr>
        <p:spPr>
          <a:xfrm>
            <a:off x="91165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ساخت genesis</a:t>
            </a:r>
            <a:endParaRPr lang="en-US" sz="1300" dirty="0"/>
          </a:p>
        </p:txBody>
      </p:sp>
      <p:sp>
        <p:nvSpPr>
          <p:cNvPr id="28" name="Text 26"/>
          <p:cNvSpPr txBox="1"/>
          <p:nvPr/>
        </p:nvSpPr>
        <p:spPr>
          <a:xfrm>
            <a:off x="91165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استخراج کد و storage شش قرارداد و ساخت genesis.json</a:t>
            </a:r>
            <a:endParaRPr lang="en-US" sz="1100" dirty="0"/>
          </a:p>
        </p:txBody>
      </p:sp>
      <p:sp>
        <p:nvSpPr>
          <p:cNvPr id="29" name="Text 27"/>
          <p:cNvSpPr txBox="1"/>
          <p:nvPr/>
        </p:nvSpPr>
        <p:spPr>
          <a:xfrm>
            <a:off x="91165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30" name="Text 28"/>
          <p:cNvSpPr txBox="1"/>
          <p:nvPr/>
        </p:nvSpPr>
        <p:spPr>
          <a:xfrm>
            <a:off x="91165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31" name="Shape 29"/>
          <p:cNvSpPr/>
          <p:nvPr/>
        </p:nvSpPr>
        <p:spPr>
          <a:xfrm>
            <a:off x="6186830" y="2889504"/>
            <a:ext cx="2636444" cy="1371600"/>
          </a:xfrm>
          <a:prstGeom prst="roundRect">
            <a:avLst>
              <a:gd name="adj" fmla="val 8000"/>
            </a:avLst>
          </a:prstGeom>
          <a:solidFill>
            <a:srgbClr val="F7F9FC"/>
          </a:solidFill>
          <a:ln w="9525">
            <a:solidFill>
              <a:srgbClr val="DDE1EE"/>
            </a:solidFill>
            <a:prstDash val="solid"/>
          </a:ln>
        </p:spPr>
      </p:sp>
      <p:sp>
        <p:nvSpPr>
          <p:cNvPr id="32" name="Text 30"/>
          <p:cNvSpPr txBox="1"/>
          <p:nvPr/>
        </p:nvSpPr>
        <p:spPr>
          <a:xfrm>
            <a:off x="629655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اپ ولیدیتور</a:t>
            </a:r>
            <a:endParaRPr lang="en-US" sz="1300" dirty="0"/>
          </a:p>
        </p:txBody>
      </p:sp>
      <p:sp>
        <p:nvSpPr>
          <p:cNvPr id="33" name="Text 31"/>
          <p:cNvSpPr txBox="1"/>
          <p:nvPr/>
        </p:nvSpPr>
        <p:spPr>
          <a:xfrm>
            <a:off x="629655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عضویت، خروج و برداشت وثیقه</a:t>
            </a:r>
            <a:endParaRPr lang="en-US" sz="1100" dirty="0"/>
          </a:p>
        </p:txBody>
      </p:sp>
      <p:sp>
        <p:nvSpPr>
          <p:cNvPr id="34" name="Text 32"/>
          <p:cNvSpPr txBox="1"/>
          <p:nvPr/>
        </p:nvSpPr>
        <p:spPr>
          <a:xfrm>
            <a:off x="629655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35" name="Text 33"/>
          <p:cNvSpPr txBox="1"/>
          <p:nvPr/>
        </p:nvSpPr>
        <p:spPr>
          <a:xfrm>
            <a:off x="629655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36" name="Shape 34"/>
          <p:cNvSpPr/>
          <p:nvPr/>
        </p:nvSpPr>
        <p:spPr>
          <a:xfrm>
            <a:off x="3367735" y="2889504"/>
            <a:ext cx="2636444" cy="1371600"/>
          </a:xfrm>
          <a:prstGeom prst="roundRect">
            <a:avLst>
              <a:gd name="adj" fmla="val 8000"/>
            </a:avLst>
          </a:prstGeom>
          <a:solidFill>
            <a:srgbClr val="F7F9FC"/>
          </a:solidFill>
          <a:ln w="9525">
            <a:solidFill>
              <a:srgbClr val="DDE1EE"/>
            </a:solidFill>
            <a:prstDash val="solid"/>
          </a:ln>
        </p:spPr>
      </p:sp>
      <p:sp>
        <p:nvSpPr>
          <p:cNvPr id="37" name="Text 35"/>
          <p:cNvSpPr txBox="1"/>
          <p:nvPr/>
        </p:nvSpPr>
        <p:spPr>
          <a:xfrm>
            <a:off x="3477463"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داشبورد حکمرانی</a:t>
            </a:r>
            <a:endParaRPr lang="en-US" sz="1300" dirty="0"/>
          </a:p>
        </p:txBody>
      </p:sp>
      <p:sp>
        <p:nvSpPr>
          <p:cNvPr id="38" name="Text 36"/>
          <p:cNvSpPr txBox="1"/>
          <p:nvPr/>
        </p:nvSpPr>
        <p:spPr>
          <a:xfrm>
            <a:off x="3477463"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رأی‌گیری بنیاد، هیأت، خزانه و پارامترها</a:t>
            </a:r>
            <a:endParaRPr lang="en-US" sz="1100" dirty="0"/>
          </a:p>
        </p:txBody>
      </p:sp>
      <p:sp>
        <p:nvSpPr>
          <p:cNvPr id="39" name="Text 37"/>
          <p:cNvSpPr txBox="1"/>
          <p:nvPr/>
        </p:nvSpPr>
        <p:spPr>
          <a:xfrm>
            <a:off x="3477463"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40" name="Text 38"/>
          <p:cNvSpPr txBox="1"/>
          <p:nvPr/>
        </p:nvSpPr>
        <p:spPr>
          <a:xfrm>
            <a:off x="3477463"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صفحه‌ی نرخ باز</a:t>
            </a:r>
            <a:endParaRPr lang="en-US" sz="1000" dirty="0"/>
          </a:p>
        </p:txBody>
      </p:sp>
      <p:sp>
        <p:nvSpPr>
          <p:cNvPr id="41" name="Shape 39"/>
          <p:cNvSpPr/>
          <p:nvPr/>
        </p:nvSpPr>
        <p:spPr>
          <a:xfrm>
            <a:off x="548640" y="2889504"/>
            <a:ext cx="2636444" cy="1371600"/>
          </a:xfrm>
          <a:prstGeom prst="roundRect">
            <a:avLst>
              <a:gd name="adj" fmla="val 8000"/>
            </a:avLst>
          </a:prstGeom>
          <a:solidFill>
            <a:srgbClr val="F7F9FC"/>
          </a:solidFill>
          <a:ln w="9525">
            <a:solidFill>
              <a:srgbClr val="DDE1EE"/>
            </a:solidFill>
            <a:prstDash val="solid"/>
          </a:ln>
        </p:spPr>
      </p:sp>
      <p:sp>
        <p:nvSpPr>
          <p:cNvPr id="42" name="Text 40"/>
          <p:cNvSpPr txBox="1"/>
          <p:nvPr/>
        </p:nvSpPr>
        <p:spPr>
          <a:xfrm>
            <a:off x="6583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پرتال فروش</a:t>
            </a:r>
            <a:endParaRPr lang="en-US" sz="1300" dirty="0"/>
          </a:p>
        </p:txBody>
      </p:sp>
      <p:sp>
        <p:nvSpPr>
          <p:cNvPr id="43" name="Text 41"/>
          <p:cNvSpPr txBox="1"/>
          <p:nvPr/>
        </p:nvSpPr>
        <p:spPr>
          <a:xfrm>
            <a:off x="6583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آمار زنده و خرید سورن</a:t>
            </a:r>
            <a:endParaRPr lang="en-US" sz="1100" dirty="0"/>
          </a:p>
        </p:txBody>
      </p:sp>
      <p:sp>
        <p:nvSpPr>
          <p:cNvPr id="44" name="Text 42"/>
          <p:cNvSpPr txBox="1"/>
          <p:nvPr/>
        </p:nvSpPr>
        <p:spPr>
          <a:xfrm>
            <a:off x="6583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45" name="Text 43"/>
          <p:cNvSpPr txBox="1"/>
          <p:nvPr/>
        </p:nvSpPr>
        <p:spPr>
          <a:xfrm>
            <a:off x="6583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46" name="Shape 44"/>
          <p:cNvSpPr/>
          <p:nvPr/>
        </p:nvSpPr>
        <p:spPr>
          <a:xfrm>
            <a:off x="9006840" y="4407408"/>
            <a:ext cx="2636444" cy="1371600"/>
          </a:xfrm>
          <a:prstGeom prst="roundRect">
            <a:avLst>
              <a:gd name="adj" fmla="val 8000"/>
            </a:avLst>
          </a:prstGeom>
          <a:solidFill>
            <a:srgbClr val="F7F9FC"/>
          </a:solidFill>
          <a:ln w="9525">
            <a:solidFill>
              <a:srgbClr val="DDE1EE"/>
            </a:solidFill>
            <a:prstDash val="solid"/>
          </a:ln>
        </p:spPr>
      </p:sp>
      <p:sp>
        <p:nvSpPr>
          <p:cNvPr id="47" name="Text 45"/>
          <p:cNvSpPr txBox="1"/>
          <p:nvPr/>
        </p:nvSpPr>
        <p:spPr>
          <a:xfrm>
            <a:off x="911656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Blockscout</a:t>
            </a:r>
            <a:endParaRPr lang="en-US" sz="1300" dirty="0"/>
          </a:p>
        </p:txBody>
      </p:sp>
      <p:sp>
        <p:nvSpPr>
          <p:cNvPr id="48" name="Text 46"/>
          <p:cNvSpPr txBox="1"/>
          <p:nvPr/>
        </p:nvSpPr>
        <p:spPr>
          <a:xfrm>
            <a:off x="911656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مرورگر بلاک عمومی</a:t>
            </a:r>
            <a:endParaRPr lang="en-US" sz="1100" dirty="0"/>
          </a:p>
        </p:txBody>
      </p:sp>
      <p:sp>
        <p:nvSpPr>
          <p:cNvPr id="49" name="Text 47"/>
          <p:cNvSpPr txBox="1"/>
          <p:nvPr/>
        </p:nvSpPr>
        <p:spPr>
          <a:xfrm>
            <a:off x="911656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50" name="Text 48"/>
          <p:cNvSpPr txBox="1"/>
          <p:nvPr/>
        </p:nvSpPr>
        <p:spPr>
          <a:xfrm>
            <a:off x="911656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پیکربندی، نه توسعه</a:t>
            </a:r>
            <a:endParaRPr lang="en-US" sz="1000" dirty="0"/>
          </a:p>
        </p:txBody>
      </p:sp>
      <p:sp>
        <p:nvSpPr>
          <p:cNvPr id="51" name="Shape 49"/>
          <p:cNvSpPr/>
          <p:nvPr/>
        </p:nvSpPr>
        <p:spPr>
          <a:xfrm>
            <a:off x="6186830" y="4407408"/>
            <a:ext cx="2636444" cy="1371600"/>
          </a:xfrm>
          <a:prstGeom prst="roundRect">
            <a:avLst>
              <a:gd name="adj" fmla="val 8000"/>
            </a:avLst>
          </a:prstGeom>
          <a:solidFill>
            <a:srgbClr val="F7F9FC"/>
          </a:solidFill>
          <a:ln w="9525">
            <a:solidFill>
              <a:srgbClr val="DDE1EE"/>
            </a:solidFill>
            <a:prstDash val="solid"/>
          </a:ln>
        </p:spPr>
      </p:sp>
      <p:sp>
        <p:nvSpPr>
          <p:cNvPr id="52" name="Text 50"/>
          <p:cNvSpPr txBox="1"/>
          <p:nvPr/>
        </p:nvSpPr>
        <p:spPr>
          <a:xfrm>
            <a:off x="629655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بازیابی اضطراری</a:t>
            </a:r>
            <a:endParaRPr lang="en-US" sz="1300" dirty="0"/>
          </a:p>
        </p:txBody>
      </p:sp>
      <p:sp>
        <p:nvSpPr>
          <p:cNvPr id="53" name="Text 51"/>
          <p:cNvSpPr txBox="1"/>
          <p:nvPr/>
        </p:nvSpPr>
        <p:spPr>
          <a:xfrm>
            <a:off x="629655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ساخت و امضای برنامه‌ی بازیابی اجماع</a:t>
            </a:r>
            <a:endParaRPr lang="en-US" sz="1100" dirty="0"/>
          </a:p>
        </p:txBody>
      </p:sp>
      <p:sp>
        <p:nvSpPr>
          <p:cNvPr id="54" name="Text 52"/>
          <p:cNvSpPr txBox="1"/>
          <p:nvPr/>
        </p:nvSpPr>
        <p:spPr>
          <a:xfrm>
            <a:off x="629655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امضای ۵ از ۷</a:t>
            </a:r>
            <a:endParaRPr lang="en-US" sz="1000" dirty="0"/>
          </a:p>
        </p:txBody>
      </p:sp>
      <p:sp>
        <p:nvSpPr>
          <p:cNvPr id="55" name="Text 53"/>
          <p:cNvSpPr txBox="1"/>
          <p:nvPr/>
        </p:nvSpPr>
        <p:spPr>
          <a:xfrm>
            <a:off x="629655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56" name="Shape 54"/>
          <p:cNvSpPr/>
          <p:nvPr/>
        </p:nvSpPr>
        <p:spPr>
          <a:xfrm>
            <a:off x="3367735" y="4407408"/>
            <a:ext cx="2636444" cy="1371600"/>
          </a:xfrm>
          <a:prstGeom prst="roundRect">
            <a:avLst>
              <a:gd name="adj" fmla="val 8000"/>
            </a:avLst>
          </a:prstGeom>
          <a:solidFill>
            <a:srgbClr val="F7F9FC"/>
          </a:solidFill>
          <a:ln w="9525">
            <a:solidFill>
              <a:srgbClr val="DDE1EE"/>
            </a:solidFill>
            <a:prstDash val="solid"/>
          </a:ln>
        </p:spPr>
      </p:sp>
      <p:sp>
        <p:nvSpPr>
          <p:cNvPr id="57" name="Text 55"/>
          <p:cNvSpPr txBox="1"/>
          <p:nvPr/>
        </p:nvSpPr>
        <p:spPr>
          <a:xfrm>
            <a:off x="3477463"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سرویس همراه نود</a:t>
            </a:r>
            <a:endParaRPr lang="en-US" sz="1300" dirty="0"/>
          </a:p>
        </p:txBody>
      </p:sp>
      <p:sp>
        <p:nvSpPr>
          <p:cNvPr id="58" name="Text 56"/>
          <p:cNvSpPr txBox="1"/>
          <p:nvPr/>
        </p:nvSpPr>
        <p:spPr>
          <a:xfrm>
            <a:off x="3477463"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بررسی دوره‌ی آزمایشی نود جدید (SUR_NODE_CHECK_V1)</a:t>
            </a:r>
            <a:endParaRPr lang="en-US" sz="1100" dirty="0"/>
          </a:p>
        </p:txBody>
      </p:sp>
      <p:sp>
        <p:nvSpPr>
          <p:cNvPr id="59" name="Text 57"/>
          <p:cNvSpPr txBox="1"/>
          <p:nvPr/>
        </p:nvSpPr>
        <p:spPr>
          <a:xfrm>
            <a:off x="3477463"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پایش جدا</a:t>
            </a:r>
            <a:endParaRPr lang="en-US" sz="1000" dirty="0"/>
          </a:p>
        </p:txBody>
      </p:sp>
      <p:sp>
        <p:nvSpPr>
          <p:cNvPr id="60" name="Text 58"/>
          <p:cNvSpPr txBox="1"/>
          <p:nvPr/>
        </p:nvSpPr>
        <p:spPr>
          <a:xfrm>
            <a:off x="3477463"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61" name="Text 59"/>
          <p:cNvSpPr txBox="1"/>
          <p:nvPr/>
        </p:nvSpPr>
        <p:spPr>
          <a:xfrm>
            <a:off x="548640" y="5989320"/>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سرویس دارای کلید (پس‌زمینه‌ی رنگی)، هرکدام با کلید جدا در گاوصندوق کلید (HashiCorp Vault). «مشخصات کامل» یعنی طراحی تفصیلی نوشته شده است؛ وضعیت کد این سرویس‌ها در این ارائه ادعا نمی‌شود.</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بازیابی اضطراری اجماع: فقط وقتی احیای مجموعه ممکن نیست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Shape 4"/>
          <p:cNvSpPr/>
          <p:nvPr/>
        </p:nvSpPr>
        <p:spPr>
          <a:xfrm>
            <a:off x="8078724" y="1417320"/>
            <a:ext cx="3564026" cy="3246120"/>
          </a:xfrm>
          <a:prstGeom prst="roundRect">
            <a:avLst>
              <a:gd name="adj" fmla="val 338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۱: احیای مجموعه‌ی موجود</a:t>
            </a:r>
            <a:endParaRPr lang="en-US" sz="1450" dirty="0"/>
          </a:p>
        </p:txBody>
      </p:sp>
      <p:sp>
        <p:nvSpPr>
          <p:cNvPr id="10" name="Text 7"/>
          <p:cNvSpPr txBox="1"/>
          <p:nvPr/>
        </p:nvSpPr>
        <p:spPr>
          <a:xfrm>
            <a:off x="8261604"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تشخیص علت و راه‌اندازی هم‌زمان همه‌ی ولیدیتورها. عبور به مرحله‌ی بعد فقط با رکورد منتشرشده‌ی «احیا ممکن نیست» شامل خط زمانی، تلاش‌ها، وضعیت هر ولیدیتور مفقود و محاسبه‌ی نصاب.</a:t>
            </a:r>
            <a:endParaRPr lang="en-US" sz="1300" dirty="0"/>
          </a:p>
        </p:txBody>
      </p:sp>
      <p:sp>
        <p:nvSpPr>
          <p:cNvPr id="11" name="Shape 8"/>
          <p:cNvSpPr/>
          <p:nvPr/>
        </p:nvSpPr>
        <p:spPr>
          <a:xfrm flipH="1">
            <a:off x="7895844" y="3200400"/>
            <a:ext cx="164592" cy="0"/>
          </a:xfrm>
          <a:prstGeom prst="line">
            <a:avLst/>
          </a:prstGeom>
          <a:noFill/>
          <a:ln w="25400">
            <a:solidFill>
              <a:srgbClr val="2F3690"/>
            </a:solidFill>
            <a:prstDash val="solid"/>
            <a:tailEnd type="triangle"/>
          </a:ln>
        </p:spPr>
      </p:sp>
      <p:sp>
        <p:nvSpPr>
          <p:cNvPr id="12" name="Shape 9"/>
          <p:cNvSpPr/>
          <p:nvPr/>
        </p:nvSpPr>
        <p:spPr>
          <a:xfrm>
            <a:off x="4314139" y="1417320"/>
            <a:ext cx="3564026" cy="3246120"/>
          </a:xfrm>
          <a:prstGeom prst="roundRect">
            <a:avLst>
              <a:gd name="adj" fmla="val 3380"/>
            </a:avLst>
          </a:prstGeom>
          <a:solidFill>
            <a:srgbClr val="F7F9FC"/>
          </a:solidFill>
          <a:ln w="9525">
            <a:solidFill>
              <a:srgbClr val="DDE1EE"/>
            </a:solidFill>
            <a:prstDash val="solid"/>
          </a:ln>
        </p:spPr>
      </p:sp>
      <p:sp>
        <p:nvSpPr>
          <p:cNvPr id="13" name="Shape 10"/>
          <p:cNvSpPr/>
          <p:nvPr/>
        </p:nvSpPr>
        <p:spPr>
          <a:xfrm>
            <a:off x="7192366" y="1600200"/>
            <a:ext cx="502920" cy="50292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5" name="Text 11"/>
          <p:cNvSpPr txBox="1"/>
          <p:nvPr/>
        </p:nvSpPr>
        <p:spPr>
          <a:xfrm>
            <a:off x="4497019"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۲: تأیید ۵ از ۷ مسئول مستقل</a:t>
            </a:r>
            <a:endParaRPr lang="en-US" sz="1450" dirty="0"/>
          </a:p>
        </p:txBody>
      </p:sp>
      <p:sp>
        <p:nvSpPr>
          <p:cNvPr id="16" name="Text 12"/>
          <p:cNvSpPr txBox="1"/>
          <p:nvPr/>
        </p:nvSpPr>
        <p:spPr>
          <a:xfrm>
            <a:off x="4497019"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هفت مسئول از پیش معرفی‌شده؛ هیچ شخص یا سازمانی اکثریت کلیدها را ندارد. برنامه فقط چند فیلد مجاز دارد و اختیارش فقط بازیابی اجماع است، نه جابه‌جایی دارایی یا بخشش جریمه.</a:t>
            </a:r>
            <a:endParaRPr lang="en-US" sz="1300" dirty="0"/>
          </a:p>
        </p:txBody>
      </p:sp>
      <p:sp>
        <p:nvSpPr>
          <p:cNvPr id="17" name="Shape 13"/>
          <p:cNvSpPr/>
          <p:nvPr/>
        </p:nvSpPr>
        <p:spPr>
          <a:xfrm flipH="1">
            <a:off x="4131259" y="3200400"/>
            <a:ext cx="164592" cy="0"/>
          </a:xfrm>
          <a:prstGeom prst="line">
            <a:avLst/>
          </a:prstGeom>
          <a:noFill/>
          <a:ln w="25400">
            <a:solidFill>
              <a:srgbClr val="2F3690"/>
            </a:solidFill>
            <a:prstDash val="solid"/>
            <a:tailEnd type="triangle"/>
          </a:ln>
        </p:spPr>
      </p:sp>
      <p:sp>
        <p:nvSpPr>
          <p:cNvPr id="18" name="Shape 14"/>
          <p:cNvSpPr/>
          <p:nvPr/>
        </p:nvSpPr>
        <p:spPr>
          <a:xfrm>
            <a:off x="548640" y="1417320"/>
            <a:ext cx="3564026" cy="3246120"/>
          </a:xfrm>
          <a:prstGeom prst="roundRect">
            <a:avLst>
              <a:gd name="adj" fmla="val 3380"/>
            </a:avLst>
          </a:prstGeom>
          <a:solidFill>
            <a:srgbClr val="F7F9FC"/>
          </a:solidFill>
          <a:ln w="9525">
            <a:solidFill>
              <a:srgbClr val="DDE1EE"/>
            </a:solidFill>
            <a:prstDash val="solid"/>
          </a:ln>
        </p:spPr>
      </p:sp>
      <p:sp>
        <p:nvSpPr>
          <p:cNvPr id="19" name="Shape 15"/>
          <p:cNvSpPr/>
          <p:nvPr/>
        </p:nvSpPr>
        <p:spPr>
          <a:xfrm>
            <a:off x="3426866" y="1600200"/>
            <a:ext cx="502920" cy="50292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21" name="Text 16"/>
          <p:cNvSpPr txBox="1"/>
          <p:nvPr/>
        </p:nvSpPr>
        <p:spPr>
          <a:xfrm>
            <a:off x="731520"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۳: انتشار و اعمال هماهنگ</a:t>
            </a:r>
            <a:endParaRPr lang="en-US" sz="1450" dirty="0"/>
          </a:p>
        </p:txBody>
      </p:sp>
      <p:sp>
        <p:nvSpPr>
          <p:cNvPr id="22" name="Text 17"/>
          <p:cNvSpPr txBox="1"/>
          <p:nvPr/>
        </p:nvSpPr>
        <p:spPr>
          <a:xfrm>
            <a:off x="731520"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در یک بلاک آینده، پیکربندی Besu (transitions.qbft) فهرست ولیدیتورها را موقتاً از قرارداد به یک فهرست صریح در سرتیتر بلاک (blockheader) می‌برد و سپس دوباره به قرارداد ValidatorsRegistry برمی‌گرداند؛ همه‌ی نودها پیش از بلاک گذار بالا هستند.</a:t>
            </a:r>
            <a:endParaRPr lang="en-US" sz="1300" dirty="0"/>
          </a:p>
        </p:txBody>
      </p:sp>
      <p:sp>
        <p:nvSpPr>
          <p:cNvPr id="23" name="Shape 18"/>
          <p:cNvSpPr/>
          <p:nvPr/>
        </p:nvSpPr>
        <p:spPr>
          <a:xfrm>
            <a:off x="548640" y="4937760"/>
            <a:ext cx="11094415" cy="1188720"/>
          </a:xfrm>
          <a:prstGeom prst="roundRect">
            <a:avLst>
              <a:gd name="adj" fmla="val 9231"/>
            </a:avLst>
          </a:prstGeom>
          <a:solidFill>
            <a:srgbClr val="EEF0FB"/>
          </a:solidFill>
          <a:ln w="9525">
            <a:solidFill>
              <a:srgbClr val="EEF0FB"/>
            </a:solidFill>
            <a:prstDash val="solid"/>
          </a:ln>
        </p:spPr>
      </p:sp>
      <p:sp>
        <p:nvSpPr>
          <p:cNvPr id="24" name="Text 19"/>
          <p:cNvSpPr txBox="1"/>
          <p:nvPr/>
        </p:nvSpPr>
        <p:spPr>
          <a:xfrm>
            <a:off x="822960" y="4937760"/>
            <a:ext cx="10545775" cy="11887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وضعیت آزمون: </a:t>
            </a:r>
            <a:pPr rtl="1" algn="r" indent="0" marL="0">
              <a:lnSpc>
                <a:spcPct val="105000"/>
              </a:lnSpc>
              <a:buNone/>
            </a:pPr>
            <a:r>
              <a:rPr lang="fa-IR" altLang="en-US" sz="1400" dirty="0">
                <a:solidFill>
                  <a:srgbClr val="1B1B2F"/>
                </a:solidFill>
                <a:latin typeface="Vazirmatn" pitchFamily="34" charset="0"/>
                <a:ea typeface="Vazirmatn" pitchFamily="34" charset="-122"/>
                <a:cs typeface="Vazirmatn" pitchFamily="34" charset="-120"/>
              </a:rPr>
              <a:t>روش فنی (احیای نودها و گذار transitions.qbft رفت‌وبرگشت) در سپتامبر ۲۰۲۶ روی Besu واقعی آزموده شد. فرایند سازمانی ۵ از ۷ و جایگزینی مجموعه‌ی ولیدیتوری واقعاً متفاوت آزموده نشده، و ابزار کمکی آف‌چین هنوز نوشته نشده است.</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 و مرزها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مدل اعتماد: آنچه قرارداد تضمین می‌کند و آنچه تضمین نمی‌کند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sp>
        <p:nvSpPr>
          <p:cNvPr id="6" name="Shape 4"/>
          <p:cNvSpPr/>
          <p:nvPr/>
        </p:nvSpPr>
        <p:spPr>
          <a:xfrm>
            <a:off x="6202375" y="1417320"/>
            <a:ext cx="5440680" cy="4846320"/>
          </a:xfrm>
          <a:prstGeom prst="roundRect">
            <a:avLst>
              <a:gd name="adj" fmla="val 2264"/>
            </a:avLst>
          </a:prstGeom>
          <a:solidFill>
            <a:srgbClr val="E3F4EC"/>
          </a:solidFill>
          <a:ln w="9525">
            <a:solidFill>
              <a:srgbClr val="E3F4EC"/>
            </a:solidFill>
            <a:prstDash val="solid"/>
          </a:ln>
        </p:spPr>
      </p:sp>
      <p:sp>
        <p:nvSpPr>
          <p:cNvPr id="7" name="Text 5"/>
          <p:cNvSpPr txBox="1"/>
          <p:nvPr/>
        </p:nvSpPr>
        <p:spPr>
          <a:xfrm>
            <a:off x="6385255"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F7A55"/>
                </a:solidFill>
                <a:latin typeface="Vazirmatn" pitchFamily="34" charset="0"/>
                <a:ea typeface="Vazirmatn" pitchFamily="34" charset="-122"/>
                <a:cs typeface="Vazirmatn" pitchFamily="34" charset="-120"/>
              </a:rPr>
              <a:t>قرارداد تضمین می‌کند</a:t>
            </a:r>
            <a:endParaRPr lang="en-US" sz="1600" dirty="0"/>
          </a:p>
        </p:txBody>
      </p:sp>
      <p:sp>
        <p:nvSpPr>
          <p:cNvPr id="8" name="Text 6"/>
          <p:cNvSpPr txBox="1"/>
          <p:nvPr/>
        </p:nvSpPr>
        <p:spPr>
          <a:xfrm>
            <a:off x="6385255"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پس از راه‌اندازی هیچ ادمین یا کلید مرکزی روی قراردادهای ولیدیتوری وجود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بنیاد هیچ مسیر کدی به Registry، Board و Treasury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سقف پاداش هر توزیع را قرارداد اعمال می‌کند؛ مسیر دورزدن اضطراری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واجدان رأی هنگام ساخت پیشنهاد ثابت می‌شوند و نسخه‌ی ترکیب هیأت در رأی و اجرا بررسی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خرج خزانه زیر دو سقف و تغییر سقف با تأخیر ۷ روزه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استحقاق پاداش تاریخی است و تکرار یا ترتیب نادرست آدرس‌ها رد می‌شود.</a:t>
            </a:r>
            <a:endParaRPr lang="en-US" sz="1300" dirty="0"/>
          </a:p>
        </p:txBody>
      </p:sp>
      <p:sp>
        <p:nvSpPr>
          <p:cNvPr id="9" name="Shape 7"/>
          <p:cNvSpPr/>
          <p:nvPr/>
        </p:nvSpPr>
        <p:spPr>
          <a:xfrm>
            <a:off x="548640" y="1417320"/>
            <a:ext cx="5440680" cy="4846320"/>
          </a:xfrm>
          <a:prstGeom prst="roundRect">
            <a:avLst>
              <a:gd name="adj" fmla="val 2264"/>
            </a:avLst>
          </a:prstGeom>
          <a:solidFill>
            <a:srgbClr val="FCEAE4"/>
          </a:solidFill>
          <a:ln w="9525">
            <a:solidFill>
              <a:srgbClr val="FCEAE4"/>
            </a:solidFill>
            <a:prstDash val="solid"/>
          </a:ln>
        </p:spPr>
      </p:sp>
      <p:sp>
        <p:nvSpPr>
          <p:cNvPr id="10" name="Text 8"/>
          <p:cNvSpPr txBox="1"/>
          <p:nvPr/>
        </p:nvSpPr>
        <p:spPr>
          <a:xfrm>
            <a:off x="731520"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C8431F"/>
                </a:solidFill>
                <a:latin typeface="Vazirmatn" pitchFamily="34" charset="0"/>
                <a:ea typeface="Vazirmatn" pitchFamily="34" charset="-122"/>
                <a:cs typeface="Vazirmatn" pitchFamily="34" charset="-120"/>
              </a:rPr>
              <a:t>تضمین نمی‌کند یا ریسک پذیرفته‌شده است</a:t>
            </a:r>
            <a:endParaRPr lang="en-US" sz="1600" dirty="0"/>
          </a:p>
        </p:txBody>
      </p:sp>
      <p:sp>
        <p:nvSpPr>
          <p:cNvPr id="11" name="Text 9"/>
          <p:cNvSpPr txBox="1"/>
          <p:nvPr/>
        </p:nvSpPr>
        <p:spPr>
          <a:xfrm>
            <a:off x="731520"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Verifier یکی است؛ خطای آن روی مجموعه‌ی اجماع اثر دارد. معافیت جمعی فقط جریمه‌ی مالی را متوقف می‌کند و مسیر اعتراض وجود 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انتساب بلاک به ولیدیتور و صحت کارمزد به RewardRouter متکی است؛ قرارداد آن‌ها را اثبات نمی‌کند.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برابری نرخ ثبت‌شده با نرخ واقعی Besu به هماهنگی اپراتورها وابسته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احراز محل نود با IP-geolocation با VPN قابل‌دورزدن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Validator Agreement فعلاً بند صلاحیت قضایی ندارد؛ خاموشی هماهنگ بیش از یک‌سوم فقط با ابزار حقوقی و اقتصادی بازدارندگی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 در تاریخ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7528255"/>
                <a:gridCol w="356616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جزء</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نوشته‌شده؛ ویژگی‌های سقف پاداش، حکمرانی نرخ، واجدان رأی، ترتیب آدرس‌ها، فاصله‌ی تغییر سهم و نسخه‌ی ترکیب هیأت در آزمون خودکار قراردادها (روی شبکه‌ی شبیه‌ساز Hardhat) تأیید شده‌اند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قراردادهای ساختاری و SurenSale</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نسخه‌ی فعلی کد هنوز روی Besu واقعی آزموده نشده است (برنامه‌ی آزمون نوشته شده، اجرا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آزمون روی Besu واقعی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اثبات on-chain و پیاده‌سازی آن باز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صحت کارمزد روی زنجیره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RewardRouter و ابزار genesis تولیدی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تولیدی تعیین نشده؛ هزینه‌ی توزیع باید با آن تطبیق داده شود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بررسی gasLimit عملیاتی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صفحه‌ی حکمرانی نرخ در داشبورد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989320"/>
            <a:ext cx="11094415" cy="32004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این جدول آمادگی production را اعلام نمی‌کند؛ نتیجه‌ی آزمون روی شبکه‌ی شبیه‌ساز جایگزین آزمون روی Besu واقعی نیست.</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مواردی که طرح هنوز تعیین نکرده است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685800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موضوع</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توافق کلی هست؛ رقم و فهرست نهایی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مبلغ کل و فهرست آدرس‌های ردیف ۲ genesis (جبران ولیدیتورهای شبکه‌ی قبلی)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شاهد مستقل لازم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ارزیابی مستقل اصل مبلغ بدهی ردیف 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تعیین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gasLimit تولیدی شبکه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 مسیر دورزدن اضطراری وجود ندارد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بدون مسیر رسمی روی زنجیره؛ هماهنگی خارج از قرارداد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بودجه‌ی کمپین بنیاد؛ نیاز برآوردی ۳۹ تا ۶۵ میلیون سورن در برابر ۲۰ میلیون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آزمایشی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آستانه‌ی معافیت جمعی (۲۰٪) و مهلت اختلاف تحویل (۷ روز)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طراحی یا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قرارداد ServiceStaking (فقط پیش‌نویس اولیه) و اجرای Zether</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تفکیک وظایف کمیته‌ی مالی و حسابرسی از خزانه‌دار و بازرس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4023360"/>
            <a:ext cx="4937760" cy="4937760"/>
          </a:xfrm>
          <a:prstGeom prst="ellipse">
            <a:avLst/>
          </a:prstGeom>
          <a:solidFill>
            <a:srgbClr val="3D46A8">
              <a:alpha val="45000"/>
            </a:srgbClr>
          </a:solidFill>
          <a:ln w="12700">
            <a:solidFill>
              <a:srgbClr val="3D46A8"/>
            </a:solidFill>
            <a:prstDash val="solid"/>
          </a:ln>
        </p:spPr>
      </p:sp>
      <p:sp>
        <p:nvSpPr>
          <p:cNvPr id="3" name="Text 1"/>
          <p:cNvSpPr txBox="1"/>
          <p:nvPr/>
        </p:nvSpPr>
        <p:spPr>
          <a:xfrm>
            <a:off x="5882335" y="822960"/>
            <a:ext cx="5486400" cy="73152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127455" y="1828800"/>
            <a:ext cx="10241280" cy="402336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سور یک شبکه‌ی QBFT عمومی روی Besu رسمی است؛ تقسیم پاداش و کارمزد در قرارداد انجام می‌شود، نه در نرم‌افزار زنجیره.</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حکمرانی میان بنیاد (توسعه و اکوسیستم) و مجمع ولیدیتورها (خود شبکه) جدا شده و این جدایی در کد اجرا می‌شود.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اقتصاد: ۲ سورن ثابت در هر بلاک، ۱۵٪ برای بنیاد، سهم ولیدیتورها و خزانه با رأی دومجلسی، و سوزاندن ۳۰٪ کارمزد.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ورود ولیدیتور با وثیقه‌ی نمایی و تأیید آف‌چین است، نه رأی ولیدیتورهای موجود؛ تعلیق و جریمه مسیر اعتراض و رأی دارد.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کارهای باز: آزمون Besu برای کد فعلی، RewardRouter و ابزار genesis تولیدی، سقف گاز بلاک (gasLimit) و مسیر رفع پاداش بیش از سقف.</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طرح فعلی (ارائه به هیأت‌مدیره‌ی بنیاد)</dc:title>
  <dc:subject>PptxGenJS Presentation</dc:subject>
  <dc:creator>بنیاد سور</dc:creator>
  <cp:lastModifiedBy>بنیاد سور</cp:lastModifiedBy>
  <cp:revision>1</cp:revision>
  <dcterms:created xsi:type="dcterms:W3CDTF">2026-10-03T15:07:21Z</dcterms:created>
  <dcterms:modified xsi:type="dcterms:W3CDTF">2026-10-03T15:07:21Z</dcterms:modified>
</cp:coreProperties>
</file>