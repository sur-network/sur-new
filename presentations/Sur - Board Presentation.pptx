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s/slide41.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5.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00" r:id="rId47"/>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عرضه‌ی کل (میلیون سورن)</c:v>
                </c:pt>
              </c:strCache>
            </c:strRef>
          </c:tx>
          <c:spPr>
            <a:solidFill>
              <a:srgbClr val="2F3690"/>
            </a:solidFill>
            <a:ln w="38100" cap="flat">
              <a:solidFill>
                <a:srgbClr val="2F3690"/>
              </a:solidFill>
              <a:prstDash val="solid"/>
              <a:round/>
            </a:ln>
            <a:effectLst/>
          </c:spPr>
          <c:invertIfNegative val="0"/>
          <c:dLbls>
            <c:numFmt formatCode="0.0" sourceLinked="0"/>
            <c:txPr>
              <a:bodyPr/>
              <a:lstStyle/>
              <a:p>
                <a:pPr>
                  <a:defRPr b="0" i="0" strike="noStrike" sz="1200" u="none">
                    <a:solidFill>
                      <a:srgbClr val="1B1B2F"/>
                    </a:solidFill>
                    <a:latin typeface="Vazirmatn"/>
                  </a:defRPr>
                </a:pPr>
              </a:p>
            </c:txPr>
            <c:dLblPos val="t"/>
            <c:showLegendKey val="0"/>
            <c:showVal val="1"/>
            <c:showCatName val="0"/>
            <c:showSerName val="0"/>
            <c:showPercent val="0"/>
            <c:showBubbleSize val="0"/>
            <c:showLeaderLines val="0"/>
          </c:dLbls>
          <c:marker>
            <c:symbol val="circle"/>
            <c:size val="9"/>
            <c:spPr>
              <a:solidFill>
                <a:srgbClr val="2F3690"/>
              </a:solidFill>
              <a:ln w="9525" cap="flat">
                <a:solidFill>
                  <a:srgbClr val="2F3690"/>
                </a:solidFill>
                <a:prstDash val="solid"/>
                <a:round/>
              </a:ln>
              <a:effectLst/>
            </c:spPr>
          </c:marker>
          <c:cat>
            <c:multiLvlStrRef>
              <c:f>Sheet1!$A$2:$A$8</c:f>
              <c:multiLvlStrCache>
                <c:ptCount val="7"/>
                <c:lvl>
                  <c:pt idx="0">
                    <c:v>genesis</c:v>
                  </c:pt>
                  <c:pt idx="1">
                    <c:v>سال ۱</c:v>
                  </c:pt>
                  <c:pt idx="2">
                    <c:v>سال ۲</c:v>
                  </c:pt>
                  <c:pt idx="3">
                    <c:v>سال ۵</c:v>
                  </c:pt>
                  <c:pt idx="4">
                    <c:v>سال ۱۰</c:v>
                  </c:pt>
                  <c:pt idx="5">
                    <c:v>سال ۱۵</c:v>
                  </c:pt>
                  <c:pt idx="6">
                    <c:v>سال ۲۰</c:v>
                  </c:pt>
                </c:lvl>
              </c:multiLvlStrCache>
            </c:multiLvlStrRef>
          </c:cat>
          <c:val>
            <c:numRef>
              <c:f>Sheet1!$B$2:$B$8</c:f>
              <c:numCache>
                <c:formatCode>General</c:formatCode>
                <c:ptCount val="7"/>
                <c:pt idx="0">
                  <c:v>53.311</c:v>
                </c:pt>
                <c:pt idx="1">
                  <c:v>74.335</c:v>
                </c:pt>
                <c:pt idx="2">
                  <c:v>95.359</c:v>
                </c:pt>
                <c:pt idx="3">
                  <c:v>158.431</c:v>
                </c:pt>
                <c:pt idx="4">
                  <c:v>263.551</c:v>
                </c:pt>
                <c:pt idx="5">
                  <c:v>368.671</c:v>
                </c:pt>
                <c:pt idx="6">
                  <c:v>473.791</c:v>
                </c:pt>
              </c:numCache>
            </c:numRef>
          </c:val>
          <c:smooth val="0"/>
        </c:ser>
        <c:dLbls>
          <c:numFmt formatCode="0.0" sourceLinked="0"/>
          <c:txPr>
            <a:bodyPr/>
            <a:lstStyle/>
            <a:p>
              <a:pPr>
                <a:defRPr b="0" i="0" strike="noStrike" sz="1200" u="none">
                  <a:solidFill>
                    <a:srgbClr val="1B1B2F"/>
                  </a:solidFill>
                  <a:latin typeface="Vazirmatn"/>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5D7A"/>
                </a:solidFill>
                <a:latin typeface="Vazirmatn"/>
              </a:defRPr>
            </a:pPr>
            <a:endParaRPr lang="en-US"/>
          </a:p>
        </c:txPr>
        <c:crossAx val="2094734552"/>
        <c:crosses val="autoZero"/>
        <c:auto val="1"/>
        <c:lblAlgn val="ctr"/>
        <c:noMultiLvlLbl val="1"/>
      </c:catAx>
      <c:valAx>
        <c:axId val="2094734552"/>
        <c:scaling>
          <c:orientation val="minMax"/>
          <c:max val="520"/>
          <c:min val="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5D7A"/>
                </a:solidFill>
                <a:latin typeface="Vazirmat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وثیقه (میلیون سورن)</c:v>
                </c:pt>
              </c:strCache>
            </c:strRef>
          </c:tx>
          <c:spPr>
            <a:solidFill>
              <a:srgbClr val="2F3690"/>
            </a:solidFill>
            <a:ln w="38100" cap="flat">
              <a:solidFill>
                <a:srgbClr val="2F3690"/>
              </a:solidFill>
              <a:prstDash val="solid"/>
              <a:round/>
            </a:ln>
            <a:effectLst/>
          </c:spPr>
          <c:invertIfNegative val="0"/>
          <c:dLbls>
            <c:numFmt formatCode="0.00" sourceLinked="0"/>
            <c:txPr>
              <a:bodyPr/>
              <a:lstStyle/>
              <a:p>
                <a:pPr>
                  <a:defRPr b="0" i="0" strike="noStrike" sz="1100" u="none">
                    <a:solidFill>
                      <a:srgbClr val="1B1B2F"/>
                    </a:solidFill>
                    <a:latin typeface="Vazirmatn"/>
                  </a:defRPr>
                </a:pPr>
              </a:p>
            </c:txPr>
            <c:dLblPos val="t"/>
            <c:showLegendKey val="0"/>
            <c:showVal val="1"/>
            <c:showCatName val="0"/>
            <c:showSerName val="0"/>
            <c:showPercent val="0"/>
            <c:showBubbleSize val="0"/>
            <c:showLeaderLines val="0"/>
          </c:dLbls>
          <c:marker>
            <c:symbol val="circle"/>
            <c:size val="8"/>
            <c:spPr>
              <a:solidFill>
                <a:srgbClr val="2F3690"/>
              </a:solidFill>
              <a:ln w="9525" cap="flat">
                <a:solidFill>
                  <a:srgbClr val="2F3690"/>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0.5</c:v>
                </c:pt>
                <c:pt idx="1">
                  <c:v>0.595</c:v>
                </c:pt>
                <c:pt idx="2">
                  <c:v>0.707</c:v>
                </c:pt>
                <c:pt idx="3">
                  <c:v>0.841</c:v>
                </c:pt>
                <c:pt idx="4">
                  <c:v>1</c:v>
                </c:pt>
                <c:pt idx="5">
                  <c:v>1.189</c:v>
                </c:pt>
                <c:pt idx="6">
                  <c:v>1.414</c:v>
                </c:pt>
                <c:pt idx="7">
                  <c:v>1.682</c:v>
                </c:pt>
                <c:pt idx="8">
                  <c:v>2</c:v>
                </c:pt>
                <c:pt idx="9">
                  <c:v>2.378</c:v>
                </c:pt>
                <c:pt idx="10">
                  <c:v>2.828</c:v>
                </c:pt>
              </c:numCache>
            </c:numRef>
          </c:val>
          <c:smooth val="0"/>
        </c:ser>
        <c:dLbls>
          <c:numFmt formatCode="0.00" sourceLinked="0"/>
          <c:txPr>
            <a:bodyPr/>
            <a:lstStyle/>
            <a:p>
              <a:pPr>
                <a:defRPr b="0" i="0" strike="noStrike" sz="1100" u="none">
                  <a:solidFill>
                    <a:srgbClr val="1B1B2F"/>
                  </a:solidFill>
                  <a:latin typeface="Vazirmatn"/>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5D7A"/>
                </a:solidFill>
                <a:latin typeface="Vazirmatn"/>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5D7A"/>
                </a:solidFill>
                <a:latin typeface="Vazirmat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درآمد سالانه (هزار سورن)</c:v>
                </c:pt>
              </c:strCache>
            </c:strRef>
          </c:tx>
          <c:spPr>
            <a:solidFill>
              <a:srgbClr val="2F3690"/>
            </a:solidFill>
            <a:effectLst/>
          </c:spPr>
          <c:invertIfNegative val="0"/>
          <c:dLbls>
            <c:numFmt formatCode="#,##0" sourceLinked="0"/>
            <c:txPr>
              <a:bodyPr/>
              <a:lstStyle/>
              <a:p>
                <a:pPr>
                  <a:defRPr b="0" i="0" strike="noStrike" sz="1200" u="none">
                    <a:solidFill>
                      <a:srgbClr val="000000"/>
                    </a:solidFill>
                    <a:latin typeface="Vazirmatn"/>
                  </a:defRPr>
                </a:pPr>
              </a:p>
            </c:txPr>
            <c:showLegendKey val="0"/>
            <c:showVal val="1"/>
            <c:showCatName val="0"/>
            <c:showSerName val="0"/>
            <c:showPercent val="0"/>
            <c:showBubbleSize val="0"/>
            <c:showLeaderLines val="0"/>
          </c:dLbls>
          <c:cat>
            <c:multiLvlStrRef>
              <c:f>Sheet1!$A$2:$A$6</c:f>
              <c:multiLvlStrCache>
                <c:ptCount val="5"/>
                <c:lvl>
                  <c:pt idx="0">
                    <c:v>N = 7</c:v>
                  </c:pt>
                  <c:pt idx="1">
                    <c:v>N = 10</c:v>
                  </c:pt>
                  <c:pt idx="2">
                    <c:v>N = 30</c:v>
                  </c:pt>
                  <c:pt idx="3">
                    <c:v>N = 60</c:v>
                  </c:pt>
                  <c:pt idx="4">
                    <c:v>N = 100</c:v>
                  </c:pt>
                </c:lvl>
              </c:multiLvlStrCache>
            </c:multiLvlStrRef>
          </c:cat>
          <c:val>
            <c:numRef>
              <c:f>Sheet1!$B$2:$B$6</c:f>
              <c:numCache>
                <c:formatCode>General</c:formatCode>
                <c:ptCount val="5"/>
                <c:pt idx="0">
                  <c:v>1502</c:v>
                </c:pt>
                <c:pt idx="1">
                  <c:v>1051</c:v>
                </c:pt>
                <c:pt idx="2">
                  <c:v>350</c:v>
                </c:pt>
                <c:pt idx="3">
                  <c:v>175</c:v>
                </c:pt>
                <c:pt idx="4">
                  <c:v>105</c:v>
                </c:pt>
              </c:numCache>
            </c:numRef>
          </c:val>
        </c:ser>
        <c:dLbls>
          <c:numFmt formatCode="#,##0" sourceLinked="0"/>
          <c:txPr>
            <a:bodyPr/>
            <a:lstStyle/>
            <a:p>
              <a:pPr>
                <a:defRPr b="0" i="0" strike="noStrike" sz="1200" u="none">
                  <a:solidFill>
                    <a:srgbClr val="000000"/>
                  </a:solidFill>
                  <a:latin typeface="Vazirmatn"/>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5D7A"/>
                </a:solidFill>
                <a:latin typeface="Vazirmatn"/>
              </a:defRPr>
            </a:pPr>
            <a:endParaRPr lang="en-US"/>
          </a:p>
        </c:txPr>
        <c:crossAx val="2094734552"/>
        <c:crosses val="autoZero"/>
        <c:auto val="1"/>
        <c:lblAlgn val="ctr"/>
        <c:noMultiLvlLbl val="1"/>
      </c:catAx>
      <c:valAx>
        <c:axId val="2094734552"/>
        <c:scaling>
          <c:orientation val="minMax"/>
          <c:max val="180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5D7A"/>
                </a:solidFill>
                <a:latin typeface="Vazirmat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میلیون سورن در سال</c:v>
                </c:pt>
              </c:strCache>
            </c:strRef>
          </c:tx>
          <c:spPr>
            <a:solidFill>
              <a:srgbClr val="2F3690"/>
            </a:solidFill>
            <a:effectLst/>
          </c:spPr>
          <c:invertIfNegative val="0"/>
          <c:dLbls>
            <c:numFmt formatCode="0.00" sourceLinked="0"/>
            <c:txPr>
              <a:bodyPr/>
              <a:lstStyle/>
              <a:p>
                <a:pPr>
                  <a:defRPr b="0" i="0" strike="noStrike" sz="1300" u="none">
                    <a:solidFill>
                      <a:srgbClr val="000000"/>
                    </a:solidFill>
                    <a:latin typeface="Vazirmatn"/>
                  </a:defRPr>
                </a:pPr>
              </a:p>
            </c:txPr>
            <c:showLegendKey val="0"/>
            <c:showVal val="1"/>
            <c:showCatName val="0"/>
            <c:showSerName val="0"/>
            <c:showPercent val="0"/>
            <c:showBubbleSize val="0"/>
            <c:showLeaderLines val="0"/>
          </c:dLbls>
          <c:cat>
            <c:multiLvlStrRef>
              <c:f>Sheet1!$A$2:$A$3</c:f>
              <c:multiLvlStrCache>
                <c:ptCount val="2"/>
                <c:lvl>
                  <c:pt idx="0">
                    <c:v>ورودی سالانه‌ی خزانه</c:v>
                  </c:pt>
                  <c:pt idx="1">
                    <c:v>سقف خرج سالانه‌ی تقریبی</c:v>
                  </c:pt>
                </c:lvl>
              </c:multiLvlStrCache>
            </c:multiLvlStrRef>
          </c:cat>
          <c:val>
            <c:numRef>
              <c:f>Sheet1!$B$2:$B$3</c:f>
              <c:numCache>
                <c:formatCode>General</c:formatCode>
                <c:ptCount val="2"/>
                <c:pt idx="0">
                  <c:v>7.36</c:v>
                </c:pt>
                <c:pt idx="1">
                  <c:v>2.43</c:v>
                </c:pt>
              </c:numCache>
            </c:numRef>
          </c:val>
        </c:ser>
        <c:dLbls>
          <c:numFmt formatCode="0.00" sourceLinked="0"/>
          <c:txPr>
            <a:bodyPr/>
            <a:lstStyle/>
            <a:p>
              <a:pPr>
                <a:defRPr b="0" i="0" strike="noStrike" sz="1300" u="none">
                  <a:solidFill>
                    <a:srgbClr val="000000"/>
                  </a:solidFill>
                  <a:latin typeface="Vazirmatn"/>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5D7A"/>
                </a:solidFill>
                <a:latin typeface="Vazirmatn"/>
              </a:defRPr>
            </a:pPr>
            <a:endParaRPr lang="en-US"/>
          </a:p>
        </c:txPr>
        <c:crossAx val="2094734552"/>
        <c:crosses val="autoZero"/>
        <c:auto val="1"/>
        <c:lblAlgn val="ctr"/>
        <c:noMultiLvlLbl val="1"/>
      </c:catAx>
      <c:valAx>
        <c:axId val="2094734552"/>
        <c:scaling>
          <c:orientation val="minMax"/>
          <c:max val="9"/>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5D7A"/>
                </a:solidFill>
                <a:latin typeface="Vazirmat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قیمت</c:v>
                </c:pt>
              </c:strCache>
            </c:strRef>
          </c:tx>
          <c:spPr>
            <a:solidFill>
              <a:srgbClr val="2F3690"/>
            </a:solidFill>
            <a:effectLst/>
          </c:spPr>
          <c:invertIfNegative val="0"/>
          <c:dLbls>
            <c:numFmt formatCode="0" sourceLinked="0"/>
            <c:txPr>
              <a:bodyPr/>
              <a:lstStyle/>
              <a:p>
                <a:pPr>
                  <a:defRPr b="0" i="0" strike="noStrike" sz="1200" u="none">
                    <a:solidFill>
                      <a:srgbClr val="1B1B2F"/>
                    </a:solidFill>
                    <a:latin typeface="Vazirmatn"/>
                  </a:defRPr>
                </a:pPr>
              </a:p>
            </c:txPr>
            <c:showLegendKey val="0"/>
            <c:showVal val="1"/>
            <c:showCatName val="0"/>
            <c:showSerName val="0"/>
            <c:showPercent val="0"/>
            <c:showBubbleSize val="0"/>
            <c:showLeaderLines val="0"/>
          </c:dLbls>
          <c:cat>
            <c:multiLvlStrRef>
              <c:f>Sheet1!$A$2:$A$7</c:f>
              <c:multiLvlStrCache>
                <c:ptCount val="6"/>
                <c:lvl>
                  <c:pt idx="0">
                    <c:v>ماه ۱</c:v>
                  </c:pt>
                  <c:pt idx="1">
                    <c:v>ماه ۲</c:v>
                  </c:pt>
                  <c:pt idx="2">
                    <c:v>ماه ۳</c:v>
                  </c:pt>
                  <c:pt idx="3">
                    <c:v>ماه ۴</c:v>
                  </c:pt>
                  <c:pt idx="4">
                    <c:v>ماه ۵</c:v>
                  </c:pt>
                  <c:pt idx="5">
                    <c:v>ماه ۶</c:v>
                  </c:pt>
                </c:lvl>
              </c:multiLvlStrCache>
            </c:multiLvlStrRef>
          </c:cat>
          <c:val>
            <c:numRef>
              <c:f>Sheet1!$B$2:$B$7</c:f>
              <c:numCache>
                <c:formatCode>General</c:formatCode>
                <c:ptCount val="6"/>
                <c:pt idx="0">
                  <c:v>100</c:v>
                </c:pt>
                <c:pt idx="1">
                  <c:v>103</c:v>
                </c:pt>
                <c:pt idx="2">
                  <c:v>106</c:v>
                </c:pt>
                <c:pt idx="3">
                  <c:v>109</c:v>
                </c:pt>
                <c:pt idx="4">
                  <c:v>113</c:v>
                </c:pt>
                <c:pt idx="5">
                  <c:v>116</c:v>
                </c:pt>
              </c:numCache>
            </c:numRef>
          </c:val>
        </c:ser>
        <c:dLbls>
          <c:numFmt formatCode="0" sourceLinked="0"/>
          <c:txPr>
            <a:bodyPr/>
            <a:lstStyle/>
            <a:p>
              <a:pPr>
                <a:defRPr b="0" i="0" strike="noStrike" sz="1200" u="none">
                  <a:solidFill>
                    <a:srgbClr val="1B1B2F"/>
                  </a:solidFill>
                  <a:latin typeface="Vazirmat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5D7A"/>
                </a:solidFill>
                <a:latin typeface="Vazirmatn"/>
              </a:defRPr>
            </a:pPr>
            <a:endParaRPr lang="en-US"/>
          </a:p>
        </c:txPr>
        <c:crossAx val="2094734552"/>
        <c:crosses val="autoZero"/>
        <c:auto val="1"/>
        <c:lblAlgn val="ctr"/>
        <c:noMultiLvlLbl val="1"/>
      </c:catAx>
      <c:valAx>
        <c:axId val="2094734552"/>
        <c:scaling>
          <c:orientation val="minMax"/>
          <c:max val="125"/>
          <c:min val="8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5D7A"/>
                </a:solidFill>
                <a:latin typeface="Vazirmat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690"/>
        </a:solidFill>
      </p:bgPr>
    </p:bg>
    <p:spTree>
      <p:nvGrpSpPr>
        <p:cNvPr id="1" name=""/>
        <p:cNvGrpSpPr/>
        <p:nvPr/>
      </p:nvGrpSpPr>
      <p:grpSpPr>
        <a:xfrm>
          <a:off x="0" y="0"/>
          <a:ext cx="0" cy="0"/>
          <a:chOff x="0" y="0"/>
          <a:chExt cx="0" cy="0"/>
        </a:xfrm>
      </p:grpSpPr>
      <p:sp>
        <p:nvSpPr>
          <p:cNvPr id="2" name="Shape 0"/>
          <p:cNvSpPr/>
          <p:nvPr/>
        </p:nvSpPr>
        <p:spPr>
          <a:xfrm>
            <a:off x="-1645920" y="3840480"/>
            <a:ext cx="5120640" cy="5120640"/>
          </a:xfrm>
          <a:prstGeom prst="ellipse">
            <a:avLst/>
          </a:prstGeom>
          <a:solidFill>
            <a:srgbClr val="3D46A8">
              <a:alpha val="45000"/>
            </a:srgbClr>
          </a:solidFill>
          <a:ln w="12700">
            <a:solidFill>
              <a:srgbClr val="3D46A8"/>
            </a:solidFill>
            <a:prstDash val="solid"/>
          </a:ln>
        </p:spPr>
      </p:sp>
      <p:sp>
        <p:nvSpPr>
          <p:cNvPr id="3" name="Shape 1"/>
          <p:cNvSpPr/>
          <p:nvPr/>
        </p:nvSpPr>
        <p:spPr>
          <a:xfrm>
            <a:off x="7863840" y="-2011680"/>
            <a:ext cx="4937760" cy="4937760"/>
          </a:xfrm>
          <a:prstGeom prst="ellipse">
            <a:avLst/>
          </a:prstGeom>
          <a:solidFill>
            <a:srgbClr val="3D46A8">
              <a:alpha val="30000"/>
            </a:srgbClr>
          </a:solidFill>
          <a:ln w="12700">
            <a:solidFill>
              <a:srgbClr val="3D46A8"/>
            </a:solidFill>
            <a:prstDash val="solid"/>
          </a:ln>
        </p:spPr>
      </p:sp>
      <p:sp>
        <p:nvSpPr>
          <p:cNvPr id="4" name="Shape 2"/>
          <p:cNvSpPr/>
          <p:nvPr/>
        </p:nvSpPr>
        <p:spPr>
          <a:xfrm>
            <a:off x="9997135" y="685800"/>
            <a:ext cx="1371600" cy="1371600"/>
          </a:xfrm>
          <a:prstGeom prst="ellipse">
            <a:avLst/>
          </a:prstGeom>
          <a:solidFill>
            <a:srgbClr val="FFFFFF"/>
          </a:solidFill>
          <a:ln w="12700">
            <a:solidFill>
              <a:srgbClr val="FFFFFF"/>
            </a:solidFill>
            <a:prstDash val="solid"/>
          </a:ln>
        </p:spPr>
      </p:sp>
      <p:pic>
        <p:nvPicPr>
          <p:cNvPr id="5" name="Image 0" descr="/home/claude/bd/logo.png">    </p:cNvPr>
          <p:cNvPicPr>
            <a:picLocks noChangeAspect="1"/>
          </p:cNvPicPr>
          <p:nvPr/>
        </p:nvPicPr>
        <p:blipFill>
          <a:blip r:embed="rId1"/>
          <a:stretch>
            <a:fillRect/>
          </a:stretch>
        </p:blipFill>
        <p:spPr>
          <a:xfrm>
            <a:off x="10207447" y="896112"/>
            <a:ext cx="950976" cy="950976"/>
          </a:xfrm>
          <a:prstGeom prst="rect">
            <a:avLst/>
          </a:prstGeom>
        </p:spPr>
      </p:pic>
      <p:sp>
        <p:nvSpPr>
          <p:cNvPr id="6" name="Text 3"/>
          <p:cNvSpPr txBox="1"/>
          <p:nvPr/>
        </p:nvSpPr>
        <p:spPr>
          <a:xfrm>
            <a:off x="3139135" y="2606040"/>
            <a:ext cx="8229600" cy="365760"/>
          </a:xfrm>
          <a:prstGeom prst="rect">
            <a:avLst/>
          </a:prstGeom>
          <a:noFill/>
          <a:ln/>
        </p:spPr>
        <p:txBody>
          <a:bodyPr wrap="square" lIns="0" tIns="0" rIns="0" bIns="0" rtlCol="0" anchor="t"/>
          <a:lstStyle/>
          <a:p>
            <a:pPr rtl="1" algn="r" indent="0" marL="0">
              <a:lnSpc>
                <a:spcPct val="105000"/>
              </a:lnSpc>
              <a:buNone/>
            </a:pPr>
            <a:r>
              <a:rPr lang="fa-IR" altLang="en-US" sz="1800" b="1" dirty="0">
                <a:solidFill>
                  <a:srgbClr val="CAD0F5"/>
                </a:solidFill>
                <a:latin typeface="Vazirmatn" pitchFamily="34" charset="0"/>
                <a:ea typeface="Vazirmatn" pitchFamily="34" charset="-122"/>
                <a:cs typeface="Vazirmatn" pitchFamily="34" charset="-120"/>
              </a:rPr>
              <a:t>ارائه به هیأت‌مدیره‌ی بنیاد سور</a:t>
            </a:r>
            <a:endParaRPr lang="en-US" sz="1800" dirty="0"/>
          </a:p>
        </p:txBody>
      </p:sp>
      <p:sp>
        <p:nvSpPr>
          <p:cNvPr id="7" name="Text 4"/>
          <p:cNvSpPr txBox="1"/>
          <p:nvPr/>
        </p:nvSpPr>
        <p:spPr>
          <a:xfrm>
            <a:off x="1310335" y="3108960"/>
            <a:ext cx="10058400" cy="914400"/>
          </a:xfrm>
          <a:prstGeom prst="rect">
            <a:avLst/>
          </a:prstGeom>
          <a:noFill/>
          <a:ln/>
        </p:spPr>
        <p:txBody>
          <a:bodyPr wrap="square" lIns="0" tIns="0" rIns="0" bIns="0" rtlCol="0" anchor="t"/>
          <a:lstStyle/>
          <a:p>
            <a:pPr rtl="1" algn="r" indent="0" marL="0">
              <a:lnSpc>
                <a:spcPct val="105000"/>
              </a:lnSpc>
              <a:buNone/>
            </a:pPr>
            <a:r>
              <a:rPr lang="fa-IR" altLang="en-US" sz="4800" b="1" dirty="0">
                <a:solidFill>
                  <a:srgbClr val="FFFFFF"/>
                </a:solidFill>
                <a:latin typeface="Vazirmatn" pitchFamily="34" charset="0"/>
                <a:ea typeface="Vazirmatn" pitchFamily="34" charset="-122"/>
                <a:cs typeface="Vazirmatn" pitchFamily="34" charset="-120"/>
              </a:rPr>
              <a:t>بلاک‌چین سور: طرح فعلی</a:t>
            </a:r>
            <a:endParaRPr lang="en-US" sz="4800" dirty="0"/>
          </a:p>
        </p:txBody>
      </p:sp>
      <p:sp>
        <p:nvSpPr>
          <p:cNvPr id="8" name="Text 5"/>
          <p:cNvSpPr txBox="1"/>
          <p:nvPr/>
        </p:nvSpPr>
        <p:spPr>
          <a:xfrm>
            <a:off x="1310335" y="4206240"/>
            <a:ext cx="10058400" cy="457200"/>
          </a:xfrm>
          <a:prstGeom prst="rect">
            <a:avLst/>
          </a:prstGeom>
          <a:noFill/>
          <a:ln/>
        </p:spPr>
        <p:txBody>
          <a:bodyPr wrap="square" lIns="0" tIns="0" rIns="0" bIns="0" rtlCol="0" anchor="t"/>
          <a:lstStyle/>
          <a:p>
            <a:pPr rtl="1" algn="r" indent="0" marL="0">
              <a:lnSpc>
                <a:spcPct val="105000"/>
              </a:lnSpc>
              <a:buNone/>
            </a:pPr>
            <a:r>
              <a:rPr lang="fa-IR" altLang="en-US" sz="2200" dirty="0">
                <a:solidFill>
                  <a:srgbClr val="E5E8FF"/>
                </a:solidFill>
                <a:latin typeface="Vazirmatn" pitchFamily="34" charset="0"/>
                <a:ea typeface="Vazirmatn" pitchFamily="34" charset="-122"/>
                <a:cs typeface="Vazirmatn" pitchFamily="34" charset="-120"/>
              </a:rPr>
              <a:t>معماری فنی، اقتصاد توکن، حکمرانی و اجزای عملیاتی</a:t>
            </a:r>
            <a:endParaRPr lang="en-US" sz="2200" dirty="0"/>
          </a:p>
        </p:txBody>
      </p:sp>
      <p:sp>
        <p:nvSpPr>
          <p:cNvPr id="9" name="Text 6"/>
          <p:cNvSpPr txBox="1"/>
          <p:nvPr/>
        </p:nvSpPr>
        <p:spPr>
          <a:xfrm>
            <a:off x="7711135" y="5760720"/>
            <a:ext cx="3657600" cy="365760"/>
          </a:xfrm>
          <a:prstGeom prst="rect">
            <a:avLst/>
          </a:prstGeom>
          <a:noFill/>
          <a:ln/>
        </p:spPr>
        <p:txBody>
          <a:bodyPr wrap="square" lIns="0" tIns="0" rIns="0" bIns="0" rtlCol="0" anchor="t"/>
          <a:lstStyle/>
          <a:p>
            <a:pPr rtl="1" algn="r" indent="0" marL="0">
              <a:lnSpc>
                <a:spcPct val="105000"/>
              </a:lnSpc>
              <a:buNone/>
            </a:pPr>
            <a:r>
              <a:rPr lang="fa-IR" altLang="en-US" sz="1600" dirty="0">
                <a:solidFill>
                  <a:srgbClr val="CAD0F5"/>
                </a:solidFill>
                <a:latin typeface="Vazirmatn" pitchFamily="34" charset="0"/>
                <a:ea typeface="Vazirmatn" pitchFamily="34" charset="-122"/>
                <a:cs typeface="Vazirmatn" pitchFamily="34" charset="-120"/>
              </a:rPr>
              <a:t>مهر ۱۴۰۵</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نمای کلی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دستور جلسه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a:t>
            </a:r>
            <a:endParaRPr lang="en-US" sz="1000" dirty="0"/>
          </a:p>
        </p:txBody>
      </p:sp>
      <p:sp>
        <p:nvSpPr>
          <p:cNvPr id="6" name="Shape 4"/>
          <p:cNvSpPr/>
          <p:nvPr/>
        </p:nvSpPr>
        <p:spPr>
          <a:xfrm>
            <a:off x="6233465" y="1600200"/>
            <a:ext cx="5410048" cy="731520"/>
          </a:xfrm>
          <a:prstGeom prst="roundRect">
            <a:avLst>
              <a:gd name="adj" fmla="val 15000"/>
            </a:avLst>
          </a:prstGeom>
          <a:solidFill>
            <a:srgbClr val="F7F9FC"/>
          </a:solidFill>
          <a:ln w="9525">
            <a:solidFill>
              <a:srgbClr val="DDE1EE"/>
            </a:solidFill>
            <a:prstDash val="solid"/>
          </a:ln>
        </p:spPr>
      </p:sp>
      <p:sp>
        <p:nvSpPr>
          <p:cNvPr id="7" name="Shape 5"/>
          <p:cNvSpPr/>
          <p:nvPr/>
        </p:nvSpPr>
        <p:spPr>
          <a:xfrm>
            <a:off x="11049152" y="1728216"/>
            <a:ext cx="475488" cy="475488"/>
          </a:xfrm>
          <a:prstGeom prst="ellipse">
            <a:avLst/>
          </a:prstGeom>
          <a:solidFill>
            <a:srgbClr val="2F3690"/>
          </a:solidFill>
          <a:ln w="12700">
            <a:solidFill>
              <a:srgbClr val="2F3690"/>
            </a:solidFill>
            <a:prstDash val="solid"/>
          </a:ln>
        </p:spPr>
      </p:sp>
      <p:sp>
        <p:nvSpPr>
          <p:cNvPr id="8" name="Text 6"/>
          <p:cNvSpPr txBox="1"/>
          <p:nvPr/>
        </p:nvSpPr>
        <p:spPr>
          <a:xfrm>
            <a:off x="11049152" y="17282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۱</a:t>
            </a:r>
            <a:endParaRPr lang="en-US" sz="1600" dirty="0"/>
          </a:p>
        </p:txBody>
      </p:sp>
      <p:sp>
        <p:nvSpPr>
          <p:cNvPr id="9" name="Text 7"/>
          <p:cNvSpPr txBox="1"/>
          <p:nvPr/>
        </p:nvSpPr>
        <p:spPr>
          <a:xfrm>
            <a:off x="6416345" y="16002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سور در یک نگاه</a:t>
            </a:r>
            <a:endParaRPr lang="en-US" sz="1600" dirty="0"/>
          </a:p>
        </p:txBody>
      </p:sp>
      <p:sp>
        <p:nvSpPr>
          <p:cNvPr id="10" name="Shape 8"/>
          <p:cNvSpPr/>
          <p:nvPr/>
        </p:nvSpPr>
        <p:spPr>
          <a:xfrm>
            <a:off x="6233465" y="2514600"/>
            <a:ext cx="5410048" cy="731520"/>
          </a:xfrm>
          <a:prstGeom prst="roundRect">
            <a:avLst>
              <a:gd name="adj" fmla="val 15000"/>
            </a:avLst>
          </a:prstGeom>
          <a:solidFill>
            <a:srgbClr val="F7F9FC"/>
          </a:solidFill>
          <a:ln w="9525">
            <a:solidFill>
              <a:srgbClr val="DDE1EE"/>
            </a:solidFill>
            <a:prstDash val="solid"/>
          </a:ln>
        </p:spPr>
      </p:sp>
      <p:sp>
        <p:nvSpPr>
          <p:cNvPr id="11" name="Shape 9"/>
          <p:cNvSpPr/>
          <p:nvPr/>
        </p:nvSpPr>
        <p:spPr>
          <a:xfrm>
            <a:off x="11049152" y="2642616"/>
            <a:ext cx="475488" cy="475488"/>
          </a:xfrm>
          <a:prstGeom prst="ellipse">
            <a:avLst/>
          </a:prstGeom>
          <a:solidFill>
            <a:srgbClr val="2F3690"/>
          </a:solidFill>
          <a:ln w="12700">
            <a:solidFill>
              <a:srgbClr val="2F3690"/>
            </a:solidFill>
            <a:prstDash val="solid"/>
          </a:ln>
        </p:spPr>
      </p:sp>
      <p:sp>
        <p:nvSpPr>
          <p:cNvPr id="12" name="Text 10"/>
          <p:cNvSpPr txBox="1"/>
          <p:nvPr/>
        </p:nvSpPr>
        <p:spPr>
          <a:xfrm>
            <a:off x="11049152" y="26426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۲</a:t>
            </a:r>
            <a:endParaRPr lang="en-US" sz="1600" dirty="0"/>
          </a:p>
        </p:txBody>
      </p:sp>
      <p:sp>
        <p:nvSpPr>
          <p:cNvPr id="13" name="Text 11"/>
          <p:cNvSpPr txBox="1"/>
          <p:nvPr/>
        </p:nvSpPr>
        <p:spPr>
          <a:xfrm>
            <a:off x="6416345" y="25146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مقایسه با شبکه‌ی اول سور</a:t>
            </a:r>
            <a:endParaRPr lang="en-US" sz="1600" dirty="0"/>
          </a:p>
        </p:txBody>
      </p:sp>
      <p:sp>
        <p:nvSpPr>
          <p:cNvPr id="14" name="Shape 12"/>
          <p:cNvSpPr/>
          <p:nvPr/>
        </p:nvSpPr>
        <p:spPr>
          <a:xfrm>
            <a:off x="6233465" y="3429000"/>
            <a:ext cx="5410048" cy="731520"/>
          </a:xfrm>
          <a:prstGeom prst="roundRect">
            <a:avLst>
              <a:gd name="adj" fmla="val 15000"/>
            </a:avLst>
          </a:prstGeom>
          <a:solidFill>
            <a:srgbClr val="F7F9FC"/>
          </a:solidFill>
          <a:ln w="9525">
            <a:solidFill>
              <a:srgbClr val="DDE1EE"/>
            </a:solidFill>
            <a:prstDash val="solid"/>
          </a:ln>
        </p:spPr>
      </p:sp>
      <p:sp>
        <p:nvSpPr>
          <p:cNvPr id="15" name="Shape 13"/>
          <p:cNvSpPr/>
          <p:nvPr/>
        </p:nvSpPr>
        <p:spPr>
          <a:xfrm>
            <a:off x="11049152" y="3557016"/>
            <a:ext cx="475488" cy="475488"/>
          </a:xfrm>
          <a:prstGeom prst="ellipse">
            <a:avLst/>
          </a:prstGeom>
          <a:solidFill>
            <a:srgbClr val="2F3690"/>
          </a:solidFill>
          <a:ln w="12700">
            <a:solidFill>
              <a:srgbClr val="2F3690"/>
            </a:solidFill>
            <a:prstDash val="solid"/>
          </a:ln>
        </p:spPr>
      </p:sp>
      <p:sp>
        <p:nvSpPr>
          <p:cNvPr id="16" name="Text 14"/>
          <p:cNvSpPr txBox="1"/>
          <p:nvPr/>
        </p:nvSpPr>
        <p:spPr>
          <a:xfrm>
            <a:off x="11049152" y="35570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۳</a:t>
            </a:r>
            <a:endParaRPr lang="en-US" sz="1600" dirty="0"/>
          </a:p>
        </p:txBody>
      </p:sp>
      <p:sp>
        <p:nvSpPr>
          <p:cNvPr id="17" name="Text 15"/>
          <p:cNvSpPr txBox="1"/>
          <p:nvPr/>
        </p:nvSpPr>
        <p:spPr>
          <a:xfrm>
            <a:off x="6416345" y="34290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معماری و مسیر پاداش</a:t>
            </a:r>
            <a:endParaRPr lang="en-US" sz="1600" dirty="0"/>
          </a:p>
        </p:txBody>
      </p:sp>
      <p:sp>
        <p:nvSpPr>
          <p:cNvPr id="18" name="Shape 16"/>
          <p:cNvSpPr/>
          <p:nvPr/>
        </p:nvSpPr>
        <p:spPr>
          <a:xfrm>
            <a:off x="6233465" y="4343400"/>
            <a:ext cx="5410048" cy="731520"/>
          </a:xfrm>
          <a:prstGeom prst="roundRect">
            <a:avLst>
              <a:gd name="adj" fmla="val 15000"/>
            </a:avLst>
          </a:prstGeom>
          <a:solidFill>
            <a:srgbClr val="F7F9FC"/>
          </a:solidFill>
          <a:ln w="9525">
            <a:solidFill>
              <a:srgbClr val="DDE1EE"/>
            </a:solidFill>
            <a:prstDash val="solid"/>
          </a:ln>
        </p:spPr>
      </p:sp>
      <p:sp>
        <p:nvSpPr>
          <p:cNvPr id="19" name="Shape 17"/>
          <p:cNvSpPr/>
          <p:nvPr/>
        </p:nvSpPr>
        <p:spPr>
          <a:xfrm>
            <a:off x="11049152" y="4471416"/>
            <a:ext cx="475488" cy="475488"/>
          </a:xfrm>
          <a:prstGeom prst="ellipse">
            <a:avLst/>
          </a:prstGeom>
          <a:solidFill>
            <a:srgbClr val="2F3690"/>
          </a:solidFill>
          <a:ln w="12700">
            <a:solidFill>
              <a:srgbClr val="2F3690"/>
            </a:solidFill>
            <a:prstDash val="solid"/>
          </a:ln>
        </p:spPr>
      </p:sp>
      <p:sp>
        <p:nvSpPr>
          <p:cNvPr id="20" name="Text 18"/>
          <p:cNvSpPr txBox="1"/>
          <p:nvPr/>
        </p:nvSpPr>
        <p:spPr>
          <a:xfrm>
            <a:off x="11049152" y="44714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۴</a:t>
            </a:r>
            <a:endParaRPr lang="en-US" sz="1600" dirty="0"/>
          </a:p>
        </p:txBody>
      </p:sp>
      <p:sp>
        <p:nvSpPr>
          <p:cNvPr id="21" name="Text 19"/>
          <p:cNvSpPr txBox="1"/>
          <p:nvPr/>
        </p:nvSpPr>
        <p:spPr>
          <a:xfrm>
            <a:off x="6416345" y="43434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عرضه و اقتصاد توکن</a:t>
            </a:r>
            <a:endParaRPr lang="en-US" sz="1600" dirty="0"/>
          </a:p>
        </p:txBody>
      </p:sp>
      <p:sp>
        <p:nvSpPr>
          <p:cNvPr id="22" name="Shape 20"/>
          <p:cNvSpPr/>
          <p:nvPr/>
        </p:nvSpPr>
        <p:spPr>
          <a:xfrm>
            <a:off x="6233465" y="5257800"/>
            <a:ext cx="5410048" cy="731520"/>
          </a:xfrm>
          <a:prstGeom prst="roundRect">
            <a:avLst>
              <a:gd name="adj" fmla="val 15000"/>
            </a:avLst>
          </a:prstGeom>
          <a:solidFill>
            <a:srgbClr val="F7F9FC"/>
          </a:solidFill>
          <a:ln w="9525">
            <a:solidFill>
              <a:srgbClr val="DDE1EE"/>
            </a:solidFill>
            <a:prstDash val="solid"/>
          </a:ln>
        </p:spPr>
      </p:sp>
      <p:sp>
        <p:nvSpPr>
          <p:cNvPr id="23" name="Shape 21"/>
          <p:cNvSpPr/>
          <p:nvPr/>
        </p:nvSpPr>
        <p:spPr>
          <a:xfrm>
            <a:off x="11049152" y="5385816"/>
            <a:ext cx="475488" cy="475488"/>
          </a:xfrm>
          <a:prstGeom prst="ellipse">
            <a:avLst/>
          </a:prstGeom>
          <a:solidFill>
            <a:srgbClr val="2F3690"/>
          </a:solidFill>
          <a:ln w="12700">
            <a:solidFill>
              <a:srgbClr val="2F3690"/>
            </a:solidFill>
            <a:prstDash val="solid"/>
          </a:ln>
        </p:spPr>
      </p:sp>
      <p:sp>
        <p:nvSpPr>
          <p:cNvPr id="24" name="Text 22"/>
          <p:cNvSpPr txBox="1"/>
          <p:nvPr/>
        </p:nvSpPr>
        <p:spPr>
          <a:xfrm>
            <a:off x="11049152" y="53858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۵</a:t>
            </a:r>
            <a:endParaRPr lang="en-US" sz="1600" dirty="0"/>
          </a:p>
        </p:txBody>
      </p:sp>
      <p:sp>
        <p:nvSpPr>
          <p:cNvPr id="25" name="Text 23"/>
          <p:cNvSpPr txBox="1"/>
          <p:nvPr/>
        </p:nvSpPr>
        <p:spPr>
          <a:xfrm>
            <a:off x="6416345" y="52578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ولیدیتورها</a:t>
            </a:r>
            <a:endParaRPr lang="en-US" sz="1600" dirty="0"/>
          </a:p>
        </p:txBody>
      </p:sp>
      <p:sp>
        <p:nvSpPr>
          <p:cNvPr id="26" name="Shape 24"/>
          <p:cNvSpPr/>
          <p:nvPr/>
        </p:nvSpPr>
        <p:spPr>
          <a:xfrm>
            <a:off x="548640" y="1600200"/>
            <a:ext cx="5410048" cy="731520"/>
          </a:xfrm>
          <a:prstGeom prst="roundRect">
            <a:avLst>
              <a:gd name="adj" fmla="val 15000"/>
            </a:avLst>
          </a:prstGeom>
          <a:solidFill>
            <a:srgbClr val="F7F9FC"/>
          </a:solidFill>
          <a:ln w="9525">
            <a:solidFill>
              <a:srgbClr val="DDE1EE"/>
            </a:solidFill>
            <a:prstDash val="solid"/>
          </a:ln>
        </p:spPr>
      </p:sp>
      <p:sp>
        <p:nvSpPr>
          <p:cNvPr id="27" name="Shape 25"/>
          <p:cNvSpPr/>
          <p:nvPr/>
        </p:nvSpPr>
        <p:spPr>
          <a:xfrm>
            <a:off x="5364328" y="1728216"/>
            <a:ext cx="475488" cy="475488"/>
          </a:xfrm>
          <a:prstGeom prst="ellipse">
            <a:avLst/>
          </a:prstGeom>
          <a:solidFill>
            <a:srgbClr val="2F3690"/>
          </a:solidFill>
          <a:ln w="12700">
            <a:solidFill>
              <a:srgbClr val="2F3690"/>
            </a:solidFill>
            <a:prstDash val="solid"/>
          </a:ln>
        </p:spPr>
      </p:sp>
      <p:sp>
        <p:nvSpPr>
          <p:cNvPr id="28" name="Text 26"/>
          <p:cNvSpPr txBox="1"/>
          <p:nvPr/>
        </p:nvSpPr>
        <p:spPr>
          <a:xfrm>
            <a:off x="5364328" y="17282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۶</a:t>
            </a:r>
            <a:endParaRPr lang="en-US" sz="1600" dirty="0"/>
          </a:p>
        </p:txBody>
      </p:sp>
      <p:sp>
        <p:nvSpPr>
          <p:cNvPr id="29" name="Text 27"/>
          <p:cNvSpPr txBox="1"/>
          <p:nvPr/>
        </p:nvSpPr>
        <p:spPr>
          <a:xfrm>
            <a:off x="731520" y="16002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حکمرانی</a:t>
            </a:r>
            <a:endParaRPr lang="en-US" sz="1600" dirty="0"/>
          </a:p>
        </p:txBody>
      </p:sp>
      <p:sp>
        <p:nvSpPr>
          <p:cNvPr id="30" name="Shape 28"/>
          <p:cNvSpPr/>
          <p:nvPr/>
        </p:nvSpPr>
        <p:spPr>
          <a:xfrm>
            <a:off x="548640" y="2514600"/>
            <a:ext cx="5410048" cy="731520"/>
          </a:xfrm>
          <a:prstGeom prst="roundRect">
            <a:avLst>
              <a:gd name="adj" fmla="val 15000"/>
            </a:avLst>
          </a:prstGeom>
          <a:solidFill>
            <a:srgbClr val="F7F9FC"/>
          </a:solidFill>
          <a:ln w="9525">
            <a:solidFill>
              <a:srgbClr val="DDE1EE"/>
            </a:solidFill>
            <a:prstDash val="solid"/>
          </a:ln>
        </p:spPr>
      </p:sp>
      <p:sp>
        <p:nvSpPr>
          <p:cNvPr id="31" name="Shape 29"/>
          <p:cNvSpPr/>
          <p:nvPr/>
        </p:nvSpPr>
        <p:spPr>
          <a:xfrm>
            <a:off x="5364328" y="2642616"/>
            <a:ext cx="475488" cy="475488"/>
          </a:xfrm>
          <a:prstGeom prst="ellipse">
            <a:avLst/>
          </a:prstGeom>
          <a:solidFill>
            <a:srgbClr val="2F3690"/>
          </a:solidFill>
          <a:ln w="12700">
            <a:solidFill>
              <a:srgbClr val="2F3690"/>
            </a:solidFill>
            <a:prstDash val="solid"/>
          </a:ln>
        </p:spPr>
      </p:sp>
      <p:sp>
        <p:nvSpPr>
          <p:cNvPr id="32" name="Text 30"/>
          <p:cNvSpPr txBox="1"/>
          <p:nvPr/>
        </p:nvSpPr>
        <p:spPr>
          <a:xfrm>
            <a:off x="5364328" y="26426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۷</a:t>
            </a:r>
            <a:endParaRPr lang="en-US" sz="1600" dirty="0"/>
          </a:p>
        </p:txBody>
      </p:sp>
      <p:sp>
        <p:nvSpPr>
          <p:cNvPr id="33" name="Text 31"/>
          <p:cNvSpPr txBox="1"/>
          <p:nvPr/>
        </p:nvSpPr>
        <p:spPr>
          <a:xfrm>
            <a:off x="731520" y="25146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بنیاد سور</a:t>
            </a:r>
            <a:endParaRPr lang="en-US" sz="1600" dirty="0"/>
          </a:p>
        </p:txBody>
      </p:sp>
      <p:sp>
        <p:nvSpPr>
          <p:cNvPr id="34" name="Shape 32"/>
          <p:cNvSpPr/>
          <p:nvPr/>
        </p:nvSpPr>
        <p:spPr>
          <a:xfrm>
            <a:off x="548640" y="3429000"/>
            <a:ext cx="5410048" cy="731520"/>
          </a:xfrm>
          <a:prstGeom prst="roundRect">
            <a:avLst>
              <a:gd name="adj" fmla="val 15000"/>
            </a:avLst>
          </a:prstGeom>
          <a:solidFill>
            <a:srgbClr val="F7F9FC"/>
          </a:solidFill>
          <a:ln w="9525">
            <a:solidFill>
              <a:srgbClr val="DDE1EE"/>
            </a:solidFill>
            <a:prstDash val="solid"/>
          </a:ln>
        </p:spPr>
      </p:sp>
      <p:sp>
        <p:nvSpPr>
          <p:cNvPr id="35" name="Shape 33"/>
          <p:cNvSpPr/>
          <p:nvPr/>
        </p:nvSpPr>
        <p:spPr>
          <a:xfrm>
            <a:off x="5364328" y="3557016"/>
            <a:ext cx="475488" cy="475488"/>
          </a:xfrm>
          <a:prstGeom prst="ellipse">
            <a:avLst/>
          </a:prstGeom>
          <a:solidFill>
            <a:srgbClr val="2F3690"/>
          </a:solidFill>
          <a:ln w="12700">
            <a:solidFill>
              <a:srgbClr val="2F3690"/>
            </a:solidFill>
            <a:prstDash val="solid"/>
          </a:ln>
        </p:spPr>
      </p:sp>
      <p:sp>
        <p:nvSpPr>
          <p:cNvPr id="36" name="Text 34"/>
          <p:cNvSpPr txBox="1"/>
          <p:nvPr/>
        </p:nvSpPr>
        <p:spPr>
          <a:xfrm>
            <a:off x="5364328" y="35570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۸</a:t>
            </a:r>
            <a:endParaRPr lang="en-US" sz="1600" dirty="0"/>
          </a:p>
        </p:txBody>
      </p:sp>
      <p:sp>
        <p:nvSpPr>
          <p:cNvPr id="37" name="Text 35"/>
          <p:cNvSpPr txBox="1"/>
          <p:nvPr/>
        </p:nvSpPr>
        <p:spPr>
          <a:xfrm>
            <a:off x="731520" y="34290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فروش سورن و زیرساخت‌های مشترک</a:t>
            </a:r>
            <a:endParaRPr lang="en-US" sz="1600" dirty="0"/>
          </a:p>
        </p:txBody>
      </p:sp>
      <p:sp>
        <p:nvSpPr>
          <p:cNvPr id="38" name="Shape 36"/>
          <p:cNvSpPr/>
          <p:nvPr/>
        </p:nvSpPr>
        <p:spPr>
          <a:xfrm>
            <a:off x="548640" y="4343400"/>
            <a:ext cx="5410048" cy="731520"/>
          </a:xfrm>
          <a:prstGeom prst="roundRect">
            <a:avLst>
              <a:gd name="adj" fmla="val 15000"/>
            </a:avLst>
          </a:prstGeom>
          <a:solidFill>
            <a:srgbClr val="F7F9FC"/>
          </a:solidFill>
          <a:ln w="9525">
            <a:solidFill>
              <a:srgbClr val="DDE1EE"/>
            </a:solidFill>
            <a:prstDash val="solid"/>
          </a:ln>
        </p:spPr>
      </p:sp>
      <p:sp>
        <p:nvSpPr>
          <p:cNvPr id="39" name="Shape 37"/>
          <p:cNvSpPr/>
          <p:nvPr/>
        </p:nvSpPr>
        <p:spPr>
          <a:xfrm>
            <a:off x="5364328" y="4471416"/>
            <a:ext cx="475488" cy="475488"/>
          </a:xfrm>
          <a:prstGeom prst="ellipse">
            <a:avLst/>
          </a:prstGeom>
          <a:solidFill>
            <a:srgbClr val="2F3690"/>
          </a:solidFill>
          <a:ln w="12700">
            <a:solidFill>
              <a:srgbClr val="2F3690"/>
            </a:solidFill>
            <a:prstDash val="solid"/>
          </a:ln>
        </p:spPr>
      </p:sp>
      <p:sp>
        <p:nvSpPr>
          <p:cNvPr id="40" name="Text 38"/>
          <p:cNvSpPr txBox="1"/>
          <p:nvPr/>
        </p:nvSpPr>
        <p:spPr>
          <a:xfrm>
            <a:off x="5364328" y="44714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۹</a:t>
            </a:r>
            <a:endParaRPr lang="en-US" sz="1600" dirty="0"/>
          </a:p>
        </p:txBody>
      </p:sp>
      <p:sp>
        <p:nvSpPr>
          <p:cNvPr id="41" name="Text 39"/>
          <p:cNvSpPr txBox="1"/>
          <p:nvPr/>
        </p:nvSpPr>
        <p:spPr>
          <a:xfrm>
            <a:off x="731520" y="43434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نرم‌افزارهای آف‌چین و بازیابی اضطراری</a:t>
            </a:r>
            <a:endParaRPr lang="en-US" sz="1600" dirty="0"/>
          </a:p>
        </p:txBody>
      </p:sp>
      <p:sp>
        <p:nvSpPr>
          <p:cNvPr id="42" name="Shape 40"/>
          <p:cNvSpPr/>
          <p:nvPr/>
        </p:nvSpPr>
        <p:spPr>
          <a:xfrm>
            <a:off x="548640" y="5257800"/>
            <a:ext cx="5410048" cy="731520"/>
          </a:xfrm>
          <a:prstGeom prst="roundRect">
            <a:avLst>
              <a:gd name="adj" fmla="val 15000"/>
            </a:avLst>
          </a:prstGeom>
          <a:solidFill>
            <a:srgbClr val="F7F9FC"/>
          </a:solidFill>
          <a:ln w="9525">
            <a:solidFill>
              <a:srgbClr val="DDE1EE"/>
            </a:solidFill>
            <a:prstDash val="solid"/>
          </a:ln>
        </p:spPr>
      </p:sp>
      <p:sp>
        <p:nvSpPr>
          <p:cNvPr id="43" name="Shape 41"/>
          <p:cNvSpPr/>
          <p:nvPr/>
        </p:nvSpPr>
        <p:spPr>
          <a:xfrm>
            <a:off x="5364328" y="5385816"/>
            <a:ext cx="475488" cy="475488"/>
          </a:xfrm>
          <a:prstGeom prst="ellipse">
            <a:avLst/>
          </a:prstGeom>
          <a:solidFill>
            <a:srgbClr val="2F3690"/>
          </a:solidFill>
          <a:ln w="12700">
            <a:solidFill>
              <a:srgbClr val="2F3690"/>
            </a:solidFill>
            <a:prstDash val="solid"/>
          </a:ln>
        </p:spPr>
      </p:sp>
      <p:sp>
        <p:nvSpPr>
          <p:cNvPr id="44" name="Text 42"/>
          <p:cNvSpPr txBox="1"/>
          <p:nvPr/>
        </p:nvSpPr>
        <p:spPr>
          <a:xfrm>
            <a:off x="5364328" y="5385816"/>
            <a:ext cx="475488" cy="475488"/>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۱۰</a:t>
            </a:r>
            <a:endParaRPr lang="en-US" sz="1600" dirty="0"/>
          </a:p>
        </p:txBody>
      </p:sp>
      <p:sp>
        <p:nvSpPr>
          <p:cNvPr id="45" name="Text 43"/>
          <p:cNvSpPr txBox="1"/>
          <p:nvPr/>
        </p:nvSpPr>
        <p:spPr>
          <a:xfrm>
            <a:off x="731520" y="5257800"/>
            <a:ext cx="4404208" cy="73152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مدل اعتماد، وضعیت و موارد تصمیم‌نشده</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سور در یک نگاه</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یک بلاک‌چین عمومی برای توسعه‌دهندگان و کاربران ایرانی</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a:t>
            </a:r>
            <a:endParaRPr lang="en-US" sz="1000" dirty="0"/>
          </a:p>
        </p:txBody>
      </p:sp>
      <p:sp>
        <p:nvSpPr>
          <p:cNvPr id="6" name="Text 4"/>
          <p:cNvSpPr txBox="1"/>
          <p:nvPr/>
        </p:nvSpPr>
        <p:spPr>
          <a:xfrm>
            <a:off x="548640" y="1325880"/>
            <a:ext cx="11094415" cy="868680"/>
          </a:xfrm>
          <a:prstGeom prst="rect">
            <a:avLst/>
          </a:prstGeom>
          <a:noFill/>
          <a:ln/>
        </p:spPr>
        <p:txBody>
          <a:bodyPr wrap="square" lIns="0" tIns="0" rIns="0" bIns="0" rtlCol="0" anchor="t"/>
          <a:lstStyle/>
          <a:p>
            <a:pPr rtl="1" algn="r" indent="0" marL="0">
              <a:lnSpc>
                <a:spcPct val="105000"/>
              </a:lnSpc>
              <a:buNone/>
            </a:pPr>
            <a:r>
              <a:rPr lang="fa-IR" altLang="en-US" sz="1500" dirty="0">
                <a:solidFill>
                  <a:srgbClr val="565D7A"/>
                </a:solidFill>
                <a:latin typeface="Vazirmatn" pitchFamily="34" charset="0"/>
                <a:ea typeface="Vazirmatn" pitchFamily="34" charset="-122"/>
                <a:cs typeface="Vazirmatn" pitchFamily="34" charset="-120"/>
              </a:rPr>
              <a:t>شبکه‌ای کاملاً عمومی و بدون‌مجوز روی Hyperledger Besu رسمی (نرم‌افزار متن‌باز گره‌ی بلاک‌چین، بدون فورک) با اجماع QBFT که هر بلاک را با رأی دوسوم ولیدیتورها (گره‌های تولیدکننده و تأییدکننده‌ی بلاک) نهایی می‌کند. ارز بومی آن «سورن» است و حکمرانی میان دو نهاد جدا تقسیم شده است.</a:t>
            </a:r>
            <a:endParaRPr lang="en-US" sz="1500" dirty="0"/>
          </a:p>
        </p:txBody>
      </p:sp>
      <p:sp>
        <p:nvSpPr>
          <p:cNvPr id="7" name="Shape 5"/>
          <p:cNvSpPr/>
          <p:nvPr/>
        </p:nvSpPr>
        <p:spPr>
          <a:xfrm>
            <a:off x="8097012" y="2286000"/>
            <a:ext cx="3545738" cy="1508760"/>
          </a:xfrm>
          <a:prstGeom prst="roundRect">
            <a:avLst>
              <a:gd name="adj" fmla="val 7273"/>
            </a:avLst>
          </a:prstGeom>
          <a:solidFill>
            <a:srgbClr val="EEF0FB"/>
          </a:solidFill>
          <a:ln w="9525">
            <a:solidFill>
              <a:srgbClr val="EEF0FB"/>
            </a:solidFill>
            <a:prstDash val="solid"/>
          </a:ln>
        </p:spPr>
      </p:sp>
      <p:sp>
        <p:nvSpPr>
          <p:cNvPr id="8" name="Text 6"/>
          <p:cNvSpPr txBox="1"/>
          <p:nvPr/>
        </p:nvSpPr>
        <p:spPr>
          <a:xfrm>
            <a:off x="8279892" y="246888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۳ ثانیه</a:t>
            </a:r>
            <a:endParaRPr lang="en-US" sz="3400" dirty="0"/>
          </a:p>
        </p:txBody>
      </p:sp>
      <p:sp>
        <p:nvSpPr>
          <p:cNvPr id="9" name="Text 7"/>
          <p:cNvSpPr txBox="1"/>
          <p:nvPr/>
        </p:nvSpPr>
        <p:spPr>
          <a:xfrm>
            <a:off x="8279892" y="324612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زمان هر بلاک</a:t>
            </a:r>
            <a:endParaRPr lang="en-US" sz="1400" dirty="0"/>
          </a:p>
        </p:txBody>
      </p:sp>
      <p:sp>
        <p:nvSpPr>
          <p:cNvPr id="10" name="Shape 8"/>
          <p:cNvSpPr/>
          <p:nvPr/>
        </p:nvSpPr>
        <p:spPr>
          <a:xfrm>
            <a:off x="4323283" y="2286000"/>
            <a:ext cx="3545738" cy="1508760"/>
          </a:xfrm>
          <a:prstGeom prst="roundRect">
            <a:avLst>
              <a:gd name="adj" fmla="val 7273"/>
            </a:avLst>
          </a:prstGeom>
          <a:solidFill>
            <a:srgbClr val="EEF0FB"/>
          </a:solidFill>
          <a:ln w="9525">
            <a:solidFill>
              <a:srgbClr val="EEF0FB"/>
            </a:solidFill>
            <a:prstDash val="solid"/>
          </a:ln>
        </p:spPr>
      </p:sp>
      <p:sp>
        <p:nvSpPr>
          <p:cNvPr id="11" name="Text 9"/>
          <p:cNvSpPr txBox="1"/>
          <p:nvPr/>
        </p:nvSpPr>
        <p:spPr>
          <a:xfrm>
            <a:off x="4506163" y="246888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فوری</a:t>
            </a:r>
            <a:endParaRPr lang="en-US" sz="3400" dirty="0"/>
          </a:p>
        </p:txBody>
      </p:sp>
      <p:sp>
        <p:nvSpPr>
          <p:cNvPr id="12" name="Text 10"/>
          <p:cNvSpPr txBox="1"/>
          <p:nvPr/>
        </p:nvSpPr>
        <p:spPr>
          <a:xfrm>
            <a:off x="4506163" y="324612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نهایی‌شدن بلاک (QBFT)</a:t>
            </a:r>
            <a:endParaRPr lang="en-US" sz="1400" dirty="0"/>
          </a:p>
        </p:txBody>
      </p:sp>
      <p:sp>
        <p:nvSpPr>
          <p:cNvPr id="13" name="Shape 11"/>
          <p:cNvSpPr/>
          <p:nvPr/>
        </p:nvSpPr>
        <p:spPr>
          <a:xfrm>
            <a:off x="548640" y="2286000"/>
            <a:ext cx="3545738" cy="1508760"/>
          </a:xfrm>
          <a:prstGeom prst="roundRect">
            <a:avLst>
              <a:gd name="adj" fmla="val 7273"/>
            </a:avLst>
          </a:prstGeom>
          <a:solidFill>
            <a:srgbClr val="EEF0FB"/>
          </a:solidFill>
          <a:ln w="9525">
            <a:solidFill>
              <a:srgbClr val="EEF0FB"/>
            </a:solidFill>
            <a:prstDash val="solid"/>
          </a:ln>
        </p:spPr>
      </p:sp>
      <p:sp>
        <p:nvSpPr>
          <p:cNvPr id="14" name="Text 12"/>
          <p:cNvSpPr txBox="1"/>
          <p:nvPr/>
        </p:nvSpPr>
        <p:spPr>
          <a:xfrm>
            <a:off x="731520" y="246888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۲ سورن</a:t>
            </a:r>
            <a:endParaRPr lang="en-US" sz="3400" dirty="0"/>
          </a:p>
        </p:txBody>
      </p:sp>
      <p:sp>
        <p:nvSpPr>
          <p:cNvPr id="15" name="Text 13"/>
          <p:cNvSpPr txBox="1"/>
          <p:nvPr/>
        </p:nvSpPr>
        <p:spPr>
          <a:xfrm>
            <a:off x="731520" y="324612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ریوارد (پاداش) ثابت هر بلاک</a:t>
            </a:r>
            <a:endParaRPr lang="en-US" sz="1400" dirty="0"/>
          </a:p>
        </p:txBody>
      </p:sp>
      <p:sp>
        <p:nvSpPr>
          <p:cNvPr id="16" name="Shape 14"/>
          <p:cNvSpPr/>
          <p:nvPr/>
        </p:nvSpPr>
        <p:spPr>
          <a:xfrm>
            <a:off x="8097012" y="4023360"/>
            <a:ext cx="3545738" cy="1508760"/>
          </a:xfrm>
          <a:prstGeom prst="roundRect">
            <a:avLst>
              <a:gd name="adj" fmla="val 7273"/>
            </a:avLst>
          </a:prstGeom>
          <a:solidFill>
            <a:srgbClr val="EEF0FB"/>
          </a:solidFill>
          <a:ln w="9525">
            <a:solidFill>
              <a:srgbClr val="EEF0FB"/>
            </a:solidFill>
            <a:prstDash val="solid"/>
          </a:ln>
        </p:spPr>
      </p:sp>
      <p:sp>
        <p:nvSpPr>
          <p:cNvPr id="17" name="Text 15"/>
          <p:cNvSpPr txBox="1"/>
          <p:nvPr/>
        </p:nvSpPr>
        <p:spPr>
          <a:xfrm>
            <a:off x="8279892" y="420624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۲۱٬۰۲۴٬۰۰۰</a:t>
            </a:r>
            <a:endParaRPr lang="en-US" sz="3400" dirty="0"/>
          </a:p>
        </p:txBody>
      </p:sp>
      <p:sp>
        <p:nvSpPr>
          <p:cNvPr id="18" name="Text 16"/>
          <p:cNvSpPr txBox="1"/>
          <p:nvPr/>
        </p:nvSpPr>
        <p:spPr>
          <a:xfrm>
            <a:off x="8279892" y="498348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انتشار سالانه‌ی سورن</a:t>
            </a:r>
            <a:endParaRPr lang="en-US" sz="1400" dirty="0"/>
          </a:p>
        </p:txBody>
      </p:sp>
      <p:sp>
        <p:nvSpPr>
          <p:cNvPr id="19" name="Shape 17"/>
          <p:cNvSpPr/>
          <p:nvPr/>
        </p:nvSpPr>
        <p:spPr>
          <a:xfrm>
            <a:off x="4323283" y="4023360"/>
            <a:ext cx="3545738" cy="1508760"/>
          </a:xfrm>
          <a:prstGeom prst="roundRect">
            <a:avLst>
              <a:gd name="adj" fmla="val 7273"/>
            </a:avLst>
          </a:prstGeom>
          <a:solidFill>
            <a:srgbClr val="EEF0FB"/>
          </a:solidFill>
          <a:ln w="9525">
            <a:solidFill>
              <a:srgbClr val="EEF0FB"/>
            </a:solidFill>
            <a:prstDash val="solid"/>
          </a:ln>
        </p:spPr>
      </p:sp>
      <p:sp>
        <p:nvSpPr>
          <p:cNvPr id="20" name="Text 18"/>
          <p:cNvSpPr txBox="1"/>
          <p:nvPr/>
        </p:nvSpPr>
        <p:spPr>
          <a:xfrm>
            <a:off x="4506163" y="420624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۶</a:t>
            </a:r>
            <a:endParaRPr lang="en-US" sz="3400" dirty="0"/>
          </a:p>
        </p:txBody>
      </p:sp>
      <p:sp>
        <p:nvSpPr>
          <p:cNvPr id="21" name="Text 19"/>
          <p:cNvSpPr txBox="1"/>
          <p:nvPr/>
        </p:nvSpPr>
        <p:spPr>
          <a:xfrm>
            <a:off x="4506163" y="498348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قرارداد ساختاری در بلاک نخست (genesis)</a:t>
            </a:r>
            <a:endParaRPr lang="en-US" sz="1400" dirty="0"/>
          </a:p>
        </p:txBody>
      </p:sp>
      <p:sp>
        <p:nvSpPr>
          <p:cNvPr id="22" name="Shape 20"/>
          <p:cNvSpPr/>
          <p:nvPr/>
        </p:nvSpPr>
        <p:spPr>
          <a:xfrm>
            <a:off x="548640" y="4023360"/>
            <a:ext cx="3545738" cy="1508760"/>
          </a:xfrm>
          <a:prstGeom prst="roundRect">
            <a:avLst>
              <a:gd name="adj" fmla="val 7273"/>
            </a:avLst>
          </a:prstGeom>
          <a:solidFill>
            <a:srgbClr val="EEF0FB"/>
          </a:solidFill>
          <a:ln w="9525">
            <a:solidFill>
              <a:srgbClr val="EEF0FB"/>
            </a:solidFill>
            <a:prstDash val="solid"/>
          </a:ln>
        </p:spPr>
      </p:sp>
      <p:sp>
        <p:nvSpPr>
          <p:cNvPr id="23" name="Text 21"/>
          <p:cNvSpPr txBox="1"/>
          <p:nvPr/>
        </p:nvSpPr>
        <p:spPr>
          <a:xfrm>
            <a:off x="731520" y="4206240"/>
            <a:ext cx="3179978"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۱۰¹⁴ wei</a:t>
            </a:r>
            <a:endParaRPr lang="en-US" sz="3400" dirty="0"/>
          </a:p>
        </p:txBody>
      </p:sp>
      <p:sp>
        <p:nvSpPr>
          <p:cNvPr id="24" name="Text 22"/>
          <p:cNvSpPr txBox="1"/>
          <p:nvPr/>
        </p:nvSpPr>
        <p:spPr>
          <a:xfrm>
            <a:off x="731520" y="4983480"/>
            <a:ext cx="3179978" cy="365760"/>
          </a:xfrm>
          <a:prstGeom prst="rect">
            <a:avLst/>
          </a:prstGeom>
          <a:noFill/>
          <a:ln/>
        </p:spPr>
        <p:txBody>
          <a:bodyPr wrap="square" lIns="0" tIns="0" rIns="0" bIns="0" rtlCol="0" anchor="t"/>
          <a:lstStyle/>
          <a:p>
            <a:pPr rtl="1" algn="r" indent="0" marL="0">
              <a:lnSpc>
                <a:spcPct val="105000"/>
              </a:lnSpc>
              <a:buNone/>
            </a:pPr>
            <a:r>
              <a:rPr lang="fa-IR" altLang="en-US" sz="1400" dirty="0">
                <a:solidFill>
                  <a:srgbClr val="565D7A"/>
                </a:solidFill>
                <a:latin typeface="Vazirmatn" pitchFamily="34" charset="0"/>
                <a:ea typeface="Vazirmatn" pitchFamily="34" charset="-122"/>
                <a:cs typeface="Vazirmatn" pitchFamily="34" charset="-120"/>
              </a:rPr>
              <a:t>قیمت ثابت هر واحد گاز</a:t>
            </a:r>
            <a:endParaRPr lang="en-US" sz="1400" dirty="0"/>
          </a:p>
        </p:txBody>
      </p:sp>
      <p:sp>
        <p:nvSpPr>
          <p:cNvPr id="25" name="Shape 23"/>
          <p:cNvSpPr/>
          <p:nvPr/>
        </p:nvSpPr>
        <p:spPr>
          <a:xfrm>
            <a:off x="11139830" y="5779008"/>
            <a:ext cx="411480" cy="411480"/>
          </a:xfrm>
          <a:prstGeom prst="ellipse">
            <a:avLst/>
          </a:prstGeom>
          <a:solidFill>
            <a:srgbClr val="2F3690"/>
          </a:solidFill>
          <a:ln w="12700">
            <a:solidFill>
              <a:srgbClr val="2F3690"/>
            </a:solidFill>
            <a:prstDash val="solid"/>
          </a:ln>
        </p:spPr>
      </p:sp>
      <p:pic>
        <p:nvPicPr>
          <p:cNvPr id="26" name="Image 0" descr="preencoded.png">    </p:cNvPr>
          <p:cNvPicPr>
            <a:picLocks noChangeAspect="1"/>
          </p:cNvPicPr>
          <p:nvPr/>
        </p:nvPicPr>
        <p:blipFill>
          <a:blip r:embed="rId1"/>
          <a:stretch>
            <a:fillRect/>
          </a:stretch>
        </p:blipFill>
        <p:spPr>
          <a:xfrm>
            <a:off x="11250930" y="5890108"/>
            <a:ext cx="189281" cy="189281"/>
          </a:xfrm>
          <a:prstGeom prst="rect">
            <a:avLst/>
          </a:prstGeom>
        </p:spPr>
      </p:pic>
      <p:sp>
        <p:nvSpPr>
          <p:cNvPr id="27" name="Text 24"/>
          <p:cNvSpPr txBox="1"/>
          <p:nvPr/>
        </p:nvSpPr>
        <p:spPr>
          <a:xfrm>
            <a:off x="8097012" y="5779008"/>
            <a:ext cx="2905658"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ارز بومی (نه ERC20)</a:t>
            </a:r>
            <a:endParaRPr lang="en-US" sz="1400" dirty="0"/>
          </a:p>
        </p:txBody>
      </p:sp>
      <p:sp>
        <p:nvSpPr>
          <p:cNvPr id="28" name="Shape 25"/>
          <p:cNvSpPr/>
          <p:nvPr/>
        </p:nvSpPr>
        <p:spPr>
          <a:xfrm>
            <a:off x="7366102" y="5779008"/>
            <a:ext cx="411480" cy="411480"/>
          </a:xfrm>
          <a:prstGeom prst="ellipse">
            <a:avLst/>
          </a:prstGeom>
          <a:solidFill>
            <a:srgbClr val="2F3690"/>
          </a:solidFill>
          <a:ln w="12700">
            <a:solidFill>
              <a:srgbClr val="2F3690"/>
            </a:solidFill>
            <a:prstDash val="solid"/>
          </a:ln>
        </p:spPr>
      </p:sp>
      <p:pic>
        <p:nvPicPr>
          <p:cNvPr id="29" name="Image 1" descr="preencoded.png">    </p:cNvPr>
          <p:cNvPicPr>
            <a:picLocks noChangeAspect="1"/>
          </p:cNvPicPr>
          <p:nvPr/>
        </p:nvPicPr>
        <p:blipFill>
          <a:blip r:embed="rId2"/>
          <a:stretch>
            <a:fillRect/>
          </a:stretch>
        </p:blipFill>
        <p:spPr>
          <a:xfrm>
            <a:off x="7477201" y="5890108"/>
            <a:ext cx="189281" cy="189281"/>
          </a:xfrm>
          <a:prstGeom prst="rect">
            <a:avLst/>
          </a:prstGeom>
        </p:spPr>
      </p:pic>
      <p:sp>
        <p:nvSpPr>
          <p:cNvPr id="30" name="Text 26"/>
          <p:cNvSpPr txBox="1"/>
          <p:nvPr/>
        </p:nvSpPr>
        <p:spPr>
          <a:xfrm>
            <a:off x="4323283" y="5779008"/>
            <a:ext cx="2905658"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حکمرانی دوگانه در کد</a:t>
            </a:r>
            <a:endParaRPr lang="en-US" sz="1400" dirty="0"/>
          </a:p>
        </p:txBody>
      </p:sp>
      <p:sp>
        <p:nvSpPr>
          <p:cNvPr id="31" name="Shape 27"/>
          <p:cNvSpPr/>
          <p:nvPr/>
        </p:nvSpPr>
        <p:spPr>
          <a:xfrm>
            <a:off x="3591458" y="5779008"/>
            <a:ext cx="411480" cy="411480"/>
          </a:xfrm>
          <a:prstGeom prst="ellipse">
            <a:avLst/>
          </a:prstGeom>
          <a:solidFill>
            <a:srgbClr val="2F3690"/>
          </a:solidFill>
          <a:ln w="12700">
            <a:solidFill>
              <a:srgbClr val="2F3690"/>
            </a:solidFill>
            <a:prstDash val="solid"/>
          </a:ln>
        </p:spPr>
      </p:sp>
      <p:pic>
        <p:nvPicPr>
          <p:cNvPr id="32" name="Image 2" descr="preencoded.png">    </p:cNvPr>
          <p:cNvPicPr>
            <a:picLocks noChangeAspect="1"/>
          </p:cNvPicPr>
          <p:nvPr/>
        </p:nvPicPr>
        <p:blipFill>
          <a:blip r:embed="rId3"/>
          <a:stretch>
            <a:fillRect/>
          </a:stretch>
        </p:blipFill>
        <p:spPr>
          <a:xfrm>
            <a:off x="3702558" y="5890108"/>
            <a:ext cx="189281" cy="189281"/>
          </a:xfrm>
          <a:prstGeom prst="rect">
            <a:avLst/>
          </a:prstGeom>
        </p:spPr>
      </p:pic>
      <p:sp>
        <p:nvSpPr>
          <p:cNvPr id="33" name="Text 28"/>
          <p:cNvSpPr txBox="1"/>
          <p:nvPr/>
        </p:nvSpPr>
        <p:spPr>
          <a:xfrm>
            <a:off x="548640" y="5779008"/>
            <a:ext cx="2905658"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بدون ادمین مرکزی</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سور در یک نگاه</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دو نهاد، دو قلمرو: مرز در کد اجرا می‌شود</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4</a:t>
            </a:r>
            <a:endParaRPr lang="en-US" sz="1000" dirty="0"/>
          </a:p>
        </p:txBody>
      </p:sp>
      <p:sp>
        <p:nvSpPr>
          <p:cNvPr id="6" name="Shape 4"/>
          <p:cNvSpPr/>
          <p:nvPr/>
        </p:nvSpPr>
        <p:spPr>
          <a:xfrm>
            <a:off x="7071055" y="1463040"/>
            <a:ext cx="4572000" cy="3611880"/>
          </a:xfrm>
          <a:prstGeom prst="roundRect">
            <a:avLst>
              <a:gd name="adj" fmla="val 3038"/>
            </a:avLst>
          </a:prstGeom>
          <a:solidFill>
            <a:srgbClr val="EEF0FB"/>
          </a:solidFill>
          <a:ln w="9525">
            <a:solidFill>
              <a:srgbClr val="EEF0FB"/>
            </a:solidFill>
            <a:prstDash val="solid"/>
          </a:ln>
        </p:spPr>
      </p:sp>
      <p:sp>
        <p:nvSpPr>
          <p:cNvPr id="7" name="Shape 5"/>
          <p:cNvSpPr/>
          <p:nvPr/>
        </p:nvSpPr>
        <p:spPr>
          <a:xfrm>
            <a:off x="548640" y="1463040"/>
            <a:ext cx="4572000" cy="3611880"/>
          </a:xfrm>
          <a:prstGeom prst="roundRect">
            <a:avLst>
              <a:gd name="adj" fmla="val 3038"/>
            </a:avLst>
          </a:prstGeom>
          <a:solidFill>
            <a:srgbClr val="F7F9FC"/>
          </a:solidFill>
          <a:ln w="9525">
            <a:solidFill>
              <a:srgbClr val="DDE1EE"/>
            </a:solidFill>
            <a:prstDash val="solid"/>
          </a:ln>
        </p:spPr>
      </p:sp>
      <p:sp>
        <p:nvSpPr>
          <p:cNvPr id="8" name="Shape 6"/>
          <p:cNvSpPr/>
          <p:nvPr/>
        </p:nvSpPr>
        <p:spPr>
          <a:xfrm>
            <a:off x="10957255" y="1664208"/>
            <a:ext cx="502920" cy="502920"/>
          </a:xfrm>
          <a:prstGeom prst="ellipse">
            <a:avLst/>
          </a:prstGeom>
          <a:solidFill>
            <a:srgbClr val="2F3690"/>
          </a:solidFill>
          <a:ln w="12700">
            <a:solidFill>
              <a:srgbClr val="2F3690"/>
            </a:solidFill>
            <a:prstDash val="solid"/>
          </a:ln>
        </p:spPr>
      </p:sp>
      <p:pic>
        <p:nvPicPr>
          <p:cNvPr id="9" name="Image 0" descr="preencoded.png">    </p:cNvPr>
          <p:cNvPicPr>
            <a:picLocks noChangeAspect="1"/>
          </p:cNvPicPr>
          <p:nvPr/>
        </p:nvPicPr>
        <p:blipFill>
          <a:blip r:embed="rId1"/>
          <a:stretch>
            <a:fillRect/>
          </a:stretch>
        </p:blipFill>
        <p:spPr>
          <a:xfrm>
            <a:off x="11093044" y="1799996"/>
            <a:ext cx="231343" cy="231343"/>
          </a:xfrm>
          <a:prstGeom prst="rect">
            <a:avLst/>
          </a:prstGeom>
        </p:spPr>
      </p:pic>
      <p:sp>
        <p:nvSpPr>
          <p:cNvPr id="10" name="Text 7"/>
          <p:cNvSpPr txBox="1"/>
          <p:nvPr/>
        </p:nvSpPr>
        <p:spPr>
          <a:xfrm>
            <a:off x="7253935" y="1645920"/>
            <a:ext cx="3566160" cy="365760"/>
          </a:xfrm>
          <a:prstGeom prst="rect">
            <a:avLst/>
          </a:prstGeom>
          <a:noFill/>
          <a:ln/>
        </p:spPr>
        <p:txBody>
          <a:bodyPr wrap="square" lIns="0" tIns="0" rIns="0" bIns="0" rtlCol="0" anchor="t"/>
          <a:lstStyle/>
          <a:p>
            <a:pPr rtl="1" algn="r" indent="0" marL="0">
              <a:lnSpc>
                <a:spcPct val="105000"/>
              </a:lnSpc>
              <a:buNone/>
            </a:pPr>
            <a:r>
              <a:rPr lang="fa-IR" altLang="en-US" sz="1900" b="1" dirty="0">
                <a:solidFill>
                  <a:srgbClr val="2F3690"/>
                </a:solidFill>
                <a:latin typeface="Vazirmatn" pitchFamily="34" charset="0"/>
                <a:ea typeface="Vazirmatn" pitchFamily="34" charset="-122"/>
                <a:cs typeface="Vazirmatn" pitchFamily="34" charset="-120"/>
              </a:rPr>
              <a:t>مجمع ولیدیتورهای شبکه</a:t>
            </a:r>
            <a:endParaRPr lang="en-US" sz="1900" dirty="0"/>
          </a:p>
        </p:txBody>
      </p:sp>
      <p:sp>
        <p:nvSpPr>
          <p:cNvPr id="11" name="Text 8"/>
          <p:cNvSpPr txBox="1"/>
          <p:nvPr/>
        </p:nvSpPr>
        <p:spPr>
          <a:xfrm>
            <a:off x="7253935" y="2029968"/>
            <a:ext cx="3566160"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حاکم واقعی شبکه؛ بدون نهاد حقوقی، صرفاً on-chain</a:t>
            </a:r>
            <a:endParaRPr lang="en-US" sz="1200" dirty="0"/>
          </a:p>
        </p:txBody>
      </p:sp>
      <p:sp>
        <p:nvSpPr>
          <p:cNvPr id="12" name="Text 9"/>
          <p:cNvSpPr txBox="1"/>
          <p:nvPr/>
        </p:nvSpPr>
        <p:spPr>
          <a:xfrm>
            <a:off x="7299655" y="2514600"/>
            <a:ext cx="4114800" cy="2377440"/>
          </a:xfrm>
          <a:prstGeom prst="rect">
            <a:avLst/>
          </a:prstGeom>
          <a:noFill/>
          <a:ln/>
        </p:spPr>
        <p:txBody>
          <a:bodyPr wrap="square" lIns="0" tIns="0" rIns="0" bIns="0" rtlCol="0" anchor="t"/>
          <a:lstStyle/>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مجموعه‌ی اجماع و وثیقه‌ها (ValidatorsRegistry)</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پارامترهای اقتصادی و امنیتی ورود و جریمه</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خزانه‌ی ولیدیتورها (ValidatorsTreasury)</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توزیع پاداش و نسبت سهم‌ها (BlockRewardDistributor)</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هیأت ۵نفره‌ی ولیدیتورها (ValidatorsBoard)</a:t>
            </a:r>
            <a:endParaRPr lang="en-US" sz="1400" dirty="0"/>
          </a:p>
        </p:txBody>
      </p:sp>
      <p:sp>
        <p:nvSpPr>
          <p:cNvPr id="13" name="Shape 10"/>
          <p:cNvSpPr/>
          <p:nvPr/>
        </p:nvSpPr>
        <p:spPr>
          <a:xfrm>
            <a:off x="4434840" y="1664208"/>
            <a:ext cx="502920" cy="502920"/>
          </a:xfrm>
          <a:prstGeom prst="ellipse">
            <a:avLst/>
          </a:prstGeom>
          <a:solidFill>
            <a:srgbClr val="5F6472"/>
          </a:solidFill>
          <a:ln w="12700">
            <a:solidFill>
              <a:srgbClr val="5F6472"/>
            </a:solidFill>
            <a:prstDash val="solid"/>
          </a:ln>
        </p:spPr>
      </p:sp>
      <p:pic>
        <p:nvPicPr>
          <p:cNvPr id="14" name="Image 1" descr="preencoded.png">    </p:cNvPr>
          <p:cNvPicPr>
            <a:picLocks noChangeAspect="1"/>
          </p:cNvPicPr>
          <p:nvPr/>
        </p:nvPicPr>
        <p:blipFill>
          <a:blip r:embed="rId2"/>
          <a:stretch>
            <a:fillRect/>
          </a:stretch>
        </p:blipFill>
        <p:spPr>
          <a:xfrm>
            <a:off x="4570628" y="1799996"/>
            <a:ext cx="231343" cy="231343"/>
          </a:xfrm>
          <a:prstGeom prst="rect">
            <a:avLst/>
          </a:prstGeom>
        </p:spPr>
      </p:pic>
      <p:sp>
        <p:nvSpPr>
          <p:cNvPr id="15" name="Text 11"/>
          <p:cNvSpPr txBox="1"/>
          <p:nvPr/>
        </p:nvSpPr>
        <p:spPr>
          <a:xfrm>
            <a:off x="731520" y="1645920"/>
            <a:ext cx="3566160" cy="365760"/>
          </a:xfrm>
          <a:prstGeom prst="rect">
            <a:avLst/>
          </a:prstGeom>
          <a:noFill/>
          <a:ln/>
        </p:spPr>
        <p:txBody>
          <a:bodyPr wrap="square" lIns="0" tIns="0" rIns="0" bIns="0" rtlCol="0" anchor="t"/>
          <a:lstStyle/>
          <a:p>
            <a:pPr rtl="1" algn="r" indent="0" marL="0">
              <a:lnSpc>
                <a:spcPct val="105000"/>
              </a:lnSpc>
              <a:buNone/>
            </a:pPr>
            <a:r>
              <a:rPr lang="fa-IR" altLang="en-US" sz="1900" b="1" dirty="0">
                <a:solidFill>
                  <a:srgbClr val="1B1B2F"/>
                </a:solidFill>
                <a:latin typeface="Vazirmatn" pitchFamily="34" charset="0"/>
                <a:ea typeface="Vazirmatn" pitchFamily="34" charset="-122"/>
                <a:cs typeface="Vazirmatn" pitchFamily="34" charset="-120"/>
              </a:rPr>
              <a:t>بنیاد سور</a:t>
            </a:r>
            <a:endParaRPr lang="en-US" sz="1900" dirty="0"/>
          </a:p>
        </p:txBody>
      </p:sp>
      <p:sp>
        <p:nvSpPr>
          <p:cNvPr id="16" name="Text 12"/>
          <p:cNvSpPr txBox="1"/>
          <p:nvPr/>
        </p:nvSpPr>
        <p:spPr>
          <a:xfrm>
            <a:off x="731520" y="2029968"/>
            <a:ext cx="3566160"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نهاد حقوقی؛ توسعه، آموزش و تبلیغ اکوسیستم</a:t>
            </a:r>
            <a:endParaRPr lang="en-US" sz="1200" dirty="0"/>
          </a:p>
        </p:txBody>
      </p:sp>
      <p:sp>
        <p:nvSpPr>
          <p:cNvPr id="17" name="Text 13"/>
          <p:cNvSpPr txBox="1"/>
          <p:nvPr/>
        </p:nvSpPr>
        <p:spPr>
          <a:xfrm>
            <a:off x="777240" y="2514600"/>
            <a:ext cx="4114800" cy="2377440"/>
          </a:xfrm>
          <a:prstGeom prst="rect">
            <a:avLst/>
          </a:prstGeom>
          <a:noFill/>
          <a:ln/>
        </p:spPr>
        <p:txBody>
          <a:bodyPr wrap="square" lIns="0" tIns="0" rIns="0" bIns="0" rtlCol="0" anchor="t"/>
          <a:lstStyle/>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حکمرانی داخلی بنیاد با ۱۵ عضو (FoundationDAO)</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کنترل دو کلید سرویس (اوراکل): identityOracle برای تأیید هویت و paymentOracle برای گزارش پرداخت</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موجودی genesis برابر ۲۰ میلیون سورن</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اجرای فروش دوره‌ی قیمت ثابت</a:t>
            </a:r>
            <a:endParaRPr lang="en-US" sz="1400" dirty="0"/>
          </a:p>
          <a:p>
            <a:pPr rtl="1" algn="r" indent="0" marL="0">
              <a:lnSpc>
                <a:spcPct val="105000"/>
              </a:lnSpc>
              <a:spcAft>
                <a:spcPts val="800"/>
              </a:spcAft>
              <a:buNone/>
            </a:pPr>
            <a:r>
              <a:rPr lang="fa-IR" altLang="en-US" sz="1400" dirty="0">
                <a:solidFill>
                  <a:srgbClr val="1B1B2F"/>
                </a:solidFill>
                <a:latin typeface="Vazirmatn" pitchFamily="34" charset="0"/>
                <a:ea typeface="Vazirmatn" pitchFamily="34" charset="-122"/>
                <a:cs typeface="Vazirmatn" pitchFamily="34" charset="-120"/>
              </a:rPr>
              <a:t>هیچ اختیاری روی اجماع، ولیدیتورها و پارامترهای شبکه</a:t>
            </a:r>
            <a:endParaRPr lang="en-US" sz="1400" dirty="0"/>
          </a:p>
        </p:txBody>
      </p:sp>
      <p:sp>
        <p:nvSpPr>
          <p:cNvPr id="18" name="Shape 14"/>
          <p:cNvSpPr/>
          <p:nvPr/>
        </p:nvSpPr>
        <p:spPr>
          <a:xfrm flipH="1">
            <a:off x="5212080" y="3200400"/>
            <a:ext cx="1767535" cy="0"/>
          </a:xfrm>
          <a:prstGeom prst="line">
            <a:avLst/>
          </a:prstGeom>
          <a:noFill/>
          <a:ln w="38100">
            <a:solidFill>
              <a:srgbClr val="2F3690"/>
            </a:solidFill>
            <a:prstDash val="solid"/>
            <a:tailEnd type="triangle"/>
          </a:ln>
        </p:spPr>
      </p:sp>
      <p:sp>
        <p:nvSpPr>
          <p:cNvPr id="19" name="Text 15"/>
          <p:cNvSpPr txBox="1"/>
          <p:nvPr/>
        </p:nvSpPr>
        <p:spPr>
          <a:xfrm>
            <a:off x="5230368" y="2560320"/>
            <a:ext cx="1730959" cy="2743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۱۵٪ از کل ریوارد</a:t>
            </a:r>
            <a:endParaRPr lang="en-US" sz="1300" dirty="0"/>
          </a:p>
        </p:txBody>
      </p:sp>
      <p:sp>
        <p:nvSpPr>
          <p:cNvPr id="20" name="Text 16"/>
          <p:cNvSpPr txBox="1"/>
          <p:nvPr/>
        </p:nvSpPr>
        <p:spPr>
          <a:xfrm>
            <a:off x="5230368" y="2834640"/>
            <a:ext cx="1730959" cy="27432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خودکار، بدون رأی</a:t>
            </a:r>
            <a:endParaRPr lang="en-US" sz="1200" dirty="0"/>
          </a:p>
        </p:txBody>
      </p:sp>
      <p:sp>
        <p:nvSpPr>
          <p:cNvPr id="21" name="Text 17"/>
          <p:cNvSpPr txBox="1"/>
          <p:nvPr/>
        </p:nvSpPr>
        <p:spPr>
          <a:xfrm>
            <a:off x="5230368" y="3337560"/>
            <a:ext cx="1730959" cy="45720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 ۳٫۱۵ میلیون سورن در سال</a:t>
            </a:r>
            <a:endParaRPr lang="en-US" sz="1200" dirty="0"/>
          </a:p>
        </p:txBody>
      </p:sp>
      <p:sp>
        <p:nvSpPr>
          <p:cNvPr id="22" name="Shape 18"/>
          <p:cNvSpPr/>
          <p:nvPr/>
        </p:nvSpPr>
        <p:spPr>
          <a:xfrm>
            <a:off x="548640" y="5303520"/>
            <a:ext cx="11094415" cy="914400"/>
          </a:xfrm>
          <a:prstGeom prst="roundRect">
            <a:avLst>
              <a:gd name="adj" fmla="val 12000"/>
            </a:avLst>
          </a:prstGeom>
          <a:solidFill>
            <a:srgbClr val="E3F4EC"/>
          </a:solidFill>
          <a:ln w="9525">
            <a:solidFill>
              <a:srgbClr val="E3F4EC"/>
            </a:solidFill>
            <a:prstDash val="solid"/>
          </a:ln>
        </p:spPr>
      </p:sp>
      <p:sp>
        <p:nvSpPr>
          <p:cNvPr id="23" name="Text 19"/>
          <p:cNvSpPr txBox="1"/>
          <p:nvPr/>
        </p:nvSpPr>
        <p:spPr>
          <a:xfrm>
            <a:off x="822960" y="5394960"/>
            <a:ext cx="10545775" cy="73152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F7A55"/>
                </a:solidFill>
                <a:latin typeface="Vazirmatn" pitchFamily="34" charset="0"/>
                <a:ea typeface="Vazirmatn" pitchFamily="34" charset="-122"/>
                <a:cs typeface="Vazirmatn" pitchFamily="34" charset="-120"/>
              </a:rPr>
              <a:t>FoundationDAO هیچ قرارداد ولیدیتوری را نمی‌شناسد و هیچ مسیر کدی به آن‌ها ندارد؛ ولیدیتورها هم هیچ کنترلی روی عملیات داخلی بنیاد ندارند. هر چیز فراتر از بودجه‌ی ثابت ۱۵٪ (مثلاً بودجه‌ی کمپین) فقط با هماهنگی خارج از قرارداد ممکن است.</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مقایسه با شبکه‌ی اول سور</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شبکه‌ی اول در برابر طرح فعلی: اقتصاد و کلاینت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602175"/>
                <a:gridCol w="4480560"/>
                <a:gridCol w="2011680"/>
              </a:tblGrid>
              <a:tr h="457200">
                <a:tc>
                  <a:txBody>
                    <a:bodyPr/>
                    <a:lstStyle/>
                    <a:p>
                      <a:pPr rtl="1" algn="r" indent="0" marL="0">
                        <a:buNone/>
                      </a:pPr>
                      <a:r>
                        <a:rPr lang="fa-IR" altLang="en-US" sz="1400" b="1" dirty="0">
                          <a:solidFill>
                            <a:srgbClr val="FFFFFF"/>
                          </a:solidFill>
                          <a:latin typeface="Vazirmatn" pitchFamily="34" charset="0"/>
                          <a:ea typeface="Vazirmatn" pitchFamily="34" charset="-122"/>
                          <a:cs typeface="Vazirmatn" pitchFamily="34" charset="-120"/>
                        </a:rPr>
                        <a:t>طرح فعلی</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400" b="1" dirty="0">
                          <a:solidFill>
                            <a:srgbClr val="FFFFFF"/>
                          </a:solidFill>
                          <a:latin typeface="Vazirmatn" pitchFamily="34" charset="0"/>
                          <a:ea typeface="Vazirmatn" pitchFamily="34" charset="-122"/>
                          <a:cs typeface="Vazirmatn" pitchFamily="34" charset="-120"/>
                        </a:rPr>
                        <a:t>شبکه‌ی اول سور</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400" b="1" dirty="0">
                          <a:solidFill>
                            <a:srgbClr val="FFFFFF"/>
                          </a:solidFill>
                          <a:latin typeface="Vazirmatn" pitchFamily="34" charset="0"/>
                          <a:ea typeface="Vazirmatn" pitchFamily="34" charset="-122"/>
                          <a:cs typeface="Vazirmatn" pitchFamily="34" charset="-120"/>
                        </a:rPr>
                        <a:t>ویژگی</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1097280">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QBFT با نهایی‌شدن فوری؛ بلاک ۳ ثانیه؛ Besu رسمی و بدون فورک</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IBFT-2 روی فورک خصوصی Besu؛ بلاک ۲ ثانیه؛ همگام‌شدن با نسخه‌های رسمی Besu عملاً ممکن نبود</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400" b="1" dirty="0">
                          <a:solidFill>
                            <a:srgbClr val="1B1B2F"/>
                          </a:solidFill>
                          <a:latin typeface="Vazirmatn" pitchFamily="34" charset="0"/>
                          <a:ea typeface="Vazirmatn" pitchFamily="34" charset="-122"/>
                          <a:cs typeface="Vazirmatn" pitchFamily="34" charset="-120"/>
                        </a:rPr>
                        <a:t>اجماع و کلاینت</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1188720">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ثابت ۲ سورن، بدون سقف کل. تغییر نرخ فقط با تصویب دومجلسی، تأخیر و سقف تاریخی داخل قرارداد</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متغیر: از ۰٫۳ سورن، طی ۶ سال تا اوج ۱٫۲۷، سپس کاهش تدریجی تا صفر طی حدود ۲۰ سال؛ سقف کل ۲۰۰ میلیون سورن</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400" b="1" dirty="0">
                          <a:solidFill>
                            <a:srgbClr val="1B1B2F"/>
                          </a:solidFill>
                          <a:latin typeface="Vazirmatn" pitchFamily="34" charset="0"/>
                          <a:ea typeface="Vazirmatn" pitchFamily="34" charset="-122"/>
                          <a:cs typeface="Vazirmatn" pitchFamily="34" charset="-120"/>
                        </a:rPr>
                        <a:t>پاداش هر بلاک</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1188720">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در قرارداد BlockRewardDistributor: ۱۵٪ بنیاد، سهم مستقیم ولیدیتورها (۴۰ تا ۶۵٪)، باقی خزانه؛ ۳۰٪ کارمزد معمولی سوزانده می‌شود</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۱۰٪ بنیاد و ۹۰٪ ولیدیتورها؛ پیاده‌شده در سطح نرم‌افزار (فورک Besu)</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400" b="1" dirty="0">
                          <a:solidFill>
                            <a:srgbClr val="1B1B2F"/>
                          </a:solidFill>
                          <a:latin typeface="Vazirmatn" pitchFamily="34" charset="0"/>
                          <a:ea typeface="Vazirmatn" pitchFamily="34" charset="-122"/>
                          <a:cs typeface="Vazirmatn" pitchFamily="34" charset="-120"/>
                        </a:rPr>
                        <a:t>تقسیم پاداش و کارمزد</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822960">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در سطح پروتکل ندارد؛ فقط الگوی سطح قرارداد (Zether) پیشنهاد شده است</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400" dirty="0">
                          <a:solidFill>
                            <a:srgbClr val="1B1B2F"/>
                          </a:solidFill>
                          <a:latin typeface="Vazirmatn" pitchFamily="34" charset="0"/>
                          <a:ea typeface="Vazirmatn" pitchFamily="34" charset="-122"/>
                          <a:cs typeface="Vazirmatn" pitchFamily="34" charset="-120"/>
                        </a:rPr>
                        <a:t>مزیت رقابتی اصلی شبکه</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400" b="1" dirty="0">
                          <a:solidFill>
                            <a:srgbClr val="1B1B2F"/>
                          </a:solidFill>
                          <a:latin typeface="Vazirmatn" pitchFamily="34" charset="0"/>
                          <a:ea typeface="Vazirmatn" pitchFamily="34" charset="-122"/>
                          <a:cs typeface="Vazirmatn" pitchFamily="34" charset="-120"/>
                        </a:rPr>
                        <a:t>تراکنش محرمانه</a:t>
                      </a:r>
                      <a:endParaRPr lang="fa-IR" sz="14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مقایسه با شبکه‌ی اول سور</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ورود ولیدیتور: رأی ولیدیتورها در برابر ثبت در قرارداد</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6</a:t>
            </a:r>
            <a:endParaRPr lang="en-US" sz="1000" dirty="0"/>
          </a:p>
        </p:txBody>
      </p:sp>
      <p:sp>
        <p:nvSpPr>
          <p:cNvPr id="6" name="Shape 4"/>
          <p:cNvSpPr/>
          <p:nvPr/>
        </p:nvSpPr>
        <p:spPr>
          <a:xfrm>
            <a:off x="6613855" y="1463040"/>
            <a:ext cx="5029200" cy="3611880"/>
          </a:xfrm>
          <a:prstGeom prst="roundRect">
            <a:avLst>
              <a:gd name="adj" fmla="val 3038"/>
            </a:avLst>
          </a:prstGeom>
          <a:solidFill>
            <a:srgbClr val="F0F1F5"/>
          </a:solidFill>
          <a:ln w="9525">
            <a:solidFill>
              <a:srgbClr val="F0F1F5"/>
            </a:solidFill>
            <a:prstDash val="solid"/>
          </a:ln>
        </p:spPr>
      </p:sp>
      <p:sp>
        <p:nvSpPr>
          <p:cNvPr id="7" name="Text 5"/>
          <p:cNvSpPr txBox="1"/>
          <p:nvPr/>
        </p:nvSpPr>
        <p:spPr>
          <a:xfrm>
            <a:off x="6842455" y="1600200"/>
            <a:ext cx="4572000" cy="365760"/>
          </a:xfrm>
          <a:prstGeom prst="rect">
            <a:avLst/>
          </a:prstGeom>
          <a:noFill/>
          <a:ln/>
        </p:spPr>
        <p:txBody>
          <a:bodyPr wrap="square" lIns="0" tIns="0" rIns="0" bIns="0" rtlCol="0" anchor="t"/>
          <a:lstStyle/>
          <a:p>
            <a:pPr rtl="1" algn="r" indent="0" marL="0">
              <a:lnSpc>
                <a:spcPct val="105000"/>
              </a:lnSpc>
              <a:buNone/>
            </a:pPr>
            <a:r>
              <a:rPr lang="fa-IR" altLang="en-US" sz="1700" b="1" dirty="0">
                <a:solidFill>
                  <a:srgbClr val="5F6472"/>
                </a:solidFill>
                <a:latin typeface="Vazirmatn" pitchFamily="34" charset="0"/>
                <a:ea typeface="Vazirmatn" pitchFamily="34" charset="-122"/>
                <a:cs typeface="Vazirmatn" pitchFamily="34" charset="-120"/>
              </a:rPr>
              <a:t>شبکه‌ی اول: ورود با رأی</a:t>
            </a:r>
            <a:endParaRPr lang="en-US" sz="1700" dirty="0"/>
          </a:p>
        </p:txBody>
      </p:sp>
      <p:sp>
        <p:nvSpPr>
          <p:cNvPr id="8" name="Shape 6"/>
          <p:cNvSpPr/>
          <p:nvPr/>
        </p:nvSpPr>
        <p:spPr>
          <a:xfrm>
            <a:off x="6842455" y="2057400"/>
            <a:ext cx="4572000" cy="585216"/>
          </a:xfrm>
          <a:prstGeom prst="roundRect">
            <a:avLst>
              <a:gd name="adj" fmla="val 18750"/>
            </a:avLst>
          </a:prstGeom>
          <a:solidFill>
            <a:srgbClr val="FFFFFF"/>
          </a:solidFill>
          <a:ln w="9525">
            <a:solidFill>
              <a:srgbClr val="DDE1EE"/>
            </a:solidFill>
            <a:prstDash val="solid"/>
          </a:ln>
        </p:spPr>
      </p:sp>
      <p:sp>
        <p:nvSpPr>
          <p:cNvPr id="9" name="Shape 7"/>
          <p:cNvSpPr/>
          <p:nvPr/>
        </p:nvSpPr>
        <p:spPr>
          <a:xfrm>
            <a:off x="11002975" y="2144268"/>
            <a:ext cx="411480" cy="411480"/>
          </a:xfrm>
          <a:prstGeom prst="ellipse">
            <a:avLst/>
          </a:prstGeom>
          <a:solidFill>
            <a:srgbClr val="5F6472"/>
          </a:solidFill>
          <a:ln w="12700">
            <a:solidFill>
              <a:srgbClr val="5F6472"/>
            </a:solidFill>
            <a:prstDash val="solid"/>
          </a:ln>
        </p:spPr>
      </p:sp>
      <p:sp>
        <p:nvSpPr>
          <p:cNvPr id="10" name="Text 8"/>
          <p:cNvSpPr txBox="1"/>
          <p:nvPr/>
        </p:nvSpPr>
        <p:spPr>
          <a:xfrm>
            <a:off x="11002975" y="214426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۱</a:t>
            </a:r>
            <a:endParaRPr lang="en-US" sz="1300" dirty="0"/>
          </a:p>
        </p:txBody>
      </p:sp>
      <p:sp>
        <p:nvSpPr>
          <p:cNvPr id="11" name="Text 9"/>
          <p:cNvSpPr txBox="1"/>
          <p:nvPr/>
        </p:nvSpPr>
        <p:spPr>
          <a:xfrm>
            <a:off x="6979615" y="205740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ولیدیتور جدید درخواست می‌دهد</a:t>
            </a:r>
            <a:endParaRPr lang="en-US" sz="1250" dirty="0"/>
          </a:p>
        </p:txBody>
      </p:sp>
      <p:sp>
        <p:nvSpPr>
          <p:cNvPr id="12" name="Shape 10"/>
          <p:cNvSpPr/>
          <p:nvPr/>
        </p:nvSpPr>
        <p:spPr>
          <a:xfrm>
            <a:off x="6842455" y="2788920"/>
            <a:ext cx="4572000" cy="585216"/>
          </a:xfrm>
          <a:prstGeom prst="roundRect">
            <a:avLst>
              <a:gd name="adj" fmla="val 18750"/>
            </a:avLst>
          </a:prstGeom>
          <a:solidFill>
            <a:srgbClr val="FFFFFF"/>
          </a:solidFill>
          <a:ln w="9525">
            <a:solidFill>
              <a:srgbClr val="DDE1EE"/>
            </a:solidFill>
            <a:prstDash val="solid"/>
          </a:ln>
        </p:spPr>
      </p:sp>
      <p:sp>
        <p:nvSpPr>
          <p:cNvPr id="13" name="Shape 11"/>
          <p:cNvSpPr/>
          <p:nvPr/>
        </p:nvSpPr>
        <p:spPr>
          <a:xfrm>
            <a:off x="11002975" y="2875788"/>
            <a:ext cx="411480" cy="411480"/>
          </a:xfrm>
          <a:prstGeom prst="ellipse">
            <a:avLst/>
          </a:prstGeom>
          <a:solidFill>
            <a:srgbClr val="5F6472"/>
          </a:solidFill>
          <a:ln w="12700">
            <a:solidFill>
              <a:srgbClr val="5F6472"/>
            </a:solidFill>
            <a:prstDash val="solid"/>
          </a:ln>
        </p:spPr>
      </p:sp>
      <p:sp>
        <p:nvSpPr>
          <p:cNvPr id="14" name="Text 12"/>
          <p:cNvSpPr txBox="1"/>
          <p:nvPr/>
        </p:nvSpPr>
        <p:spPr>
          <a:xfrm>
            <a:off x="11002975" y="287578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۲</a:t>
            </a:r>
            <a:endParaRPr lang="en-US" sz="1300" dirty="0"/>
          </a:p>
        </p:txBody>
      </p:sp>
      <p:sp>
        <p:nvSpPr>
          <p:cNvPr id="15" name="Text 13"/>
          <p:cNvSpPr txBox="1"/>
          <p:nvPr/>
        </p:nvSpPr>
        <p:spPr>
          <a:xfrm>
            <a:off x="6979615" y="278892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ولیدیتورهای موجود رأی می‌دهند (مکانیزم بومی اجماع، نصاب حدود ۶۷٪)</a:t>
            </a:r>
            <a:endParaRPr lang="en-US" sz="1250" dirty="0"/>
          </a:p>
        </p:txBody>
      </p:sp>
      <p:sp>
        <p:nvSpPr>
          <p:cNvPr id="16" name="Shape 14"/>
          <p:cNvSpPr/>
          <p:nvPr/>
        </p:nvSpPr>
        <p:spPr>
          <a:xfrm>
            <a:off x="6842455" y="3520440"/>
            <a:ext cx="4572000" cy="585216"/>
          </a:xfrm>
          <a:prstGeom prst="roundRect">
            <a:avLst>
              <a:gd name="adj" fmla="val 18750"/>
            </a:avLst>
          </a:prstGeom>
          <a:solidFill>
            <a:srgbClr val="FFFFFF"/>
          </a:solidFill>
          <a:ln w="9525">
            <a:solidFill>
              <a:srgbClr val="DDE1EE"/>
            </a:solidFill>
            <a:prstDash val="solid"/>
          </a:ln>
        </p:spPr>
      </p:sp>
      <p:sp>
        <p:nvSpPr>
          <p:cNvPr id="17" name="Shape 15"/>
          <p:cNvSpPr/>
          <p:nvPr/>
        </p:nvSpPr>
        <p:spPr>
          <a:xfrm>
            <a:off x="11002975" y="3607308"/>
            <a:ext cx="411480" cy="411480"/>
          </a:xfrm>
          <a:prstGeom prst="ellipse">
            <a:avLst/>
          </a:prstGeom>
          <a:solidFill>
            <a:srgbClr val="5F6472"/>
          </a:solidFill>
          <a:ln w="12700">
            <a:solidFill>
              <a:srgbClr val="5F6472"/>
            </a:solidFill>
            <a:prstDash val="solid"/>
          </a:ln>
        </p:spPr>
      </p:sp>
      <p:sp>
        <p:nvSpPr>
          <p:cNvPr id="18" name="Text 16"/>
          <p:cNvSpPr txBox="1"/>
          <p:nvPr/>
        </p:nvSpPr>
        <p:spPr>
          <a:xfrm>
            <a:off x="11002975" y="360730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۳</a:t>
            </a:r>
            <a:endParaRPr lang="en-US" sz="1300" dirty="0"/>
          </a:p>
        </p:txBody>
      </p:sp>
      <p:sp>
        <p:nvSpPr>
          <p:cNvPr id="19" name="Text 17"/>
          <p:cNvSpPr txBox="1"/>
          <p:nvPr/>
        </p:nvSpPr>
        <p:spPr>
          <a:xfrm>
            <a:off x="6979615" y="352044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با تصویب، به مجموعه افزوده می‌شود</a:t>
            </a:r>
            <a:endParaRPr lang="en-US" sz="1250" dirty="0"/>
          </a:p>
        </p:txBody>
      </p:sp>
      <p:sp>
        <p:nvSpPr>
          <p:cNvPr id="20" name="Shape 18"/>
          <p:cNvSpPr/>
          <p:nvPr/>
        </p:nvSpPr>
        <p:spPr>
          <a:xfrm>
            <a:off x="6842455" y="4251960"/>
            <a:ext cx="4572000" cy="585216"/>
          </a:xfrm>
          <a:prstGeom prst="roundRect">
            <a:avLst>
              <a:gd name="adj" fmla="val 18750"/>
            </a:avLst>
          </a:prstGeom>
          <a:solidFill>
            <a:srgbClr val="FFFFFF"/>
          </a:solidFill>
          <a:ln w="9525">
            <a:solidFill>
              <a:srgbClr val="DDE1EE"/>
            </a:solidFill>
            <a:prstDash val="solid"/>
          </a:ln>
        </p:spPr>
      </p:sp>
      <p:sp>
        <p:nvSpPr>
          <p:cNvPr id="21" name="Shape 19"/>
          <p:cNvSpPr/>
          <p:nvPr/>
        </p:nvSpPr>
        <p:spPr>
          <a:xfrm>
            <a:off x="11002975" y="4338828"/>
            <a:ext cx="411480" cy="411480"/>
          </a:xfrm>
          <a:prstGeom prst="ellipse">
            <a:avLst/>
          </a:prstGeom>
          <a:solidFill>
            <a:srgbClr val="5F6472"/>
          </a:solidFill>
          <a:ln w="12700">
            <a:solidFill>
              <a:srgbClr val="5F6472"/>
            </a:solidFill>
            <a:prstDash val="solid"/>
          </a:ln>
        </p:spPr>
      </p:sp>
      <p:sp>
        <p:nvSpPr>
          <p:cNvPr id="22" name="Text 20"/>
          <p:cNvSpPr txBox="1"/>
          <p:nvPr/>
        </p:nvSpPr>
        <p:spPr>
          <a:xfrm>
            <a:off x="11002975" y="433882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۴</a:t>
            </a:r>
            <a:endParaRPr lang="en-US" sz="1300" dirty="0"/>
          </a:p>
        </p:txBody>
      </p:sp>
      <p:sp>
        <p:nvSpPr>
          <p:cNvPr id="23" name="Text 21"/>
          <p:cNvSpPr txBox="1"/>
          <p:nvPr/>
        </p:nvSpPr>
        <p:spPr>
          <a:xfrm>
            <a:off x="6979615" y="425196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خروج و حذف هم با رأی ولیدیتورها</a:t>
            </a:r>
            <a:endParaRPr lang="en-US" sz="1250" dirty="0"/>
          </a:p>
        </p:txBody>
      </p:sp>
      <p:sp>
        <p:nvSpPr>
          <p:cNvPr id="24" name="Shape 22"/>
          <p:cNvSpPr/>
          <p:nvPr/>
        </p:nvSpPr>
        <p:spPr>
          <a:xfrm>
            <a:off x="548640" y="1463040"/>
            <a:ext cx="5029200" cy="3611880"/>
          </a:xfrm>
          <a:prstGeom prst="roundRect">
            <a:avLst>
              <a:gd name="adj" fmla="val 3038"/>
            </a:avLst>
          </a:prstGeom>
          <a:solidFill>
            <a:srgbClr val="EEF0FB"/>
          </a:solidFill>
          <a:ln w="9525">
            <a:solidFill>
              <a:srgbClr val="EEF0FB"/>
            </a:solidFill>
            <a:prstDash val="solid"/>
          </a:ln>
        </p:spPr>
      </p:sp>
      <p:sp>
        <p:nvSpPr>
          <p:cNvPr id="25" name="Text 23"/>
          <p:cNvSpPr txBox="1"/>
          <p:nvPr/>
        </p:nvSpPr>
        <p:spPr>
          <a:xfrm>
            <a:off x="777240" y="1600200"/>
            <a:ext cx="4572000" cy="365760"/>
          </a:xfrm>
          <a:prstGeom prst="rect">
            <a:avLst/>
          </a:prstGeom>
          <a:noFill/>
          <a:ln/>
        </p:spPr>
        <p:txBody>
          <a:bodyPr wrap="square" lIns="0" tIns="0" rIns="0" bIns="0" rtlCol="0" anchor="t"/>
          <a:lstStyle/>
          <a:p>
            <a:pPr rtl="1" algn="r" indent="0" marL="0">
              <a:lnSpc>
                <a:spcPct val="105000"/>
              </a:lnSpc>
              <a:buNone/>
            </a:pPr>
            <a:r>
              <a:rPr lang="fa-IR" altLang="en-US" sz="1700" b="1" dirty="0">
                <a:solidFill>
                  <a:srgbClr val="2F3690"/>
                </a:solidFill>
                <a:latin typeface="Vazirmatn" pitchFamily="34" charset="0"/>
                <a:ea typeface="Vazirmatn" pitchFamily="34" charset="-122"/>
                <a:cs typeface="Vazirmatn" pitchFamily="34" charset="-120"/>
              </a:rPr>
              <a:t>طرح فعلی: ورود با ثبت در قرارداد</a:t>
            </a:r>
            <a:endParaRPr lang="en-US" sz="1700" dirty="0"/>
          </a:p>
        </p:txBody>
      </p:sp>
      <p:sp>
        <p:nvSpPr>
          <p:cNvPr id="26" name="Shape 24"/>
          <p:cNvSpPr/>
          <p:nvPr/>
        </p:nvSpPr>
        <p:spPr>
          <a:xfrm>
            <a:off x="777240" y="2057400"/>
            <a:ext cx="4572000" cy="585216"/>
          </a:xfrm>
          <a:prstGeom prst="roundRect">
            <a:avLst>
              <a:gd name="adj" fmla="val 18750"/>
            </a:avLst>
          </a:prstGeom>
          <a:solidFill>
            <a:srgbClr val="FFFFFF"/>
          </a:solidFill>
          <a:ln w="9525">
            <a:solidFill>
              <a:srgbClr val="DDE1EE"/>
            </a:solidFill>
            <a:prstDash val="solid"/>
          </a:ln>
        </p:spPr>
      </p:sp>
      <p:sp>
        <p:nvSpPr>
          <p:cNvPr id="27" name="Shape 25"/>
          <p:cNvSpPr/>
          <p:nvPr/>
        </p:nvSpPr>
        <p:spPr>
          <a:xfrm>
            <a:off x="4937760" y="2144268"/>
            <a:ext cx="411480" cy="411480"/>
          </a:xfrm>
          <a:prstGeom prst="ellipse">
            <a:avLst/>
          </a:prstGeom>
          <a:solidFill>
            <a:srgbClr val="2F3690"/>
          </a:solidFill>
          <a:ln w="12700">
            <a:solidFill>
              <a:srgbClr val="2F3690"/>
            </a:solidFill>
            <a:prstDash val="solid"/>
          </a:ln>
        </p:spPr>
      </p:sp>
      <p:sp>
        <p:nvSpPr>
          <p:cNvPr id="28" name="Text 26"/>
          <p:cNvSpPr txBox="1"/>
          <p:nvPr/>
        </p:nvSpPr>
        <p:spPr>
          <a:xfrm>
            <a:off x="4937760" y="214426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۱</a:t>
            </a:r>
            <a:endParaRPr lang="en-US" sz="1300" dirty="0"/>
          </a:p>
        </p:txBody>
      </p:sp>
      <p:sp>
        <p:nvSpPr>
          <p:cNvPr id="29" name="Text 27"/>
          <p:cNvSpPr txBox="1"/>
          <p:nvPr/>
        </p:nvSpPr>
        <p:spPr>
          <a:xfrm>
            <a:off x="914400" y="205740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وثیقه و کارمزد عضویت را با requestMembership می‌پردازد</a:t>
            </a:r>
            <a:endParaRPr lang="en-US" sz="1250" dirty="0"/>
          </a:p>
        </p:txBody>
      </p:sp>
      <p:sp>
        <p:nvSpPr>
          <p:cNvPr id="30" name="Shape 28"/>
          <p:cNvSpPr/>
          <p:nvPr/>
        </p:nvSpPr>
        <p:spPr>
          <a:xfrm>
            <a:off x="777240" y="2788920"/>
            <a:ext cx="4572000" cy="585216"/>
          </a:xfrm>
          <a:prstGeom prst="roundRect">
            <a:avLst>
              <a:gd name="adj" fmla="val 18750"/>
            </a:avLst>
          </a:prstGeom>
          <a:solidFill>
            <a:srgbClr val="FFFFFF"/>
          </a:solidFill>
          <a:ln w="9525">
            <a:solidFill>
              <a:srgbClr val="DDE1EE"/>
            </a:solidFill>
            <a:prstDash val="solid"/>
          </a:ln>
        </p:spPr>
      </p:sp>
      <p:sp>
        <p:nvSpPr>
          <p:cNvPr id="31" name="Shape 29"/>
          <p:cNvSpPr/>
          <p:nvPr/>
        </p:nvSpPr>
        <p:spPr>
          <a:xfrm>
            <a:off x="4937760" y="2875788"/>
            <a:ext cx="411480" cy="411480"/>
          </a:xfrm>
          <a:prstGeom prst="ellipse">
            <a:avLst/>
          </a:prstGeom>
          <a:solidFill>
            <a:srgbClr val="2F3690"/>
          </a:solidFill>
          <a:ln w="12700">
            <a:solidFill>
              <a:srgbClr val="2F3690"/>
            </a:solidFill>
            <a:prstDash val="solid"/>
          </a:ln>
        </p:spPr>
      </p:sp>
      <p:sp>
        <p:nvSpPr>
          <p:cNvPr id="32" name="Text 30"/>
          <p:cNvSpPr txBox="1"/>
          <p:nvPr/>
        </p:nvSpPr>
        <p:spPr>
          <a:xfrm>
            <a:off x="4937760" y="287578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۲</a:t>
            </a:r>
            <a:endParaRPr lang="en-US" sz="1300" dirty="0"/>
          </a:p>
        </p:txBody>
      </p:sp>
      <p:sp>
        <p:nvSpPr>
          <p:cNvPr id="33" name="Text 31"/>
          <p:cNvSpPr txBox="1"/>
          <p:nvPr/>
        </p:nvSpPr>
        <p:spPr>
          <a:xfrm>
            <a:off x="914400" y="278892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دوره‌ی آزمایشی ۱ هفته‌ای؛ هنوز در مجموعه‌ی اجماع نیست</a:t>
            </a:r>
            <a:endParaRPr lang="en-US" sz="1250" dirty="0"/>
          </a:p>
        </p:txBody>
      </p:sp>
      <p:sp>
        <p:nvSpPr>
          <p:cNvPr id="34" name="Shape 32"/>
          <p:cNvSpPr/>
          <p:nvPr/>
        </p:nvSpPr>
        <p:spPr>
          <a:xfrm>
            <a:off x="777240" y="3520440"/>
            <a:ext cx="4572000" cy="585216"/>
          </a:xfrm>
          <a:prstGeom prst="roundRect">
            <a:avLst>
              <a:gd name="adj" fmla="val 18750"/>
            </a:avLst>
          </a:prstGeom>
          <a:solidFill>
            <a:srgbClr val="FFFFFF"/>
          </a:solidFill>
          <a:ln w="9525">
            <a:solidFill>
              <a:srgbClr val="DDE1EE"/>
            </a:solidFill>
            <a:prstDash val="solid"/>
          </a:ln>
        </p:spPr>
      </p:sp>
      <p:sp>
        <p:nvSpPr>
          <p:cNvPr id="35" name="Shape 33"/>
          <p:cNvSpPr/>
          <p:nvPr/>
        </p:nvSpPr>
        <p:spPr>
          <a:xfrm>
            <a:off x="4937760" y="3607308"/>
            <a:ext cx="411480" cy="411480"/>
          </a:xfrm>
          <a:prstGeom prst="ellipse">
            <a:avLst/>
          </a:prstGeom>
          <a:solidFill>
            <a:srgbClr val="2F3690"/>
          </a:solidFill>
          <a:ln w="12700">
            <a:solidFill>
              <a:srgbClr val="2F3690"/>
            </a:solidFill>
            <a:prstDash val="solid"/>
          </a:ln>
        </p:spPr>
      </p:sp>
      <p:sp>
        <p:nvSpPr>
          <p:cNvPr id="36" name="Text 34"/>
          <p:cNvSpPr txBox="1"/>
          <p:nvPr/>
        </p:nvSpPr>
        <p:spPr>
          <a:xfrm>
            <a:off x="4937760" y="360730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۳</a:t>
            </a:r>
            <a:endParaRPr lang="en-US" sz="1300" dirty="0"/>
          </a:p>
        </p:txBody>
      </p:sp>
      <p:sp>
        <p:nvSpPr>
          <p:cNvPr id="37" name="Text 35"/>
          <p:cNvSpPr txBox="1"/>
          <p:nvPr/>
        </p:nvSpPr>
        <p:spPr>
          <a:xfrm>
            <a:off x="914400" y="352044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سرویس آف‌چین Verifier سلامت و محل نود را تأیید می‌کند؛ تصمیم با هش شواهد ثبت می‌شود</a:t>
            </a:r>
            <a:endParaRPr lang="en-US" sz="1250" dirty="0"/>
          </a:p>
        </p:txBody>
      </p:sp>
      <p:sp>
        <p:nvSpPr>
          <p:cNvPr id="38" name="Shape 36"/>
          <p:cNvSpPr/>
          <p:nvPr/>
        </p:nvSpPr>
        <p:spPr>
          <a:xfrm>
            <a:off x="777240" y="4251960"/>
            <a:ext cx="4572000" cy="585216"/>
          </a:xfrm>
          <a:prstGeom prst="roundRect">
            <a:avLst>
              <a:gd name="adj" fmla="val 18750"/>
            </a:avLst>
          </a:prstGeom>
          <a:solidFill>
            <a:srgbClr val="FFFFFF"/>
          </a:solidFill>
          <a:ln w="9525">
            <a:solidFill>
              <a:srgbClr val="DDE1EE"/>
            </a:solidFill>
            <a:prstDash val="solid"/>
          </a:ln>
        </p:spPr>
      </p:sp>
      <p:sp>
        <p:nvSpPr>
          <p:cNvPr id="39" name="Shape 37"/>
          <p:cNvSpPr/>
          <p:nvPr/>
        </p:nvSpPr>
        <p:spPr>
          <a:xfrm>
            <a:off x="4937760" y="4338828"/>
            <a:ext cx="411480" cy="411480"/>
          </a:xfrm>
          <a:prstGeom prst="ellipse">
            <a:avLst/>
          </a:prstGeom>
          <a:solidFill>
            <a:srgbClr val="2F3690"/>
          </a:solidFill>
          <a:ln w="12700">
            <a:solidFill>
              <a:srgbClr val="2F3690"/>
            </a:solidFill>
            <a:prstDash val="solid"/>
          </a:ln>
        </p:spPr>
      </p:sp>
      <p:sp>
        <p:nvSpPr>
          <p:cNvPr id="40" name="Text 38"/>
          <p:cNvSpPr txBox="1"/>
          <p:nvPr/>
        </p:nvSpPr>
        <p:spPr>
          <a:xfrm>
            <a:off x="4937760" y="4338828"/>
            <a:ext cx="411480" cy="41148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۴</a:t>
            </a:r>
            <a:endParaRPr lang="en-US" sz="1300" dirty="0"/>
          </a:p>
        </p:txBody>
      </p:sp>
      <p:sp>
        <p:nvSpPr>
          <p:cNvPr id="41" name="Text 39"/>
          <p:cNvSpPr txBox="1"/>
          <p:nvPr/>
        </p:nvSpPr>
        <p:spPr>
          <a:xfrm>
            <a:off x="914400" y="4251960"/>
            <a:ext cx="3794760" cy="58521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فعال می‌شود؛ تعلیق فوری، جریمه با اعتراض و رأی مجمع، خروج داوطلبانه</a:t>
            </a:r>
            <a:endParaRPr lang="en-US" sz="1250" dirty="0"/>
          </a:p>
        </p:txBody>
      </p:sp>
      <p:sp>
        <p:nvSpPr>
          <p:cNvPr id="42" name="Shape 40"/>
          <p:cNvSpPr/>
          <p:nvPr/>
        </p:nvSpPr>
        <p:spPr>
          <a:xfrm flipH="1">
            <a:off x="5715000" y="3246120"/>
            <a:ext cx="761695" cy="0"/>
          </a:xfrm>
          <a:prstGeom prst="line">
            <a:avLst/>
          </a:prstGeom>
          <a:noFill/>
          <a:ln w="38100">
            <a:solidFill>
              <a:srgbClr val="2F3690"/>
            </a:solidFill>
            <a:prstDash val="solid"/>
            <a:tailEnd type="triangle"/>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5212080"/>
          <a:ext cx="11094415" cy="914400"/>
        </p:xfrm>
        <a:graphic>
          <a:graphicData uri="http://schemas.openxmlformats.org/drawingml/2006/table">
            <a:tbl>
              <a:tblPr/>
              <a:tblGrid>
                <a:gridCol w="4602175"/>
                <a:gridCol w="4480560"/>
                <a:gridCol w="2011680"/>
              </a:tblGrid>
              <a:tr h="310896">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طرح فعلی</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شبکه‌ی اول</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38404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۷ مؤسس در genesis؛ هر ولیدیتور یک نود واقعی دارد</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برنامه‌ریزی‌شده ۱۳، راه‌اندازی با ۴</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ولیدیتورهای اولیه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8404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در کد: FoundationDAO بدون مسیر به قراردادهای ولیدیتوری</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روی کاغذ جدا، در عمل مبهم</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مرز بنیاد و ولیدیتورها</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معماری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شش قرارداد ساختاری با آدرس ثابت در بلاک genesis</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7</a:t>
            </a:r>
            <a:endParaRPr lang="en-US" sz="1000" dirty="0"/>
          </a:p>
        </p:txBody>
      </p:sp>
      <p:sp>
        <p:nvSpPr>
          <p:cNvPr id="6" name="Shape 4"/>
          <p:cNvSpPr/>
          <p:nvPr/>
        </p:nvSpPr>
        <p:spPr>
          <a:xfrm>
            <a:off x="8078724" y="1417320"/>
            <a:ext cx="3564026" cy="2148840"/>
          </a:xfrm>
          <a:prstGeom prst="roundRect">
            <a:avLst>
              <a:gd name="adj" fmla="val 5106"/>
            </a:avLst>
          </a:prstGeom>
          <a:solidFill>
            <a:srgbClr val="F7F9FC"/>
          </a:solidFill>
          <a:ln w="9525">
            <a:solidFill>
              <a:srgbClr val="DDE1EE"/>
            </a:solidFill>
            <a:prstDash val="solid"/>
          </a:ln>
        </p:spPr>
      </p:sp>
      <p:sp>
        <p:nvSpPr>
          <p:cNvPr id="7" name="Shape 5"/>
          <p:cNvSpPr/>
          <p:nvPr/>
        </p:nvSpPr>
        <p:spPr>
          <a:xfrm>
            <a:off x="11048390" y="1554480"/>
            <a:ext cx="457200" cy="45720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171834" y="1677924"/>
            <a:ext cx="210312" cy="210312"/>
          </a:xfrm>
          <a:prstGeom prst="rect">
            <a:avLst/>
          </a:prstGeom>
        </p:spPr>
      </p:pic>
      <p:sp>
        <p:nvSpPr>
          <p:cNvPr id="9" name="Text 6"/>
          <p:cNvSpPr txBox="1"/>
          <p:nvPr/>
        </p:nvSpPr>
        <p:spPr>
          <a:xfrm>
            <a:off x="8215884" y="153619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FoundationDAO</a:t>
            </a:r>
            <a:endParaRPr lang="en-US" sz="1400" dirty="0"/>
          </a:p>
        </p:txBody>
      </p:sp>
      <p:sp>
        <p:nvSpPr>
          <p:cNvPr id="10" name="Text 7"/>
          <p:cNvSpPr txBox="1"/>
          <p:nvPr/>
        </p:nvSpPr>
        <p:spPr>
          <a:xfrm>
            <a:off x="8215884" y="182880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0x1111…1111</a:t>
            </a:r>
            <a:endParaRPr lang="en-US" sz="1100" dirty="0"/>
          </a:p>
        </p:txBody>
      </p:sp>
      <p:sp>
        <p:nvSpPr>
          <p:cNvPr id="11" name="Text 8"/>
          <p:cNvSpPr txBox="1"/>
          <p:nvPr/>
        </p:nvSpPr>
        <p:spPr>
          <a:xfrm>
            <a:off x="8215884" y="216712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حکمرانی داخلی بنیاد (۱۵ عضو)؛ فقط کلید identityOracle و paymentOracle را تعیین می‌کند</a:t>
            </a:r>
            <a:endParaRPr lang="en-US" sz="1250" dirty="0"/>
          </a:p>
        </p:txBody>
      </p:sp>
      <p:sp>
        <p:nvSpPr>
          <p:cNvPr id="12" name="Text 9"/>
          <p:cNvSpPr txBox="1"/>
          <p:nvPr/>
        </p:nvSpPr>
        <p:spPr>
          <a:xfrm>
            <a:off x="8215884" y="306324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هیچ قرارداد دیگری را نمی‌شناسد</a:t>
            </a:r>
            <a:endParaRPr lang="en-US" sz="1100" dirty="0"/>
          </a:p>
        </p:txBody>
      </p:sp>
      <p:sp>
        <p:nvSpPr>
          <p:cNvPr id="13" name="Shape 10"/>
          <p:cNvSpPr/>
          <p:nvPr/>
        </p:nvSpPr>
        <p:spPr>
          <a:xfrm>
            <a:off x="4314139" y="1417320"/>
            <a:ext cx="3564026" cy="2148840"/>
          </a:xfrm>
          <a:prstGeom prst="roundRect">
            <a:avLst>
              <a:gd name="adj" fmla="val 5106"/>
            </a:avLst>
          </a:prstGeom>
          <a:solidFill>
            <a:srgbClr val="F7F9FC"/>
          </a:solidFill>
          <a:ln w="9525">
            <a:solidFill>
              <a:srgbClr val="DDE1EE"/>
            </a:solidFill>
            <a:prstDash val="solid"/>
          </a:ln>
        </p:spPr>
      </p:sp>
      <p:sp>
        <p:nvSpPr>
          <p:cNvPr id="14" name="Shape 11"/>
          <p:cNvSpPr/>
          <p:nvPr/>
        </p:nvSpPr>
        <p:spPr>
          <a:xfrm>
            <a:off x="7283806" y="1554480"/>
            <a:ext cx="457200" cy="457200"/>
          </a:xfrm>
          <a:prstGeom prst="ellipse">
            <a:avLst/>
          </a:prstGeom>
          <a:solidFill>
            <a:srgbClr val="2F3690"/>
          </a:solidFill>
          <a:ln w="12700">
            <a:solidFill>
              <a:srgbClr val="2F3690"/>
            </a:solidFill>
            <a:prstDash val="solid"/>
          </a:ln>
        </p:spPr>
      </p:sp>
      <p:pic>
        <p:nvPicPr>
          <p:cNvPr id="15" name="Image 1" descr="preencoded.png">    </p:cNvPr>
          <p:cNvPicPr>
            <a:picLocks noChangeAspect="1"/>
          </p:cNvPicPr>
          <p:nvPr/>
        </p:nvPicPr>
        <p:blipFill>
          <a:blip r:embed="rId2"/>
          <a:stretch>
            <a:fillRect/>
          </a:stretch>
        </p:blipFill>
        <p:spPr>
          <a:xfrm>
            <a:off x="7407250" y="1677924"/>
            <a:ext cx="210312" cy="210312"/>
          </a:xfrm>
          <a:prstGeom prst="rect">
            <a:avLst/>
          </a:prstGeom>
        </p:spPr>
      </p:pic>
      <p:sp>
        <p:nvSpPr>
          <p:cNvPr id="16" name="Text 12"/>
          <p:cNvSpPr txBox="1"/>
          <p:nvPr/>
        </p:nvSpPr>
        <p:spPr>
          <a:xfrm>
            <a:off x="4451299" y="153619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BlockRewardDistributor</a:t>
            </a:r>
            <a:endParaRPr lang="en-US" sz="1400" dirty="0"/>
          </a:p>
        </p:txBody>
      </p:sp>
      <p:sp>
        <p:nvSpPr>
          <p:cNvPr id="17" name="Text 13"/>
          <p:cNvSpPr txBox="1"/>
          <p:nvPr/>
        </p:nvSpPr>
        <p:spPr>
          <a:xfrm>
            <a:off x="4451299" y="182880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0x2222…2222</a:t>
            </a:r>
            <a:endParaRPr lang="en-US" sz="1100" dirty="0"/>
          </a:p>
        </p:txBody>
      </p:sp>
      <p:sp>
        <p:nvSpPr>
          <p:cNvPr id="18" name="Text 14"/>
          <p:cNvSpPr txBox="1"/>
          <p:nvPr/>
        </p:nvSpPr>
        <p:spPr>
          <a:xfrm>
            <a:off x="4451299" y="216712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گیرنده‌ی ریوارد و کارمزد بلاک‌ها (miningbeneficiary در Besu)؛ توزیع دوره‌ای؛ سقف پاداش؛ حکمرانی سهم و نرخ</a:t>
            </a:r>
            <a:endParaRPr lang="en-US" sz="1250" dirty="0"/>
          </a:p>
        </p:txBody>
      </p:sp>
      <p:sp>
        <p:nvSpPr>
          <p:cNvPr id="19" name="Text 15"/>
          <p:cNvSpPr txBox="1"/>
          <p:nvPr/>
        </p:nvSpPr>
        <p:spPr>
          <a:xfrm>
            <a:off x="4451299" y="306324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Registry، Treasury، Board</a:t>
            </a:r>
            <a:endParaRPr lang="en-US" sz="1100" dirty="0"/>
          </a:p>
        </p:txBody>
      </p:sp>
      <p:sp>
        <p:nvSpPr>
          <p:cNvPr id="20" name="Shape 16"/>
          <p:cNvSpPr/>
          <p:nvPr/>
        </p:nvSpPr>
        <p:spPr>
          <a:xfrm>
            <a:off x="548640" y="1417320"/>
            <a:ext cx="3564026" cy="2148840"/>
          </a:xfrm>
          <a:prstGeom prst="roundRect">
            <a:avLst>
              <a:gd name="adj" fmla="val 5106"/>
            </a:avLst>
          </a:prstGeom>
          <a:solidFill>
            <a:srgbClr val="F7F9FC"/>
          </a:solidFill>
          <a:ln w="9525">
            <a:solidFill>
              <a:srgbClr val="DDE1EE"/>
            </a:solidFill>
            <a:prstDash val="solid"/>
          </a:ln>
        </p:spPr>
      </p:sp>
      <p:sp>
        <p:nvSpPr>
          <p:cNvPr id="21" name="Shape 17"/>
          <p:cNvSpPr/>
          <p:nvPr/>
        </p:nvSpPr>
        <p:spPr>
          <a:xfrm>
            <a:off x="3518306" y="1554480"/>
            <a:ext cx="457200" cy="457200"/>
          </a:xfrm>
          <a:prstGeom prst="ellipse">
            <a:avLst/>
          </a:prstGeom>
          <a:solidFill>
            <a:srgbClr val="2F3690"/>
          </a:solidFill>
          <a:ln w="12700">
            <a:solidFill>
              <a:srgbClr val="2F3690"/>
            </a:solidFill>
            <a:prstDash val="solid"/>
          </a:ln>
        </p:spPr>
      </p:sp>
      <p:pic>
        <p:nvPicPr>
          <p:cNvPr id="22" name="Image 2" descr="preencoded.png">    </p:cNvPr>
          <p:cNvPicPr>
            <a:picLocks noChangeAspect="1"/>
          </p:cNvPicPr>
          <p:nvPr/>
        </p:nvPicPr>
        <p:blipFill>
          <a:blip r:embed="rId3"/>
          <a:stretch>
            <a:fillRect/>
          </a:stretch>
        </p:blipFill>
        <p:spPr>
          <a:xfrm>
            <a:off x="3641750" y="1677924"/>
            <a:ext cx="210312" cy="210312"/>
          </a:xfrm>
          <a:prstGeom prst="rect">
            <a:avLst/>
          </a:prstGeom>
        </p:spPr>
      </p:pic>
      <p:sp>
        <p:nvSpPr>
          <p:cNvPr id="23" name="Text 18"/>
          <p:cNvSpPr txBox="1"/>
          <p:nvPr/>
        </p:nvSpPr>
        <p:spPr>
          <a:xfrm>
            <a:off x="685800" y="153619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ValidatorsRegistry</a:t>
            </a:r>
            <a:endParaRPr lang="en-US" sz="1400" dirty="0"/>
          </a:p>
        </p:txBody>
      </p:sp>
      <p:sp>
        <p:nvSpPr>
          <p:cNvPr id="24" name="Text 19"/>
          <p:cNvSpPr txBox="1"/>
          <p:nvPr/>
        </p:nvSpPr>
        <p:spPr>
          <a:xfrm>
            <a:off x="685800" y="182880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0x3333…3333</a:t>
            </a:r>
            <a:endParaRPr lang="en-US" sz="1100" dirty="0"/>
          </a:p>
        </p:txBody>
      </p:sp>
      <p:sp>
        <p:nvSpPr>
          <p:cNvPr id="25" name="Text 20"/>
          <p:cNvSpPr txBox="1"/>
          <p:nvPr/>
        </p:nvSpPr>
        <p:spPr>
          <a:xfrm>
            <a:off x="685800" y="216712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مرجع اجماع (getValidators)؛ وثیقه، چرخه‌ی عمر و جریمه؛ مرجع صلاحیت پرداخت</a:t>
            </a:r>
            <a:endParaRPr lang="en-US" sz="1250" dirty="0"/>
          </a:p>
        </p:txBody>
      </p:sp>
      <p:sp>
        <p:nvSpPr>
          <p:cNvPr id="26" name="Text 21"/>
          <p:cNvSpPr txBox="1"/>
          <p:nvPr/>
        </p:nvSpPr>
        <p:spPr>
          <a:xfrm>
            <a:off x="685800" y="306324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Treasury</a:t>
            </a:r>
            <a:endParaRPr lang="en-US" sz="1100" dirty="0"/>
          </a:p>
        </p:txBody>
      </p:sp>
      <p:sp>
        <p:nvSpPr>
          <p:cNvPr id="27" name="Shape 22"/>
          <p:cNvSpPr/>
          <p:nvPr/>
        </p:nvSpPr>
        <p:spPr>
          <a:xfrm>
            <a:off x="8078724" y="3749040"/>
            <a:ext cx="3564026" cy="2148840"/>
          </a:xfrm>
          <a:prstGeom prst="roundRect">
            <a:avLst>
              <a:gd name="adj" fmla="val 5106"/>
            </a:avLst>
          </a:prstGeom>
          <a:solidFill>
            <a:srgbClr val="F7F9FC"/>
          </a:solidFill>
          <a:ln w="9525">
            <a:solidFill>
              <a:srgbClr val="DDE1EE"/>
            </a:solidFill>
            <a:prstDash val="solid"/>
          </a:ln>
        </p:spPr>
      </p:sp>
      <p:sp>
        <p:nvSpPr>
          <p:cNvPr id="28" name="Shape 23"/>
          <p:cNvSpPr/>
          <p:nvPr/>
        </p:nvSpPr>
        <p:spPr>
          <a:xfrm>
            <a:off x="11048390" y="3886200"/>
            <a:ext cx="457200" cy="457200"/>
          </a:xfrm>
          <a:prstGeom prst="ellipse">
            <a:avLst/>
          </a:prstGeom>
          <a:solidFill>
            <a:srgbClr val="2F3690"/>
          </a:solidFill>
          <a:ln w="12700">
            <a:solidFill>
              <a:srgbClr val="2F3690"/>
            </a:solidFill>
            <a:prstDash val="solid"/>
          </a:ln>
        </p:spPr>
      </p:sp>
      <p:pic>
        <p:nvPicPr>
          <p:cNvPr id="29" name="Image 3" descr="preencoded.png">    </p:cNvPr>
          <p:cNvPicPr>
            <a:picLocks noChangeAspect="1"/>
          </p:cNvPicPr>
          <p:nvPr/>
        </p:nvPicPr>
        <p:blipFill>
          <a:blip r:embed="rId4"/>
          <a:stretch>
            <a:fillRect/>
          </a:stretch>
        </p:blipFill>
        <p:spPr>
          <a:xfrm>
            <a:off x="11171834" y="4009644"/>
            <a:ext cx="210312" cy="210312"/>
          </a:xfrm>
          <a:prstGeom prst="rect">
            <a:avLst/>
          </a:prstGeom>
        </p:spPr>
      </p:pic>
      <p:sp>
        <p:nvSpPr>
          <p:cNvPr id="30" name="Text 24"/>
          <p:cNvSpPr txBox="1"/>
          <p:nvPr/>
        </p:nvSpPr>
        <p:spPr>
          <a:xfrm>
            <a:off x="8215884" y="386791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ValidatorsBoard</a:t>
            </a:r>
            <a:endParaRPr lang="en-US" sz="1400" dirty="0"/>
          </a:p>
        </p:txBody>
      </p:sp>
      <p:sp>
        <p:nvSpPr>
          <p:cNvPr id="31" name="Text 25"/>
          <p:cNvSpPr txBox="1"/>
          <p:nvPr/>
        </p:nvSpPr>
        <p:spPr>
          <a:xfrm>
            <a:off x="8215884" y="416052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0x4444…4444</a:t>
            </a:r>
            <a:endParaRPr lang="en-US" sz="1100" dirty="0"/>
          </a:p>
        </p:txBody>
      </p:sp>
      <p:sp>
        <p:nvSpPr>
          <p:cNvPr id="32" name="Text 26"/>
          <p:cNvSpPr txBox="1"/>
          <p:nvPr/>
        </p:nvSpPr>
        <p:spPr>
          <a:xfrm>
            <a:off x="8215884" y="449884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هیأت ۵نفره؛ رأی تأییدی مستمر؛ اختیارات تفویضی محدود</a:t>
            </a:r>
            <a:endParaRPr lang="en-US" sz="1250" dirty="0"/>
          </a:p>
        </p:txBody>
      </p:sp>
      <p:sp>
        <p:nvSpPr>
          <p:cNvPr id="33" name="Text 27"/>
          <p:cNvSpPr txBox="1"/>
          <p:nvPr/>
        </p:nvSpPr>
        <p:spPr>
          <a:xfrm>
            <a:off x="8215884" y="539496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Registry، Distributor، Treasury، IdentityRegistry</a:t>
            </a:r>
            <a:endParaRPr lang="en-US" sz="1100" dirty="0"/>
          </a:p>
        </p:txBody>
      </p:sp>
      <p:sp>
        <p:nvSpPr>
          <p:cNvPr id="34" name="Shape 28"/>
          <p:cNvSpPr/>
          <p:nvPr/>
        </p:nvSpPr>
        <p:spPr>
          <a:xfrm>
            <a:off x="4314139" y="3749040"/>
            <a:ext cx="3564026" cy="2148840"/>
          </a:xfrm>
          <a:prstGeom prst="roundRect">
            <a:avLst>
              <a:gd name="adj" fmla="val 5106"/>
            </a:avLst>
          </a:prstGeom>
          <a:solidFill>
            <a:srgbClr val="F7F9FC"/>
          </a:solidFill>
          <a:ln w="9525">
            <a:solidFill>
              <a:srgbClr val="DDE1EE"/>
            </a:solidFill>
            <a:prstDash val="solid"/>
          </a:ln>
        </p:spPr>
      </p:sp>
      <p:sp>
        <p:nvSpPr>
          <p:cNvPr id="35" name="Shape 29"/>
          <p:cNvSpPr/>
          <p:nvPr/>
        </p:nvSpPr>
        <p:spPr>
          <a:xfrm>
            <a:off x="7283806" y="3886200"/>
            <a:ext cx="457200" cy="457200"/>
          </a:xfrm>
          <a:prstGeom prst="ellipse">
            <a:avLst/>
          </a:prstGeom>
          <a:solidFill>
            <a:srgbClr val="2F3690"/>
          </a:solidFill>
          <a:ln w="12700">
            <a:solidFill>
              <a:srgbClr val="2F3690"/>
            </a:solidFill>
            <a:prstDash val="solid"/>
          </a:ln>
        </p:spPr>
      </p:sp>
      <p:pic>
        <p:nvPicPr>
          <p:cNvPr id="36" name="Image 4" descr="preencoded.png">    </p:cNvPr>
          <p:cNvPicPr>
            <a:picLocks noChangeAspect="1"/>
          </p:cNvPicPr>
          <p:nvPr/>
        </p:nvPicPr>
        <p:blipFill>
          <a:blip r:embed="rId5"/>
          <a:stretch>
            <a:fillRect/>
          </a:stretch>
        </p:blipFill>
        <p:spPr>
          <a:xfrm>
            <a:off x="7407250" y="4009644"/>
            <a:ext cx="210312" cy="210312"/>
          </a:xfrm>
          <a:prstGeom prst="rect">
            <a:avLst/>
          </a:prstGeom>
        </p:spPr>
      </p:pic>
      <p:sp>
        <p:nvSpPr>
          <p:cNvPr id="37" name="Text 30"/>
          <p:cNvSpPr txBox="1"/>
          <p:nvPr/>
        </p:nvSpPr>
        <p:spPr>
          <a:xfrm>
            <a:off x="4451299" y="386791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ValidatorsTreasury</a:t>
            </a:r>
            <a:endParaRPr lang="en-US" sz="1400" dirty="0"/>
          </a:p>
        </p:txBody>
      </p:sp>
      <p:sp>
        <p:nvSpPr>
          <p:cNvPr id="38" name="Text 31"/>
          <p:cNvSpPr txBox="1"/>
          <p:nvPr/>
        </p:nvSpPr>
        <p:spPr>
          <a:xfrm>
            <a:off x="4451299" y="416052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0x5555…5555</a:t>
            </a:r>
            <a:endParaRPr lang="en-US" sz="1100" dirty="0"/>
          </a:p>
        </p:txBody>
      </p:sp>
      <p:sp>
        <p:nvSpPr>
          <p:cNvPr id="39" name="Text 32"/>
          <p:cNvSpPr txBox="1"/>
          <p:nvPr/>
        </p:nvSpPr>
        <p:spPr>
          <a:xfrm>
            <a:off x="4451299" y="449884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خزانه‌ی ولیدیتورها؛ خرج فقط با هیأت و زیر سقف‌های مجمع</a:t>
            </a:r>
            <a:endParaRPr lang="en-US" sz="1250" dirty="0"/>
          </a:p>
        </p:txBody>
      </p:sp>
      <p:sp>
        <p:nvSpPr>
          <p:cNvPr id="40" name="Text 33"/>
          <p:cNvSpPr txBox="1"/>
          <p:nvPr/>
        </p:nvSpPr>
        <p:spPr>
          <a:xfrm>
            <a:off x="4451299" y="539496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Registry، Board</a:t>
            </a:r>
            <a:endParaRPr lang="en-US" sz="1100" dirty="0"/>
          </a:p>
        </p:txBody>
      </p:sp>
      <p:sp>
        <p:nvSpPr>
          <p:cNvPr id="41" name="Shape 34"/>
          <p:cNvSpPr/>
          <p:nvPr/>
        </p:nvSpPr>
        <p:spPr>
          <a:xfrm>
            <a:off x="548640" y="3749040"/>
            <a:ext cx="3564026" cy="2148840"/>
          </a:xfrm>
          <a:prstGeom prst="roundRect">
            <a:avLst>
              <a:gd name="adj" fmla="val 5106"/>
            </a:avLst>
          </a:prstGeom>
          <a:solidFill>
            <a:srgbClr val="F7F9FC"/>
          </a:solidFill>
          <a:ln w="9525">
            <a:solidFill>
              <a:srgbClr val="DDE1EE"/>
            </a:solidFill>
            <a:prstDash val="solid"/>
          </a:ln>
        </p:spPr>
      </p:sp>
      <p:sp>
        <p:nvSpPr>
          <p:cNvPr id="42" name="Shape 35"/>
          <p:cNvSpPr/>
          <p:nvPr/>
        </p:nvSpPr>
        <p:spPr>
          <a:xfrm>
            <a:off x="3518306" y="3886200"/>
            <a:ext cx="457200" cy="457200"/>
          </a:xfrm>
          <a:prstGeom prst="ellipse">
            <a:avLst/>
          </a:prstGeom>
          <a:solidFill>
            <a:srgbClr val="2F3690"/>
          </a:solidFill>
          <a:ln w="12700">
            <a:solidFill>
              <a:srgbClr val="2F3690"/>
            </a:solidFill>
            <a:prstDash val="solid"/>
          </a:ln>
        </p:spPr>
      </p:sp>
      <p:pic>
        <p:nvPicPr>
          <p:cNvPr id="43" name="Image 5" descr="preencoded.png">    </p:cNvPr>
          <p:cNvPicPr>
            <a:picLocks noChangeAspect="1"/>
          </p:cNvPicPr>
          <p:nvPr/>
        </p:nvPicPr>
        <p:blipFill>
          <a:blip r:embed="rId6"/>
          <a:stretch>
            <a:fillRect/>
          </a:stretch>
        </p:blipFill>
        <p:spPr>
          <a:xfrm>
            <a:off x="3641750" y="4009644"/>
            <a:ext cx="210312" cy="210312"/>
          </a:xfrm>
          <a:prstGeom prst="rect">
            <a:avLst/>
          </a:prstGeom>
        </p:spPr>
      </p:pic>
      <p:sp>
        <p:nvSpPr>
          <p:cNvPr id="44" name="Text 36"/>
          <p:cNvSpPr txBox="1"/>
          <p:nvPr/>
        </p:nvSpPr>
        <p:spPr>
          <a:xfrm>
            <a:off x="685800" y="3867912"/>
            <a:ext cx="2695346" cy="27432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IdentityRegistry</a:t>
            </a:r>
            <a:endParaRPr lang="en-US" sz="1400" dirty="0"/>
          </a:p>
        </p:txBody>
      </p:sp>
      <p:sp>
        <p:nvSpPr>
          <p:cNvPr id="45" name="Text 37"/>
          <p:cNvSpPr txBox="1"/>
          <p:nvPr/>
        </p:nvSpPr>
        <p:spPr>
          <a:xfrm>
            <a:off x="685800" y="4160520"/>
            <a:ext cx="2695346" cy="2286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0x6666…6666</a:t>
            </a:r>
            <a:endParaRPr lang="en-US" sz="1100" dirty="0"/>
          </a:p>
        </p:txBody>
      </p:sp>
      <p:sp>
        <p:nvSpPr>
          <p:cNvPr id="46" name="Text 38"/>
          <p:cNvSpPr txBox="1"/>
          <p:nvPr/>
        </p:nvSpPr>
        <p:spPr>
          <a:xfrm>
            <a:off x="685800" y="4498848"/>
            <a:ext cx="3289706" cy="868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هویت خوداظهاری و وریفای برای همه‌ی کاربران؛ فقط فلگ و commitment روی زنجیره</a:t>
            </a:r>
            <a:endParaRPr lang="en-US" sz="1250" dirty="0"/>
          </a:p>
        </p:txBody>
      </p:sp>
      <p:sp>
        <p:nvSpPr>
          <p:cNvPr id="47" name="Text 39"/>
          <p:cNvSpPr txBox="1"/>
          <p:nvPr/>
        </p:nvSpPr>
        <p:spPr>
          <a:xfrm>
            <a:off x="685800" y="5394960"/>
            <a:ext cx="3289706" cy="457200"/>
          </a:xfrm>
          <a:prstGeom prst="rect">
            <a:avLst/>
          </a:prstGeom>
          <a:noFill/>
          <a:ln/>
        </p:spPr>
        <p:txBody>
          <a:bodyPr wrap="square" lIns="0" tIns="0" rIns="0" bIns="0" rtlCol="0" anchor="t"/>
          <a:lstStyle/>
          <a:p>
            <a:pPr rtl="1" algn="r" indent="0" marL="0">
              <a:lnSpc>
                <a:spcPct val="105000"/>
              </a:lnSpc>
              <a:buNone/>
            </a:pPr>
            <a:r>
              <a:rPr lang="fa-IR" altLang="en-US" sz="1100" b="1" dirty="0">
                <a:solidFill>
                  <a:srgbClr val="565D7A"/>
                </a:solidFill>
                <a:latin typeface="Vazirmatn" pitchFamily="34" charset="0"/>
                <a:ea typeface="Vazirmatn" pitchFamily="34" charset="-122"/>
                <a:cs typeface="Vazirmatn" pitchFamily="34" charset="-120"/>
              </a:rPr>
              <a:t>می‌شناسد: </a:t>
            </a:r>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FoundationDAO</a:t>
            </a:r>
            <a:endParaRPr lang="en-US" sz="1100" dirty="0"/>
          </a:p>
        </p:txBody>
      </p:sp>
      <p:sp>
        <p:nvSpPr>
          <p:cNvPr id="48" name="Text 40"/>
          <p:cNvSpPr txBox="1"/>
          <p:nvPr/>
        </p:nvSpPr>
        <p:spPr>
          <a:xfrm>
            <a:off x="548640" y="6053328"/>
            <a:ext cx="11094415"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SurenSale و ServiceStaking قراردادهای مستقل‌اند و جزو این شش قرارداد genesis نیستند.</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معماری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شش اصل طراحی</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8</a:t>
            </a:r>
            <a:endParaRPr lang="en-US" sz="1000" dirty="0"/>
          </a:p>
        </p:txBody>
      </p:sp>
      <p:sp>
        <p:nvSpPr>
          <p:cNvPr id="6" name="Shape 4"/>
          <p:cNvSpPr/>
          <p:nvPr/>
        </p:nvSpPr>
        <p:spPr>
          <a:xfrm>
            <a:off x="8078724" y="1417320"/>
            <a:ext cx="3564026" cy="2194560"/>
          </a:xfrm>
          <a:prstGeom prst="roundRect">
            <a:avLst>
              <a:gd name="adj" fmla="val 5000"/>
            </a:avLst>
          </a:prstGeom>
          <a:solidFill>
            <a:srgbClr val="F7F9FC"/>
          </a:solidFill>
          <a:ln w="9525">
            <a:solidFill>
              <a:srgbClr val="DDE1EE"/>
            </a:solidFill>
            <a:prstDash val="solid"/>
          </a:ln>
        </p:spPr>
      </p:sp>
      <p:sp>
        <p:nvSpPr>
          <p:cNvPr id="7" name="Shape 5"/>
          <p:cNvSpPr/>
          <p:nvPr/>
        </p:nvSpPr>
        <p:spPr>
          <a:xfrm>
            <a:off x="10956950" y="1600200"/>
            <a:ext cx="502920" cy="50292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092739" y="1735988"/>
            <a:ext cx="231343" cy="231343"/>
          </a:xfrm>
          <a:prstGeom prst="rect">
            <a:avLst/>
          </a:prstGeom>
        </p:spPr>
      </p:pic>
      <p:sp>
        <p:nvSpPr>
          <p:cNvPr id="9" name="Text 6"/>
          <p:cNvSpPr txBox="1"/>
          <p:nvPr/>
        </p:nvSpPr>
        <p:spPr>
          <a:xfrm>
            <a:off x="8261604" y="169164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سورن ارز بومی است</a:t>
            </a:r>
            <a:endParaRPr lang="en-US" sz="1600" dirty="0"/>
          </a:p>
        </p:txBody>
      </p:sp>
      <p:sp>
        <p:nvSpPr>
          <p:cNvPr id="10" name="Text 7"/>
          <p:cNvSpPr txBox="1"/>
          <p:nvPr/>
        </p:nvSpPr>
        <p:spPr>
          <a:xfrm>
            <a:off x="8261604" y="228600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مثل ETH در اتریوم؛ همه‌جا با msg.value، بدون قرارداد توکن و بدون approve/transferFrom.</a:t>
            </a:r>
            <a:endParaRPr lang="en-US" sz="1300" dirty="0"/>
          </a:p>
        </p:txBody>
      </p:sp>
      <p:sp>
        <p:nvSpPr>
          <p:cNvPr id="11" name="Shape 8"/>
          <p:cNvSpPr/>
          <p:nvPr/>
        </p:nvSpPr>
        <p:spPr>
          <a:xfrm>
            <a:off x="4314139" y="1417320"/>
            <a:ext cx="3564026" cy="2194560"/>
          </a:xfrm>
          <a:prstGeom prst="roundRect">
            <a:avLst>
              <a:gd name="adj" fmla="val 5000"/>
            </a:avLst>
          </a:prstGeom>
          <a:solidFill>
            <a:srgbClr val="F7F9FC"/>
          </a:solidFill>
          <a:ln w="9525">
            <a:solidFill>
              <a:srgbClr val="DDE1EE"/>
            </a:solidFill>
            <a:prstDash val="solid"/>
          </a:ln>
        </p:spPr>
      </p:sp>
      <p:sp>
        <p:nvSpPr>
          <p:cNvPr id="12" name="Shape 9"/>
          <p:cNvSpPr/>
          <p:nvPr/>
        </p:nvSpPr>
        <p:spPr>
          <a:xfrm>
            <a:off x="7192366" y="1600200"/>
            <a:ext cx="502920" cy="502920"/>
          </a:xfrm>
          <a:prstGeom prst="ellipse">
            <a:avLst/>
          </a:prstGeom>
          <a:solidFill>
            <a:srgbClr val="2F3690"/>
          </a:solidFill>
          <a:ln w="12700">
            <a:solidFill>
              <a:srgbClr val="2F3690"/>
            </a:solidFill>
            <a:prstDash val="solid"/>
          </a:ln>
        </p:spPr>
      </p:sp>
      <p:pic>
        <p:nvPicPr>
          <p:cNvPr id="13" name="Image 1" descr="preencoded.png">    </p:cNvPr>
          <p:cNvPicPr>
            <a:picLocks noChangeAspect="1"/>
          </p:cNvPicPr>
          <p:nvPr/>
        </p:nvPicPr>
        <p:blipFill>
          <a:blip r:embed="rId2"/>
          <a:stretch>
            <a:fillRect/>
          </a:stretch>
        </p:blipFill>
        <p:spPr>
          <a:xfrm>
            <a:off x="7328154" y="1735988"/>
            <a:ext cx="231343" cy="231343"/>
          </a:xfrm>
          <a:prstGeom prst="rect">
            <a:avLst/>
          </a:prstGeom>
        </p:spPr>
      </p:pic>
      <p:sp>
        <p:nvSpPr>
          <p:cNvPr id="14" name="Text 10"/>
          <p:cNvSpPr txBox="1"/>
          <p:nvPr/>
        </p:nvSpPr>
        <p:spPr>
          <a:xfrm>
            <a:off x="4497019" y="169164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Besu رسمی، بدون فورک</a:t>
            </a:r>
            <a:endParaRPr lang="en-US" sz="1600" dirty="0"/>
          </a:p>
        </p:txBody>
      </p:sp>
      <p:sp>
        <p:nvSpPr>
          <p:cNvPr id="15" name="Text 11"/>
          <p:cNvSpPr txBox="1"/>
          <p:nvPr/>
        </p:nvSpPr>
        <p:spPr>
          <a:xfrm>
            <a:off x="4497019" y="228600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تقسیم پاداش در قرارداد انجام می‌شود؛ زنجیره فقط دو تنظیم استاندارد Besu را به کار می‌برد: گیرنده‌ی پاداش بلاک (miningbeneficiary) و مقدار آن (blockreward).</a:t>
            </a:r>
            <a:endParaRPr lang="en-US" sz="1300" dirty="0"/>
          </a:p>
        </p:txBody>
      </p:sp>
      <p:sp>
        <p:nvSpPr>
          <p:cNvPr id="16" name="Shape 12"/>
          <p:cNvSpPr/>
          <p:nvPr/>
        </p:nvSpPr>
        <p:spPr>
          <a:xfrm>
            <a:off x="548640" y="1417320"/>
            <a:ext cx="3564026" cy="2194560"/>
          </a:xfrm>
          <a:prstGeom prst="roundRect">
            <a:avLst>
              <a:gd name="adj" fmla="val 5000"/>
            </a:avLst>
          </a:prstGeom>
          <a:solidFill>
            <a:srgbClr val="F7F9FC"/>
          </a:solidFill>
          <a:ln w="9525">
            <a:solidFill>
              <a:srgbClr val="DDE1EE"/>
            </a:solidFill>
            <a:prstDash val="solid"/>
          </a:ln>
        </p:spPr>
      </p:sp>
      <p:sp>
        <p:nvSpPr>
          <p:cNvPr id="17" name="Shape 13"/>
          <p:cNvSpPr/>
          <p:nvPr/>
        </p:nvSpPr>
        <p:spPr>
          <a:xfrm>
            <a:off x="3426866" y="1600200"/>
            <a:ext cx="502920" cy="502920"/>
          </a:xfrm>
          <a:prstGeom prst="ellipse">
            <a:avLst/>
          </a:prstGeom>
          <a:solidFill>
            <a:srgbClr val="2F3690"/>
          </a:solidFill>
          <a:ln w="12700">
            <a:solidFill>
              <a:srgbClr val="2F3690"/>
            </a:solidFill>
            <a:prstDash val="solid"/>
          </a:ln>
        </p:spPr>
      </p:sp>
      <p:pic>
        <p:nvPicPr>
          <p:cNvPr id="18" name="Image 2" descr="preencoded.png">    </p:cNvPr>
          <p:cNvPicPr>
            <a:picLocks noChangeAspect="1"/>
          </p:cNvPicPr>
          <p:nvPr/>
        </p:nvPicPr>
        <p:blipFill>
          <a:blip r:embed="rId3"/>
          <a:stretch>
            <a:fillRect/>
          </a:stretch>
        </p:blipFill>
        <p:spPr>
          <a:xfrm>
            <a:off x="3562655" y="1735988"/>
            <a:ext cx="231343" cy="231343"/>
          </a:xfrm>
          <a:prstGeom prst="rect">
            <a:avLst/>
          </a:prstGeom>
        </p:spPr>
      </p:pic>
      <p:sp>
        <p:nvSpPr>
          <p:cNvPr id="19" name="Text 14"/>
          <p:cNvSpPr txBox="1"/>
          <p:nvPr/>
        </p:nvSpPr>
        <p:spPr>
          <a:xfrm>
            <a:off x="731520" y="169164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آدرس ثابت در genesis</a:t>
            </a:r>
            <a:endParaRPr lang="en-US" sz="1600" dirty="0"/>
          </a:p>
        </p:txBody>
      </p:sp>
      <p:sp>
        <p:nvSpPr>
          <p:cNvPr id="20" name="Text 15"/>
          <p:cNvSpPr txBox="1"/>
          <p:nvPr/>
        </p:nvSpPr>
        <p:spPr>
          <a:xfrm>
            <a:off x="731520" y="228600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قراردادها بدون constructor و بدون مرحله‌ی سیم‌کشی بعد از استقرار؛ هرکدام آدرس بقیه را constant می‌داند.</a:t>
            </a:r>
            <a:endParaRPr lang="en-US" sz="1300" dirty="0"/>
          </a:p>
        </p:txBody>
      </p:sp>
      <p:sp>
        <p:nvSpPr>
          <p:cNvPr id="21" name="Shape 16"/>
          <p:cNvSpPr/>
          <p:nvPr/>
        </p:nvSpPr>
        <p:spPr>
          <a:xfrm>
            <a:off x="8078724" y="3794760"/>
            <a:ext cx="3564026" cy="2194560"/>
          </a:xfrm>
          <a:prstGeom prst="roundRect">
            <a:avLst>
              <a:gd name="adj" fmla="val 5000"/>
            </a:avLst>
          </a:prstGeom>
          <a:solidFill>
            <a:srgbClr val="F7F9FC"/>
          </a:solidFill>
          <a:ln w="9525">
            <a:solidFill>
              <a:srgbClr val="DDE1EE"/>
            </a:solidFill>
            <a:prstDash val="solid"/>
          </a:ln>
        </p:spPr>
      </p:sp>
      <p:sp>
        <p:nvSpPr>
          <p:cNvPr id="22" name="Shape 17"/>
          <p:cNvSpPr/>
          <p:nvPr/>
        </p:nvSpPr>
        <p:spPr>
          <a:xfrm>
            <a:off x="10956950" y="3977640"/>
            <a:ext cx="502920" cy="502920"/>
          </a:xfrm>
          <a:prstGeom prst="ellipse">
            <a:avLst/>
          </a:prstGeom>
          <a:solidFill>
            <a:srgbClr val="2F3690"/>
          </a:solidFill>
          <a:ln w="12700">
            <a:solidFill>
              <a:srgbClr val="2F3690"/>
            </a:solidFill>
            <a:prstDash val="solid"/>
          </a:ln>
        </p:spPr>
      </p:sp>
      <p:pic>
        <p:nvPicPr>
          <p:cNvPr id="23" name="Image 3" descr="preencoded.png">    </p:cNvPr>
          <p:cNvPicPr>
            <a:picLocks noChangeAspect="1"/>
          </p:cNvPicPr>
          <p:nvPr/>
        </p:nvPicPr>
        <p:blipFill>
          <a:blip r:embed="rId4"/>
          <a:stretch>
            <a:fillRect/>
          </a:stretch>
        </p:blipFill>
        <p:spPr>
          <a:xfrm>
            <a:off x="11092739" y="4113428"/>
            <a:ext cx="231343" cy="231343"/>
          </a:xfrm>
          <a:prstGeom prst="rect">
            <a:avLst/>
          </a:prstGeom>
        </p:spPr>
      </p:pic>
      <p:sp>
        <p:nvSpPr>
          <p:cNvPr id="24" name="Text 18"/>
          <p:cNvSpPr txBox="1"/>
          <p:nvPr/>
        </p:nvSpPr>
        <p:spPr>
          <a:xfrm>
            <a:off x="8261604" y="406908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بدون ادمین مرکزی</a:t>
            </a:r>
            <a:endParaRPr lang="en-US" sz="1600" dirty="0"/>
          </a:p>
        </p:txBody>
      </p:sp>
      <p:sp>
        <p:nvSpPr>
          <p:cNvPr id="25" name="Text 19"/>
          <p:cNvSpPr txBox="1"/>
          <p:nvPr/>
        </p:nvSpPr>
        <p:spPr>
          <a:xfrm>
            <a:off x="8261604" y="466344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پس از راه‌اندازی هیچ کلید مدیریتی وجود ندارد؛ هر تغییر از یک مسیر رأی یا کلید محدود می‌گذرد.</a:t>
            </a:r>
            <a:endParaRPr lang="en-US" sz="1300" dirty="0"/>
          </a:p>
        </p:txBody>
      </p:sp>
      <p:sp>
        <p:nvSpPr>
          <p:cNvPr id="26" name="Shape 20"/>
          <p:cNvSpPr/>
          <p:nvPr/>
        </p:nvSpPr>
        <p:spPr>
          <a:xfrm>
            <a:off x="4314139" y="3794760"/>
            <a:ext cx="3564026" cy="2194560"/>
          </a:xfrm>
          <a:prstGeom prst="roundRect">
            <a:avLst>
              <a:gd name="adj" fmla="val 5000"/>
            </a:avLst>
          </a:prstGeom>
          <a:solidFill>
            <a:srgbClr val="F7F9FC"/>
          </a:solidFill>
          <a:ln w="9525">
            <a:solidFill>
              <a:srgbClr val="DDE1EE"/>
            </a:solidFill>
            <a:prstDash val="solid"/>
          </a:ln>
        </p:spPr>
      </p:sp>
      <p:sp>
        <p:nvSpPr>
          <p:cNvPr id="27" name="Shape 21"/>
          <p:cNvSpPr/>
          <p:nvPr/>
        </p:nvSpPr>
        <p:spPr>
          <a:xfrm>
            <a:off x="7192366" y="3977640"/>
            <a:ext cx="502920" cy="502920"/>
          </a:xfrm>
          <a:prstGeom prst="ellipse">
            <a:avLst/>
          </a:prstGeom>
          <a:solidFill>
            <a:srgbClr val="2F3690"/>
          </a:solidFill>
          <a:ln w="12700">
            <a:solidFill>
              <a:srgbClr val="2F3690"/>
            </a:solidFill>
            <a:prstDash val="solid"/>
          </a:ln>
        </p:spPr>
      </p:sp>
      <p:pic>
        <p:nvPicPr>
          <p:cNvPr id="28" name="Image 4" descr="preencoded.png">    </p:cNvPr>
          <p:cNvPicPr>
            <a:picLocks noChangeAspect="1"/>
          </p:cNvPicPr>
          <p:nvPr/>
        </p:nvPicPr>
        <p:blipFill>
          <a:blip r:embed="rId5"/>
          <a:stretch>
            <a:fillRect/>
          </a:stretch>
        </p:blipFill>
        <p:spPr>
          <a:xfrm>
            <a:off x="7328154" y="4113428"/>
            <a:ext cx="231343" cy="231343"/>
          </a:xfrm>
          <a:prstGeom prst="rect">
            <a:avLst/>
          </a:prstGeom>
        </p:spPr>
      </p:pic>
      <p:sp>
        <p:nvSpPr>
          <p:cNvPr id="29" name="Text 22"/>
          <p:cNvSpPr txBox="1"/>
          <p:nvPr/>
        </p:nvSpPr>
        <p:spPr>
          <a:xfrm>
            <a:off x="4497019" y="406908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جداسازی قدرت</a:t>
            </a:r>
            <a:endParaRPr lang="en-US" sz="1600" dirty="0"/>
          </a:p>
        </p:txBody>
      </p:sp>
      <p:sp>
        <p:nvSpPr>
          <p:cNvPr id="30" name="Text 23"/>
          <p:cNvSpPr txBox="1"/>
          <p:nvPr/>
        </p:nvSpPr>
        <p:spPr>
          <a:xfrm>
            <a:off x="4497019" y="466344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بنیاد هیچ مسیر کدی به قراردادهای ولیدیتوری ندارد؛ مرز در کد است، نه در رویه.</a:t>
            </a:r>
            <a:endParaRPr lang="en-US" sz="1300" dirty="0"/>
          </a:p>
        </p:txBody>
      </p:sp>
      <p:sp>
        <p:nvSpPr>
          <p:cNvPr id="31" name="Shape 24"/>
          <p:cNvSpPr/>
          <p:nvPr/>
        </p:nvSpPr>
        <p:spPr>
          <a:xfrm>
            <a:off x="548640" y="3794760"/>
            <a:ext cx="3564026" cy="2194560"/>
          </a:xfrm>
          <a:prstGeom prst="roundRect">
            <a:avLst>
              <a:gd name="adj" fmla="val 5000"/>
            </a:avLst>
          </a:prstGeom>
          <a:solidFill>
            <a:srgbClr val="F7F9FC"/>
          </a:solidFill>
          <a:ln w="9525">
            <a:solidFill>
              <a:srgbClr val="DDE1EE"/>
            </a:solidFill>
            <a:prstDash val="solid"/>
          </a:ln>
        </p:spPr>
      </p:sp>
      <p:sp>
        <p:nvSpPr>
          <p:cNvPr id="32" name="Shape 25"/>
          <p:cNvSpPr/>
          <p:nvPr/>
        </p:nvSpPr>
        <p:spPr>
          <a:xfrm>
            <a:off x="3426866" y="3977640"/>
            <a:ext cx="502920" cy="502920"/>
          </a:xfrm>
          <a:prstGeom prst="ellipse">
            <a:avLst/>
          </a:prstGeom>
          <a:solidFill>
            <a:srgbClr val="2F3690"/>
          </a:solidFill>
          <a:ln w="12700">
            <a:solidFill>
              <a:srgbClr val="2F3690"/>
            </a:solidFill>
            <a:prstDash val="solid"/>
          </a:ln>
        </p:spPr>
      </p:sp>
      <p:pic>
        <p:nvPicPr>
          <p:cNvPr id="33" name="Image 5" descr="preencoded.png">    </p:cNvPr>
          <p:cNvPicPr>
            <a:picLocks noChangeAspect="1"/>
          </p:cNvPicPr>
          <p:nvPr/>
        </p:nvPicPr>
        <p:blipFill>
          <a:blip r:embed="rId6"/>
          <a:stretch>
            <a:fillRect/>
          </a:stretch>
        </p:blipFill>
        <p:spPr>
          <a:xfrm>
            <a:off x="3562655" y="4113428"/>
            <a:ext cx="231343" cy="231343"/>
          </a:xfrm>
          <a:prstGeom prst="rect">
            <a:avLst/>
          </a:prstGeom>
        </p:spPr>
      </p:pic>
      <p:sp>
        <p:nvSpPr>
          <p:cNvPr id="34" name="Text 26"/>
          <p:cNvSpPr txBox="1"/>
          <p:nvPr/>
        </p:nvSpPr>
        <p:spPr>
          <a:xfrm>
            <a:off x="731520" y="4069080"/>
            <a:ext cx="2558186"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B1B2F"/>
                </a:solidFill>
                <a:latin typeface="Vazirmatn" pitchFamily="34" charset="0"/>
                <a:ea typeface="Vazirmatn" pitchFamily="34" charset="-122"/>
                <a:cs typeface="Vazirmatn" pitchFamily="34" charset="-120"/>
              </a:rPr>
              <a:t>چهار کلید سرویس جدا</a:t>
            </a:r>
            <a:endParaRPr lang="en-US" sz="1600" dirty="0"/>
          </a:p>
        </p:txBody>
      </p:sp>
      <p:sp>
        <p:nvSpPr>
          <p:cNvPr id="35" name="Text 27"/>
          <p:cNvSpPr txBox="1"/>
          <p:nvPr/>
        </p:nvSpPr>
        <p:spPr>
          <a:xfrm>
            <a:off x="731520" y="4663440"/>
            <a:ext cx="3198266" cy="12344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verifier، distributionOracle، identityOracle و paymentOracle؛ هرکدام کلید و سطح دسترسی مستقل در گاوصندوق کلید (HashiCorp Vault).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معماری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مسیر پاداش: از تولید بلاک تا پرداخت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9</a:t>
            </a:r>
            <a:endParaRPr lang="en-US" sz="1000" dirty="0"/>
          </a:p>
        </p:txBody>
      </p:sp>
      <p:sp>
        <p:nvSpPr>
          <p:cNvPr id="6" name="Shape 4"/>
          <p:cNvSpPr/>
          <p:nvPr/>
        </p:nvSpPr>
        <p:spPr>
          <a:xfrm>
            <a:off x="9128455" y="1463040"/>
            <a:ext cx="2514600" cy="3429000"/>
          </a:xfrm>
          <a:prstGeom prst="roundRect">
            <a:avLst>
              <a:gd name="adj" fmla="val 4364"/>
            </a:avLst>
          </a:prstGeom>
          <a:solidFill>
            <a:srgbClr val="F7F9FC"/>
          </a:solidFill>
          <a:ln w="9525">
            <a:solidFill>
              <a:srgbClr val="DDE1EE"/>
            </a:solidFill>
            <a:prstDash val="solid"/>
          </a:ln>
        </p:spPr>
      </p:sp>
      <p:sp>
        <p:nvSpPr>
          <p:cNvPr id="7" name="Shape 5"/>
          <p:cNvSpPr/>
          <p:nvPr/>
        </p:nvSpPr>
        <p:spPr>
          <a:xfrm>
            <a:off x="11002975" y="1645920"/>
            <a:ext cx="457200" cy="45720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126419" y="1769364"/>
            <a:ext cx="210312" cy="210312"/>
          </a:xfrm>
          <a:prstGeom prst="rect">
            <a:avLst/>
          </a:prstGeom>
        </p:spPr>
      </p:pic>
      <p:sp>
        <p:nvSpPr>
          <p:cNvPr id="9" name="Text 6"/>
          <p:cNvSpPr txBox="1"/>
          <p:nvPr/>
        </p:nvSpPr>
        <p:spPr>
          <a:xfrm>
            <a:off x="9265615" y="2240280"/>
            <a:ext cx="2240280" cy="50292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۱. بلاک</a:t>
            </a:r>
            <a:endParaRPr lang="en-US" sz="1450" dirty="0"/>
          </a:p>
        </p:txBody>
      </p:sp>
      <p:sp>
        <p:nvSpPr>
          <p:cNvPr id="10" name="Text 7"/>
          <p:cNvSpPr txBox="1"/>
          <p:nvPr/>
        </p:nvSpPr>
        <p:spPr>
          <a:xfrm>
            <a:off x="9265615" y="2788920"/>
            <a:ext cx="2240280" cy="2011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هر بلاک ۲ سورن ریوارد به‌علاوه‌ی فی تراکنش‌ها مستقیم به آدرس 0x2222 (گیرنده‌ی پاداش بلاک در تنظیمات Besu) واریز می‌شود؛ این یک اعتبار مستقیم است، نه فراخوانی قرارداد.</a:t>
            </a:r>
            <a:endParaRPr lang="en-US" sz="1250" dirty="0"/>
          </a:p>
        </p:txBody>
      </p:sp>
      <p:sp>
        <p:nvSpPr>
          <p:cNvPr id="11" name="Shape 8"/>
          <p:cNvSpPr/>
          <p:nvPr/>
        </p:nvSpPr>
        <p:spPr>
          <a:xfrm flipH="1">
            <a:off x="8819388" y="3154680"/>
            <a:ext cx="272491" cy="0"/>
          </a:xfrm>
          <a:prstGeom prst="line">
            <a:avLst/>
          </a:prstGeom>
          <a:noFill/>
          <a:ln w="31750">
            <a:solidFill>
              <a:srgbClr val="2F3690"/>
            </a:solidFill>
            <a:prstDash val="solid"/>
            <a:tailEnd type="triangle"/>
          </a:ln>
        </p:spPr>
      </p:sp>
      <p:sp>
        <p:nvSpPr>
          <p:cNvPr id="12" name="Shape 9"/>
          <p:cNvSpPr/>
          <p:nvPr/>
        </p:nvSpPr>
        <p:spPr>
          <a:xfrm>
            <a:off x="6268212" y="1463040"/>
            <a:ext cx="2514600" cy="3429000"/>
          </a:xfrm>
          <a:prstGeom prst="roundRect">
            <a:avLst>
              <a:gd name="adj" fmla="val 4364"/>
            </a:avLst>
          </a:prstGeom>
          <a:solidFill>
            <a:srgbClr val="F7F9FC"/>
          </a:solidFill>
          <a:ln w="9525">
            <a:solidFill>
              <a:srgbClr val="DDE1EE"/>
            </a:solidFill>
            <a:prstDash val="solid"/>
          </a:ln>
        </p:spPr>
      </p:sp>
      <p:sp>
        <p:nvSpPr>
          <p:cNvPr id="13" name="Shape 10"/>
          <p:cNvSpPr/>
          <p:nvPr/>
        </p:nvSpPr>
        <p:spPr>
          <a:xfrm>
            <a:off x="8142732" y="1645920"/>
            <a:ext cx="457200" cy="457200"/>
          </a:xfrm>
          <a:prstGeom prst="ellipse">
            <a:avLst/>
          </a:prstGeom>
          <a:solidFill>
            <a:srgbClr val="2F3690"/>
          </a:solidFill>
          <a:ln w="12700">
            <a:solidFill>
              <a:srgbClr val="2F3690"/>
            </a:solidFill>
            <a:prstDash val="solid"/>
          </a:ln>
        </p:spPr>
      </p:sp>
      <p:pic>
        <p:nvPicPr>
          <p:cNvPr id="14" name="Image 1" descr="preencoded.png">    </p:cNvPr>
          <p:cNvPicPr>
            <a:picLocks noChangeAspect="1"/>
          </p:cNvPicPr>
          <p:nvPr/>
        </p:nvPicPr>
        <p:blipFill>
          <a:blip r:embed="rId2"/>
          <a:stretch>
            <a:fillRect/>
          </a:stretch>
        </p:blipFill>
        <p:spPr>
          <a:xfrm>
            <a:off x="8266176" y="1769364"/>
            <a:ext cx="210312" cy="210312"/>
          </a:xfrm>
          <a:prstGeom prst="rect">
            <a:avLst/>
          </a:prstGeom>
        </p:spPr>
      </p:pic>
      <p:sp>
        <p:nvSpPr>
          <p:cNvPr id="15" name="Text 11"/>
          <p:cNvSpPr txBox="1"/>
          <p:nvPr/>
        </p:nvSpPr>
        <p:spPr>
          <a:xfrm>
            <a:off x="6405372" y="2240280"/>
            <a:ext cx="2240280" cy="50292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۲. RewardRouter (آف‌چین)</a:t>
            </a:r>
            <a:endParaRPr lang="en-US" sz="1450" dirty="0"/>
          </a:p>
        </p:txBody>
      </p:sp>
      <p:sp>
        <p:nvSpPr>
          <p:cNvPr id="16" name="Text 12"/>
          <p:cNvSpPr txBox="1"/>
          <p:nvPr/>
        </p:nvSpPr>
        <p:spPr>
          <a:xfrm>
            <a:off x="6405372" y="2788920"/>
            <a:ext cx="2240280" cy="2011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حداقل هر ۲۳ ساعت: تولیدکننده‌ی هر بلاک را از داده‌ی زنجیره می‌خواند، پاداش و فی بازه را محاسبه می‌کند و آدرس‌ها را صعودی تجمیع می‌کند.</a:t>
            </a:r>
            <a:endParaRPr lang="en-US" sz="1250" dirty="0"/>
          </a:p>
        </p:txBody>
      </p:sp>
      <p:sp>
        <p:nvSpPr>
          <p:cNvPr id="17" name="Shape 13"/>
          <p:cNvSpPr/>
          <p:nvPr/>
        </p:nvSpPr>
        <p:spPr>
          <a:xfrm flipH="1">
            <a:off x="5959145" y="3154680"/>
            <a:ext cx="272491" cy="0"/>
          </a:xfrm>
          <a:prstGeom prst="line">
            <a:avLst/>
          </a:prstGeom>
          <a:noFill/>
          <a:ln w="31750">
            <a:solidFill>
              <a:srgbClr val="2F3690"/>
            </a:solidFill>
            <a:prstDash val="solid"/>
            <a:tailEnd type="triangle"/>
          </a:ln>
        </p:spPr>
      </p:sp>
      <p:sp>
        <p:nvSpPr>
          <p:cNvPr id="18" name="Shape 14"/>
          <p:cNvSpPr/>
          <p:nvPr/>
        </p:nvSpPr>
        <p:spPr>
          <a:xfrm>
            <a:off x="3407969" y="1463040"/>
            <a:ext cx="2514600" cy="3429000"/>
          </a:xfrm>
          <a:prstGeom prst="roundRect">
            <a:avLst>
              <a:gd name="adj" fmla="val 4364"/>
            </a:avLst>
          </a:prstGeom>
          <a:solidFill>
            <a:srgbClr val="F7F9FC"/>
          </a:solidFill>
          <a:ln w="9525">
            <a:solidFill>
              <a:srgbClr val="DDE1EE"/>
            </a:solidFill>
            <a:prstDash val="solid"/>
          </a:ln>
        </p:spPr>
      </p:sp>
      <p:sp>
        <p:nvSpPr>
          <p:cNvPr id="19" name="Shape 15"/>
          <p:cNvSpPr/>
          <p:nvPr/>
        </p:nvSpPr>
        <p:spPr>
          <a:xfrm>
            <a:off x="5282489" y="1645920"/>
            <a:ext cx="457200" cy="457200"/>
          </a:xfrm>
          <a:prstGeom prst="ellipse">
            <a:avLst/>
          </a:prstGeom>
          <a:solidFill>
            <a:srgbClr val="2F3690"/>
          </a:solidFill>
          <a:ln w="12700">
            <a:solidFill>
              <a:srgbClr val="2F3690"/>
            </a:solidFill>
            <a:prstDash val="solid"/>
          </a:ln>
        </p:spPr>
      </p:sp>
      <p:pic>
        <p:nvPicPr>
          <p:cNvPr id="20" name="Image 2" descr="preencoded.png">    </p:cNvPr>
          <p:cNvPicPr>
            <a:picLocks noChangeAspect="1"/>
          </p:cNvPicPr>
          <p:nvPr/>
        </p:nvPicPr>
        <p:blipFill>
          <a:blip r:embed="rId3"/>
          <a:stretch>
            <a:fillRect/>
          </a:stretch>
        </p:blipFill>
        <p:spPr>
          <a:xfrm>
            <a:off x="5405933" y="1769364"/>
            <a:ext cx="210312" cy="210312"/>
          </a:xfrm>
          <a:prstGeom prst="rect">
            <a:avLst/>
          </a:prstGeom>
        </p:spPr>
      </p:pic>
      <p:sp>
        <p:nvSpPr>
          <p:cNvPr id="21" name="Text 16"/>
          <p:cNvSpPr txBox="1"/>
          <p:nvPr/>
        </p:nvSpPr>
        <p:spPr>
          <a:xfrm>
            <a:off x="3545129" y="2240280"/>
            <a:ext cx="2240280" cy="50292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۳. distributeRewards</a:t>
            </a:r>
            <a:endParaRPr lang="en-US" sz="1450" dirty="0"/>
          </a:p>
        </p:txBody>
      </p:sp>
      <p:sp>
        <p:nvSpPr>
          <p:cNvPr id="22" name="Text 17"/>
          <p:cNvSpPr txBox="1"/>
          <p:nvPr/>
        </p:nvSpPr>
        <p:spPr>
          <a:xfrm>
            <a:off x="3545129" y="2788920"/>
            <a:ext cx="2240280" cy="2011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فقط distributionOracle صدا می‌زند؛ بازه، تعداد بلاک هر تولیدکننده، مجموع پاداش و مجموع فی را اعلام می‌کند.</a:t>
            </a:r>
            <a:endParaRPr lang="en-US" sz="1250" dirty="0"/>
          </a:p>
        </p:txBody>
      </p:sp>
      <p:sp>
        <p:nvSpPr>
          <p:cNvPr id="23" name="Shape 18"/>
          <p:cNvSpPr/>
          <p:nvPr/>
        </p:nvSpPr>
        <p:spPr>
          <a:xfrm flipH="1">
            <a:off x="3098902" y="3154680"/>
            <a:ext cx="272491" cy="0"/>
          </a:xfrm>
          <a:prstGeom prst="line">
            <a:avLst/>
          </a:prstGeom>
          <a:noFill/>
          <a:ln w="31750">
            <a:solidFill>
              <a:srgbClr val="2F3690"/>
            </a:solidFill>
            <a:prstDash val="solid"/>
            <a:tailEnd type="triangle"/>
          </a:ln>
        </p:spPr>
      </p:sp>
      <p:sp>
        <p:nvSpPr>
          <p:cNvPr id="24" name="Shape 19"/>
          <p:cNvSpPr/>
          <p:nvPr/>
        </p:nvSpPr>
        <p:spPr>
          <a:xfrm>
            <a:off x="547726" y="1463040"/>
            <a:ext cx="2514600" cy="3429000"/>
          </a:xfrm>
          <a:prstGeom prst="roundRect">
            <a:avLst>
              <a:gd name="adj" fmla="val 4364"/>
            </a:avLst>
          </a:prstGeom>
          <a:solidFill>
            <a:srgbClr val="EEF0FB"/>
          </a:solidFill>
          <a:ln w="9525">
            <a:solidFill>
              <a:srgbClr val="EEF0FB"/>
            </a:solidFill>
            <a:prstDash val="solid"/>
          </a:ln>
        </p:spPr>
      </p:sp>
      <p:sp>
        <p:nvSpPr>
          <p:cNvPr id="25" name="Shape 20"/>
          <p:cNvSpPr/>
          <p:nvPr/>
        </p:nvSpPr>
        <p:spPr>
          <a:xfrm>
            <a:off x="2422246" y="1645920"/>
            <a:ext cx="457200" cy="457200"/>
          </a:xfrm>
          <a:prstGeom prst="ellipse">
            <a:avLst/>
          </a:prstGeom>
          <a:solidFill>
            <a:srgbClr val="2F3690"/>
          </a:solidFill>
          <a:ln w="12700">
            <a:solidFill>
              <a:srgbClr val="2F3690"/>
            </a:solidFill>
            <a:prstDash val="solid"/>
          </a:ln>
        </p:spPr>
      </p:sp>
      <p:pic>
        <p:nvPicPr>
          <p:cNvPr id="26" name="Image 3" descr="preencoded.png">    </p:cNvPr>
          <p:cNvPicPr>
            <a:picLocks noChangeAspect="1"/>
          </p:cNvPicPr>
          <p:nvPr/>
        </p:nvPicPr>
        <p:blipFill>
          <a:blip r:embed="rId4"/>
          <a:stretch>
            <a:fillRect/>
          </a:stretch>
        </p:blipFill>
        <p:spPr>
          <a:xfrm>
            <a:off x="2545690" y="1769364"/>
            <a:ext cx="210312" cy="210312"/>
          </a:xfrm>
          <a:prstGeom prst="rect">
            <a:avLst/>
          </a:prstGeom>
        </p:spPr>
      </p:pic>
      <p:sp>
        <p:nvSpPr>
          <p:cNvPr id="27" name="Text 21"/>
          <p:cNvSpPr txBox="1"/>
          <p:nvPr/>
        </p:nvSpPr>
        <p:spPr>
          <a:xfrm>
            <a:off x="684886" y="2240280"/>
            <a:ext cx="2240280" cy="50292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۴. BlockRewardDistributor</a:t>
            </a:r>
            <a:endParaRPr lang="en-US" sz="1450" dirty="0"/>
          </a:p>
        </p:txBody>
      </p:sp>
      <p:sp>
        <p:nvSpPr>
          <p:cNvPr id="28" name="Text 22"/>
          <p:cNvSpPr txBox="1"/>
          <p:nvPr/>
        </p:nvSpPr>
        <p:spPr>
          <a:xfrm>
            <a:off x="684886" y="2788920"/>
            <a:ext cx="2240280" cy="20116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کنترل‌های قرارداد را اجرا می‌کند، سپس پرداخت می‌کند: بنیاد، ولیدیتورها، خزانه و سوزاندن بخشی از فی.</a:t>
            </a:r>
            <a:endParaRPr lang="en-US" sz="1250" dirty="0"/>
          </a:p>
        </p:txBody>
      </p:sp>
      <p:sp>
        <p:nvSpPr>
          <p:cNvPr id="29" name="Text 23"/>
          <p:cNvSpPr txBox="1"/>
          <p:nvPr/>
        </p:nvSpPr>
        <p:spPr>
          <a:xfrm>
            <a:off x="8899855" y="5120640"/>
            <a:ext cx="2743200"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نتیجه‌ی هر توزیع</a:t>
            </a:r>
            <a:endParaRPr lang="en-US" sz="1300" dirty="0"/>
          </a:p>
        </p:txBody>
      </p:sp>
      <p:sp>
        <p:nvSpPr>
          <p:cNvPr id="30" name="Shape 24"/>
          <p:cNvSpPr/>
          <p:nvPr/>
        </p:nvSpPr>
        <p:spPr>
          <a:xfrm>
            <a:off x="9006840" y="5468112"/>
            <a:ext cx="2636444" cy="777240"/>
          </a:xfrm>
          <a:prstGeom prst="roundRect">
            <a:avLst>
              <a:gd name="adj" fmla="val 14118"/>
            </a:avLst>
          </a:prstGeom>
          <a:solidFill>
            <a:srgbClr val="FFFFFF"/>
          </a:solidFill>
          <a:ln w="9525">
            <a:solidFill>
              <a:srgbClr val="DDE1EE"/>
            </a:solidFill>
            <a:prstDash val="solid"/>
          </a:ln>
        </p:spPr>
      </p:sp>
      <p:sp>
        <p:nvSpPr>
          <p:cNvPr id="31" name="Text 25"/>
          <p:cNvSpPr txBox="1"/>
          <p:nvPr/>
        </p:nvSpPr>
        <p:spPr>
          <a:xfrm>
            <a:off x="9116568" y="5513832"/>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بنیاد</a:t>
            </a:r>
            <a:endParaRPr lang="en-US" sz="1300" dirty="0"/>
          </a:p>
        </p:txBody>
      </p:sp>
      <p:sp>
        <p:nvSpPr>
          <p:cNvPr id="32" name="Text 26"/>
          <p:cNvSpPr txBox="1"/>
          <p:nvPr/>
        </p:nvSpPr>
        <p:spPr>
          <a:xfrm>
            <a:off x="9116568" y="5806440"/>
            <a:ext cx="2416988" cy="41148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۱۵٪ ریوارد</a:t>
            </a:r>
            <a:endParaRPr lang="en-US" sz="1100" dirty="0"/>
          </a:p>
        </p:txBody>
      </p:sp>
      <p:sp>
        <p:nvSpPr>
          <p:cNvPr id="33" name="Shape 27"/>
          <p:cNvSpPr/>
          <p:nvPr/>
        </p:nvSpPr>
        <p:spPr>
          <a:xfrm>
            <a:off x="6186830" y="5468112"/>
            <a:ext cx="2636444" cy="777240"/>
          </a:xfrm>
          <a:prstGeom prst="roundRect">
            <a:avLst>
              <a:gd name="adj" fmla="val 14118"/>
            </a:avLst>
          </a:prstGeom>
          <a:solidFill>
            <a:srgbClr val="FFFFFF"/>
          </a:solidFill>
          <a:ln w="9525">
            <a:solidFill>
              <a:srgbClr val="DDE1EE"/>
            </a:solidFill>
            <a:prstDash val="solid"/>
          </a:ln>
        </p:spPr>
      </p:sp>
      <p:sp>
        <p:nvSpPr>
          <p:cNvPr id="34" name="Text 28"/>
          <p:cNvSpPr txBox="1"/>
          <p:nvPr/>
        </p:nvSpPr>
        <p:spPr>
          <a:xfrm>
            <a:off x="6296558" y="5513832"/>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ولیدیتورها</a:t>
            </a:r>
            <a:endParaRPr lang="en-US" sz="1300" dirty="0"/>
          </a:p>
        </p:txBody>
      </p:sp>
      <p:sp>
        <p:nvSpPr>
          <p:cNvPr id="35" name="Text 29"/>
          <p:cNvSpPr txBox="1"/>
          <p:nvPr/>
        </p:nvSpPr>
        <p:spPr>
          <a:xfrm>
            <a:off x="6296558" y="5806440"/>
            <a:ext cx="2416988" cy="41148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سهم مستقیم + ۷۰٪ فی + کارمزد عضویت</a:t>
            </a:r>
            <a:endParaRPr lang="en-US" sz="1100" dirty="0"/>
          </a:p>
        </p:txBody>
      </p:sp>
      <p:sp>
        <p:nvSpPr>
          <p:cNvPr id="36" name="Shape 30"/>
          <p:cNvSpPr/>
          <p:nvPr/>
        </p:nvSpPr>
        <p:spPr>
          <a:xfrm>
            <a:off x="3367735" y="5468112"/>
            <a:ext cx="2636444" cy="777240"/>
          </a:xfrm>
          <a:prstGeom prst="roundRect">
            <a:avLst>
              <a:gd name="adj" fmla="val 14118"/>
            </a:avLst>
          </a:prstGeom>
          <a:solidFill>
            <a:srgbClr val="FFFFFF"/>
          </a:solidFill>
          <a:ln w="9525">
            <a:solidFill>
              <a:srgbClr val="DDE1EE"/>
            </a:solidFill>
            <a:prstDash val="solid"/>
          </a:ln>
        </p:spPr>
      </p:sp>
      <p:sp>
        <p:nvSpPr>
          <p:cNvPr id="37" name="Text 31"/>
          <p:cNvSpPr txBox="1"/>
          <p:nvPr/>
        </p:nvSpPr>
        <p:spPr>
          <a:xfrm>
            <a:off x="3477463" y="5513832"/>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خزانه</a:t>
            </a:r>
            <a:endParaRPr lang="en-US" sz="1300" dirty="0"/>
          </a:p>
        </p:txBody>
      </p:sp>
      <p:sp>
        <p:nvSpPr>
          <p:cNvPr id="38" name="Text 32"/>
          <p:cNvSpPr txBox="1"/>
          <p:nvPr/>
        </p:nvSpPr>
        <p:spPr>
          <a:xfrm>
            <a:off x="3477463" y="5806440"/>
            <a:ext cx="2416988" cy="41148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باقی‌مانده‌ی ریوارد</a:t>
            </a:r>
            <a:endParaRPr lang="en-US" sz="1100" dirty="0"/>
          </a:p>
        </p:txBody>
      </p:sp>
      <p:sp>
        <p:nvSpPr>
          <p:cNvPr id="39" name="Shape 33"/>
          <p:cNvSpPr/>
          <p:nvPr/>
        </p:nvSpPr>
        <p:spPr>
          <a:xfrm>
            <a:off x="548640" y="5468112"/>
            <a:ext cx="2636444" cy="777240"/>
          </a:xfrm>
          <a:prstGeom prst="roundRect">
            <a:avLst>
              <a:gd name="adj" fmla="val 14118"/>
            </a:avLst>
          </a:prstGeom>
          <a:solidFill>
            <a:srgbClr val="FFFFFF"/>
          </a:solidFill>
          <a:ln w="9525">
            <a:solidFill>
              <a:srgbClr val="DDE1EE"/>
            </a:solidFill>
            <a:prstDash val="solid"/>
          </a:ln>
        </p:spPr>
      </p:sp>
      <p:sp>
        <p:nvSpPr>
          <p:cNvPr id="40" name="Text 34"/>
          <p:cNvSpPr txBox="1"/>
          <p:nvPr/>
        </p:nvSpPr>
        <p:spPr>
          <a:xfrm>
            <a:off x="658368" y="5513832"/>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سوزانده‌شده</a:t>
            </a:r>
            <a:endParaRPr lang="en-US" sz="1300" dirty="0"/>
          </a:p>
        </p:txBody>
      </p:sp>
      <p:sp>
        <p:nvSpPr>
          <p:cNvPr id="41" name="Text 35"/>
          <p:cNvSpPr txBox="1"/>
          <p:nvPr/>
        </p:nvSpPr>
        <p:spPr>
          <a:xfrm>
            <a:off x="658368" y="5806440"/>
            <a:ext cx="2416988" cy="41148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۳۰٪ فی معمولی</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معماری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کنترل‌های قرارداد هنگام توزیع پاداش</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10</a:t>
            </a:r>
            <a:endParaRPr lang="en-US" sz="1000" dirty="0"/>
          </a:p>
        </p:txBody>
      </p:sp>
      <p:sp>
        <p:nvSpPr>
          <p:cNvPr id="6" name="Shape 4"/>
          <p:cNvSpPr/>
          <p:nvPr/>
        </p:nvSpPr>
        <p:spPr>
          <a:xfrm>
            <a:off x="548640" y="1417320"/>
            <a:ext cx="11094415" cy="676656"/>
          </a:xfrm>
          <a:prstGeom prst="roundRect">
            <a:avLst>
              <a:gd name="adj" fmla="val 16216"/>
            </a:avLst>
          </a:prstGeom>
          <a:solidFill>
            <a:srgbClr val="F7F9FC"/>
          </a:solidFill>
          <a:ln w="9525">
            <a:solidFill>
              <a:srgbClr val="DDE1EE"/>
            </a:solidFill>
            <a:prstDash val="solid"/>
          </a:ln>
        </p:spPr>
      </p:sp>
      <p:sp>
        <p:nvSpPr>
          <p:cNvPr id="7" name="Shape 5"/>
          <p:cNvSpPr/>
          <p:nvPr/>
        </p:nvSpPr>
        <p:spPr>
          <a:xfrm>
            <a:off x="11085271" y="1545336"/>
            <a:ext cx="420624" cy="420624"/>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198840" y="1658904"/>
            <a:ext cx="193487" cy="193487"/>
          </a:xfrm>
          <a:prstGeom prst="rect">
            <a:avLst/>
          </a:prstGeom>
        </p:spPr>
      </p:pic>
      <p:sp>
        <p:nvSpPr>
          <p:cNvPr id="9" name="Text 6"/>
          <p:cNvSpPr txBox="1"/>
          <p:nvPr/>
        </p:nvSpPr>
        <p:spPr>
          <a:xfrm>
            <a:off x="8808415" y="1417320"/>
            <a:ext cx="2103120" cy="676656"/>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فاصله‌ی زمانی</a:t>
            </a:r>
            <a:endParaRPr lang="en-US" sz="1500" dirty="0"/>
          </a:p>
        </p:txBody>
      </p:sp>
      <p:sp>
        <p:nvSpPr>
          <p:cNvPr id="10" name="Text 7"/>
          <p:cNvSpPr txBox="1"/>
          <p:nvPr/>
        </p:nvSpPr>
        <p:spPr>
          <a:xfrm>
            <a:off x="731520" y="1417320"/>
            <a:ext cx="7894015" cy="67665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حداقل ۲۳ ساعت بین دو توزیع (جز اولین توزیع).</a:t>
            </a:r>
            <a:endParaRPr lang="en-US" sz="1250" dirty="0"/>
          </a:p>
        </p:txBody>
      </p:sp>
      <p:sp>
        <p:nvSpPr>
          <p:cNvPr id="11" name="Shape 8"/>
          <p:cNvSpPr/>
          <p:nvPr/>
        </p:nvSpPr>
        <p:spPr>
          <a:xfrm>
            <a:off x="548640" y="2203704"/>
            <a:ext cx="11094415" cy="676656"/>
          </a:xfrm>
          <a:prstGeom prst="roundRect">
            <a:avLst>
              <a:gd name="adj" fmla="val 16216"/>
            </a:avLst>
          </a:prstGeom>
          <a:solidFill>
            <a:srgbClr val="F7F9FC"/>
          </a:solidFill>
          <a:ln w="9525">
            <a:solidFill>
              <a:srgbClr val="DDE1EE"/>
            </a:solidFill>
            <a:prstDash val="solid"/>
          </a:ln>
        </p:spPr>
      </p:sp>
      <p:sp>
        <p:nvSpPr>
          <p:cNvPr id="12" name="Shape 9"/>
          <p:cNvSpPr/>
          <p:nvPr/>
        </p:nvSpPr>
        <p:spPr>
          <a:xfrm>
            <a:off x="11085271" y="2331720"/>
            <a:ext cx="420624" cy="420624"/>
          </a:xfrm>
          <a:prstGeom prst="ellipse">
            <a:avLst/>
          </a:prstGeom>
          <a:solidFill>
            <a:srgbClr val="2F3690"/>
          </a:solidFill>
          <a:ln w="12700">
            <a:solidFill>
              <a:srgbClr val="2F3690"/>
            </a:solidFill>
            <a:prstDash val="solid"/>
          </a:ln>
        </p:spPr>
      </p:sp>
      <p:pic>
        <p:nvPicPr>
          <p:cNvPr id="13" name="Image 1" descr="preencoded.png">    </p:cNvPr>
          <p:cNvPicPr>
            <a:picLocks noChangeAspect="1"/>
          </p:cNvPicPr>
          <p:nvPr/>
        </p:nvPicPr>
        <p:blipFill>
          <a:blip r:embed="rId2"/>
          <a:stretch>
            <a:fillRect/>
          </a:stretch>
        </p:blipFill>
        <p:spPr>
          <a:xfrm>
            <a:off x="11198840" y="2445288"/>
            <a:ext cx="193487" cy="193487"/>
          </a:xfrm>
          <a:prstGeom prst="rect">
            <a:avLst/>
          </a:prstGeom>
        </p:spPr>
      </p:pic>
      <p:sp>
        <p:nvSpPr>
          <p:cNvPr id="14" name="Text 10"/>
          <p:cNvSpPr txBox="1"/>
          <p:nvPr/>
        </p:nvSpPr>
        <p:spPr>
          <a:xfrm>
            <a:off x="8808415" y="2203704"/>
            <a:ext cx="2103120" cy="676656"/>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پیوستگی بازه</a:t>
            </a:r>
            <a:endParaRPr lang="en-US" sz="1500" dirty="0"/>
          </a:p>
        </p:txBody>
      </p:sp>
      <p:sp>
        <p:nvSpPr>
          <p:cNvPr id="15" name="Text 11"/>
          <p:cNvSpPr txBox="1"/>
          <p:nvPr/>
        </p:nvSpPr>
        <p:spPr>
          <a:xfrm>
            <a:off x="731520" y="2203704"/>
            <a:ext cx="7894015" cy="67665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بازه دقیقاً از آخرین بلاک تسویه‌شده + ۱ شروع شود؛ بدون تکرار، همپوشانی یا شکاف؛ بلاک‌های بازه تولید شده باشند و مجموع بلاک‌های گزارش‌شده از اندازه‌ی بازه بیشتر نباشد.</a:t>
            </a:r>
            <a:endParaRPr lang="en-US" sz="1250" dirty="0"/>
          </a:p>
        </p:txBody>
      </p:sp>
      <p:sp>
        <p:nvSpPr>
          <p:cNvPr id="16" name="Shape 12"/>
          <p:cNvSpPr/>
          <p:nvPr/>
        </p:nvSpPr>
        <p:spPr>
          <a:xfrm>
            <a:off x="548640" y="2990088"/>
            <a:ext cx="11094415" cy="676656"/>
          </a:xfrm>
          <a:prstGeom prst="roundRect">
            <a:avLst>
              <a:gd name="adj" fmla="val 16216"/>
            </a:avLst>
          </a:prstGeom>
          <a:solidFill>
            <a:srgbClr val="F7F9FC"/>
          </a:solidFill>
          <a:ln w="9525">
            <a:solidFill>
              <a:srgbClr val="DDE1EE"/>
            </a:solidFill>
            <a:prstDash val="solid"/>
          </a:ln>
        </p:spPr>
      </p:sp>
      <p:sp>
        <p:nvSpPr>
          <p:cNvPr id="17" name="Shape 13"/>
          <p:cNvSpPr/>
          <p:nvPr/>
        </p:nvSpPr>
        <p:spPr>
          <a:xfrm>
            <a:off x="11085271" y="3118104"/>
            <a:ext cx="420624" cy="420624"/>
          </a:xfrm>
          <a:prstGeom prst="ellipse">
            <a:avLst/>
          </a:prstGeom>
          <a:solidFill>
            <a:srgbClr val="2F3690"/>
          </a:solidFill>
          <a:ln w="12700">
            <a:solidFill>
              <a:srgbClr val="2F3690"/>
            </a:solidFill>
            <a:prstDash val="solid"/>
          </a:ln>
        </p:spPr>
      </p:sp>
      <p:pic>
        <p:nvPicPr>
          <p:cNvPr id="18" name="Image 2" descr="preencoded.png">    </p:cNvPr>
          <p:cNvPicPr>
            <a:picLocks noChangeAspect="1"/>
          </p:cNvPicPr>
          <p:nvPr/>
        </p:nvPicPr>
        <p:blipFill>
          <a:blip r:embed="rId3"/>
          <a:stretch>
            <a:fillRect/>
          </a:stretch>
        </p:blipFill>
        <p:spPr>
          <a:xfrm>
            <a:off x="11198840" y="3231672"/>
            <a:ext cx="193487" cy="193487"/>
          </a:xfrm>
          <a:prstGeom prst="rect">
            <a:avLst/>
          </a:prstGeom>
        </p:spPr>
      </p:pic>
      <p:sp>
        <p:nvSpPr>
          <p:cNvPr id="19" name="Text 14"/>
          <p:cNvSpPr txBox="1"/>
          <p:nvPr/>
        </p:nvSpPr>
        <p:spPr>
          <a:xfrm>
            <a:off x="8808415" y="2990088"/>
            <a:ext cx="2103120" cy="676656"/>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سقف پاداش</a:t>
            </a:r>
            <a:endParaRPr lang="en-US" sz="1500" dirty="0"/>
          </a:p>
        </p:txBody>
      </p:sp>
      <p:sp>
        <p:nvSpPr>
          <p:cNvPr id="20" name="Text 15"/>
          <p:cNvSpPr txBox="1"/>
          <p:nvPr/>
        </p:nvSpPr>
        <p:spPr>
          <a:xfrm>
            <a:off x="731520" y="2990088"/>
            <a:ext cx="7894015" cy="67665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مجموع پاداش اعلام‌شده نباید از مجموع نرخ مصوبِ هر بلاک در همان بازه بیشتر باشد (maxRewardsForRange).</a:t>
            </a:r>
            <a:endParaRPr lang="en-US" sz="1250" dirty="0"/>
          </a:p>
        </p:txBody>
      </p:sp>
      <p:sp>
        <p:nvSpPr>
          <p:cNvPr id="21" name="Shape 16"/>
          <p:cNvSpPr/>
          <p:nvPr/>
        </p:nvSpPr>
        <p:spPr>
          <a:xfrm>
            <a:off x="548640" y="3776472"/>
            <a:ext cx="11094415" cy="676656"/>
          </a:xfrm>
          <a:prstGeom prst="roundRect">
            <a:avLst>
              <a:gd name="adj" fmla="val 16216"/>
            </a:avLst>
          </a:prstGeom>
          <a:solidFill>
            <a:srgbClr val="F7F9FC"/>
          </a:solidFill>
          <a:ln w="9525">
            <a:solidFill>
              <a:srgbClr val="DDE1EE"/>
            </a:solidFill>
            <a:prstDash val="solid"/>
          </a:ln>
        </p:spPr>
      </p:sp>
      <p:sp>
        <p:nvSpPr>
          <p:cNvPr id="22" name="Shape 17"/>
          <p:cNvSpPr/>
          <p:nvPr/>
        </p:nvSpPr>
        <p:spPr>
          <a:xfrm>
            <a:off x="11085271" y="3904488"/>
            <a:ext cx="420624" cy="420624"/>
          </a:xfrm>
          <a:prstGeom prst="ellipse">
            <a:avLst/>
          </a:prstGeom>
          <a:solidFill>
            <a:srgbClr val="2F3690"/>
          </a:solidFill>
          <a:ln w="12700">
            <a:solidFill>
              <a:srgbClr val="2F3690"/>
            </a:solidFill>
            <a:prstDash val="solid"/>
          </a:ln>
        </p:spPr>
      </p:sp>
      <p:pic>
        <p:nvPicPr>
          <p:cNvPr id="23" name="Image 3" descr="preencoded.png">    </p:cNvPr>
          <p:cNvPicPr>
            <a:picLocks noChangeAspect="1"/>
          </p:cNvPicPr>
          <p:nvPr/>
        </p:nvPicPr>
        <p:blipFill>
          <a:blip r:embed="rId4"/>
          <a:stretch>
            <a:fillRect/>
          </a:stretch>
        </p:blipFill>
        <p:spPr>
          <a:xfrm>
            <a:off x="11198840" y="4018056"/>
            <a:ext cx="193487" cy="193487"/>
          </a:xfrm>
          <a:prstGeom prst="rect">
            <a:avLst/>
          </a:prstGeom>
        </p:spPr>
      </p:pic>
      <p:sp>
        <p:nvSpPr>
          <p:cNvPr id="24" name="Text 18"/>
          <p:cNvSpPr txBox="1"/>
          <p:nvPr/>
        </p:nvSpPr>
        <p:spPr>
          <a:xfrm>
            <a:off x="8808415" y="3776472"/>
            <a:ext cx="2103120" cy="676656"/>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ترتیب صعودی</a:t>
            </a:r>
            <a:endParaRPr lang="en-US" sz="1500" dirty="0"/>
          </a:p>
        </p:txBody>
      </p:sp>
      <p:sp>
        <p:nvSpPr>
          <p:cNvPr id="25" name="Text 19"/>
          <p:cNvSpPr txBox="1"/>
          <p:nvPr/>
        </p:nvSpPr>
        <p:spPr>
          <a:xfrm>
            <a:off x="731520" y="3776472"/>
            <a:ext cx="7894015" cy="67665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آدرس‌ها اکیداً صعودی و بدون تکرارند، تا هر ولیدیتور دقیقاً یک بار پرداخت بگیرد.</a:t>
            </a:r>
            <a:endParaRPr lang="en-US" sz="1250" dirty="0"/>
          </a:p>
        </p:txBody>
      </p:sp>
      <p:sp>
        <p:nvSpPr>
          <p:cNvPr id="26" name="Shape 20"/>
          <p:cNvSpPr/>
          <p:nvPr/>
        </p:nvSpPr>
        <p:spPr>
          <a:xfrm>
            <a:off x="548640" y="4562856"/>
            <a:ext cx="11094415" cy="676656"/>
          </a:xfrm>
          <a:prstGeom prst="roundRect">
            <a:avLst>
              <a:gd name="adj" fmla="val 16216"/>
            </a:avLst>
          </a:prstGeom>
          <a:solidFill>
            <a:srgbClr val="F7F9FC"/>
          </a:solidFill>
          <a:ln w="9525">
            <a:solidFill>
              <a:srgbClr val="DDE1EE"/>
            </a:solidFill>
            <a:prstDash val="solid"/>
          </a:ln>
        </p:spPr>
      </p:sp>
      <p:sp>
        <p:nvSpPr>
          <p:cNvPr id="27" name="Shape 21"/>
          <p:cNvSpPr/>
          <p:nvPr/>
        </p:nvSpPr>
        <p:spPr>
          <a:xfrm>
            <a:off x="11085271" y="4690872"/>
            <a:ext cx="420624" cy="420624"/>
          </a:xfrm>
          <a:prstGeom prst="ellipse">
            <a:avLst/>
          </a:prstGeom>
          <a:solidFill>
            <a:srgbClr val="2F3690"/>
          </a:solidFill>
          <a:ln w="12700">
            <a:solidFill>
              <a:srgbClr val="2F3690"/>
            </a:solidFill>
            <a:prstDash val="solid"/>
          </a:ln>
        </p:spPr>
      </p:sp>
      <p:pic>
        <p:nvPicPr>
          <p:cNvPr id="28" name="Image 4" descr="preencoded.png">    </p:cNvPr>
          <p:cNvPicPr>
            <a:picLocks noChangeAspect="1"/>
          </p:cNvPicPr>
          <p:nvPr/>
        </p:nvPicPr>
        <p:blipFill>
          <a:blip r:embed="rId5"/>
          <a:stretch>
            <a:fillRect/>
          </a:stretch>
        </p:blipFill>
        <p:spPr>
          <a:xfrm>
            <a:off x="11198840" y="4804440"/>
            <a:ext cx="193487" cy="193487"/>
          </a:xfrm>
          <a:prstGeom prst="rect">
            <a:avLst/>
          </a:prstGeom>
        </p:spPr>
      </p:pic>
      <p:sp>
        <p:nvSpPr>
          <p:cNvPr id="29" name="Text 22"/>
          <p:cNvSpPr txBox="1"/>
          <p:nvPr/>
        </p:nvSpPr>
        <p:spPr>
          <a:xfrm>
            <a:off x="8808415" y="4562856"/>
            <a:ext cx="2103120" cy="676656"/>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استحقاق تاریخی</a:t>
            </a:r>
            <a:endParaRPr lang="en-US" sz="1500" dirty="0"/>
          </a:p>
        </p:txBody>
      </p:sp>
      <p:sp>
        <p:nvSpPr>
          <p:cNvPr id="30" name="Text 23"/>
          <p:cNvSpPr txBox="1"/>
          <p:nvPr/>
        </p:nvSpPr>
        <p:spPr>
          <a:xfrm>
            <a:off x="731520" y="4562856"/>
            <a:ext cx="7894015" cy="676656"/>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فقط آدرسی که هرگز ولیدیتور مشروع بوده پرداخت می‌گیرد؛ خروج یا تعلیق پس از تولید بلاک، سهم آن کار را حذف نمی‌کند.</a:t>
            </a:r>
            <a:endParaRPr lang="en-US" sz="1250" dirty="0"/>
          </a:p>
        </p:txBody>
      </p:sp>
      <p:sp>
        <p:nvSpPr>
          <p:cNvPr id="31" name="Shape 24"/>
          <p:cNvSpPr/>
          <p:nvPr/>
        </p:nvSpPr>
        <p:spPr>
          <a:xfrm>
            <a:off x="548640" y="5440680"/>
            <a:ext cx="11094415" cy="822960"/>
          </a:xfrm>
          <a:prstGeom prst="roundRect">
            <a:avLst>
              <a:gd name="adj" fmla="val 13333"/>
            </a:avLst>
          </a:prstGeom>
          <a:solidFill>
            <a:srgbClr val="FCEAE4"/>
          </a:solidFill>
          <a:ln w="9525">
            <a:solidFill>
              <a:srgbClr val="FCEAE4"/>
            </a:solidFill>
            <a:prstDash val="solid"/>
          </a:ln>
        </p:spPr>
      </p:sp>
      <p:sp>
        <p:nvSpPr>
          <p:cNvPr id="32" name="Text 25"/>
          <p:cNvSpPr txBox="1"/>
          <p:nvPr/>
        </p:nvSpPr>
        <p:spPr>
          <a:xfrm>
            <a:off x="822960" y="5486400"/>
            <a:ext cx="10545775" cy="731520"/>
          </a:xfrm>
          <a:prstGeom prst="rect">
            <a:avLst/>
          </a:prstGeom>
          <a:noFill/>
          <a:ln/>
        </p:spPr>
        <p:txBody>
          <a:bodyPr wrap="square" lIns="0" tIns="0" rIns="0" bIns="0" rtlCol="0" anchor="ctr"/>
          <a:lstStyle/>
          <a:p>
            <a:pPr rtl="1" algn="r" indent="0" marL="0">
              <a:lnSpc>
                <a:spcPct val="105000"/>
              </a:lnSpc>
              <a:buNone/>
            </a:pPr>
            <a:r>
              <a:rPr lang="fa-IR" altLang="en-US" sz="1300" b="1" dirty="0">
                <a:solidFill>
                  <a:srgbClr val="C8431F"/>
                </a:solidFill>
                <a:latin typeface="Vazirmatn" pitchFamily="34" charset="0"/>
                <a:ea typeface="Vazirmatn" pitchFamily="34" charset="-122"/>
                <a:cs typeface="Vazirmatn" pitchFamily="34" charset="-120"/>
              </a:rPr>
              <a:t>مرز اعتماد: </a:t>
            </a:r>
            <a:pPr rtl="1" algn="r" indent="0" marL="0">
              <a:lnSpc>
                <a:spcPct val="105000"/>
              </a:lnSpc>
              <a:buNone/>
            </a:pPr>
            <a:r>
              <a:rPr lang="fa-IR" altLang="en-US" sz="1300" dirty="0">
                <a:solidFill>
                  <a:srgbClr val="C8431F"/>
                </a:solidFill>
                <a:latin typeface="Vazirmatn" pitchFamily="34" charset="0"/>
                <a:ea typeface="Vazirmatn" pitchFamily="34" charset="-122"/>
                <a:cs typeface="Vazirmatn" pitchFamily="34" charset="-120"/>
              </a:rPr>
              <a:t>سقف فقط پاداش ناخالص را محدود می‌کند. انتساب هر بلاک به ولیدیتور، صحت کارمزد و برابری نرخ ثبت‌شده با نرخ واقعی Besu را قرارداد اثبات نمی‌کند؛ این‌ها به RewardRouter و بررسی مستقل سپرده شده‌اند.</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سورن در یک نگاه: چیست و برای چه استفاده می‌شود</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11</a:t>
            </a:r>
            <a:endParaRPr lang="en-US" sz="1000" dirty="0"/>
          </a:p>
        </p:txBody>
      </p:sp>
      <p:sp>
        <p:nvSpPr>
          <p:cNvPr id="6" name="Shape 4"/>
          <p:cNvSpPr/>
          <p:nvPr/>
        </p:nvSpPr>
        <p:spPr>
          <a:xfrm>
            <a:off x="7436815" y="1417320"/>
            <a:ext cx="4206240" cy="1078992"/>
          </a:xfrm>
          <a:prstGeom prst="roundRect">
            <a:avLst>
              <a:gd name="adj" fmla="val 10169"/>
            </a:avLst>
          </a:prstGeom>
          <a:solidFill>
            <a:srgbClr val="EEF0FB"/>
          </a:solidFill>
          <a:ln w="9525">
            <a:solidFill>
              <a:srgbClr val="EEF0FB"/>
            </a:solidFill>
            <a:prstDash val="solid"/>
          </a:ln>
        </p:spPr>
      </p:sp>
      <p:sp>
        <p:nvSpPr>
          <p:cNvPr id="7" name="Text 5"/>
          <p:cNvSpPr txBox="1"/>
          <p:nvPr/>
        </p:nvSpPr>
        <p:spPr>
          <a:xfrm>
            <a:off x="7592263" y="1490472"/>
            <a:ext cx="3886200" cy="292608"/>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ارز بومی شبکه</a:t>
            </a:r>
            <a:endParaRPr lang="en-US" sz="1350" dirty="0"/>
          </a:p>
        </p:txBody>
      </p:sp>
      <p:sp>
        <p:nvSpPr>
          <p:cNvPr id="8" name="Text 6"/>
          <p:cNvSpPr txBox="1"/>
          <p:nvPr/>
        </p:nvSpPr>
        <p:spPr>
          <a:xfrm>
            <a:off x="7592263" y="1819656"/>
            <a:ext cx="3886200" cy="658368"/>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مثل ETH در اتریوم بخشی از خود پروتکل است، نه یک توکن ERC20. انتقال با مقدار تراکنش انجام می‌شود، نه با تابع انتقال توکن.</a:t>
            </a:r>
            <a:endParaRPr lang="en-US" sz="1100" dirty="0"/>
          </a:p>
        </p:txBody>
      </p:sp>
      <p:sp>
        <p:nvSpPr>
          <p:cNvPr id="9" name="Shape 7"/>
          <p:cNvSpPr/>
          <p:nvPr/>
        </p:nvSpPr>
        <p:spPr>
          <a:xfrm>
            <a:off x="7436815" y="2606040"/>
            <a:ext cx="4206240" cy="1078992"/>
          </a:xfrm>
          <a:prstGeom prst="roundRect">
            <a:avLst>
              <a:gd name="adj" fmla="val 10169"/>
            </a:avLst>
          </a:prstGeom>
          <a:solidFill>
            <a:srgbClr val="EEF0FB"/>
          </a:solidFill>
          <a:ln w="9525">
            <a:solidFill>
              <a:srgbClr val="EEF0FB"/>
            </a:solidFill>
            <a:prstDash val="solid"/>
          </a:ln>
        </p:spPr>
      </p:sp>
      <p:sp>
        <p:nvSpPr>
          <p:cNvPr id="10" name="Text 8"/>
          <p:cNvSpPr txBox="1"/>
          <p:nvPr/>
        </p:nvSpPr>
        <p:spPr>
          <a:xfrm>
            <a:off x="7592263" y="2679192"/>
            <a:ext cx="3886200" cy="292608"/>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۱۸ رقم اعشار</a:t>
            </a:r>
            <a:endParaRPr lang="en-US" sz="1350" dirty="0"/>
          </a:p>
        </p:txBody>
      </p:sp>
      <p:sp>
        <p:nvSpPr>
          <p:cNvPr id="11" name="Text 9"/>
          <p:cNvSpPr txBox="1"/>
          <p:nvPr/>
        </p:nvSpPr>
        <p:spPr>
          <a:xfrm>
            <a:off x="7592263" y="3008376"/>
            <a:ext cx="3886200" cy="658368"/>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کوچک‌ترین واحد wei است؛ ۱۰¹⁸ wei برابر یک سورن.</a:t>
            </a:r>
            <a:endParaRPr lang="en-US" sz="1100" dirty="0"/>
          </a:p>
        </p:txBody>
      </p:sp>
      <p:sp>
        <p:nvSpPr>
          <p:cNvPr id="12" name="Shape 10"/>
          <p:cNvSpPr/>
          <p:nvPr/>
        </p:nvSpPr>
        <p:spPr>
          <a:xfrm>
            <a:off x="7436815" y="3794760"/>
            <a:ext cx="4206240" cy="1078992"/>
          </a:xfrm>
          <a:prstGeom prst="roundRect">
            <a:avLst>
              <a:gd name="adj" fmla="val 10169"/>
            </a:avLst>
          </a:prstGeom>
          <a:solidFill>
            <a:srgbClr val="EEF0FB"/>
          </a:solidFill>
          <a:ln w="9525">
            <a:solidFill>
              <a:srgbClr val="EEF0FB"/>
            </a:solidFill>
            <a:prstDash val="solid"/>
          </a:ln>
        </p:spPr>
      </p:sp>
      <p:sp>
        <p:nvSpPr>
          <p:cNvPr id="13" name="Text 11"/>
          <p:cNvSpPr txBox="1"/>
          <p:nvPr/>
        </p:nvSpPr>
        <p:spPr>
          <a:xfrm>
            <a:off x="7592263" y="3867912"/>
            <a:ext cx="3886200" cy="292608"/>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انتشار دائمی</a:t>
            </a:r>
            <a:endParaRPr lang="en-US" sz="1350" dirty="0"/>
          </a:p>
        </p:txBody>
      </p:sp>
      <p:sp>
        <p:nvSpPr>
          <p:cNvPr id="14" name="Text 12"/>
          <p:cNvSpPr txBox="1"/>
          <p:nvPr/>
        </p:nvSpPr>
        <p:spPr>
          <a:xfrm>
            <a:off x="7592263" y="4197096"/>
            <a:ext cx="3886200" cy="658368"/>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هر بلاک ۲ سورن تازه می‌سازد؛ سقف عرضه و halving ندارد.</a:t>
            </a:r>
            <a:endParaRPr lang="en-US" sz="1100" dirty="0"/>
          </a:p>
        </p:txBody>
      </p:sp>
      <p:sp>
        <p:nvSpPr>
          <p:cNvPr id="15" name="Shape 13"/>
          <p:cNvSpPr/>
          <p:nvPr/>
        </p:nvSpPr>
        <p:spPr>
          <a:xfrm>
            <a:off x="7436815" y="4983480"/>
            <a:ext cx="4206240" cy="1078992"/>
          </a:xfrm>
          <a:prstGeom prst="roundRect">
            <a:avLst>
              <a:gd name="adj" fmla="val 10169"/>
            </a:avLst>
          </a:prstGeom>
          <a:solidFill>
            <a:srgbClr val="E3F4EC"/>
          </a:solidFill>
          <a:ln w="9525">
            <a:solidFill>
              <a:srgbClr val="E3F4EC"/>
            </a:solidFill>
            <a:prstDash val="solid"/>
          </a:ln>
        </p:spPr>
      </p:sp>
      <p:sp>
        <p:nvSpPr>
          <p:cNvPr id="16" name="Text 14"/>
          <p:cNvSpPr txBox="1"/>
          <p:nvPr/>
        </p:nvSpPr>
        <p:spPr>
          <a:xfrm>
            <a:off x="7592263" y="5056632"/>
            <a:ext cx="3886200" cy="292608"/>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1F7A55"/>
                </a:solidFill>
                <a:latin typeface="Vazirmatn" pitchFamily="34" charset="0"/>
                <a:ea typeface="Vazirmatn" pitchFamily="34" charset="-122"/>
                <a:cs typeface="Vazirmatn" pitchFamily="34" charset="-120"/>
              </a:rPr>
              <a:t>رأی از سورن نمی‌آید</a:t>
            </a:r>
            <a:endParaRPr lang="en-US" sz="1350" dirty="0"/>
          </a:p>
        </p:txBody>
      </p:sp>
      <p:sp>
        <p:nvSpPr>
          <p:cNvPr id="17" name="Text 15"/>
          <p:cNvSpPr txBox="1"/>
          <p:nvPr/>
        </p:nvSpPr>
        <p:spPr>
          <a:xfrm>
            <a:off x="7592263" y="5385816"/>
            <a:ext cx="3886200" cy="658368"/>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صرف داشتن سورن حق رأی نمی‌دهد. حق رأی فقط با قفل‌کردن وثیقه و ولیدیتور فعال‌شدن به دست می‌آید.</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812280" cy="914400"/>
        </p:xfrm>
        <a:graphic>
          <a:graphicData uri="http://schemas.openxmlformats.org/drawingml/2006/table">
            <a:tbl>
              <a:tblPr/>
              <a:tblGrid>
                <a:gridCol w="777240"/>
                <a:gridCol w="4114800"/>
                <a:gridCol w="1920240"/>
              </a:tblGrid>
              <a:tr h="365760">
                <a:tc>
                  <a:txBody>
                    <a:bodyPr/>
                    <a:lstStyle/>
                    <a:p>
                      <a:pPr rtl="1" algn="r" indent="0" marL="0">
                        <a:buNone/>
                      </a:pPr>
                      <a:r>
                        <a:rPr lang="fa-IR" altLang="en-US" sz="1000" b="1" dirty="0">
                          <a:solidFill>
                            <a:srgbClr val="FFFFFF"/>
                          </a:solidFill>
                          <a:latin typeface="Vazirmatn" pitchFamily="34" charset="0"/>
                          <a:ea typeface="Vazirmatn" pitchFamily="34" charset="-122"/>
                          <a:cs typeface="Vazirmatn" pitchFamily="34" charset="-120"/>
                        </a:rPr>
                        <a:t>وضعیت</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000" b="1" dirty="0">
                          <a:solidFill>
                            <a:srgbClr val="FFFFFF"/>
                          </a:solidFill>
                          <a:latin typeface="Vazirmatn" pitchFamily="34" charset="0"/>
                          <a:ea typeface="Vazirmatn" pitchFamily="34" charset="-122"/>
                          <a:cs typeface="Vazirmatn" pitchFamily="34" charset="-120"/>
                        </a:rPr>
                        <a:t>توضیح</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000" b="1" dirty="0">
                          <a:solidFill>
                            <a:srgbClr val="FFFFFF"/>
                          </a:solidFill>
                          <a:latin typeface="Vazirmatn" pitchFamily="34" charset="0"/>
                          <a:ea typeface="Vazirmatn" pitchFamily="34" charset="-122"/>
                          <a:cs typeface="Vazirmatn" pitchFamily="34" charset="-120"/>
                        </a:rPr>
                        <a:t>کاربرد</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713232">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در طرح</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هر تراکنش و فراخوانی قرارداد به سورن هزینه دارد (قیمت گاز ثابت)؛ محرک اصلی تقاضا اجرای دپ‌ها روی سور است</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b="1" dirty="0">
                          <a:solidFill>
                            <a:srgbClr val="1B1B2F"/>
                          </a:solidFill>
                          <a:latin typeface="Vazirmatn" pitchFamily="34" charset="0"/>
                          <a:ea typeface="Vazirmatn" pitchFamily="34" charset="-122"/>
                          <a:cs typeface="Vazirmatn" pitchFamily="34" charset="-120"/>
                        </a:rPr>
                        <a:t>کارمزد تراکنش</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در طرح</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قفل‌شدن مبلغ ورود؛ در خروج داوطلبانه کاملاً قابل‌استرداد</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000" b="1" dirty="0">
                          <a:solidFill>
                            <a:srgbClr val="1B1B2F"/>
                          </a:solidFill>
                          <a:latin typeface="Vazirmatn" pitchFamily="34" charset="0"/>
                          <a:ea typeface="Vazirmatn" pitchFamily="34" charset="-122"/>
                          <a:cs typeface="Vazirmatn" pitchFamily="34" charset="-120"/>
                        </a:rPr>
                        <a:t>وثیقه‌ی ولیدیتور</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در طرح</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۴٪ وثیقه، یک‌بار و بازگشت‌ناپذیر؛ به تولیدکنندگان بلاک‌ها می‌رسد</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b="1" dirty="0">
                          <a:solidFill>
                            <a:srgbClr val="1B1B2F"/>
                          </a:solidFill>
                          <a:latin typeface="Vazirmatn" pitchFamily="34" charset="0"/>
                          <a:ea typeface="Vazirmatn" pitchFamily="34" charset="-122"/>
                          <a:cs typeface="Vazirmatn" pitchFamily="34" charset="-120"/>
                        </a:rPr>
                        <a:t>کارمزد عضویت</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640080">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در طرح</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باقی‌مانده‌ی ریوارد و بخش جریمه‌شده‌ی وثیقه؛ خرج‌شدنی فقط با هیأت</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000" b="1" dirty="0">
                          <a:solidFill>
                            <a:srgbClr val="1B1B2F"/>
                          </a:solidFill>
                          <a:latin typeface="Vazirmatn" pitchFamily="34" charset="0"/>
                          <a:ea typeface="Vazirmatn" pitchFamily="34" charset="-122"/>
                          <a:cs typeface="Vazirmatn" pitchFamily="34" charset="-120"/>
                        </a:rPr>
                        <a:t>دارایی خزانه‌ی ولیدیتورها</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777240">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طراحی باز</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dirty="0">
                          <a:solidFill>
                            <a:srgbClr val="1B1B2F"/>
                          </a:solidFill>
                          <a:latin typeface="Vazirmatn" pitchFamily="34" charset="0"/>
                          <a:ea typeface="Vazirmatn" pitchFamily="34" charset="-122"/>
                          <a:cs typeface="Vazirmatn" pitchFamily="34" charset="-120"/>
                        </a:rPr>
                        <a:t>قفل سورن توسط کاربر یا صاحب دپ برای دسترسی بهتر به یک سرویس (نام‌گذاری، ثبت‌زمان اسناد و …)</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000" b="1" dirty="0">
                          <a:solidFill>
                            <a:srgbClr val="1B1B2F"/>
                          </a:solidFill>
                          <a:latin typeface="Vazirmatn" pitchFamily="34" charset="0"/>
                          <a:ea typeface="Vazirmatn" pitchFamily="34" charset="-122"/>
                          <a:cs typeface="Vazirmatn" pitchFamily="34" charset="-120"/>
                        </a:rPr>
                        <a:t>استیک برای دسترسی به سرویس‌های مشترک</a:t>
                      </a:r>
                      <a:endParaRPr lang="fa-IR" sz="10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548640" y="5897880"/>
            <a:ext cx="6812280" cy="50292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مأموریت رشد تقاضا با بنیاد است: تبلیغات، آموزش و اجرای چند دپ اولیه. کدام دپ‌های مشخص اول ساخته شوند هنوز تعیین نشده است. هیچ کنترل محتوایی از طرف بنیاد یا ولیدیتورها روی دپ‌ها وجود ندارد.</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جریان سورن: از انتشار تا مصرف</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12</a:t>
            </a:r>
            <a:endParaRPr lang="en-US" sz="1000" dirty="0"/>
          </a:p>
        </p:txBody>
      </p:sp>
      <p:sp>
        <p:nvSpPr>
          <p:cNvPr id="6" name="Shape 4"/>
          <p:cNvSpPr/>
          <p:nvPr/>
        </p:nvSpPr>
        <p:spPr>
          <a:xfrm>
            <a:off x="8076895" y="1417320"/>
            <a:ext cx="3566160" cy="1051560"/>
          </a:xfrm>
          <a:prstGeom prst="roundRect">
            <a:avLst>
              <a:gd name="adj" fmla="val 10435"/>
            </a:avLst>
          </a:prstGeom>
          <a:solidFill>
            <a:srgbClr val="EEF0FB"/>
          </a:solidFill>
          <a:ln w="9525">
            <a:solidFill>
              <a:srgbClr val="EEF0FB"/>
            </a:solidFill>
            <a:prstDash val="solid"/>
          </a:ln>
        </p:spPr>
      </p:sp>
      <p:sp>
        <p:nvSpPr>
          <p:cNvPr id="7" name="Text 5"/>
          <p:cNvSpPr txBox="1"/>
          <p:nvPr/>
        </p:nvSpPr>
        <p:spPr>
          <a:xfrm>
            <a:off x="8214055" y="1417320"/>
            <a:ext cx="3291840" cy="1051560"/>
          </a:xfrm>
          <a:prstGeom prst="rect">
            <a:avLst/>
          </a:prstGeom>
          <a:noFill/>
          <a:ln/>
        </p:spPr>
        <p:txBody>
          <a:bodyPr wrap="square" lIns="0" tIns="0" rIns="0" bIns="0" rtlCol="0" anchor="ctr"/>
          <a:lstStyle/>
          <a:p>
            <a:pPr rtl="1" algn="r" indent="0" marL="0">
              <a:lnSpc>
                <a:spcPct val="105000"/>
              </a:lnSpc>
              <a:buNone/>
            </a:pPr>
            <a:r>
              <a:rPr lang="fa-IR" altLang="en-US" sz="1250" b="1" dirty="0">
                <a:solidFill>
                  <a:srgbClr val="2F3690"/>
                </a:solidFill>
                <a:latin typeface="Vazirmatn" pitchFamily="34" charset="0"/>
                <a:ea typeface="Vazirmatn" pitchFamily="34" charset="-122"/>
                <a:cs typeface="Vazirmatn" pitchFamily="34" charset="-120"/>
              </a:rPr>
              <a:t>ریوارد هر بلاک: ۲ سورن (۲۱٬۰۲۴٬۰۰۰ در سال)</a:t>
            </a:r>
            <a:endParaRPr lang="en-US" sz="1250" dirty="0"/>
          </a:p>
        </p:txBody>
      </p:sp>
      <p:sp>
        <p:nvSpPr>
          <p:cNvPr id="8" name="Shape 6"/>
          <p:cNvSpPr/>
          <p:nvPr/>
        </p:nvSpPr>
        <p:spPr>
          <a:xfrm flipH="1">
            <a:off x="7482535" y="1943100"/>
            <a:ext cx="548640" cy="0"/>
          </a:xfrm>
          <a:prstGeom prst="line">
            <a:avLst/>
          </a:prstGeom>
          <a:noFill/>
          <a:ln w="31750">
            <a:solidFill>
              <a:srgbClr val="2F3690"/>
            </a:solidFill>
            <a:prstDash val="solid"/>
            <a:tailEnd type="triangle"/>
          </a:ln>
        </p:spPr>
      </p:sp>
      <p:sp>
        <p:nvSpPr>
          <p:cNvPr id="9" name="Shape 7"/>
          <p:cNvSpPr/>
          <p:nvPr/>
        </p:nvSpPr>
        <p:spPr>
          <a:xfrm>
            <a:off x="5171237" y="1417320"/>
            <a:ext cx="2174138" cy="1051560"/>
          </a:xfrm>
          <a:prstGeom prst="roundRect">
            <a:avLst>
              <a:gd name="adj" fmla="val 10435"/>
            </a:avLst>
          </a:prstGeom>
          <a:solidFill>
            <a:srgbClr val="FFFFFF"/>
          </a:solidFill>
          <a:ln w="19050">
            <a:solidFill>
              <a:srgbClr val="2F3690"/>
            </a:solidFill>
            <a:prstDash val="solid"/>
          </a:ln>
        </p:spPr>
      </p:sp>
      <p:sp>
        <p:nvSpPr>
          <p:cNvPr id="10" name="Text 8"/>
          <p:cNvSpPr txBox="1"/>
          <p:nvPr/>
        </p:nvSpPr>
        <p:spPr>
          <a:xfrm>
            <a:off x="5262677" y="1417320"/>
            <a:ext cx="1991258"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بنیاد</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۱۵٪ ثابت</a:t>
            </a:r>
            <a:endParaRPr lang="en-US" sz="1300" dirty="0"/>
          </a:p>
        </p:txBody>
      </p:sp>
      <p:sp>
        <p:nvSpPr>
          <p:cNvPr id="11" name="Shape 9"/>
          <p:cNvSpPr/>
          <p:nvPr/>
        </p:nvSpPr>
        <p:spPr>
          <a:xfrm>
            <a:off x="2859938" y="1417320"/>
            <a:ext cx="2174138" cy="1051560"/>
          </a:xfrm>
          <a:prstGeom prst="roundRect">
            <a:avLst>
              <a:gd name="adj" fmla="val 10435"/>
            </a:avLst>
          </a:prstGeom>
          <a:solidFill>
            <a:srgbClr val="FFFFFF"/>
          </a:solidFill>
          <a:ln w="19050">
            <a:solidFill>
              <a:srgbClr val="3D46A8"/>
            </a:solidFill>
            <a:prstDash val="solid"/>
          </a:ln>
        </p:spPr>
      </p:sp>
      <p:sp>
        <p:nvSpPr>
          <p:cNvPr id="12" name="Text 10"/>
          <p:cNvSpPr txBox="1"/>
          <p:nvPr/>
        </p:nvSpPr>
        <p:spPr>
          <a:xfrm>
            <a:off x="2951378" y="1417320"/>
            <a:ext cx="1991258"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3D46A8"/>
                </a:solidFill>
                <a:latin typeface="Vazirmatn" pitchFamily="34" charset="0"/>
                <a:ea typeface="Vazirmatn" pitchFamily="34" charset="-122"/>
                <a:cs typeface="Vazirmatn" pitchFamily="34" charset="-120"/>
              </a:rPr>
              <a:t>ولیدیتورها</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۴۰ تا ۶۵٪ (شروع ۵۰٪)</a:t>
            </a:r>
            <a:endParaRPr lang="en-US" sz="1300" dirty="0"/>
          </a:p>
        </p:txBody>
      </p:sp>
      <p:sp>
        <p:nvSpPr>
          <p:cNvPr id="13" name="Shape 11"/>
          <p:cNvSpPr/>
          <p:nvPr/>
        </p:nvSpPr>
        <p:spPr>
          <a:xfrm>
            <a:off x="548640" y="1417320"/>
            <a:ext cx="2174138" cy="1051560"/>
          </a:xfrm>
          <a:prstGeom prst="roundRect">
            <a:avLst>
              <a:gd name="adj" fmla="val 10435"/>
            </a:avLst>
          </a:prstGeom>
          <a:solidFill>
            <a:srgbClr val="FFFFFF"/>
          </a:solidFill>
          <a:ln w="19050">
            <a:solidFill>
              <a:srgbClr val="5F6472"/>
            </a:solidFill>
            <a:prstDash val="solid"/>
          </a:ln>
        </p:spPr>
      </p:sp>
      <p:sp>
        <p:nvSpPr>
          <p:cNvPr id="14" name="Text 12"/>
          <p:cNvSpPr txBox="1"/>
          <p:nvPr/>
        </p:nvSpPr>
        <p:spPr>
          <a:xfrm>
            <a:off x="640080" y="1417320"/>
            <a:ext cx="1991258"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5F6472"/>
                </a:solidFill>
                <a:latin typeface="Vazirmatn" pitchFamily="34" charset="0"/>
                <a:ea typeface="Vazirmatn" pitchFamily="34" charset="-122"/>
                <a:cs typeface="Vazirmatn" pitchFamily="34" charset="-120"/>
              </a:rPr>
              <a:t>خزانه‌ی ولیدیتورها</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باقی‌مانده (۲۰ تا ۴۵٪)</a:t>
            </a:r>
            <a:endParaRPr lang="en-US" sz="1300" dirty="0"/>
          </a:p>
        </p:txBody>
      </p:sp>
      <p:sp>
        <p:nvSpPr>
          <p:cNvPr id="15" name="Shape 13"/>
          <p:cNvSpPr/>
          <p:nvPr/>
        </p:nvSpPr>
        <p:spPr>
          <a:xfrm>
            <a:off x="8076895" y="2651760"/>
            <a:ext cx="3566160" cy="1051560"/>
          </a:xfrm>
          <a:prstGeom prst="roundRect">
            <a:avLst>
              <a:gd name="adj" fmla="val 10435"/>
            </a:avLst>
          </a:prstGeom>
          <a:solidFill>
            <a:srgbClr val="EEF0FB"/>
          </a:solidFill>
          <a:ln w="9525">
            <a:solidFill>
              <a:srgbClr val="EEF0FB"/>
            </a:solidFill>
            <a:prstDash val="solid"/>
          </a:ln>
        </p:spPr>
      </p:sp>
      <p:sp>
        <p:nvSpPr>
          <p:cNvPr id="16" name="Text 14"/>
          <p:cNvSpPr txBox="1"/>
          <p:nvPr/>
        </p:nvSpPr>
        <p:spPr>
          <a:xfrm>
            <a:off x="8214055" y="2651760"/>
            <a:ext cx="3291840" cy="1051560"/>
          </a:xfrm>
          <a:prstGeom prst="rect">
            <a:avLst/>
          </a:prstGeom>
          <a:noFill/>
          <a:ln/>
        </p:spPr>
        <p:txBody>
          <a:bodyPr wrap="square" lIns="0" tIns="0" rIns="0" bIns="0" rtlCol="0" anchor="ctr"/>
          <a:lstStyle/>
          <a:p>
            <a:pPr rtl="1" algn="r" indent="0" marL="0">
              <a:lnSpc>
                <a:spcPct val="105000"/>
              </a:lnSpc>
              <a:buNone/>
            </a:pPr>
            <a:r>
              <a:rPr lang="fa-IR" altLang="en-US" sz="1250" b="1" dirty="0">
                <a:solidFill>
                  <a:srgbClr val="2F3690"/>
                </a:solidFill>
                <a:latin typeface="Vazirmatn" pitchFamily="34" charset="0"/>
                <a:ea typeface="Vazirmatn" pitchFamily="34" charset="-122"/>
                <a:cs typeface="Vazirmatn" pitchFamily="34" charset="-120"/>
              </a:rPr>
              <a:t>کارمزد تراکنش‌های معمولی</a:t>
            </a:r>
            <a:endParaRPr lang="en-US" sz="1250" dirty="0"/>
          </a:p>
        </p:txBody>
      </p:sp>
      <p:sp>
        <p:nvSpPr>
          <p:cNvPr id="17" name="Shape 15"/>
          <p:cNvSpPr/>
          <p:nvPr/>
        </p:nvSpPr>
        <p:spPr>
          <a:xfrm flipH="1">
            <a:off x="7482535" y="3177540"/>
            <a:ext cx="548640" cy="0"/>
          </a:xfrm>
          <a:prstGeom prst="line">
            <a:avLst/>
          </a:prstGeom>
          <a:noFill/>
          <a:ln w="31750">
            <a:solidFill>
              <a:srgbClr val="2F3690"/>
            </a:solidFill>
            <a:prstDash val="solid"/>
            <a:tailEnd type="triangle"/>
          </a:ln>
        </p:spPr>
      </p:sp>
      <p:sp>
        <p:nvSpPr>
          <p:cNvPr id="18" name="Shape 16"/>
          <p:cNvSpPr/>
          <p:nvPr/>
        </p:nvSpPr>
        <p:spPr>
          <a:xfrm>
            <a:off x="4015588" y="2651760"/>
            <a:ext cx="3329788" cy="1051560"/>
          </a:xfrm>
          <a:prstGeom prst="roundRect">
            <a:avLst>
              <a:gd name="adj" fmla="val 10435"/>
            </a:avLst>
          </a:prstGeom>
          <a:solidFill>
            <a:srgbClr val="FFFFFF"/>
          </a:solidFill>
          <a:ln w="19050">
            <a:solidFill>
              <a:srgbClr val="C8431F"/>
            </a:solidFill>
            <a:prstDash val="solid"/>
          </a:ln>
        </p:spPr>
      </p:sp>
      <p:sp>
        <p:nvSpPr>
          <p:cNvPr id="19" name="Text 17"/>
          <p:cNvSpPr txBox="1"/>
          <p:nvPr/>
        </p:nvSpPr>
        <p:spPr>
          <a:xfrm>
            <a:off x="4107028" y="2651760"/>
            <a:ext cx="3146908"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C8431F"/>
                </a:solidFill>
                <a:latin typeface="Vazirmatn" pitchFamily="34" charset="0"/>
                <a:ea typeface="Vazirmatn" pitchFamily="34" charset="-122"/>
                <a:cs typeface="Vazirmatn" pitchFamily="34" charset="-120"/>
              </a:rPr>
              <a:t>سوزانده</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۳۰٪ ثابت</a:t>
            </a:r>
            <a:endParaRPr lang="en-US" sz="1300" dirty="0"/>
          </a:p>
        </p:txBody>
      </p:sp>
      <p:sp>
        <p:nvSpPr>
          <p:cNvPr id="20" name="Shape 18"/>
          <p:cNvSpPr/>
          <p:nvPr/>
        </p:nvSpPr>
        <p:spPr>
          <a:xfrm>
            <a:off x="548640" y="2651760"/>
            <a:ext cx="3329788" cy="1051560"/>
          </a:xfrm>
          <a:prstGeom prst="roundRect">
            <a:avLst>
              <a:gd name="adj" fmla="val 10435"/>
            </a:avLst>
          </a:prstGeom>
          <a:solidFill>
            <a:srgbClr val="FFFFFF"/>
          </a:solidFill>
          <a:ln w="19050">
            <a:solidFill>
              <a:srgbClr val="3D46A8"/>
            </a:solidFill>
            <a:prstDash val="solid"/>
          </a:ln>
        </p:spPr>
      </p:sp>
      <p:sp>
        <p:nvSpPr>
          <p:cNvPr id="21" name="Text 19"/>
          <p:cNvSpPr txBox="1"/>
          <p:nvPr/>
        </p:nvSpPr>
        <p:spPr>
          <a:xfrm>
            <a:off x="640080" y="2651760"/>
            <a:ext cx="3146908"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3D46A8"/>
                </a:solidFill>
                <a:latin typeface="Vazirmatn" pitchFamily="34" charset="0"/>
                <a:ea typeface="Vazirmatn" pitchFamily="34" charset="-122"/>
                <a:cs typeface="Vazirmatn" pitchFamily="34" charset="-120"/>
              </a:rPr>
              <a:t>ولیدیتورها</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۷۰٪ به نسبت بلاک</a:t>
            </a:r>
            <a:endParaRPr lang="en-US" sz="1300" dirty="0"/>
          </a:p>
        </p:txBody>
      </p:sp>
      <p:sp>
        <p:nvSpPr>
          <p:cNvPr id="22" name="Shape 20"/>
          <p:cNvSpPr/>
          <p:nvPr/>
        </p:nvSpPr>
        <p:spPr>
          <a:xfrm>
            <a:off x="8076895" y="3886200"/>
            <a:ext cx="3566160" cy="1051560"/>
          </a:xfrm>
          <a:prstGeom prst="roundRect">
            <a:avLst>
              <a:gd name="adj" fmla="val 10435"/>
            </a:avLst>
          </a:prstGeom>
          <a:solidFill>
            <a:srgbClr val="EEF0FB"/>
          </a:solidFill>
          <a:ln w="9525">
            <a:solidFill>
              <a:srgbClr val="EEF0FB"/>
            </a:solidFill>
            <a:prstDash val="solid"/>
          </a:ln>
        </p:spPr>
      </p:sp>
      <p:sp>
        <p:nvSpPr>
          <p:cNvPr id="23" name="Text 21"/>
          <p:cNvSpPr txBox="1"/>
          <p:nvPr/>
        </p:nvSpPr>
        <p:spPr>
          <a:xfrm>
            <a:off x="8214055" y="3886200"/>
            <a:ext cx="3291840" cy="1051560"/>
          </a:xfrm>
          <a:prstGeom prst="rect">
            <a:avLst/>
          </a:prstGeom>
          <a:noFill/>
          <a:ln/>
        </p:spPr>
        <p:txBody>
          <a:bodyPr wrap="square" lIns="0" tIns="0" rIns="0" bIns="0" rtlCol="0" anchor="ctr"/>
          <a:lstStyle/>
          <a:p>
            <a:pPr rtl="1" algn="r" indent="0" marL="0">
              <a:lnSpc>
                <a:spcPct val="105000"/>
              </a:lnSpc>
              <a:buNone/>
            </a:pPr>
            <a:r>
              <a:rPr lang="fa-IR" altLang="en-US" sz="1250" b="1" dirty="0">
                <a:solidFill>
                  <a:srgbClr val="2F3690"/>
                </a:solidFill>
                <a:latin typeface="Vazirmatn" pitchFamily="34" charset="0"/>
                <a:ea typeface="Vazirmatn" pitchFamily="34" charset="-122"/>
                <a:cs typeface="Vazirmatn" pitchFamily="34" charset="-120"/>
              </a:rPr>
              <a:t>کارمزد عضویت (۴٪ وثیقه، رویداد جدا)</a:t>
            </a:r>
            <a:endParaRPr lang="en-US" sz="1250" dirty="0"/>
          </a:p>
        </p:txBody>
      </p:sp>
      <p:sp>
        <p:nvSpPr>
          <p:cNvPr id="24" name="Shape 22"/>
          <p:cNvSpPr/>
          <p:nvPr/>
        </p:nvSpPr>
        <p:spPr>
          <a:xfrm flipH="1">
            <a:off x="7482535" y="4411980"/>
            <a:ext cx="548640" cy="0"/>
          </a:xfrm>
          <a:prstGeom prst="line">
            <a:avLst/>
          </a:prstGeom>
          <a:noFill/>
          <a:ln w="31750">
            <a:solidFill>
              <a:srgbClr val="2F3690"/>
            </a:solidFill>
            <a:prstDash val="solid"/>
            <a:tailEnd type="triangle"/>
          </a:ln>
        </p:spPr>
      </p:sp>
      <p:sp>
        <p:nvSpPr>
          <p:cNvPr id="25" name="Shape 23"/>
          <p:cNvSpPr/>
          <p:nvPr/>
        </p:nvSpPr>
        <p:spPr>
          <a:xfrm>
            <a:off x="548640" y="3886200"/>
            <a:ext cx="6796735" cy="1051560"/>
          </a:xfrm>
          <a:prstGeom prst="roundRect">
            <a:avLst>
              <a:gd name="adj" fmla="val 10435"/>
            </a:avLst>
          </a:prstGeom>
          <a:solidFill>
            <a:srgbClr val="FFFFFF"/>
          </a:solidFill>
          <a:ln w="19050">
            <a:solidFill>
              <a:srgbClr val="3D46A8"/>
            </a:solidFill>
            <a:prstDash val="solid"/>
          </a:ln>
        </p:spPr>
      </p:sp>
      <p:sp>
        <p:nvSpPr>
          <p:cNvPr id="26" name="Text 24"/>
          <p:cNvSpPr txBox="1"/>
          <p:nvPr/>
        </p:nvSpPr>
        <p:spPr>
          <a:xfrm>
            <a:off x="640080" y="3886200"/>
            <a:ext cx="6613855" cy="1051560"/>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3D46A8"/>
                </a:solidFill>
                <a:latin typeface="Vazirmatn" pitchFamily="34" charset="0"/>
                <a:ea typeface="Vazirmatn" pitchFamily="34" charset="-122"/>
                <a:cs typeface="Vazirmatn" pitchFamily="34" charset="-120"/>
              </a:rPr>
              <a:t>تولیدکنندگان بازه‌ی توزیع بعدی</a:t>
            </a:r>
            <a:endParaRPr lang="en-US" sz="13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۱۰۰٪ بدون سوزاندن</a:t>
            </a:r>
            <a:endParaRPr lang="en-US" sz="1300" dirty="0"/>
          </a:p>
        </p:txBody>
      </p:sp>
      <p:sp>
        <p:nvSpPr>
          <p:cNvPr id="27" name="Shape 25"/>
          <p:cNvSpPr/>
          <p:nvPr/>
        </p:nvSpPr>
        <p:spPr>
          <a:xfrm>
            <a:off x="548640" y="5166360"/>
            <a:ext cx="11094415" cy="1188720"/>
          </a:xfrm>
          <a:prstGeom prst="roundRect">
            <a:avLst>
              <a:gd name="adj" fmla="val 9231"/>
            </a:avLst>
          </a:prstGeom>
          <a:solidFill>
            <a:srgbClr val="F7F9FC"/>
          </a:solidFill>
          <a:ln w="9525">
            <a:solidFill>
              <a:srgbClr val="DDE1EE"/>
            </a:solidFill>
            <a:prstDash val="solid"/>
          </a:ln>
        </p:spPr>
      </p:sp>
      <p:sp>
        <p:nvSpPr>
          <p:cNvPr id="28" name="Text 26"/>
          <p:cNvSpPr txBox="1"/>
          <p:nvPr/>
        </p:nvSpPr>
        <p:spPr>
          <a:xfrm>
            <a:off x="731520" y="5230368"/>
            <a:ext cx="10728655"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مصرف‌های خارج از گردش آزاد</a:t>
            </a:r>
            <a:endParaRPr lang="en-US" sz="1300" dirty="0"/>
          </a:p>
        </p:txBody>
      </p:sp>
      <p:sp>
        <p:nvSpPr>
          <p:cNvPr id="29" name="Text 27"/>
          <p:cNvSpPr txBox="1"/>
          <p:nvPr/>
        </p:nvSpPr>
        <p:spPr>
          <a:xfrm>
            <a:off x="731520" y="5532120"/>
            <a:ext cx="10728655" cy="77724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وثیقه‌ی ولیدیتور در ValidatorsRegistry قفل می‌ماند و در خروج داوطلبانه برمی‌گردد؛ بخش جریمه‌شده‌ی آن به خزانه می‌رود. سوزاندن فقط از کارمزد معمولی انجام می‌شود (ریوارد و کارمزد عضویت معاف‌اند)، پس انتشار ریوارد را فقط تا حدی خنثی می‌کند، نه کامل.</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توکنومیکس سورن در اعداد: عرضه و قیمت‌گذاری سه‌فازی</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13</a:t>
            </a:r>
            <a:endParaRPr lang="en-US" sz="1000" dirty="0"/>
          </a:p>
        </p:txBody>
      </p:sp>
      <p:sp>
        <p:nvSpPr>
          <p:cNvPr id="6" name="Shape 4"/>
          <p:cNvSpPr/>
          <p:nvPr/>
        </p:nvSpPr>
        <p:spPr>
          <a:xfrm>
            <a:off x="9006840" y="1417320"/>
            <a:ext cx="2636444" cy="1143000"/>
          </a:xfrm>
          <a:prstGeom prst="roundRect">
            <a:avLst>
              <a:gd name="adj" fmla="val 9600"/>
            </a:avLst>
          </a:prstGeom>
          <a:solidFill>
            <a:srgbClr val="EEF0FB"/>
          </a:solidFill>
          <a:ln w="9525">
            <a:solidFill>
              <a:srgbClr val="EEF0FB"/>
            </a:solidFill>
            <a:prstDash val="solid"/>
          </a:ln>
        </p:spPr>
      </p:sp>
      <p:sp>
        <p:nvSpPr>
          <p:cNvPr id="7" name="Text 5"/>
          <p:cNvSpPr txBox="1"/>
          <p:nvPr/>
        </p:nvSpPr>
        <p:spPr>
          <a:xfrm>
            <a:off x="9006840" y="1508760"/>
            <a:ext cx="2636444" cy="502920"/>
          </a:xfrm>
          <a:prstGeom prst="rect">
            <a:avLst/>
          </a:prstGeom>
          <a:noFill/>
          <a:ln/>
        </p:spPr>
        <p:txBody>
          <a:bodyPr wrap="square" lIns="0" tIns="0" rIns="0" bIns="0" rtlCol="0" anchor="ctr"/>
          <a:lstStyle/>
          <a:p>
            <a:pPr rtl="1" algn="ctr" indent="0" marL="0">
              <a:lnSpc>
                <a:spcPct val="105000"/>
              </a:lnSpc>
              <a:buNone/>
            </a:pPr>
            <a:r>
              <a:rPr lang="fa-IR" altLang="en-US" sz="2200" b="1" dirty="0">
                <a:solidFill>
                  <a:srgbClr val="2F3690"/>
                </a:solidFill>
                <a:latin typeface="Vazirmatn" pitchFamily="34" charset="0"/>
                <a:ea typeface="Vazirmatn" pitchFamily="34" charset="-122"/>
                <a:cs typeface="Vazirmatn" pitchFamily="34" charset="-120"/>
              </a:rPr>
              <a:t>۵۳٫۳۱ میلیون</a:t>
            </a:r>
            <a:endParaRPr lang="en-US" sz="2200" dirty="0"/>
          </a:p>
        </p:txBody>
      </p:sp>
      <p:sp>
        <p:nvSpPr>
          <p:cNvPr id="8" name="Text 6"/>
          <p:cNvSpPr txBox="1"/>
          <p:nvPr/>
        </p:nvSpPr>
        <p:spPr>
          <a:xfrm>
            <a:off x="9116568" y="2075688"/>
            <a:ext cx="2416988" cy="457200"/>
          </a:xfrm>
          <a:prstGeom prst="rect">
            <a:avLst/>
          </a:prstGeom>
          <a:noFill/>
          <a:ln/>
        </p:spPr>
        <p:txBody>
          <a:bodyPr wrap="square" lIns="0" tIns="0" rIns="0" bIns="0" rtlCol="0" anchor="t"/>
          <a:lstStyle/>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پایه‌ی عرضه‌ی اولیه‌ی genesis (هر سه ردیف)</a:t>
            </a:r>
            <a:endParaRPr lang="en-US" sz="1050" dirty="0"/>
          </a:p>
        </p:txBody>
      </p:sp>
      <p:sp>
        <p:nvSpPr>
          <p:cNvPr id="9" name="Shape 7"/>
          <p:cNvSpPr/>
          <p:nvPr/>
        </p:nvSpPr>
        <p:spPr>
          <a:xfrm>
            <a:off x="6186830" y="1417320"/>
            <a:ext cx="2636444" cy="1143000"/>
          </a:xfrm>
          <a:prstGeom prst="roundRect">
            <a:avLst>
              <a:gd name="adj" fmla="val 9600"/>
            </a:avLst>
          </a:prstGeom>
          <a:solidFill>
            <a:srgbClr val="EEF0FB"/>
          </a:solidFill>
          <a:ln w="9525">
            <a:solidFill>
              <a:srgbClr val="EEF0FB"/>
            </a:solidFill>
            <a:prstDash val="solid"/>
          </a:ln>
        </p:spPr>
      </p:sp>
      <p:sp>
        <p:nvSpPr>
          <p:cNvPr id="10" name="Text 8"/>
          <p:cNvSpPr txBox="1"/>
          <p:nvPr/>
        </p:nvSpPr>
        <p:spPr>
          <a:xfrm>
            <a:off x="6186830" y="1508760"/>
            <a:ext cx="2636444" cy="502920"/>
          </a:xfrm>
          <a:prstGeom prst="rect">
            <a:avLst/>
          </a:prstGeom>
          <a:noFill/>
          <a:ln/>
        </p:spPr>
        <p:txBody>
          <a:bodyPr wrap="square" lIns="0" tIns="0" rIns="0" bIns="0" rtlCol="0" anchor="ctr"/>
          <a:lstStyle/>
          <a:p>
            <a:pPr rtl="1" algn="ctr" indent="0" marL="0">
              <a:lnSpc>
                <a:spcPct val="105000"/>
              </a:lnSpc>
              <a:buNone/>
            </a:pPr>
            <a:r>
              <a:rPr lang="fa-IR" altLang="en-US" sz="2200" b="1" dirty="0">
                <a:solidFill>
                  <a:srgbClr val="2F3690"/>
                </a:solidFill>
                <a:latin typeface="Vazirmatn" pitchFamily="34" charset="0"/>
                <a:ea typeface="Vazirmatn" pitchFamily="34" charset="-122"/>
                <a:cs typeface="Vazirmatn" pitchFamily="34" charset="-120"/>
              </a:rPr>
              <a:t>۲۱٫۰۲۴ میلیون</a:t>
            </a:r>
            <a:endParaRPr lang="en-US" sz="2200" dirty="0"/>
          </a:p>
        </p:txBody>
      </p:sp>
      <p:sp>
        <p:nvSpPr>
          <p:cNvPr id="11" name="Text 9"/>
          <p:cNvSpPr txBox="1"/>
          <p:nvPr/>
        </p:nvSpPr>
        <p:spPr>
          <a:xfrm>
            <a:off x="6296558" y="2075688"/>
            <a:ext cx="2416988" cy="457200"/>
          </a:xfrm>
          <a:prstGeom prst="rect">
            <a:avLst/>
          </a:prstGeom>
          <a:noFill/>
          <a:ln/>
        </p:spPr>
        <p:txBody>
          <a:bodyPr wrap="square" lIns="0" tIns="0" rIns="0" bIns="0" rtlCol="0" anchor="t"/>
          <a:lstStyle/>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انتشار سالانه، دائمی و بدون halving</a:t>
            </a:r>
            <a:endParaRPr lang="en-US" sz="1050" dirty="0"/>
          </a:p>
        </p:txBody>
      </p:sp>
      <p:sp>
        <p:nvSpPr>
          <p:cNvPr id="12" name="Shape 10"/>
          <p:cNvSpPr/>
          <p:nvPr/>
        </p:nvSpPr>
        <p:spPr>
          <a:xfrm>
            <a:off x="3367735" y="1417320"/>
            <a:ext cx="2636444" cy="1143000"/>
          </a:xfrm>
          <a:prstGeom prst="roundRect">
            <a:avLst>
              <a:gd name="adj" fmla="val 9600"/>
            </a:avLst>
          </a:prstGeom>
          <a:solidFill>
            <a:srgbClr val="EEF0FB"/>
          </a:solidFill>
          <a:ln w="9525">
            <a:solidFill>
              <a:srgbClr val="EEF0FB"/>
            </a:solidFill>
            <a:prstDash val="solid"/>
          </a:ln>
        </p:spPr>
      </p:sp>
      <p:sp>
        <p:nvSpPr>
          <p:cNvPr id="13" name="Text 11"/>
          <p:cNvSpPr txBox="1"/>
          <p:nvPr/>
        </p:nvSpPr>
        <p:spPr>
          <a:xfrm>
            <a:off x="3367735" y="1508760"/>
            <a:ext cx="2636444" cy="502920"/>
          </a:xfrm>
          <a:prstGeom prst="rect">
            <a:avLst/>
          </a:prstGeom>
          <a:noFill/>
          <a:ln/>
        </p:spPr>
        <p:txBody>
          <a:bodyPr wrap="square" lIns="0" tIns="0" rIns="0" bIns="0" rtlCol="0" anchor="ctr"/>
          <a:lstStyle/>
          <a:p>
            <a:pPr rtl="1" algn="ctr" indent="0" marL="0">
              <a:lnSpc>
                <a:spcPct val="105000"/>
              </a:lnSpc>
              <a:buNone/>
            </a:pPr>
            <a:r>
              <a:rPr lang="fa-IR" altLang="en-US" sz="2200" b="1" dirty="0">
                <a:solidFill>
                  <a:srgbClr val="2F3690"/>
                </a:solidFill>
                <a:latin typeface="Vazirmatn" pitchFamily="34" charset="0"/>
                <a:ea typeface="Vazirmatn" pitchFamily="34" charset="-122"/>
                <a:cs typeface="Vazirmatn" pitchFamily="34" charset="-120"/>
              </a:rPr>
              <a:t>۳۹٪ ← ۴٫۶٪</a:t>
            </a:r>
            <a:endParaRPr lang="en-US" sz="2200" dirty="0"/>
          </a:p>
        </p:txBody>
      </p:sp>
      <p:sp>
        <p:nvSpPr>
          <p:cNvPr id="14" name="Text 12"/>
          <p:cNvSpPr txBox="1"/>
          <p:nvPr/>
        </p:nvSpPr>
        <p:spPr>
          <a:xfrm>
            <a:off x="3477463" y="2075688"/>
            <a:ext cx="2416988" cy="457200"/>
          </a:xfrm>
          <a:prstGeom prst="rect">
            <a:avLst/>
          </a:prstGeom>
          <a:noFill/>
          <a:ln/>
        </p:spPr>
        <p:txBody>
          <a:bodyPr wrap="square" lIns="0" tIns="0" rIns="0" bIns="0" rtlCol="0" anchor="t"/>
          <a:lstStyle/>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نرخ رشد سالانه‌ی عرضه در سال ۱ و در سال ۲۰</a:t>
            </a:r>
            <a:endParaRPr lang="en-US" sz="1050" dirty="0"/>
          </a:p>
        </p:txBody>
      </p:sp>
      <p:sp>
        <p:nvSpPr>
          <p:cNvPr id="15" name="Shape 13"/>
          <p:cNvSpPr/>
          <p:nvPr/>
        </p:nvSpPr>
        <p:spPr>
          <a:xfrm>
            <a:off x="548640" y="1417320"/>
            <a:ext cx="2636444" cy="1143000"/>
          </a:xfrm>
          <a:prstGeom prst="roundRect">
            <a:avLst>
              <a:gd name="adj" fmla="val 9600"/>
            </a:avLst>
          </a:prstGeom>
          <a:solidFill>
            <a:srgbClr val="EEF0FB"/>
          </a:solidFill>
          <a:ln w="9525">
            <a:solidFill>
              <a:srgbClr val="EEF0FB"/>
            </a:solidFill>
            <a:prstDash val="solid"/>
          </a:ln>
        </p:spPr>
      </p:sp>
      <p:sp>
        <p:nvSpPr>
          <p:cNvPr id="16" name="Text 14"/>
          <p:cNvSpPr txBox="1"/>
          <p:nvPr/>
        </p:nvSpPr>
        <p:spPr>
          <a:xfrm>
            <a:off x="548640" y="1508760"/>
            <a:ext cx="2636444" cy="502920"/>
          </a:xfrm>
          <a:prstGeom prst="rect">
            <a:avLst/>
          </a:prstGeom>
          <a:noFill/>
          <a:ln/>
        </p:spPr>
        <p:txBody>
          <a:bodyPr wrap="square" lIns="0" tIns="0" rIns="0" bIns="0" rtlCol="0" anchor="ctr"/>
          <a:lstStyle/>
          <a:p>
            <a:pPr rtl="1" algn="ctr" indent="0" marL="0">
              <a:lnSpc>
                <a:spcPct val="105000"/>
              </a:lnSpc>
              <a:buNone/>
            </a:pPr>
            <a:r>
              <a:rPr lang="fa-IR" altLang="en-US" sz="2200" b="1" dirty="0">
                <a:solidFill>
                  <a:srgbClr val="2F3690"/>
                </a:solidFill>
                <a:latin typeface="Vazirmatn" pitchFamily="34" charset="0"/>
                <a:ea typeface="Vazirmatn" pitchFamily="34" charset="-122"/>
                <a:cs typeface="Vazirmatn" pitchFamily="34" charset="-120"/>
              </a:rPr>
              <a:t>۲۰ میلیون</a:t>
            </a:r>
            <a:endParaRPr lang="en-US" sz="2200" dirty="0"/>
          </a:p>
        </p:txBody>
      </p:sp>
      <p:sp>
        <p:nvSpPr>
          <p:cNvPr id="17" name="Text 15"/>
          <p:cNvSpPr txBox="1"/>
          <p:nvPr/>
        </p:nvSpPr>
        <p:spPr>
          <a:xfrm>
            <a:off x="658368" y="2075688"/>
            <a:ext cx="2416988" cy="457200"/>
          </a:xfrm>
          <a:prstGeom prst="rect">
            <a:avLst/>
          </a:prstGeom>
          <a:noFill/>
          <a:ln/>
        </p:spPr>
        <p:txBody>
          <a:bodyPr wrap="square" lIns="0" tIns="0" rIns="0" bIns="0" rtlCol="0" anchor="t"/>
          <a:lstStyle/>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موجودی فروش بنیاد (ردیف ۱ genesis)</a:t>
            </a:r>
            <a:endParaRPr lang="en-US" sz="1050" dirty="0"/>
          </a:p>
        </p:txBody>
      </p:sp>
      <p:sp>
        <p:nvSpPr>
          <p:cNvPr id="18" name="Shape 16"/>
          <p:cNvSpPr/>
          <p:nvPr/>
        </p:nvSpPr>
        <p:spPr>
          <a:xfrm>
            <a:off x="8078724" y="2788920"/>
            <a:ext cx="3564026" cy="1783080"/>
          </a:xfrm>
          <a:prstGeom prst="roundRect">
            <a:avLst>
              <a:gd name="adj" fmla="val 6154"/>
            </a:avLst>
          </a:prstGeom>
          <a:solidFill>
            <a:srgbClr val="FFFFFF"/>
          </a:solidFill>
          <a:ln w="19050">
            <a:solidFill>
              <a:srgbClr val="2F3690"/>
            </a:solidFill>
            <a:prstDash val="solid"/>
          </a:ln>
        </p:spPr>
      </p:sp>
      <p:sp>
        <p:nvSpPr>
          <p:cNvPr id="19" name="Text 17"/>
          <p:cNvSpPr txBox="1"/>
          <p:nvPr/>
        </p:nvSpPr>
        <p:spPr>
          <a:xfrm>
            <a:off x="8215884" y="2880360"/>
            <a:ext cx="3289706" cy="36576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فاز ۱: قیمت ثابت، ۶ ماه</a:t>
            </a:r>
            <a:endParaRPr lang="en-US" sz="1350" dirty="0"/>
          </a:p>
        </p:txBody>
      </p:sp>
      <p:sp>
        <p:nvSpPr>
          <p:cNvPr id="20" name="Text 18"/>
          <p:cNvSpPr txBox="1"/>
          <p:nvPr/>
        </p:nvSpPr>
        <p:spPr>
          <a:xfrm>
            <a:off x="8215884" y="3291840"/>
            <a:ext cx="3289706" cy="12344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بنیاد فقط می‌فروشد؛ قیمت از ۱۰۰ تومان شروع می‌شود و ماهانه ۳٪ مرکب رشد می‌کند (حدود ۱۱۶ تومان در ماه ششم). سیگنال اصلی: سرعت فروش موجودی بنیاد.</a:t>
            </a:r>
            <a:endParaRPr lang="en-US" sz="1100" dirty="0"/>
          </a:p>
        </p:txBody>
      </p:sp>
      <p:sp>
        <p:nvSpPr>
          <p:cNvPr id="21" name="Shape 19"/>
          <p:cNvSpPr/>
          <p:nvPr/>
        </p:nvSpPr>
        <p:spPr>
          <a:xfrm>
            <a:off x="4314139" y="2788920"/>
            <a:ext cx="3564026" cy="1783080"/>
          </a:xfrm>
          <a:prstGeom prst="roundRect">
            <a:avLst>
              <a:gd name="adj" fmla="val 6154"/>
            </a:avLst>
          </a:prstGeom>
          <a:solidFill>
            <a:srgbClr val="FFFFFF"/>
          </a:solidFill>
          <a:ln w="19050">
            <a:solidFill>
              <a:srgbClr val="3D46A8"/>
            </a:solidFill>
            <a:prstDash val="solid"/>
          </a:ln>
        </p:spPr>
      </p:sp>
      <p:sp>
        <p:nvSpPr>
          <p:cNvPr id="22" name="Text 20"/>
          <p:cNvSpPr txBox="1"/>
          <p:nvPr/>
        </p:nvSpPr>
        <p:spPr>
          <a:xfrm>
            <a:off x="4451299" y="2880360"/>
            <a:ext cx="3289706" cy="36576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3D46A8"/>
                </a:solidFill>
                <a:latin typeface="Vazirmatn" pitchFamily="34" charset="0"/>
                <a:ea typeface="Vazirmatn" pitchFamily="34" charset="-122"/>
                <a:cs typeface="Vazirmatn" pitchFamily="34" charset="-120"/>
              </a:rPr>
              <a:t>فاز ۲: گذار کنترل‌شده، ۴۵ روز</a:t>
            </a:r>
            <a:endParaRPr lang="en-US" sz="1350" dirty="0"/>
          </a:p>
        </p:txBody>
      </p:sp>
      <p:sp>
        <p:nvSpPr>
          <p:cNvPr id="23" name="Text 21"/>
          <p:cNvSpPr txBox="1"/>
          <p:nvPr/>
        </p:nvSpPr>
        <p:spPr>
          <a:xfrm>
            <a:off x="4451299" y="3291840"/>
            <a:ext cx="3289706" cy="12344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بنیاد هنوز تنها فروشنده است؛ قیمت روزانه ±۰٫۵٪ بر پایه‌ی حجم فروش نسبت به میانگین ۷روزه؛ کف ۹۰ و سقف ۱۵۰ تومان. این هنوز کشف قیمت واقعی نیست.</a:t>
            </a:r>
            <a:endParaRPr lang="en-US" sz="1100" dirty="0"/>
          </a:p>
        </p:txBody>
      </p:sp>
      <p:sp>
        <p:nvSpPr>
          <p:cNvPr id="24" name="Shape 22"/>
          <p:cNvSpPr/>
          <p:nvPr/>
        </p:nvSpPr>
        <p:spPr>
          <a:xfrm>
            <a:off x="548640" y="2788920"/>
            <a:ext cx="3564026" cy="1783080"/>
          </a:xfrm>
          <a:prstGeom prst="roundRect">
            <a:avLst>
              <a:gd name="adj" fmla="val 6154"/>
            </a:avLst>
          </a:prstGeom>
          <a:solidFill>
            <a:srgbClr val="FFFFFF"/>
          </a:solidFill>
          <a:ln w="19050">
            <a:solidFill>
              <a:srgbClr val="C8431F"/>
            </a:solidFill>
            <a:prstDash val="solid"/>
          </a:ln>
        </p:spPr>
      </p:sp>
      <p:sp>
        <p:nvSpPr>
          <p:cNvPr id="25" name="Text 23"/>
          <p:cNvSpPr txBox="1"/>
          <p:nvPr/>
        </p:nvSpPr>
        <p:spPr>
          <a:xfrm>
            <a:off x="685800" y="2880360"/>
            <a:ext cx="3289706" cy="36576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C8431F"/>
                </a:solidFill>
                <a:latin typeface="Vazirmatn" pitchFamily="34" charset="0"/>
                <a:ea typeface="Vazirmatn" pitchFamily="34" charset="-122"/>
                <a:cs typeface="Vazirmatn" pitchFamily="34" charset="-120"/>
              </a:rPr>
              <a:t>فاز ۳: بازار آزاد</a:t>
            </a:r>
            <a:endParaRPr lang="en-US" sz="1350" dirty="0"/>
          </a:p>
        </p:txBody>
      </p:sp>
      <p:sp>
        <p:nvSpPr>
          <p:cNvPr id="26" name="Text 24"/>
          <p:cNvSpPr txBox="1"/>
          <p:nvPr/>
        </p:nvSpPr>
        <p:spPr>
          <a:xfrm>
            <a:off x="685800" y="3291840"/>
            <a:ext cx="3289706" cy="12344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قیمت کاملاً با عرضه و تقاضا تعیین می‌شود و بنیاد دیگر قیمت‌گذار نیست.</a:t>
            </a:r>
            <a:endParaRPr lang="en-US" sz="1100" dirty="0"/>
          </a:p>
        </p:txBody>
      </p:sp>
      <p:sp>
        <p:nvSpPr>
          <p:cNvPr id="27" name="Shape 25"/>
          <p:cNvSpPr/>
          <p:nvPr/>
        </p:nvSpPr>
        <p:spPr>
          <a:xfrm>
            <a:off x="8078724" y="4754880"/>
            <a:ext cx="3564026" cy="1554480"/>
          </a:xfrm>
          <a:prstGeom prst="roundRect">
            <a:avLst>
              <a:gd name="adj" fmla="val 7059"/>
            </a:avLst>
          </a:prstGeom>
          <a:solidFill>
            <a:srgbClr val="F7F9FC"/>
          </a:solidFill>
          <a:ln w="9525">
            <a:solidFill>
              <a:srgbClr val="DDE1EE"/>
            </a:solidFill>
            <a:prstDash val="solid"/>
          </a:ln>
        </p:spPr>
      </p:sp>
      <p:sp>
        <p:nvSpPr>
          <p:cNvPr id="28" name="Text 26"/>
          <p:cNvSpPr txBox="1"/>
          <p:nvPr/>
        </p:nvSpPr>
        <p:spPr>
          <a:xfrm>
            <a:off x="8215884" y="482803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C8431F"/>
                </a:solidFill>
                <a:latin typeface="Vazirmatn" pitchFamily="34" charset="0"/>
                <a:ea typeface="Vazirmatn" pitchFamily="34" charset="-122"/>
                <a:cs typeface="Vazirmatn" pitchFamily="34" charset="-120"/>
              </a:rPr>
              <a:t>فشار نزولی</a:t>
            </a:r>
            <a:endParaRPr lang="en-US" sz="1300" dirty="0"/>
          </a:p>
        </p:txBody>
      </p:sp>
      <p:sp>
        <p:nvSpPr>
          <p:cNvPr id="29" name="Text 27"/>
          <p:cNvSpPr txBox="1"/>
          <p:nvPr/>
        </p:nvSpPr>
        <p:spPr>
          <a:xfrm>
            <a:off x="8215884" y="5193792"/>
            <a:ext cx="3289706" cy="109728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انتشار پیوسته‌ی ۲۱ میلیون در سال؛ سوزاندن ۳۰٪ کارمزد فقط بخش جزئی آن را خنثی می‌کند، چون منبع غالب انتشار ریوارد است نه کارمزد.</a:t>
            </a:r>
            <a:endParaRPr lang="en-US" sz="1050" dirty="0"/>
          </a:p>
        </p:txBody>
      </p:sp>
      <p:sp>
        <p:nvSpPr>
          <p:cNvPr id="30" name="Shape 28"/>
          <p:cNvSpPr/>
          <p:nvPr/>
        </p:nvSpPr>
        <p:spPr>
          <a:xfrm>
            <a:off x="4314139" y="4754880"/>
            <a:ext cx="3564026" cy="1554480"/>
          </a:xfrm>
          <a:prstGeom prst="roundRect">
            <a:avLst>
              <a:gd name="adj" fmla="val 7059"/>
            </a:avLst>
          </a:prstGeom>
          <a:solidFill>
            <a:srgbClr val="F7F9FC"/>
          </a:solidFill>
          <a:ln w="9525">
            <a:solidFill>
              <a:srgbClr val="DDE1EE"/>
            </a:solidFill>
            <a:prstDash val="solid"/>
          </a:ln>
        </p:spPr>
      </p:sp>
      <p:sp>
        <p:nvSpPr>
          <p:cNvPr id="31" name="Text 29"/>
          <p:cNvSpPr txBox="1"/>
          <p:nvPr/>
        </p:nvSpPr>
        <p:spPr>
          <a:xfrm>
            <a:off x="4451299" y="482803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1F7A55"/>
                </a:solidFill>
                <a:latin typeface="Vazirmatn" pitchFamily="34" charset="0"/>
                <a:ea typeface="Vazirmatn" pitchFamily="34" charset="-122"/>
                <a:cs typeface="Vazirmatn" pitchFamily="34" charset="-120"/>
              </a:rPr>
              <a:t>فشار صعودی</a:t>
            </a:r>
            <a:endParaRPr lang="en-US" sz="1300" dirty="0"/>
          </a:p>
        </p:txBody>
      </p:sp>
      <p:sp>
        <p:nvSpPr>
          <p:cNvPr id="32" name="Text 30"/>
          <p:cNvSpPr txBox="1"/>
          <p:nvPr/>
        </p:nvSpPr>
        <p:spPr>
          <a:xfrm>
            <a:off x="4451299" y="5193792"/>
            <a:ext cx="3289706" cy="109728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قفل‌شدن وثیقه‌ی ولیدیتورهای تازه؛ هزینه‌ی ورود با شمار ولیدیتورها نمایی بالا می‌رود (حدود ۵۰۰ هزار سورن برای نفر اول تا بیش از ۲ میلیون نزدیک ۱۰۰ نفر).</a:t>
            </a:r>
            <a:endParaRPr lang="en-US" sz="1050" dirty="0"/>
          </a:p>
        </p:txBody>
      </p:sp>
      <p:sp>
        <p:nvSpPr>
          <p:cNvPr id="33" name="Shape 31"/>
          <p:cNvSpPr/>
          <p:nvPr/>
        </p:nvSpPr>
        <p:spPr>
          <a:xfrm>
            <a:off x="548640" y="4754880"/>
            <a:ext cx="3564026" cy="1554480"/>
          </a:xfrm>
          <a:prstGeom prst="roundRect">
            <a:avLst>
              <a:gd name="adj" fmla="val 7059"/>
            </a:avLst>
          </a:prstGeom>
          <a:solidFill>
            <a:srgbClr val="F7F9FC"/>
          </a:solidFill>
          <a:ln w="9525">
            <a:solidFill>
              <a:srgbClr val="DDE1EE"/>
            </a:solidFill>
            <a:prstDash val="solid"/>
          </a:ln>
        </p:spPr>
      </p:sp>
      <p:sp>
        <p:nvSpPr>
          <p:cNvPr id="34" name="Text 32"/>
          <p:cNvSpPr txBox="1"/>
          <p:nvPr/>
        </p:nvSpPr>
        <p:spPr>
          <a:xfrm>
            <a:off x="685800" y="482803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5F6472"/>
                </a:solidFill>
                <a:latin typeface="Vazirmatn" pitchFamily="34" charset="0"/>
                <a:ea typeface="Vazirmatn" pitchFamily="34" charset="-122"/>
                <a:cs typeface="Vazirmatn" pitchFamily="34" charset="-120"/>
              </a:rPr>
              <a:t>عدم قطعیت</a:t>
            </a:r>
            <a:endParaRPr lang="en-US" sz="1300" dirty="0"/>
          </a:p>
        </p:txBody>
      </p:sp>
      <p:sp>
        <p:nvSpPr>
          <p:cNvPr id="35" name="Text 33"/>
          <p:cNvSpPr txBox="1"/>
          <p:nvPr/>
        </p:nvSpPr>
        <p:spPr>
          <a:xfrm>
            <a:off x="685800" y="5193792"/>
            <a:ext cx="3289706" cy="109728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«۱۰۰ تومان» یک فرض کاری است، نه ارزش برآمده از بازار. قیمت به تومان لنگر شده (نه دلار)، پس تورم یا نوسان تومان یک لایه ریسک اضافه می‌کند.</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عرضه‌ی اولیه: سه ردیف مجزا در بلاک genesis</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14</a:t>
            </a:r>
            <a:endParaRPr lang="en-US" sz="1000" dirty="0"/>
          </a:p>
        </p:txBody>
      </p:sp>
      <p:sp>
        <p:nvSpPr>
          <p:cNvPr id="6" name="Shape 4"/>
          <p:cNvSpPr/>
          <p:nvPr/>
        </p:nvSpPr>
        <p:spPr>
          <a:xfrm>
            <a:off x="8097012" y="1417320"/>
            <a:ext cx="3545738" cy="3246120"/>
          </a:xfrm>
          <a:prstGeom prst="roundRect">
            <a:avLst>
              <a:gd name="adj" fmla="val 3380"/>
            </a:avLst>
          </a:prstGeom>
          <a:solidFill>
            <a:srgbClr val="EEF0FB"/>
          </a:solidFill>
          <a:ln w="9525">
            <a:solidFill>
              <a:srgbClr val="EEF0FB"/>
            </a:solidFill>
            <a:prstDash val="solid"/>
          </a:ln>
        </p:spPr>
      </p:sp>
      <p:sp>
        <p:nvSpPr>
          <p:cNvPr id="7" name="Shape 5"/>
          <p:cNvSpPr/>
          <p:nvPr/>
        </p:nvSpPr>
        <p:spPr>
          <a:xfrm>
            <a:off x="11002670" y="1600200"/>
            <a:ext cx="457200" cy="457200"/>
          </a:xfrm>
          <a:prstGeom prst="ellipse">
            <a:avLst/>
          </a:prstGeom>
          <a:solidFill>
            <a:srgbClr val="2F3690"/>
          </a:solidFill>
          <a:ln w="12700">
            <a:solidFill>
              <a:srgbClr val="2F3690"/>
            </a:solidFill>
            <a:prstDash val="solid"/>
          </a:ln>
        </p:spPr>
      </p:sp>
      <p:sp>
        <p:nvSpPr>
          <p:cNvPr id="8" name="Text 6"/>
          <p:cNvSpPr txBox="1"/>
          <p:nvPr/>
        </p:nvSpPr>
        <p:spPr>
          <a:xfrm>
            <a:off x="11002670" y="1600200"/>
            <a:ext cx="457200" cy="4572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۱</a:t>
            </a:r>
            <a:endParaRPr lang="en-US" sz="1600" dirty="0"/>
          </a:p>
        </p:txBody>
      </p:sp>
      <p:sp>
        <p:nvSpPr>
          <p:cNvPr id="9" name="Text 7"/>
          <p:cNvSpPr txBox="1"/>
          <p:nvPr/>
        </p:nvSpPr>
        <p:spPr>
          <a:xfrm>
            <a:off x="8279892" y="1645920"/>
            <a:ext cx="2539898" cy="45720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توسعه‌ی اکوسیستم</a:t>
            </a:r>
            <a:endParaRPr lang="en-US" sz="1500" dirty="0"/>
          </a:p>
        </p:txBody>
      </p:sp>
      <p:sp>
        <p:nvSpPr>
          <p:cNvPr id="10" name="Text 8"/>
          <p:cNvSpPr txBox="1"/>
          <p:nvPr/>
        </p:nvSpPr>
        <p:spPr>
          <a:xfrm>
            <a:off x="8279892" y="2286000"/>
            <a:ext cx="3179978" cy="731520"/>
          </a:xfrm>
          <a:prstGeom prst="rect">
            <a:avLst/>
          </a:prstGeom>
          <a:noFill/>
          <a:ln/>
        </p:spPr>
        <p:txBody>
          <a:bodyPr wrap="square" lIns="0" tIns="0" rIns="0" bIns="0" rtlCol="0" anchor="ctr"/>
          <a:lstStyle/>
          <a:p>
            <a:pPr rtl="1" algn="r" indent="0" marL="0">
              <a:lnSpc>
                <a:spcPct val="105000"/>
              </a:lnSpc>
              <a:buNone/>
            </a:pPr>
            <a:r>
              <a:rPr lang="fa-IR" altLang="en-US" sz="3600" b="1" dirty="0">
                <a:solidFill>
                  <a:srgbClr val="2F3690"/>
                </a:solidFill>
                <a:latin typeface="Vazirmatn" pitchFamily="34" charset="0"/>
                <a:ea typeface="Vazirmatn" pitchFamily="34" charset="-122"/>
                <a:cs typeface="Vazirmatn" pitchFamily="34" charset="-120"/>
              </a:rPr>
              <a:t>۲۰٬۰۰۰٬۰۰۰</a:t>
            </a:r>
            <a:endParaRPr lang="en-US" sz="3600" dirty="0"/>
          </a:p>
        </p:txBody>
      </p:sp>
      <p:sp>
        <p:nvSpPr>
          <p:cNvPr id="11" name="Text 9"/>
          <p:cNvSpPr txBox="1"/>
          <p:nvPr/>
        </p:nvSpPr>
        <p:spPr>
          <a:xfrm>
            <a:off x="8279892" y="2999232"/>
            <a:ext cx="3179978"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سورن</a:t>
            </a:r>
            <a:endParaRPr lang="en-US" sz="1200" dirty="0"/>
          </a:p>
        </p:txBody>
      </p:sp>
      <p:sp>
        <p:nvSpPr>
          <p:cNvPr id="12" name="Text 10"/>
          <p:cNvSpPr txBox="1"/>
          <p:nvPr/>
        </p:nvSpPr>
        <p:spPr>
          <a:xfrm>
            <a:off x="8279892" y="3383280"/>
            <a:ext cx="3179978" cy="1188720"/>
          </a:xfrm>
          <a:prstGeom prst="rect">
            <a:avLst/>
          </a:prstGeom>
          <a:noFill/>
          <a:ln/>
        </p:spPr>
        <p:txBody>
          <a:bodyPr wrap="square" lIns="0" tIns="0" rIns="0" bIns="0" rtlCol="0" anchor="t"/>
          <a:lstStyle/>
          <a:p>
            <a:pPr rtl="1" algn="r" indent="0" marL="0">
              <a:lnSpc>
                <a:spcPct val="105000"/>
              </a:lnSpc>
              <a:spcAft>
                <a:spcPts val="400"/>
              </a:spcAft>
              <a:buNone/>
            </a:pPr>
            <a:r>
              <a:rPr lang="fa-IR" altLang="en-US" sz="1250" b="1" dirty="0">
                <a:solidFill>
                  <a:srgbClr val="1B1B2F"/>
                </a:solidFill>
                <a:latin typeface="Vazirmatn" pitchFamily="34" charset="0"/>
                <a:ea typeface="Vazirmatn" pitchFamily="34" charset="-122"/>
                <a:cs typeface="Vazirmatn" pitchFamily="34" charset="-120"/>
              </a:rPr>
              <a:t>یک‌جا به FoundationDAO</a:t>
            </a:r>
            <a:endParaRPr lang="en-US" sz="1250" dirty="0"/>
          </a:p>
          <a:p>
            <a:pPr rtl="1" algn="r" indent="0" marL="0">
              <a:lnSpc>
                <a:spcPct val="105000"/>
              </a:lnSpc>
              <a:spcAft>
                <a:spcPts val="400"/>
              </a:spcAft>
              <a:buNone/>
            </a:pPr>
            <a:r>
              <a:rPr lang="fa-IR" altLang="en-US" sz="1250" dirty="0">
                <a:solidFill>
                  <a:srgbClr val="1B1B2F"/>
                </a:solidFill>
                <a:latin typeface="Vazirmatn" pitchFamily="34" charset="0"/>
                <a:ea typeface="Vazirmatn" pitchFamily="34" charset="-122"/>
                <a:cs typeface="Vazirmatn" pitchFamily="34" charset="-120"/>
              </a:rPr>
              <a:t>توسعه، آموزش و تبلیغات؛ منبع فروش دوره‌ی قیمت ثابت</a:t>
            </a:r>
            <a:endParaRPr lang="en-US" sz="1250" dirty="0"/>
          </a:p>
        </p:txBody>
      </p:sp>
      <p:sp>
        <p:nvSpPr>
          <p:cNvPr id="13" name="Shape 11"/>
          <p:cNvSpPr/>
          <p:nvPr/>
        </p:nvSpPr>
        <p:spPr>
          <a:xfrm>
            <a:off x="4323283" y="1417320"/>
            <a:ext cx="3545738" cy="3246120"/>
          </a:xfrm>
          <a:prstGeom prst="roundRect">
            <a:avLst>
              <a:gd name="adj" fmla="val 3380"/>
            </a:avLst>
          </a:prstGeom>
          <a:solidFill>
            <a:srgbClr val="EEF0FB"/>
          </a:solidFill>
          <a:ln w="9525">
            <a:solidFill>
              <a:srgbClr val="EEF0FB"/>
            </a:solidFill>
            <a:prstDash val="solid"/>
          </a:ln>
        </p:spPr>
      </p:sp>
      <p:sp>
        <p:nvSpPr>
          <p:cNvPr id="14" name="Shape 12"/>
          <p:cNvSpPr/>
          <p:nvPr/>
        </p:nvSpPr>
        <p:spPr>
          <a:xfrm>
            <a:off x="7228942" y="1600200"/>
            <a:ext cx="457200" cy="457200"/>
          </a:xfrm>
          <a:prstGeom prst="ellipse">
            <a:avLst/>
          </a:prstGeom>
          <a:solidFill>
            <a:srgbClr val="2F3690"/>
          </a:solidFill>
          <a:ln w="12700">
            <a:solidFill>
              <a:srgbClr val="2F3690"/>
            </a:solidFill>
            <a:prstDash val="solid"/>
          </a:ln>
        </p:spPr>
      </p:sp>
      <p:sp>
        <p:nvSpPr>
          <p:cNvPr id="15" name="Text 13"/>
          <p:cNvSpPr txBox="1"/>
          <p:nvPr/>
        </p:nvSpPr>
        <p:spPr>
          <a:xfrm>
            <a:off x="7228942" y="1600200"/>
            <a:ext cx="457200" cy="4572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۲</a:t>
            </a:r>
            <a:endParaRPr lang="en-US" sz="1600" dirty="0"/>
          </a:p>
        </p:txBody>
      </p:sp>
      <p:sp>
        <p:nvSpPr>
          <p:cNvPr id="16" name="Text 14"/>
          <p:cNvSpPr txBox="1"/>
          <p:nvPr/>
        </p:nvSpPr>
        <p:spPr>
          <a:xfrm>
            <a:off x="4506163" y="1645920"/>
            <a:ext cx="2539898" cy="45720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مطالبات ولیدیتورهای اولیه</a:t>
            </a:r>
            <a:endParaRPr lang="en-US" sz="1500" dirty="0"/>
          </a:p>
        </p:txBody>
      </p:sp>
      <p:sp>
        <p:nvSpPr>
          <p:cNvPr id="17" name="Text 15"/>
          <p:cNvSpPr txBox="1"/>
          <p:nvPr/>
        </p:nvSpPr>
        <p:spPr>
          <a:xfrm>
            <a:off x="4506163" y="2286000"/>
            <a:ext cx="3179978" cy="731520"/>
          </a:xfrm>
          <a:prstGeom prst="rect">
            <a:avLst/>
          </a:prstGeom>
          <a:noFill/>
          <a:ln/>
        </p:spPr>
        <p:txBody>
          <a:bodyPr wrap="square" lIns="0" tIns="0" rIns="0" bIns="0" rtlCol="0" anchor="ctr"/>
          <a:lstStyle/>
          <a:p>
            <a:pPr rtl="1" algn="r" indent="0" marL="0">
              <a:lnSpc>
                <a:spcPct val="105000"/>
              </a:lnSpc>
              <a:buNone/>
            </a:pPr>
            <a:r>
              <a:rPr lang="fa-IR" altLang="en-US" sz="3600" b="1" dirty="0">
                <a:solidFill>
                  <a:srgbClr val="2F3690"/>
                </a:solidFill>
                <a:latin typeface="Vazirmatn" pitchFamily="34" charset="0"/>
                <a:ea typeface="Vazirmatn" pitchFamily="34" charset="-122"/>
                <a:cs typeface="Vazirmatn" pitchFamily="34" charset="-120"/>
              </a:rPr>
              <a:t>۱۱٬۹۸۴٬۰۰۰</a:t>
            </a:r>
            <a:endParaRPr lang="en-US" sz="3600" dirty="0"/>
          </a:p>
        </p:txBody>
      </p:sp>
      <p:sp>
        <p:nvSpPr>
          <p:cNvPr id="18" name="Text 16"/>
          <p:cNvSpPr txBox="1"/>
          <p:nvPr/>
        </p:nvSpPr>
        <p:spPr>
          <a:xfrm>
            <a:off x="4506163" y="2999232"/>
            <a:ext cx="3179978"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سورن</a:t>
            </a:r>
            <a:endParaRPr lang="en-US" sz="1200" dirty="0"/>
          </a:p>
        </p:txBody>
      </p:sp>
      <p:sp>
        <p:nvSpPr>
          <p:cNvPr id="19" name="Text 17"/>
          <p:cNvSpPr txBox="1"/>
          <p:nvPr/>
        </p:nvSpPr>
        <p:spPr>
          <a:xfrm>
            <a:off x="4506163" y="3383280"/>
            <a:ext cx="3179978" cy="1188720"/>
          </a:xfrm>
          <a:prstGeom prst="rect">
            <a:avLst/>
          </a:prstGeom>
          <a:noFill/>
          <a:ln/>
        </p:spPr>
        <p:txBody>
          <a:bodyPr wrap="square" lIns="0" tIns="0" rIns="0" bIns="0" rtlCol="0" anchor="t"/>
          <a:lstStyle/>
          <a:p>
            <a:pPr rtl="1" algn="r" indent="0" marL="0">
              <a:lnSpc>
                <a:spcPct val="105000"/>
              </a:lnSpc>
              <a:spcAft>
                <a:spcPts val="400"/>
              </a:spcAft>
              <a:buNone/>
            </a:pPr>
            <a:r>
              <a:rPr lang="fa-IR" altLang="en-US" sz="1250" b="1" dirty="0">
                <a:solidFill>
                  <a:srgbClr val="1B1B2F"/>
                </a:solidFill>
                <a:latin typeface="Vazirmatn" pitchFamily="34" charset="0"/>
                <a:ea typeface="Vazirmatn" pitchFamily="34" charset="-122"/>
                <a:cs typeface="Vazirmatn" pitchFamily="34" charset="-120"/>
              </a:rPr>
              <a:t>مستقیم و ردیفی به صاحب هر یک از ۷ نود مؤسس</a:t>
            </a:r>
            <a:endParaRPr lang="en-US" sz="1250" dirty="0"/>
          </a:p>
          <a:p>
            <a:pPr rtl="1" algn="r" indent="0" marL="0">
              <a:lnSpc>
                <a:spcPct val="105000"/>
              </a:lnSpc>
              <a:spcAft>
                <a:spcPts val="400"/>
              </a:spcAft>
              <a:buNone/>
            </a:pPr>
            <a:r>
              <a:rPr lang="fa-IR" altLang="en-US" sz="1250" dirty="0">
                <a:solidFill>
                  <a:srgbClr val="1B1B2F"/>
                </a:solidFill>
                <a:latin typeface="Vazirmatn" pitchFamily="34" charset="0"/>
                <a:ea typeface="Vazirmatn" pitchFamily="34" charset="-122"/>
                <a:cs typeface="Vazirmatn" pitchFamily="34" charset="-120"/>
              </a:rPr>
              <a:t>جمع سورن دریافتی بابت ولیدیتوری؛ مبلغ هر نود در اسلاید بعد</a:t>
            </a:r>
            <a:endParaRPr lang="en-US" sz="1250" dirty="0"/>
          </a:p>
        </p:txBody>
      </p:sp>
      <p:sp>
        <p:nvSpPr>
          <p:cNvPr id="20" name="Shape 18"/>
          <p:cNvSpPr/>
          <p:nvPr/>
        </p:nvSpPr>
        <p:spPr>
          <a:xfrm>
            <a:off x="548640" y="1417320"/>
            <a:ext cx="3545738" cy="3246120"/>
          </a:xfrm>
          <a:prstGeom prst="roundRect">
            <a:avLst>
              <a:gd name="adj" fmla="val 3380"/>
            </a:avLst>
          </a:prstGeom>
          <a:solidFill>
            <a:srgbClr val="EEF0FB"/>
          </a:solidFill>
          <a:ln w="9525">
            <a:solidFill>
              <a:srgbClr val="EEF0FB"/>
            </a:solidFill>
            <a:prstDash val="solid"/>
          </a:ln>
        </p:spPr>
      </p:sp>
      <p:sp>
        <p:nvSpPr>
          <p:cNvPr id="21" name="Shape 19"/>
          <p:cNvSpPr/>
          <p:nvPr/>
        </p:nvSpPr>
        <p:spPr>
          <a:xfrm>
            <a:off x="3454298" y="1600200"/>
            <a:ext cx="457200" cy="457200"/>
          </a:xfrm>
          <a:prstGeom prst="ellipse">
            <a:avLst/>
          </a:prstGeom>
          <a:solidFill>
            <a:srgbClr val="2F3690"/>
          </a:solidFill>
          <a:ln w="12700">
            <a:solidFill>
              <a:srgbClr val="2F3690"/>
            </a:solidFill>
            <a:prstDash val="solid"/>
          </a:ln>
        </p:spPr>
      </p:sp>
      <p:sp>
        <p:nvSpPr>
          <p:cNvPr id="22" name="Text 20"/>
          <p:cNvSpPr txBox="1"/>
          <p:nvPr/>
        </p:nvSpPr>
        <p:spPr>
          <a:xfrm>
            <a:off x="3454298" y="1600200"/>
            <a:ext cx="457200" cy="4572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۳</a:t>
            </a:r>
            <a:endParaRPr lang="en-US" sz="1600" dirty="0"/>
          </a:p>
        </p:txBody>
      </p:sp>
      <p:sp>
        <p:nvSpPr>
          <p:cNvPr id="23" name="Text 21"/>
          <p:cNvSpPr txBox="1"/>
          <p:nvPr/>
        </p:nvSpPr>
        <p:spPr>
          <a:xfrm>
            <a:off x="731520" y="1645920"/>
            <a:ext cx="2539898" cy="45720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مطالبات اعضای بنیاد</a:t>
            </a:r>
            <a:endParaRPr lang="en-US" sz="1500" dirty="0"/>
          </a:p>
        </p:txBody>
      </p:sp>
      <p:sp>
        <p:nvSpPr>
          <p:cNvPr id="24" name="Text 22"/>
          <p:cNvSpPr txBox="1"/>
          <p:nvPr/>
        </p:nvSpPr>
        <p:spPr>
          <a:xfrm>
            <a:off x="731520" y="2286000"/>
            <a:ext cx="3179978" cy="731520"/>
          </a:xfrm>
          <a:prstGeom prst="rect">
            <a:avLst/>
          </a:prstGeom>
          <a:noFill/>
          <a:ln/>
        </p:spPr>
        <p:txBody>
          <a:bodyPr wrap="square" lIns="0" tIns="0" rIns="0" bIns="0" rtlCol="0" anchor="ctr"/>
          <a:lstStyle/>
          <a:p>
            <a:pPr rtl="1" algn="r" indent="0" marL="0">
              <a:lnSpc>
                <a:spcPct val="105000"/>
              </a:lnSpc>
              <a:buNone/>
            </a:pPr>
            <a:r>
              <a:rPr lang="fa-IR" altLang="en-US" sz="3600" b="1" dirty="0">
                <a:solidFill>
                  <a:srgbClr val="2F3690"/>
                </a:solidFill>
                <a:latin typeface="Vazirmatn" pitchFamily="34" charset="0"/>
                <a:ea typeface="Vazirmatn" pitchFamily="34" charset="-122"/>
                <a:cs typeface="Vazirmatn" pitchFamily="34" charset="-120"/>
              </a:rPr>
              <a:t>۲۱٬۳۲۷٬۰۰۰</a:t>
            </a:r>
            <a:endParaRPr lang="en-US" sz="3600" dirty="0"/>
          </a:p>
        </p:txBody>
      </p:sp>
      <p:sp>
        <p:nvSpPr>
          <p:cNvPr id="25" name="Text 23"/>
          <p:cNvSpPr txBox="1"/>
          <p:nvPr/>
        </p:nvSpPr>
        <p:spPr>
          <a:xfrm>
            <a:off x="731520" y="2999232"/>
            <a:ext cx="3179978" cy="2743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سورن</a:t>
            </a:r>
            <a:endParaRPr lang="en-US" sz="1200" dirty="0"/>
          </a:p>
        </p:txBody>
      </p:sp>
      <p:sp>
        <p:nvSpPr>
          <p:cNvPr id="26" name="Text 24"/>
          <p:cNvSpPr txBox="1"/>
          <p:nvPr/>
        </p:nvSpPr>
        <p:spPr>
          <a:xfrm>
            <a:off x="731520" y="3383280"/>
            <a:ext cx="3179978" cy="1188720"/>
          </a:xfrm>
          <a:prstGeom prst="rect">
            <a:avLst/>
          </a:prstGeom>
          <a:noFill/>
          <a:ln/>
        </p:spPr>
        <p:txBody>
          <a:bodyPr wrap="square" lIns="0" tIns="0" rIns="0" bIns="0" rtlCol="0" anchor="t"/>
          <a:lstStyle/>
          <a:p>
            <a:pPr rtl="1" algn="r" indent="0" marL="0">
              <a:lnSpc>
                <a:spcPct val="105000"/>
              </a:lnSpc>
              <a:spcAft>
                <a:spcPts val="400"/>
              </a:spcAft>
              <a:buNone/>
            </a:pPr>
            <a:r>
              <a:rPr lang="fa-IR" altLang="en-US" sz="1250" b="1" dirty="0">
                <a:solidFill>
                  <a:srgbClr val="1B1B2F"/>
                </a:solidFill>
                <a:latin typeface="Vazirmatn" pitchFamily="34" charset="0"/>
                <a:ea typeface="Vazirmatn" pitchFamily="34" charset="-122"/>
                <a:cs typeface="Vazirmatn" pitchFamily="34" charset="-120"/>
              </a:rPr>
              <a:t>مستقیم و ردیفی به هر یک از ۱۵ عضو بنیاد</a:t>
            </a:r>
            <a:endParaRPr lang="en-US" sz="1250" dirty="0"/>
          </a:p>
          <a:p>
            <a:pPr rtl="1" algn="r" indent="0" marL="0">
              <a:lnSpc>
                <a:spcPct val="105000"/>
              </a:lnSpc>
              <a:spcAft>
                <a:spcPts val="400"/>
              </a:spcAft>
              <a:buNone/>
            </a:pPr>
            <a:r>
              <a:rPr lang="fa-IR" altLang="en-US" sz="1250" dirty="0">
                <a:solidFill>
                  <a:srgbClr val="1B1B2F"/>
                </a:solidFill>
                <a:latin typeface="Vazirmatn" pitchFamily="34" charset="0"/>
                <a:ea typeface="Vazirmatn" pitchFamily="34" charset="-122"/>
                <a:cs typeface="Vazirmatn" pitchFamily="34" charset="-120"/>
              </a:rPr>
              <a:t>مطالبات اعضای بنیاد بابت دستمزدها و مطالبات متفرقه؛ بدون استخر مشترک تا کسی به پرداخت خودش رأی ندهد؛ مبلغ هر عضو در اسلاید بعد</a:t>
            </a:r>
            <a:endParaRPr lang="en-US" sz="1250" dirty="0"/>
          </a:p>
        </p:txBody>
      </p:sp>
      <p:sp>
        <p:nvSpPr>
          <p:cNvPr id="27" name="Shape 25"/>
          <p:cNvSpPr/>
          <p:nvPr/>
        </p:nvSpPr>
        <p:spPr>
          <a:xfrm>
            <a:off x="8097012" y="4892040"/>
            <a:ext cx="3545738" cy="1280160"/>
          </a:xfrm>
          <a:prstGeom prst="roundRect">
            <a:avLst>
              <a:gd name="adj" fmla="val 8571"/>
            </a:avLst>
          </a:prstGeom>
          <a:solidFill>
            <a:srgbClr val="F7F9FC"/>
          </a:solidFill>
          <a:ln w="9525">
            <a:solidFill>
              <a:srgbClr val="DDE1EE"/>
            </a:solidFill>
            <a:prstDash val="solid"/>
          </a:ln>
        </p:spPr>
      </p:sp>
      <p:sp>
        <p:nvSpPr>
          <p:cNvPr id="28" name="Text 26"/>
          <p:cNvSpPr txBox="1"/>
          <p:nvPr/>
        </p:nvSpPr>
        <p:spPr>
          <a:xfrm>
            <a:off x="8279892" y="4892040"/>
            <a:ext cx="3179978" cy="1280160"/>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سه ردیف مجزا و افزایشی‌اند: ردیف ۲ و ۳ علاوه بر ردیف ۱ صادر می‌شوند.</a:t>
            </a:r>
            <a:endParaRPr lang="en-US" sz="1250" dirty="0"/>
          </a:p>
        </p:txBody>
      </p:sp>
      <p:sp>
        <p:nvSpPr>
          <p:cNvPr id="29" name="Shape 27"/>
          <p:cNvSpPr/>
          <p:nvPr/>
        </p:nvSpPr>
        <p:spPr>
          <a:xfrm>
            <a:off x="4323283" y="4892040"/>
            <a:ext cx="3545738" cy="1280160"/>
          </a:xfrm>
          <a:prstGeom prst="roundRect">
            <a:avLst>
              <a:gd name="adj" fmla="val 8571"/>
            </a:avLst>
          </a:prstGeom>
          <a:solidFill>
            <a:srgbClr val="F7F9FC"/>
          </a:solidFill>
          <a:ln w="9525">
            <a:solidFill>
              <a:srgbClr val="DDE1EE"/>
            </a:solidFill>
            <a:prstDash val="solid"/>
          </a:ln>
        </p:spPr>
      </p:sp>
      <p:sp>
        <p:nvSpPr>
          <p:cNvPr id="30" name="Text 28"/>
          <p:cNvSpPr txBox="1"/>
          <p:nvPr/>
        </p:nvSpPr>
        <p:spPr>
          <a:xfrm>
            <a:off x="4506163" y="4892040"/>
            <a:ext cx="3179978" cy="1280160"/>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هیچ سهم دیگری در genesis نیست: نه تیم، نه سرمایه‌گذار خصوصی، نه فروش عمومی جدا.</a:t>
            </a:r>
            <a:endParaRPr lang="en-US" sz="1250" dirty="0"/>
          </a:p>
        </p:txBody>
      </p:sp>
      <p:sp>
        <p:nvSpPr>
          <p:cNvPr id="31" name="Shape 29"/>
          <p:cNvSpPr/>
          <p:nvPr/>
        </p:nvSpPr>
        <p:spPr>
          <a:xfrm>
            <a:off x="548640" y="4892040"/>
            <a:ext cx="3545738" cy="1280160"/>
          </a:xfrm>
          <a:prstGeom prst="roundRect">
            <a:avLst>
              <a:gd name="adj" fmla="val 8571"/>
            </a:avLst>
          </a:prstGeom>
          <a:solidFill>
            <a:srgbClr val="F7F9FC"/>
          </a:solidFill>
          <a:ln w="9525">
            <a:solidFill>
              <a:srgbClr val="DDE1EE"/>
            </a:solidFill>
            <a:prstDash val="solid"/>
          </a:ln>
        </p:spPr>
      </p:sp>
      <p:sp>
        <p:nvSpPr>
          <p:cNvPr id="32" name="Text 30"/>
          <p:cNvSpPr txBox="1"/>
          <p:nvPr/>
        </p:nvSpPr>
        <p:spPr>
          <a:xfrm>
            <a:off x="731520" y="4892040"/>
            <a:ext cx="3179978" cy="1280160"/>
          </a:xfrm>
          <a:prstGeom prst="rect">
            <a:avLst/>
          </a:prstGeom>
          <a:noFill/>
          <a:ln/>
        </p:spPr>
        <p:txBody>
          <a:bodyPr wrap="square" lIns="0" tIns="0" rIns="0" bIns="0" rtlCol="0" anchor="ctr"/>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عرضه‌ی کل بلاک آغازین: ۵۳٬۳۱۱٬۰۰۰ سورن = ۲۰٬۰۰۰٬۰۰۰ + ۱۱٬۹۸۴٬۰۰۰ + ۲۱٬۳۲۷٬۰۰۰.</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انتشار ثابت؛ نرخ رشد درصدی خودبه‌خود کم می‌شود</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16</a:t>
            </a:r>
            <a:endParaRPr lang="en-US" sz="1000" dirty="0"/>
          </a:p>
        </p:txBody>
      </p:sp>
      <p:graphicFrame>
        <p:nvGraphicFramePr>
          <p:cNvPr id="6" name="Chart 0" descr=""/>
          <p:cNvGraphicFramePr/>
          <p:nvPr/>
        </p:nvGraphicFramePr>
        <p:xfrm>
          <a:off x="548640" y="141732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669280"/>
            <a:ext cx="6858000" cy="27432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عرضه‌ی کل تجمعی در پایان هر سال (میلیون سورن، ناخالص)</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665415" y="1463040"/>
          <a:ext cx="3977640" cy="914400"/>
        </p:xfrm>
        <a:graphic>
          <a:graphicData uri="http://schemas.openxmlformats.org/drawingml/2006/table">
            <a:tbl>
              <a:tblPr/>
              <a:tblGrid>
                <a:gridCol w="1508760"/>
                <a:gridCol w="1554480"/>
                <a:gridCol w="914400"/>
              </a:tblGrid>
              <a:tr h="365760">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رشد سالانه</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عرضه (میلیون)</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سال</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36576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۳۹٫۴۴٪</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۷۴٫۳۴</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۱</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6576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۲۸٫۲۸٪</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۹۵٫۳۶</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36576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۱۵٫۳۰٪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۱۵۸٫۴۳</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۵</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6576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۸٫۶۷٪</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۲۶۳٫۵۵</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۱۰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36576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۴٫۶۴٪</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۴۷۳٫۷۹</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7665415" y="3794760"/>
            <a:ext cx="3977640" cy="2011680"/>
          </a:xfrm>
          <a:prstGeom prst="rect">
            <a:avLst/>
          </a:prstGeom>
          <a:noFill/>
          <a:ln/>
        </p:spPr>
        <p:txBody>
          <a:bodyPr wrap="square" lIns="0" tIns="0" rIns="0" bIns="0" rtlCol="0" anchor="t"/>
          <a:lstStyle/>
          <a:p>
            <a:pPr rtl="1" algn="r" indent="0" marL="0">
              <a:lnSpc>
                <a:spcPct val="105000"/>
              </a:lnSpc>
              <a:spcAft>
                <a:spcPts val="800"/>
              </a:spcAft>
              <a:buNone/>
            </a:pPr>
            <a:r>
              <a:rPr lang="fa-IR" altLang="en-US" sz="1250" dirty="0">
                <a:solidFill>
                  <a:srgbClr val="565D7A"/>
                </a:solidFill>
                <a:latin typeface="Vazirmatn" pitchFamily="34" charset="0"/>
                <a:ea typeface="Vazirmatn" pitchFamily="34" charset="-122"/>
                <a:cs typeface="Vazirmatn" pitchFamily="34" charset="-120"/>
              </a:rPr>
              <a:t>نرخ رشد سالانه = انتشار همان سال ÷ عرضه‌ی ابتدای سال.</a:t>
            </a:r>
            <a:endParaRPr lang="en-US" sz="1250" dirty="0"/>
          </a:p>
          <a:p>
            <a:pPr rtl="1" algn="r" indent="0" marL="0">
              <a:lnSpc>
                <a:spcPct val="105000"/>
              </a:lnSpc>
              <a:spcAft>
                <a:spcPts val="800"/>
              </a:spcAft>
              <a:buNone/>
            </a:pPr>
            <a:r>
              <a:rPr lang="fa-IR" altLang="en-US" sz="1250" dirty="0">
                <a:solidFill>
                  <a:srgbClr val="565D7A"/>
                </a:solidFill>
                <a:latin typeface="Vazirmatn" pitchFamily="34" charset="0"/>
                <a:ea typeface="Vazirmatn" pitchFamily="34" charset="-122"/>
                <a:cs typeface="Vazirmatn" pitchFamily="34" charset="-120"/>
              </a:rPr>
              <a:t>انتشار هر سال ۲۱٬۰۲۴٬۰۰۰ سورن است؛ بدون halving.</a:t>
            </a:r>
            <a:endParaRPr lang="en-US" sz="1250" dirty="0"/>
          </a:p>
          <a:p>
            <a:pPr rtl="1" algn="r" indent="0" marL="0">
              <a:lnSpc>
                <a:spcPct val="105000"/>
              </a:lnSpc>
              <a:spcAft>
                <a:spcPts val="800"/>
              </a:spcAft>
              <a:buNone/>
            </a:pPr>
            <a:r>
              <a:rPr lang="fa-IR" altLang="en-US" sz="1250" dirty="0">
                <a:solidFill>
                  <a:srgbClr val="565D7A"/>
                </a:solidFill>
                <a:latin typeface="Vazirmatn" pitchFamily="34" charset="0"/>
                <a:ea typeface="Vazirmatn" pitchFamily="34" charset="-122"/>
                <a:cs typeface="Vazirmatn" pitchFamily="34" charset="-120"/>
              </a:rPr>
              <a:t>جدول ناخالص است (سوزاندن فی کم نشده) و هر سه ردیف genesis (جمعاً ۵۳٬۳۱۱٬۰۰۰ سورن) را شامل می‌شود.</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تقسیم هر بلاک: ریوارد، کارمزد و کارمزد عضویت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17</a:t>
            </a:r>
            <a:endParaRPr lang="en-US" sz="1000" dirty="0"/>
          </a:p>
        </p:txBody>
      </p:sp>
      <p:sp>
        <p:nvSpPr>
          <p:cNvPr id="6" name="Text 4"/>
          <p:cNvSpPr txBox="1"/>
          <p:nvPr/>
        </p:nvSpPr>
        <p:spPr>
          <a:xfrm>
            <a:off x="548640" y="1417320"/>
            <a:ext cx="11094415" cy="292608"/>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ریوارد هر بلاک (۲ سورن)</a:t>
            </a:r>
            <a:endParaRPr lang="en-US" sz="1400" dirty="0"/>
          </a:p>
        </p:txBody>
      </p:sp>
      <p:sp>
        <p:nvSpPr>
          <p:cNvPr id="7" name="Shape 5"/>
          <p:cNvSpPr/>
          <p:nvPr/>
        </p:nvSpPr>
        <p:spPr>
          <a:xfrm>
            <a:off x="9978847" y="1783080"/>
            <a:ext cx="1627586" cy="777240"/>
          </a:xfrm>
          <a:prstGeom prst="rect">
            <a:avLst/>
          </a:prstGeom>
          <a:solidFill>
            <a:srgbClr val="3D46A8"/>
          </a:solidFill>
          <a:ln w="12700">
            <a:solidFill>
              <a:srgbClr val="FFFFFF"/>
            </a:solidFill>
            <a:prstDash val="solid"/>
          </a:ln>
        </p:spPr>
      </p:sp>
      <p:sp>
        <p:nvSpPr>
          <p:cNvPr id="8" name="Text 6"/>
          <p:cNvSpPr txBox="1"/>
          <p:nvPr/>
        </p:nvSpPr>
        <p:spPr>
          <a:xfrm>
            <a:off x="10070287" y="1783080"/>
            <a:ext cx="1444706"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بنیاد ۱۵٪</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۳٬۱۵۳٬۶۰۰ در سال</a:t>
            </a:r>
            <a:endParaRPr lang="en-US" sz="1400" dirty="0"/>
          </a:p>
        </p:txBody>
      </p:sp>
      <p:sp>
        <p:nvSpPr>
          <p:cNvPr id="9" name="Shape 7"/>
          <p:cNvSpPr/>
          <p:nvPr/>
        </p:nvSpPr>
        <p:spPr>
          <a:xfrm>
            <a:off x="4432097" y="1783080"/>
            <a:ext cx="5510632" cy="777240"/>
          </a:xfrm>
          <a:prstGeom prst="rect">
            <a:avLst/>
          </a:prstGeom>
          <a:solidFill>
            <a:srgbClr val="2F3690"/>
          </a:solidFill>
          <a:ln w="12700">
            <a:solidFill>
              <a:srgbClr val="FFFFFF"/>
            </a:solidFill>
            <a:prstDash val="solid"/>
          </a:ln>
        </p:spPr>
      </p:sp>
      <p:sp>
        <p:nvSpPr>
          <p:cNvPr id="10" name="Text 8"/>
          <p:cNvSpPr txBox="1"/>
          <p:nvPr/>
        </p:nvSpPr>
        <p:spPr>
          <a:xfrm>
            <a:off x="4523537" y="1783080"/>
            <a:ext cx="5327752"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ولیدیتورها ۵۰٪</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حکمرانی‌شونده ۴۰ تا ۶۵٪ — ۱۰٬۵۱۲٬۰۰۰ در سال</a:t>
            </a:r>
            <a:endParaRPr lang="en-US" sz="1400" dirty="0"/>
          </a:p>
        </p:txBody>
      </p:sp>
      <p:sp>
        <p:nvSpPr>
          <p:cNvPr id="11" name="Shape 9"/>
          <p:cNvSpPr/>
          <p:nvPr/>
        </p:nvSpPr>
        <p:spPr>
          <a:xfrm>
            <a:off x="548640" y="1783080"/>
            <a:ext cx="3846469" cy="777240"/>
          </a:xfrm>
          <a:prstGeom prst="rect">
            <a:avLst/>
          </a:prstGeom>
          <a:solidFill>
            <a:srgbClr val="F2B84B"/>
          </a:solidFill>
          <a:ln w="12700">
            <a:solidFill>
              <a:srgbClr val="FFFFFF"/>
            </a:solidFill>
            <a:prstDash val="solid"/>
          </a:ln>
        </p:spPr>
      </p:sp>
      <p:sp>
        <p:nvSpPr>
          <p:cNvPr id="12" name="Text 10"/>
          <p:cNvSpPr txBox="1"/>
          <p:nvPr/>
        </p:nvSpPr>
        <p:spPr>
          <a:xfrm>
            <a:off x="640080" y="1783080"/>
            <a:ext cx="3663589"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خزانه ۳۵٪</a:t>
            </a:r>
            <a:endParaRPr lang="en-US" sz="14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باقی‌مانده ۲۰ تا ۴۵٪ — ۷٬۳۵۸٬۴۰۰</a:t>
            </a:r>
            <a:endParaRPr lang="en-US" sz="1400" dirty="0"/>
          </a:p>
        </p:txBody>
      </p:sp>
      <p:sp>
        <p:nvSpPr>
          <p:cNvPr id="13" name="Text 11"/>
          <p:cNvSpPr txBox="1"/>
          <p:nvPr/>
        </p:nvSpPr>
        <p:spPr>
          <a:xfrm>
            <a:off x="548640" y="3017520"/>
            <a:ext cx="11094415" cy="292608"/>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کارمزد تراکنش‌های معمولی</a:t>
            </a:r>
            <a:endParaRPr lang="en-US" sz="1400" dirty="0"/>
          </a:p>
        </p:txBody>
      </p:sp>
      <p:sp>
        <p:nvSpPr>
          <p:cNvPr id="14" name="Shape 12"/>
          <p:cNvSpPr/>
          <p:nvPr/>
        </p:nvSpPr>
        <p:spPr>
          <a:xfrm>
            <a:off x="8314639" y="3383280"/>
            <a:ext cx="3291749" cy="777240"/>
          </a:xfrm>
          <a:prstGeom prst="rect">
            <a:avLst/>
          </a:prstGeom>
          <a:solidFill>
            <a:srgbClr val="5F6472"/>
          </a:solidFill>
          <a:ln w="12700">
            <a:solidFill>
              <a:srgbClr val="FFFFFF"/>
            </a:solidFill>
            <a:prstDash val="solid"/>
          </a:ln>
        </p:spPr>
      </p:sp>
      <p:sp>
        <p:nvSpPr>
          <p:cNvPr id="15" name="Text 13"/>
          <p:cNvSpPr txBox="1"/>
          <p:nvPr/>
        </p:nvSpPr>
        <p:spPr>
          <a:xfrm>
            <a:off x="8406079" y="3383280"/>
            <a:ext cx="3108869"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سوزانده ۳۰٪</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ثابت و غیرقابل‌حکمرانی</a:t>
            </a:r>
            <a:endParaRPr lang="en-US" sz="1400" dirty="0"/>
          </a:p>
        </p:txBody>
      </p:sp>
      <p:sp>
        <p:nvSpPr>
          <p:cNvPr id="16" name="Shape 14"/>
          <p:cNvSpPr/>
          <p:nvPr/>
        </p:nvSpPr>
        <p:spPr>
          <a:xfrm>
            <a:off x="548640" y="3383280"/>
            <a:ext cx="7729515" cy="777240"/>
          </a:xfrm>
          <a:prstGeom prst="rect">
            <a:avLst/>
          </a:prstGeom>
          <a:solidFill>
            <a:srgbClr val="2F3690"/>
          </a:solidFill>
          <a:ln w="12700">
            <a:solidFill>
              <a:srgbClr val="FFFFFF"/>
            </a:solidFill>
            <a:prstDash val="solid"/>
          </a:ln>
        </p:spPr>
      </p:sp>
      <p:sp>
        <p:nvSpPr>
          <p:cNvPr id="17" name="Text 15"/>
          <p:cNvSpPr txBox="1"/>
          <p:nvPr/>
        </p:nvSpPr>
        <p:spPr>
          <a:xfrm>
            <a:off x="640080" y="3383280"/>
            <a:ext cx="7546635"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ولیدیتورها ۷۰٪</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به نسبت بلاک تولیدشده در بازه‌ی همان توزیع</a:t>
            </a:r>
            <a:endParaRPr lang="en-US" sz="1400" dirty="0"/>
          </a:p>
        </p:txBody>
      </p:sp>
      <p:sp>
        <p:nvSpPr>
          <p:cNvPr id="18" name="Text 16"/>
          <p:cNvSpPr txBox="1"/>
          <p:nvPr/>
        </p:nvSpPr>
        <p:spPr>
          <a:xfrm>
            <a:off x="548640" y="4617720"/>
            <a:ext cx="11094415" cy="292608"/>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کارمزد عضویت (۴٪ وثیقه، یک‌بار)</a:t>
            </a:r>
            <a:endParaRPr lang="en-US" sz="1400" dirty="0"/>
          </a:p>
        </p:txBody>
      </p:sp>
      <p:sp>
        <p:nvSpPr>
          <p:cNvPr id="19" name="Shape 17"/>
          <p:cNvSpPr/>
          <p:nvPr/>
        </p:nvSpPr>
        <p:spPr>
          <a:xfrm>
            <a:off x="548640" y="4983480"/>
            <a:ext cx="11057839" cy="777240"/>
          </a:xfrm>
          <a:prstGeom prst="rect">
            <a:avLst/>
          </a:prstGeom>
          <a:solidFill>
            <a:srgbClr val="2F3690"/>
          </a:solidFill>
          <a:ln w="12700">
            <a:solidFill>
              <a:srgbClr val="FFFFFF"/>
            </a:solidFill>
            <a:prstDash val="solid"/>
          </a:ln>
        </p:spPr>
      </p:sp>
      <p:sp>
        <p:nvSpPr>
          <p:cNvPr id="20" name="Text 18"/>
          <p:cNvSpPr txBox="1"/>
          <p:nvPr/>
        </p:nvSpPr>
        <p:spPr>
          <a:xfrm>
            <a:off x="640080" y="4983480"/>
            <a:ext cx="10874959" cy="77724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۱۰۰٪ به تولیدکنندگان بلاک‌های بازه‌ی توزیع بعدی</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بدون سوزاندن؛ به نسبت تعداد بلاک</a:t>
            </a:r>
            <a:endParaRPr lang="en-US" sz="1400" dirty="0"/>
          </a:p>
        </p:txBody>
      </p:sp>
      <p:sp>
        <p:nvSpPr>
          <p:cNvPr id="21" name="Text 19"/>
          <p:cNvSpPr txBox="1"/>
          <p:nvPr/>
        </p:nvSpPr>
        <p:spPr>
          <a:xfrm>
            <a:off x="548640" y="5897880"/>
            <a:ext cx="11094415" cy="4572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ارقام سالانه با پیش‌فرض‌های فعلی (۵۰٪ سهم مستقیم) و ۲۱٬۰۲۴٬۰۰۰ سورن ریوارد در سال‌اند. سهم ۱۵٪ بنیاد از کل ریوارد کسر می‌شود و به تصمیم درباره‌ی نسبت ولیدیتور و خزانه بستگی ندارد.</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کارمزد تراکنش: قیمت گاز ثابت و سوزاندن ۳۰٪</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18</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08015" y="1508760"/>
          <a:ext cx="6035040" cy="914400"/>
        </p:xfrm>
        <a:graphic>
          <a:graphicData uri="http://schemas.openxmlformats.org/drawingml/2006/table">
            <a:tbl>
              <a:tblPr/>
              <a:tblGrid>
                <a:gridCol w="1463040"/>
                <a:gridCol w="1143000"/>
                <a:gridCol w="1325880"/>
                <a:gridCol w="2103120"/>
              </a:tblGrid>
              <a:tr h="502920">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به تومان (۱۰۰ تومان/سورن)</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کارمزد (سورن)</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گاز</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نوع تراکنش</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4864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۲۱۰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۲٫۱</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۲۱٬۰۰۰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انتقال ساده‌ی سورن</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4864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۵۱۰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۵٫۱</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۵۱٬۰۰۰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انتقال توکن ERC20</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4864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۶۵۰ تا ۱۵۰۰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۶٫۵ تا ۱۵</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۶۵٬۰۰۰ تا ۱۵۰٬۰۰۰</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ثبت متن کوتاه در قرارداد</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08015" y="4160520"/>
            <a:ext cx="6035040" cy="91440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قیمت گاز ثابت است و برابر ۱۰¹⁴ wei (wei کوچک‌ترین واحد سورن است؛ یعنی ۰٫۰۰۰۱ سورن به ازای هر واحد گاز)؛ در genesis گزینه‌ی zeroBaseFee فعال است. پیش‌بینی‌پذیری به تومان فقط در دوره‌ی قیمت ثابت فروش برقرار است.</a:t>
            </a:r>
            <a:endParaRPr lang="en-US" sz="1250" dirty="0"/>
          </a:p>
        </p:txBody>
      </p:sp>
      <p:sp>
        <p:nvSpPr>
          <p:cNvPr id="8" name="Shape 5"/>
          <p:cNvSpPr/>
          <p:nvPr/>
        </p:nvSpPr>
        <p:spPr>
          <a:xfrm>
            <a:off x="548640" y="1463040"/>
            <a:ext cx="4754880" cy="1417320"/>
          </a:xfrm>
          <a:prstGeom prst="roundRect">
            <a:avLst>
              <a:gd name="adj" fmla="val 7742"/>
            </a:avLst>
          </a:prstGeom>
          <a:solidFill>
            <a:srgbClr val="F7F9FC"/>
          </a:solidFill>
          <a:ln w="9525">
            <a:solidFill>
              <a:srgbClr val="DDE1EE"/>
            </a:solidFill>
            <a:prstDash val="solid"/>
          </a:ln>
        </p:spPr>
      </p:sp>
      <p:sp>
        <p:nvSpPr>
          <p:cNvPr id="9" name="Shape 6"/>
          <p:cNvSpPr/>
          <p:nvPr/>
        </p:nvSpPr>
        <p:spPr>
          <a:xfrm>
            <a:off x="4709160" y="1600200"/>
            <a:ext cx="457200" cy="457200"/>
          </a:xfrm>
          <a:prstGeom prst="ellipse">
            <a:avLst/>
          </a:prstGeom>
          <a:solidFill>
            <a:srgbClr val="2F3690"/>
          </a:solidFill>
          <a:ln w="12700">
            <a:solidFill>
              <a:srgbClr val="2F3690"/>
            </a:solidFill>
            <a:prstDash val="solid"/>
          </a:ln>
        </p:spPr>
      </p:sp>
      <p:pic>
        <p:nvPicPr>
          <p:cNvPr id="10" name="Image 0" descr="preencoded.png">    </p:cNvPr>
          <p:cNvPicPr>
            <a:picLocks noChangeAspect="1"/>
          </p:cNvPicPr>
          <p:nvPr/>
        </p:nvPicPr>
        <p:blipFill>
          <a:blip r:embed="rId1"/>
          <a:stretch>
            <a:fillRect/>
          </a:stretch>
        </p:blipFill>
        <p:spPr>
          <a:xfrm>
            <a:off x="4832604" y="1723644"/>
            <a:ext cx="210312" cy="210312"/>
          </a:xfrm>
          <a:prstGeom prst="rect">
            <a:avLst/>
          </a:prstGeom>
        </p:spPr>
      </p:pic>
      <p:sp>
        <p:nvSpPr>
          <p:cNvPr id="11" name="Text 7"/>
          <p:cNvSpPr txBox="1"/>
          <p:nvPr/>
        </p:nvSpPr>
        <p:spPr>
          <a:xfrm>
            <a:off x="731520" y="160020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سوزاندن ۳۰٪ از کارمزد معمولی</a:t>
            </a:r>
            <a:endParaRPr lang="en-US" sz="1400" dirty="0"/>
          </a:p>
        </p:txBody>
      </p:sp>
      <p:sp>
        <p:nvSpPr>
          <p:cNvPr id="12" name="Text 8"/>
          <p:cNvSpPr txBox="1"/>
          <p:nvPr/>
        </p:nvSpPr>
        <p:spPr>
          <a:xfrm>
            <a:off x="731520" y="205740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ثابت و غیرقابل‌حکمرانی: ولیدیتورها انگیزه‌ی مستقیم برای کاهش آن دارند و نهاد متقابلی برای حفظ آن وجود ندارد.</a:t>
            </a:r>
            <a:endParaRPr lang="en-US" sz="1200" dirty="0"/>
          </a:p>
        </p:txBody>
      </p:sp>
      <p:sp>
        <p:nvSpPr>
          <p:cNvPr id="13" name="Shape 9"/>
          <p:cNvSpPr/>
          <p:nvPr/>
        </p:nvSpPr>
        <p:spPr>
          <a:xfrm>
            <a:off x="548640" y="3017520"/>
            <a:ext cx="4754880" cy="1417320"/>
          </a:xfrm>
          <a:prstGeom prst="roundRect">
            <a:avLst>
              <a:gd name="adj" fmla="val 7742"/>
            </a:avLst>
          </a:prstGeom>
          <a:solidFill>
            <a:srgbClr val="F7F9FC"/>
          </a:solidFill>
          <a:ln w="9525">
            <a:solidFill>
              <a:srgbClr val="DDE1EE"/>
            </a:solidFill>
            <a:prstDash val="solid"/>
          </a:ln>
        </p:spPr>
      </p:sp>
      <p:sp>
        <p:nvSpPr>
          <p:cNvPr id="14" name="Shape 10"/>
          <p:cNvSpPr/>
          <p:nvPr/>
        </p:nvSpPr>
        <p:spPr>
          <a:xfrm>
            <a:off x="4709160" y="3154680"/>
            <a:ext cx="457200" cy="457200"/>
          </a:xfrm>
          <a:prstGeom prst="ellipse">
            <a:avLst/>
          </a:prstGeom>
          <a:solidFill>
            <a:srgbClr val="2F3690"/>
          </a:solidFill>
          <a:ln w="12700">
            <a:solidFill>
              <a:srgbClr val="2F3690"/>
            </a:solidFill>
            <a:prstDash val="solid"/>
          </a:ln>
        </p:spPr>
      </p:sp>
      <p:pic>
        <p:nvPicPr>
          <p:cNvPr id="15" name="Image 1" descr="preencoded.png">    </p:cNvPr>
          <p:cNvPicPr>
            <a:picLocks noChangeAspect="1"/>
          </p:cNvPicPr>
          <p:nvPr/>
        </p:nvPicPr>
        <p:blipFill>
          <a:blip r:embed="rId2"/>
          <a:stretch>
            <a:fillRect/>
          </a:stretch>
        </p:blipFill>
        <p:spPr>
          <a:xfrm>
            <a:off x="4832604" y="3278124"/>
            <a:ext cx="210312" cy="210312"/>
          </a:xfrm>
          <a:prstGeom prst="rect">
            <a:avLst/>
          </a:prstGeom>
        </p:spPr>
      </p:pic>
      <p:sp>
        <p:nvSpPr>
          <p:cNvPr id="16" name="Text 11"/>
          <p:cNvSpPr txBox="1"/>
          <p:nvPr/>
        </p:nvSpPr>
        <p:spPr>
          <a:xfrm>
            <a:off x="731520" y="315468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کارمزد عضویت معاف از سوزاندن</a:t>
            </a:r>
            <a:endParaRPr lang="en-US" sz="1400" dirty="0"/>
          </a:p>
        </p:txBody>
      </p:sp>
      <p:sp>
        <p:nvSpPr>
          <p:cNvPr id="17" name="Text 12"/>
          <p:cNvSpPr txBox="1"/>
          <p:nvPr/>
        </p:nvSpPr>
        <p:spPr>
          <a:xfrm>
            <a:off x="731520" y="361188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ورود هر ولیدیتور جدید یک پرداخت نقدی قابل‌ردیابی به ولیدیتورهای فعال می‌دهد و انگیزه‌ی جذب عضو را می‌سازد.</a:t>
            </a:r>
            <a:endParaRPr lang="en-US" sz="1200" dirty="0"/>
          </a:p>
        </p:txBody>
      </p:sp>
      <p:sp>
        <p:nvSpPr>
          <p:cNvPr id="18" name="Shape 13"/>
          <p:cNvSpPr/>
          <p:nvPr/>
        </p:nvSpPr>
        <p:spPr>
          <a:xfrm>
            <a:off x="548640" y="4572000"/>
            <a:ext cx="4754880" cy="1417320"/>
          </a:xfrm>
          <a:prstGeom prst="roundRect">
            <a:avLst>
              <a:gd name="adj" fmla="val 7742"/>
            </a:avLst>
          </a:prstGeom>
          <a:solidFill>
            <a:srgbClr val="F7F9FC"/>
          </a:solidFill>
          <a:ln w="9525">
            <a:solidFill>
              <a:srgbClr val="DDE1EE"/>
            </a:solidFill>
            <a:prstDash val="solid"/>
          </a:ln>
        </p:spPr>
      </p:sp>
      <p:sp>
        <p:nvSpPr>
          <p:cNvPr id="19" name="Shape 14"/>
          <p:cNvSpPr/>
          <p:nvPr/>
        </p:nvSpPr>
        <p:spPr>
          <a:xfrm>
            <a:off x="4709160" y="4709160"/>
            <a:ext cx="457200" cy="457200"/>
          </a:xfrm>
          <a:prstGeom prst="ellipse">
            <a:avLst/>
          </a:prstGeom>
          <a:solidFill>
            <a:srgbClr val="2F3690"/>
          </a:solidFill>
          <a:ln w="12700">
            <a:solidFill>
              <a:srgbClr val="2F3690"/>
            </a:solidFill>
            <a:prstDash val="solid"/>
          </a:ln>
        </p:spPr>
      </p:sp>
      <p:pic>
        <p:nvPicPr>
          <p:cNvPr id="20" name="Image 2" descr="preencoded.png">    </p:cNvPr>
          <p:cNvPicPr>
            <a:picLocks noChangeAspect="1"/>
          </p:cNvPicPr>
          <p:nvPr/>
        </p:nvPicPr>
        <p:blipFill>
          <a:blip r:embed="rId3"/>
          <a:stretch>
            <a:fillRect/>
          </a:stretch>
        </p:blipFill>
        <p:spPr>
          <a:xfrm>
            <a:off x="4832604" y="4832604"/>
            <a:ext cx="210312" cy="210312"/>
          </a:xfrm>
          <a:prstGeom prst="rect">
            <a:avLst/>
          </a:prstGeom>
        </p:spPr>
      </p:pic>
      <p:sp>
        <p:nvSpPr>
          <p:cNvPr id="21" name="Text 15"/>
          <p:cNvSpPr txBox="1"/>
          <p:nvPr/>
        </p:nvSpPr>
        <p:spPr>
          <a:xfrm>
            <a:off x="731520" y="470916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gasPrice بدون مسیر رأی</a:t>
            </a:r>
            <a:endParaRPr lang="en-US" sz="1400" dirty="0"/>
          </a:p>
        </p:txBody>
      </p:sp>
      <p:sp>
        <p:nvSpPr>
          <p:cNvPr id="22" name="Text 16"/>
          <p:cNvSpPr txBox="1"/>
          <p:nvPr/>
        </p:nvSpPr>
        <p:spPr>
          <a:xfrm>
            <a:off x="731520" y="516636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تغییر آن فقط با به‌روزرسانی پیکربندی نودها ممکن است.</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ولیدیتورها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منحنی هزینه‌ی ورود: دوبرابرشدن وثیقه در هر ۴۰ ولیدیتور</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19</a:t>
            </a:r>
            <a:endParaRPr lang="en-US" sz="1000" dirty="0"/>
          </a:p>
        </p:txBody>
      </p:sp>
      <p:graphicFrame>
        <p:nvGraphicFramePr>
          <p:cNvPr id="6" name="Chart 0" descr=""/>
          <p:cNvGraphicFramePr/>
          <p:nvPr/>
        </p:nvGraphicFramePr>
        <p:xfrm>
          <a:off x="548640" y="146304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532120"/>
            <a:ext cx="6583680" cy="27432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محور افقی: تعداد ولیدیتور پرداخت‌کننده؛ محور عمودی: وثیقه‌ی نفر بعدی (میلیون سورن)</a:t>
            </a:r>
            <a:endParaRPr lang="en-US" sz="1200" dirty="0"/>
          </a:p>
        </p:txBody>
      </p:sp>
      <p:sp>
        <p:nvSpPr>
          <p:cNvPr id="8" name="Shape 5"/>
          <p:cNvSpPr/>
          <p:nvPr/>
        </p:nvSpPr>
        <p:spPr>
          <a:xfrm>
            <a:off x="7391095" y="1463040"/>
            <a:ext cx="4251960" cy="1051560"/>
          </a:xfrm>
          <a:prstGeom prst="roundRect">
            <a:avLst>
              <a:gd name="adj" fmla="val 10435"/>
            </a:avLst>
          </a:prstGeom>
          <a:solidFill>
            <a:srgbClr val="F7F9FC"/>
          </a:solidFill>
          <a:ln w="9525">
            <a:solidFill>
              <a:srgbClr val="DDE1EE"/>
            </a:solidFill>
            <a:prstDash val="solid"/>
          </a:ln>
        </p:spPr>
      </p:sp>
      <p:sp>
        <p:nvSpPr>
          <p:cNvPr id="9" name="Text 6"/>
          <p:cNvSpPr txBox="1"/>
          <p:nvPr/>
        </p:nvSpPr>
        <p:spPr>
          <a:xfrm>
            <a:off x="7573975" y="1554480"/>
            <a:ext cx="3886200" cy="27432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پایه</a:t>
            </a:r>
            <a:endParaRPr lang="en-US" sz="1350" dirty="0"/>
          </a:p>
        </p:txBody>
      </p:sp>
      <p:sp>
        <p:nvSpPr>
          <p:cNvPr id="10" name="Text 7"/>
          <p:cNvSpPr txBox="1"/>
          <p:nvPr/>
        </p:nvSpPr>
        <p:spPr>
          <a:xfrm>
            <a:off x="7573975" y="1847088"/>
            <a:ext cx="3886200" cy="64008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۵۰۰٬۰۰۰ سورن برای اولین ولیدیتور پرداخت‌کننده (نفر هشتم شبکه)؛ ۷ مؤسس رایگان در منحنی شمرده نمی‌شوند.</a:t>
            </a:r>
            <a:endParaRPr lang="en-US" sz="1150" dirty="0"/>
          </a:p>
        </p:txBody>
      </p:sp>
      <p:sp>
        <p:nvSpPr>
          <p:cNvPr id="11" name="Shape 8"/>
          <p:cNvSpPr/>
          <p:nvPr/>
        </p:nvSpPr>
        <p:spPr>
          <a:xfrm>
            <a:off x="7391095" y="2633472"/>
            <a:ext cx="4251960" cy="1051560"/>
          </a:xfrm>
          <a:prstGeom prst="roundRect">
            <a:avLst>
              <a:gd name="adj" fmla="val 10435"/>
            </a:avLst>
          </a:prstGeom>
          <a:solidFill>
            <a:srgbClr val="F7F9FC"/>
          </a:solidFill>
          <a:ln w="9525">
            <a:solidFill>
              <a:srgbClr val="DDE1EE"/>
            </a:solidFill>
            <a:prstDash val="solid"/>
          </a:ln>
        </p:spPr>
      </p:sp>
      <p:sp>
        <p:nvSpPr>
          <p:cNvPr id="12" name="Text 9"/>
          <p:cNvSpPr txBox="1"/>
          <p:nvPr/>
        </p:nvSpPr>
        <p:spPr>
          <a:xfrm>
            <a:off x="7573975" y="2724912"/>
            <a:ext cx="3886200" cy="27432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کارمزد عضویت</a:t>
            </a:r>
            <a:endParaRPr lang="en-US" sz="1350" dirty="0"/>
          </a:p>
        </p:txBody>
      </p:sp>
      <p:sp>
        <p:nvSpPr>
          <p:cNvPr id="13" name="Text 10"/>
          <p:cNvSpPr txBox="1"/>
          <p:nvPr/>
        </p:nvSpPr>
        <p:spPr>
          <a:xfrm>
            <a:off x="7573975" y="3017520"/>
            <a:ext cx="3886200" cy="64008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۴٪ وثیقه، غیرقابل‌استرداد؛ وثیقه در خروج داوطلبانه کامل برمی‌گردد.</a:t>
            </a:r>
            <a:endParaRPr lang="en-US" sz="1150" dirty="0"/>
          </a:p>
        </p:txBody>
      </p:sp>
      <p:sp>
        <p:nvSpPr>
          <p:cNvPr id="14" name="Shape 11"/>
          <p:cNvSpPr/>
          <p:nvPr/>
        </p:nvSpPr>
        <p:spPr>
          <a:xfrm>
            <a:off x="7391095" y="3803904"/>
            <a:ext cx="4251960" cy="1051560"/>
          </a:xfrm>
          <a:prstGeom prst="roundRect">
            <a:avLst>
              <a:gd name="adj" fmla="val 10435"/>
            </a:avLst>
          </a:prstGeom>
          <a:solidFill>
            <a:srgbClr val="F7F9FC"/>
          </a:solidFill>
          <a:ln w="9525">
            <a:solidFill>
              <a:srgbClr val="DDE1EE"/>
            </a:solidFill>
            <a:prstDash val="solid"/>
          </a:ln>
        </p:spPr>
      </p:sp>
      <p:sp>
        <p:nvSpPr>
          <p:cNvPr id="15" name="Text 12"/>
          <p:cNvSpPr txBox="1"/>
          <p:nvPr/>
        </p:nvSpPr>
        <p:spPr>
          <a:xfrm>
            <a:off x="7573975" y="3895344"/>
            <a:ext cx="3886200" cy="27432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حدود مجاز هیأت</a:t>
            </a:r>
            <a:endParaRPr lang="en-US" sz="1350" dirty="0"/>
          </a:p>
        </p:txBody>
      </p:sp>
      <p:sp>
        <p:nvSpPr>
          <p:cNvPr id="16" name="Text 13"/>
          <p:cNvSpPr txBox="1"/>
          <p:nvPr/>
        </p:nvSpPr>
        <p:spPr>
          <a:xfrm>
            <a:off x="7573975" y="4187952"/>
            <a:ext cx="3886200" cy="64008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پایه ۱۰۰ هزار تا ۲ میلیون؛ کارمزد ۱ تا ۱۰٪؛ دوبرابرشدن هر ۲۰ تا ۸۰ نفر؛ پس از هر تغییر ۱۸۰ روز قفل مشترک.</a:t>
            </a:r>
            <a:endParaRPr lang="en-US" sz="1150" dirty="0"/>
          </a:p>
        </p:txBody>
      </p:sp>
      <p:sp>
        <p:nvSpPr>
          <p:cNvPr id="17" name="Shape 14"/>
          <p:cNvSpPr/>
          <p:nvPr/>
        </p:nvSpPr>
        <p:spPr>
          <a:xfrm>
            <a:off x="7391095" y="4974336"/>
            <a:ext cx="4251960" cy="1051560"/>
          </a:xfrm>
          <a:prstGeom prst="roundRect">
            <a:avLst>
              <a:gd name="adj" fmla="val 10435"/>
            </a:avLst>
          </a:prstGeom>
          <a:solidFill>
            <a:srgbClr val="F7F9FC"/>
          </a:solidFill>
          <a:ln w="9525">
            <a:solidFill>
              <a:srgbClr val="DDE1EE"/>
            </a:solidFill>
            <a:prstDash val="solid"/>
          </a:ln>
        </p:spPr>
      </p:sp>
      <p:sp>
        <p:nvSpPr>
          <p:cNvPr id="18" name="Text 15"/>
          <p:cNvSpPr txBox="1"/>
          <p:nvPr/>
        </p:nvSpPr>
        <p:spPr>
          <a:xfrm>
            <a:off x="7573975" y="5065776"/>
            <a:ext cx="3886200" cy="27432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هدف طراحی</a:t>
            </a:r>
            <a:endParaRPr lang="en-US" sz="1350" dirty="0"/>
          </a:p>
        </p:txBody>
      </p:sp>
      <p:sp>
        <p:nvSpPr>
          <p:cNvPr id="19" name="Text 16"/>
          <p:cNvSpPr txBox="1"/>
          <p:nvPr/>
        </p:nvSpPr>
        <p:spPr>
          <a:xfrm>
            <a:off x="7573975" y="5358384"/>
            <a:ext cx="3886200" cy="64008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۵۰ تا ۱۰۰ ولیدیتور؛ بیرون از این بازه عمداً سریع گران می‌شود (حدود ۱۴ میلیون در ۲۰۰ ولیدیتور).</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ولیدیتورها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درآمد ولیدیتور و تنش اقتصادی شناخته‌شده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20</a:t>
            </a:r>
            <a:endParaRPr lang="en-US" sz="1000" dirty="0"/>
          </a:p>
        </p:txBody>
      </p:sp>
      <p:graphicFrame>
        <p:nvGraphicFramePr>
          <p:cNvPr id="6" name="Chart 0" descr=""/>
          <p:cNvGraphicFramePr/>
          <p:nvPr/>
        </p:nvGraphicFramePr>
        <p:xfrm>
          <a:off x="548640" y="146304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440680"/>
            <a:ext cx="6035040" cy="45720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سهم مستقیم ریوارد برای هر ولیدیتور در سال (هزار سورن) = ۵۰٪ ریوارد ÷ تعداد ولیدیتور فعال؛ بدون فی و کارمزد عضویت</a:t>
            </a:r>
            <a:endParaRPr lang="en-US" sz="1200" dirty="0"/>
          </a:p>
        </p:txBody>
      </p:sp>
      <p:sp>
        <p:nvSpPr>
          <p:cNvPr id="8" name="Shape 5"/>
          <p:cNvSpPr/>
          <p:nvPr/>
        </p:nvSpPr>
        <p:spPr>
          <a:xfrm>
            <a:off x="6888175" y="1463040"/>
            <a:ext cx="4754880" cy="1417320"/>
          </a:xfrm>
          <a:prstGeom prst="roundRect">
            <a:avLst>
              <a:gd name="adj" fmla="val 7742"/>
            </a:avLst>
          </a:prstGeom>
          <a:solidFill>
            <a:srgbClr val="F7F9FC"/>
          </a:solidFill>
          <a:ln w="9525">
            <a:solidFill>
              <a:srgbClr val="DDE1EE"/>
            </a:solidFill>
            <a:prstDash val="solid"/>
          </a:ln>
        </p:spPr>
      </p:sp>
      <p:sp>
        <p:nvSpPr>
          <p:cNvPr id="9" name="Shape 6"/>
          <p:cNvSpPr/>
          <p:nvPr/>
        </p:nvSpPr>
        <p:spPr>
          <a:xfrm>
            <a:off x="11048695" y="1600200"/>
            <a:ext cx="457200" cy="457200"/>
          </a:xfrm>
          <a:prstGeom prst="ellipse">
            <a:avLst/>
          </a:prstGeom>
          <a:solidFill>
            <a:srgbClr val="2F3690"/>
          </a:solidFill>
          <a:ln w="12700">
            <a:solidFill>
              <a:srgbClr val="2F3690"/>
            </a:solidFill>
            <a:prstDash val="solid"/>
          </a:ln>
        </p:spPr>
      </p:sp>
      <p:pic>
        <p:nvPicPr>
          <p:cNvPr id="10" name="Image 0" descr="preencoded.png">    </p:cNvPr>
          <p:cNvPicPr>
            <a:picLocks noChangeAspect="1"/>
          </p:cNvPicPr>
          <p:nvPr/>
        </p:nvPicPr>
        <p:blipFill>
          <a:blip r:embed="rId2"/>
          <a:stretch>
            <a:fillRect/>
          </a:stretch>
        </p:blipFill>
        <p:spPr>
          <a:xfrm>
            <a:off x="11172139" y="1723644"/>
            <a:ext cx="210312" cy="210312"/>
          </a:xfrm>
          <a:prstGeom prst="rect">
            <a:avLst/>
          </a:prstGeom>
        </p:spPr>
      </p:pic>
      <p:sp>
        <p:nvSpPr>
          <p:cNvPr id="11" name="Text 7"/>
          <p:cNvSpPr txBox="1"/>
          <p:nvPr/>
        </p:nvSpPr>
        <p:spPr>
          <a:xfrm>
            <a:off x="7071055" y="160020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دو نیروی هم‌زمان</a:t>
            </a:r>
            <a:endParaRPr lang="en-US" sz="1400" dirty="0"/>
          </a:p>
        </p:txBody>
      </p:sp>
      <p:sp>
        <p:nvSpPr>
          <p:cNvPr id="12" name="Text 8"/>
          <p:cNvSpPr txBox="1"/>
          <p:nvPr/>
        </p:nvSpPr>
        <p:spPr>
          <a:xfrm>
            <a:off x="7071055" y="205740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با بزرگ‌ترشدن شبکه، هزینه‌ی ورود بالا می‌رود و درآمد سرانه پایین می‌آید؛ تعادل طبیعی نزدیک بازه‌ی ۵۰ تا ۱۰۰ ولیدیتور است.</a:t>
            </a:r>
            <a:endParaRPr lang="en-US" sz="1200" dirty="0"/>
          </a:p>
        </p:txBody>
      </p:sp>
      <p:sp>
        <p:nvSpPr>
          <p:cNvPr id="13" name="Shape 9"/>
          <p:cNvSpPr/>
          <p:nvPr/>
        </p:nvSpPr>
        <p:spPr>
          <a:xfrm>
            <a:off x="6888175" y="3017520"/>
            <a:ext cx="4754880" cy="1417320"/>
          </a:xfrm>
          <a:prstGeom prst="roundRect">
            <a:avLst>
              <a:gd name="adj" fmla="val 7742"/>
            </a:avLst>
          </a:prstGeom>
          <a:solidFill>
            <a:srgbClr val="F7F9FC"/>
          </a:solidFill>
          <a:ln w="9525">
            <a:solidFill>
              <a:srgbClr val="DDE1EE"/>
            </a:solidFill>
            <a:prstDash val="solid"/>
          </a:ln>
        </p:spPr>
      </p:sp>
      <p:sp>
        <p:nvSpPr>
          <p:cNvPr id="14" name="Shape 10"/>
          <p:cNvSpPr/>
          <p:nvPr/>
        </p:nvSpPr>
        <p:spPr>
          <a:xfrm>
            <a:off x="11048695" y="3154680"/>
            <a:ext cx="457200" cy="457200"/>
          </a:xfrm>
          <a:prstGeom prst="ellipse">
            <a:avLst/>
          </a:prstGeom>
          <a:solidFill>
            <a:srgbClr val="2F3690"/>
          </a:solidFill>
          <a:ln w="12700">
            <a:solidFill>
              <a:srgbClr val="2F3690"/>
            </a:solidFill>
            <a:prstDash val="solid"/>
          </a:ln>
        </p:spPr>
      </p:sp>
      <p:pic>
        <p:nvPicPr>
          <p:cNvPr id="15" name="Image 1" descr="preencoded.png">    </p:cNvPr>
          <p:cNvPicPr>
            <a:picLocks noChangeAspect="1"/>
          </p:cNvPicPr>
          <p:nvPr/>
        </p:nvPicPr>
        <p:blipFill>
          <a:blip r:embed="rId3"/>
          <a:stretch>
            <a:fillRect/>
          </a:stretch>
        </p:blipFill>
        <p:spPr>
          <a:xfrm>
            <a:off x="11172139" y="3278124"/>
            <a:ext cx="210312" cy="210312"/>
          </a:xfrm>
          <a:prstGeom prst="rect">
            <a:avLst/>
          </a:prstGeom>
        </p:spPr>
      </p:pic>
      <p:sp>
        <p:nvSpPr>
          <p:cNvPr id="16" name="Text 11"/>
          <p:cNvSpPr txBox="1"/>
          <p:nvPr/>
        </p:nvSpPr>
        <p:spPr>
          <a:xfrm>
            <a:off x="7071055" y="315468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ظرفیت وثیقه</a:t>
            </a:r>
            <a:endParaRPr lang="en-US" sz="1400" dirty="0"/>
          </a:p>
        </p:txBody>
      </p:sp>
      <p:sp>
        <p:nvSpPr>
          <p:cNvPr id="17" name="Text 12"/>
          <p:cNvSpPr txBox="1"/>
          <p:nvPr/>
        </p:nvSpPr>
        <p:spPr>
          <a:xfrm>
            <a:off x="7071055" y="361188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جمع وثیقه‌ی ۱۰۰ ولیدیتور پرداخت‌کننده حدود ۱۳۳ میلیون سورن است (محاسبه از فرمول)، یعنی چندین برابر انتشار سالانه.</a:t>
            </a:r>
            <a:endParaRPr lang="en-US" sz="1200" dirty="0"/>
          </a:p>
        </p:txBody>
      </p:sp>
      <p:sp>
        <p:nvSpPr>
          <p:cNvPr id="18" name="Shape 13"/>
          <p:cNvSpPr/>
          <p:nvPr/>
        </p:nvSpPr>
        <p:spPr>
          <a:xfrm>
            <a:off x="6888175" y="4572000"/>
            <a:ext cx="4754880" cy="1417320"/>
          </a:xfrm>
          <a:prstGeom prst="roundRect">
            <a:avLst>
              <a:gd name="adj" fmla="val 7742"/>
            </a:avLst>
          </a:prstGeom>
          <a:solidFill>
            <a:srgbClr val="F7F9FC"/>
          </a:solidFill>
          <a:ln w="9525">
            <a:solidFill>
              <a:srgbClr val="DDE1EE"/>
            </a:solidFill>
            <a:prstDash val="solid"/>
          </a:ln>
        </p:spPr>
      </p:sp>
      <p:sp>
        <p:nvSpPr>
          <p:cNvPr id="19" name="Shape 14"/>
          <p:cNvSpPr/>
          <p:nvPr/>
        </p:nvSpPr>
        <p:spPr>
          <a:xfrm>
            <a:off x="11048695" y="4709160"/>
            <a:ext cx="457200" cy="457200"/>
          </a:xfrm>
          <a:prstGeom prst="ellipse">
            <a:avLst/>
          </a:prstGeom>
          <a:solidFill>
            <a:srgbClr val="C8431F"/>
          </a:solidFill>
          <a:ln w="12700">
            <a:solidFill>
              <a:srgbClr val="C8431F"/>
            </a:solidFill>
            <a:prstDash val="solid"/>
          </a:ln>
        </p:spPr>
      </p:sp>
      <p:pic>
        <p:nvPicPr>
          <p:cNvPr id="20" name="Image 2" descr="preencoded.png">    </p:cNvPr>
          <p:cNvPicPr>
            <a:picLocks noChangeAspect="1"/>
          </p:cNvPicPr>
          <p:nvPr/>
        </p:nvPicPr>
        <p:blipFill>
          <a:blip r:embed="rId4"/>
          <a:stretch>
            <a:fillRect/>
          </a:stretch>
        </p:blipFill>
        <p:spPr>
          <a:xfrm>
            <a:off x="11172139" y="4832604"/>
            <a:ext cx="210312" cy="210312"/>
          </a:xfrm>
          <a:prstGeom prst="rect">
            <a:avLst/>
          </a:prstGeom>
        </p:spPr>
      </p:pic>
      <p:sp>
        <p:nvSpPr>
          <p:cNvPr id="21" name="Text 15"/>
          <p:cNvSpPr txBox="1"/>
          <p:nvPr/>
        </p:nvSpPr>
        <p:spPr>
          <a:xfrm>
            <a:off x="7071055" y="4709160"/>
            <a:ext cx="3840480" cy="36576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جبران رقیق‌شدن</a:t>
            </a:r>
            <a:endParaRPr lang="en-US" sz="1400" dirty="0"/>
          </a:p>
        </p:txBody>
      </p:sp>
      <p:sp>
        <p:nvSpPr>
          <p:cNvPr id="22" name="Text 16"/>
          <p:cNvSpPr txBox="1"/>
          <p:nvPr/>
        </p:nvSpPr>
        <p:spPr>
          <a:xfrm>
            <a:off x="7071055" y="5166360"/>
            <a:ext cx="4389120" cy="77724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اثر خالص کارمزد عضویت برای ولیدیتور موجود تا حدود ۱۰۲ ولیدیتور منفی است؛ برای فاز اولیه‌ی زیر ۱۰۰ نفر آگاهانه پذیرفته شده است.</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ولیدیتورها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چرخه‌ی عمر ولیدیتور</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21</a:t>
            </a:r>
            <a:endParaRPr lang="en-US" sz="1000" dirty="0"/>
          </a:p>
        </p:txBody>
      </p:sp>
      <p:sp>
        <p:nvSpPr>
          <p:cNvPr id="6" name="Shape 4"/>
          <p:cNvSpPr/>
          <p:nvPr/>
        </p:nvSpPr>
        <p:spPr>
          <a:xfrm>
            <a:off x="9448495" y="2103120"/>
            <a:ext cx="2194560" cy="914400"/>
          </a:xfrm>
          <a:prstGeom prst="roundRect">
            <a:avLst>
              <a:gd name="adj" fmla="val 12000"/>
            </a:avLst>
          </a:prstGeom>
          <a:solidFill>
            <a:srgbClr val="5F6472"/>
          </a:solidFill>
          <a:ln w="9525">
            <a:solidFill>
              <a:srgbClr val="5F6472"/>
            </a:solidFill>
            <a:prstDash val="solid"/>
          </a:ln>
        </p:spPr>
      </p:sp>
      <p:sp>
        <p:nvSpPr>
          <p:cNvPr id="7" name="Text 5"/>
          <p:cNvSpPr txBox="1"/>
          <p:nvPr/>
        </p:nvSpPr>
        <p:spPr>
          <a:xfrm>
            <a:off x="9448495" y="2103120"/>
            <a:ext cx="2194560" cy="9144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عضویت‌نشده</a:t>
            </a:r>
            <a:endParaRPr lang="en-US" sz="16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None</a:t>
            </a:r>
            <a:endParaRPr lang="en-US" sz="1600" dirty="0"/>
          </a:p>
        </p:txBody>
      </p:sp>
      <p:sp>
        <p:nvSpPr>
          <p:cNvPr id="8" name="Shape 6"/>
          <p:cNvSpPr/>
          <p:nvPr/>
        </p:nvSpPr>
        <p:spPr>
          <a:xfrm flipH="1">
            <a:off x="8716975" y="2560320"/>
            <a:ext cx="685800" cy="0"/>
          </a:xfrm>
          <a:prstGeom prst="line">
            <a:avLst/>
          </a:prstGeom>
          <a:noFill/>
          <a:ln w="31750">
            <a:solidFill>
              <a:srgbClr val="2F3690"/>
            </a:solidFill>
            <a:prstDash val="solid"/>
            <a:tailEnd type="triangle"/>
          </a:ln>
        </p:spPr>
      </p:sp>
      <p:sp>
        <p:nvSpPr>
          <p:cNvPr id="9" name="Shape 7"/>
          <p:cNvSpPr/>
          <p:nvPr/>
        </p:nvSpPr>
        <p:spPr>
          <a:xfrm>
            <a:off x="6476695" y="2103120"/>
            <a:ext cx="2194560" cy="914400"/>
          </a:xfrm>
          <a:prstGeom prst="roundRect">
            <a:avLst>
              <a:gd name="adj" fmla="val 12000"/>
            </a:avLst>
          </a:prstGeom>
          <a:solidFill>
            <a:srgbClr val="3D46A8"/>
          </a:solidFill>
          <a:ln w="9525">
            <a:solidFill>
              <a:srgbClr val="3D46A8"/>
            </a:solidFill>
            <a:prstDash val="solid"/>
          </a:ln>
        </p:spPr>
      </p:sp>
      <p:sp>
        <p:nvSpPr>
          <p:cNvPr id="10" name="Text 8"/>
          <p:cNvSpPr txBox="1"/>
          <p:nvPr/>
        </p:nvSpPr>
        <p:spPr>
          <a:xfrm>
            <a:off x="6476695" y="2103120"/>
            <a:ext cx="2194560" cy="9144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دوره‌ی آزمایشی</a:t>
            </a:r>
            <a:endParaRPr lang="en-US" sz="16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Probation</a:t>
            </a:r>
            <a:endParaRPr lang="en-US" sz="1600" dirty="0"/>
          </a:p>
        </p:txBody>
      </p:sp>
      <p:sp>
        <p:nvSpPr>
          <p:cNvPr id="11" name="Shape 9"/>
          <p:cNvSpPr/>
          <p:nvPr/>
        </p:nvSpPr>
        <p:spPr>
          <a:xfrm flipH="1">
            <a:off x="5745175" y="2560320"/>
            <a:ext cx="685800" cy="0"/>
          </a:xfrm>
          <a:prstGeom prst="line">
            <a:avLst/>
          </a:prstGeom>
          <a:noFill/>
          <a:ln w="31750">
            <a:solidFill>
              <a:srgbClr val="2F3690"/>
            </a:solidFill>
            <a:prstDash val="solid"/>
            <a:tailEnd type="triangle"/>
          </a:ln>
        </p:spPr>
      </p:sp>
      <p:sp>
        <p:nvSpPr>
          <p:cNvPr id="12" name="Shape 10"/>
          <p:cNvSpPr/>
          <p:nvPr/>
        </p:nvSpPr>
        <p:spPr>
          <a:xfrm>
            <a:off x="3504895" y="2103120"/>
            <a:ext cx="2194560" cy="914400"/>
          </a:xfrm>
          <a:prstGeom prst="roundRect">
            <a:avLst>
              <a:gd name="adj" fmla="val 12000"/>
            </a:avLst>
          </a:prstGeom>
          <a:solidFill>
            <a:srgbClr val="2F3690"/>
          </a:solidFill>
          <a:ln w="9525">
            <a:solidFill>
              <a:srgbClr val="2F3690"/>
            </a:solidFill>
            <a:prstDash val="solid"/>
          </a:ln>
        </p:spPr>
      </p:sp>
      <p:sp>
        <p:nvSpPr>
          <p:cNvPr id="13" name="Text 11"/>
          <p:cNvSpPr txBox="1"/>
          <p:nvPr/>
        </p:nvSpPr>
        <p:spPr>
          <a:xfrm>
            <a:off x="3504895" y="2103120"/>
            <a:ext cx="2194560" cy="9144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فعال</a:t>
            </a:r>
            <a:endParaRPr lang="en-US" sz="16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Active</a:t>
            </a:r>
            <a:endParaRPr lang="en-US" sz="1600" dirty="0"/>
          </a:p>
        </p:txBody>
      </p:sp>
      <p:sp>
        <p:nvSpPr>
          <p:cNvPr id="14" name="Shape 12"/>
          <p:cNvSpPr/>
          <p:nvPr/>
        </p:nvSpPr>
        <p:spPr>
          <a:xfrm flipH="1">
            <a:off x="2773375" y="2560320"/>
            <a:ext cx="685800" cy="0"/>
          </a:xfrm>
          <a:prstGeom prst="line">
            <a:avLst/>
          </a:prstGeom>
          <a:noFill/>
          <a:ln w="31750">
            <a:solidFill>
              <a:srgbClr val="2F3690"/>
            </a:solidFill>
            <a:prstDash val="solid"/>
            <a:tailEnd type="triangle"/>
          </a:ln>
        </p:spPr>
      </p:sp>
      <p:sp>
        <p:nvSpPr>
          <p:cNvPr id="15" name="Shape 13"/>
          <p:cNvSpPr/>
          <p:nvPr/>
        </p:nvSpPr>
        <p:spPr>
          <a:xfrm>
            <a:off x="533095" y="2103120"/>
            <a:ext cx="2194560" cy="914400"/>
          </a:xfrm>
          <a:prstGeom prst="roundRect">
            <a:avLst>
              <a:gd name="adj" fmla="val 12000"/>
            </a:avLst>
          </a:prstGeom>
          <a:solidFill>
            <a:srgbClr val="C8431F"/>
          </a:solidFill>
          <a:ln w="9525">
            <a:solidFill>
              <a:srgbClr val="C8431F"/>
            </a:solidFill>
            <a:prstDash val="solid"/>
          </a:ln>
        </p:spPr>
      </p:sp>
      <p:sp>
        <p:nvSpPr>
          <p:cNvPr id="16" name="Text 14"/>
          <p:cNvSpPr txBox="1"/>
          <p:nvPr/>
        </p:nvSpPr>
        <p:spPr>
          <a:xfrm>
            <a:off x="533095" y="2103120"/>
            <a:ext cx="2194560" cy="914400"/>
          </a:xfrm>
          <a:prstGeom prst="rect">
            <a:avLst/>
          </a:prstGeom>
          <a:noFill/>
          <a:ln/>
        </p:spPr>
        <p:txBody>
          <a:bodyPr wrap="square" lIns="0" tIns="0" rIns="0" bIns="0" rtlCol="0" anchor="ctr"/>
          <a:lstStyle/>
          <a:p>
            <a:pPr rtl="1" algn="ctr" indent="0" marL="0">
              <a:lnSpc>
                <a:spcPct val="105000"/>
              </a:lnSpc>
              <a:buNone/>
            </a:pPr>
            <a:r>
              <a:rPr lang="fa-IR" altLang="en-US" sz="1600" b="1" dirty="0">
                <a:solidFill>
                  <a:srgbClr val="FFFFFF"/>
                </a:solidFill>
                <a:latin typeface="Vazirmatn" pitchFamily="34" charset="0"/>
                <a:ea typeface="Vazirmatn" pitchFamily="34" charset="-122"/>
                <a:cs typeface="Vazirmatn" pitchFamily="34" charset="-120"/>
              </a:rPr>
              <a:t>معلق</a:t>
            </a:r>
            <a:endParaRPr lang="en-US" sz="16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Demoted</a:t>
            </a:r>
            <a:endParaRPr lang="en-US" sz="1600" dirty="0"/>
          </a:p>
        </p:txBody>
      </p:sp>
      <p:sp>
        <p:nvSpPr>
          <p:cNvPr id="17" name="Shape 15"/>
          <p:cNvSpPr/>
          <p:nvPr/>
        </p:nvSpPr>
        <p:spPr>
          <a:xfrm>
            <a:off x="1630375" y="3063240"/>
            <a:ext cx="2971800" cy="0"/>
          </a:xfrm>
          <a:prstGeom prst="line">
            <a:avLst/>
          </a:prstGeom>
          <a:noFill/>
          <a:ln w="25400">
            <a:solidFill>
              <a:srgbClr val="C8431F"/>
            </a:solidFill>
            <a:prstDash val="solid"/>
            <a:tailEnd type="triangle"/>
          </a:ln>
        </p:spPr>
      </p:sp>
      <p:sp>
        <p:nvSpPr>
          <p:cNvPr id="18" name="Text 16"/>
          <p:cNvSpPr txBox="1"/>
          <p:nvPr/>
        </p:nvSpPr>
        <p:spPr>
          <a:xfrm>
            <a:off x="8351215" y="1536192"/>
            <a:ext cx="1417320" cy="502920"/>
          </a:xfrm>
          <a:prstGeom prst="rect">
            <a:avLst/>
          </a:prstGeom>
          <a:noFill/>
          <a:ln/>
        </p:spPr>
        <p:txBody>
          <a:bodyPr wrap="square" lIns="0" tIns="0" rIns="0" bIns="0" rtlCol="0" anchor="t"/>
          <a:lstStyle/>
          <a:p>
            <a:pPr rtl="1" algn="ct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requestMembership</a:t>
            </a:r>
            <a:endParaRPr lang="en-US" sz="1100" dirty="0"/>
          </a:p>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وثیقه + کارمزد</a:t>
            </a:r>
            <a:endParaRPr lang="en-US" sz="1100" dirty="0"/>
          </a:p>
        </p:txBody>
      </p:sp>
      <p:sp>
        <p:nvSpPr>
          <p:cNvPr id="19" name="Text 17"/>
          <p:cNvSpPr txBox="1"/>
          <p:nvPr/>
        </p:nvSpPr>
        <p:spPr>
          <a:xfrm>
            <a:off x="5379415" y="1536192"/>
            <a:ext cx="1417320" cy="502920"/>
          </a:xfrm>
          <a:prstGeom prst="rect">
            <a:avLst/>
          </a:prstGeom>
          <a:noFill/>
          <a:ln/>
        </p:spPr>
        <p:txBody>
          <a:bodyPr wrap="square" lIns="0" tIns="0" rIns="0" bIns="0" rtlCol="0" anchor="t"/>
          <a:lstStyle/>
          <a:p>
            <a:pPr rtl="1" algn="ct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recordActivation</a:t>
            </a:r>
            <a:endParaRPr lang="en-US" sz="1100" dirty="0"/>
          </a:p>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Verifier، پس از ۱ هفته و تأیید آف‌چین</a:t>
            </a:r>
            <a:endParaRPr lang="en-US" sz="1100" dirty="0"/>
          </a:p>
        </p:txBody>
      </p:sp>
      <p:sp>
        <p:nvSpPr>
          <p:cNvPr id="20" name="Text 18"/>
          <p:cNvSpPr txBox="1"/>
          <p:nvPr/>
        </p:nvSpPr>
        <p:spPr>
          <a:xfrm>
            <a:off x="2407615" y="1536192"/>
            <a:ext cx="1417320" cy="502920"/>
          </a:xfrm>
          <a:prstGeom prst="rect">
            <a:avLst/>
          </a:prstGeom>
          <a:noFill/>
          <a:ln/>
        </p:spPr>
        <p:txBody>
          <a:bodyPr wrap="square" lIns="0" tIns="0" rIns="0" bIns="0" rtlCol="0" anchor="t"/>
          <a:lstStyle/>
          <a:p>
            <a:pPr rtl="1" algn="ctr" indent="0" marL="0">
              <a:lnSpc>
                <a:spcPct val="105000"/>
              </a:lnSpc>
              <a:buNone/>
            </a:pPr>
            <a:r>
              <a:rPr lang="fa-IR" altLang="en-US" sz="1100" b="1" dirty="0">
                <a:solidFill>
                  <a:srgbClr val="2F3690"/>
                </a:solidFill>
                <a:latin typeface="Vazirmatn" pitchFamily="34" charset="0"/>
                <a:ea typeface="Vazirmatn" pitchFamily="34" charset="-122"/>
                <a:cs typeface="Vazirmatn" pitchFamily="34" charset="-120"/>
              </a:rPr>
              <a:t>recordSuspension</a:t>
            </a:r>
            <a:endParaRPr lang="en-US" sz="1100" dirty="0"/>
          </a:p>
          <a:p>
            <a:pPr rtl="1" algn="ctr" indent="0" marL="0">
              <a:lnSpc>
                <a:spcPct val="105000"/>
              </a:lnSpc>
              <a:buNone/>
            </a:pPr>
            <a:r>
              <a:rPr lang="fa-IR" altLang="en-US" sz="1050" dirty="0">
                <a:solidFill>
                  <a:srgbClr val="565D7A"/>
                </a:solidFill>
                <a:latin typeface="Vazirmatn" pitchFamily="34" charset="0"/>
                <a:ea typeface="Vazirmatn" pitchFamily="34" charset="-122"/>
                <a:cs typeface="Vazirmatn" pitchFamily="34" charset="-120"/>
              </a:rPr>
              <a:t>Verifier؛ حذف فوری از مجموعه</a:t>
            </a:r>
            <a:endParaRPr lang="en-US" sz="1100" dirty="0"/>
          </a:p>
        </p:txBody>
      </p:sp>
      <p:sp>
        <p:nvSpPr>
          <p:cNvPr id="21" name="Text 19"/>
          <p:cNvSpPr txBox="1"/>
          <p:nvPr/>
        </p:nvSpPr>
        <p:spPr>
          <a:xfrm>
            <a:off x="3322015" y="3127248"/>
            <a:ext cx="5852160" cy="27432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C8431F"/>
                </a:solidFill>
                <a:latin typeface="Vazirmatn" pitchFamily="34" charset="0"/>
                <a:ea typeface="Vazirmatn" pitchFamily="34" charset="-122"/>
                <a:cs typeface="Vazirmatn" pitchFamily="34" charset="-120"/>
              </a:rPr>
              <a:t>recordRecovery: پس از ۴۸ ساعت و نبود پرونده‌ی جریمه‌ی باز</a:t>
            </a:r>
            <a:endParaRPr lang="en-US" sz="1100" dirty="0"/>
          </a:p>
        </p:txBody>
      </p:sp>
      <p:sp>
        <p:nvSpPr>
          <p:cNvPr id="22" name="Shape 20"/>
          <p:cNvSpPr/>
          <p:nvPr/>
        </p:nvSpPr>
        <p:spPr>
          <a:xfrm>
            <a:off x="9006840" y="3977640"/>
            <a:ext cx="2636444" cy="2240280"/>
          </a:xfrm>
          <a:prstGeom prst="roundRect">
            <a:avLst>
              <a:gd name="adj" fmla="val 4898"/>
            </a:avLst>
          </a:prstGeom>
          <a:solidFill>
            <a:srgbClr val="F7F9FC"/>
          </a:solidFill>
          <a:ln w="9525">
            <a:solidFill>
              <a:srgbClr val="DDE1EE"/>
            </a:solidFill>
            <a:prstDash val="solid"/>
          </a:ln>
        </p:spPr>
      </p:sp>
      <p:sp>
        <p:nvSpPr>
          <p:cNvPr id="23" name="Text 21"/>
          <p:cNvSpPr txBox="1"/>
          <p:nvPr/>
        </p:nvSpPr>
        <p:spPr>
          <a:xfrm>
            <a:off x="9144000" y="4087368"/>
            <a:ext cx="2362124" cy="32004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2F3690"/>
                </a:solidFill>
                <a:latin typeface="Vazirmatn" pitchFamily="34" charset="0"/>
                <a:ea typeface="Vazirmatn" pitchFamily="34" charset="-122"/>
                <a:cs typeface="Vazirmatn" pitchFamily="34" charset="-120"/>
              </a:rPr>
              <a:t>دوره‌ی آزمایشی</a:t>
            </a:r>
            <a:endParaRPr lang="en-US" sz="1450" dirty="0"/>
          </a:p>
        </p:txBody>
      </p:sp>
      <p:sp>
        <p:nvSpPr>
          <p:cNvPr id="24" name="Text 22"/>
          <p:cNvSpPr txBox="1"/>
          <p:nvPr/>
        </p:nvSpPr>
        <p:spPr>
          <a:xfrm>
            <a:off x="9144000" y="4480560"/>
            <a:ext cx="2362124" cy="16916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1B1B2F"/>
                </a:solidFill>
                <a:latin typeface="Vazirmatn" pitchFamily="34" charset="0"/>
                <a:ea typeface="Vazirmatn" pitchFamily="34" charset="-122"/>
                <a:cs typeface="Vazirmatn" pitchFamily="34" charset="-120"/>
              </a:rPr>
              <a:t>یک هفته؛ هنوز در getValidators نیست؛ وثیقه قفل است. حداکثر یک عضویت تازه در هر ۲۴ ساعت.</a:t>
            </a:r>
            <a:endParaRPr lang="en-US" sz="1300" dirty="0"/>
          </a:p>
        </p:txBody>
      </p:sp>
      <p:sp>
        <p:nvSpPr>
          <p:cNvPr id="25" name="Shape 23"/>
          <p:cNvSpPr/>
          <p:nvPr/>
        </p:nvSpPr>
        <p:spPr>
          <a:xfrm>
            <a:off x="6186830" y="3977640"/>
            <a:ext cx="2636444" cy="2240280"/>
          </a:xfrm>
          <a:prstGeom prst="roundRect">
            <a:avLst>
              <a:gd name="adj" fmla="val 4898"/>
            </a:avLst>
          </a:prstGeom>
          <a:solidFill>
            <a:srgbClr val="F7F9FC"/>
          </a:solidFill>
          <a:ln w="9525">
            <a:solidFill>
              <a:srgbClr val="DDE1EE"/>
            </a:solidFill>
            <a:prstDash val="solid"/>
          </a:ln>
        </p:spPr>
      </p:sp>
      <p:sp>
        <p:nvSpPr>
          <p:cNvPr id="26" name="Text 24"/>
          <p:cNvSpPr txBox="1"/>
          <p:nvPr/>
        </p:nvSpPr>
        <p:spPr>
          <a:xfrm>
            <a:off x="6323990" y="4087368"/>
            <a:ext cx="2362124" cy="32004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2F3690"/>
                </a:solidFill>
                <a:latin typeface="Vazirmatn" pitchFamily="34" charset="0"/>
                <a:ea typeface="Vazirmatn" pitchFamily="34" charset="-122"/>
                <a:cs typeface="Vazirmatn" pitchFamily="34" charset="-120"/>
              </a:rPr>
              <a:t>فعال</a:t>
            </a:r>
            <a:endParaRPr lang="en-US" sz="1450" dirty="0"/>
          </a:p>
        </p:txBody>
      </p:sp>
      <p:sp>
        <p:nvSpPr>
          <p:cNvPr id="27" name="Text 25"/>
          <p:cNvSpPr txBox="1"/>
          <p:nvPr/>
        </p:nvSpPr>
        <p:spPr>
          <a:xfrm>
            <a:off x="6323990" y="4480560"/>
            <a:ext cx="2362124" cy="16916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1B1B2F"/>
                </a:solidFill>
                <a:latin typeface="Vazirmatn" pitchFamily="34" charset="0"/>
                <a:ea typeface="Vazirmatn" pitchFamily="34" charset="-122"/>
                <a:cs typeface="Vazirmatn" pitchFamily="34" charset="-120"/>
              </a:rPr>
              <a:t>عضو مجموعه‌ی اجماع؛ در رأی‌گیری‌ها شرکت می‌کند؛ پاداش به نسبت بلاک تولیدشده.</a:t>
            </a:r>
            <a:endParaRPr lang="en-US" sz="1300" dirty="0"/>
          </a:p>
        </p:txBody>
      </p:sp>
      <p:sp>
        <p:nvSpPr>
          <p:cNvPr id="28" name="Shape 26"/>
          <p:cNvSpPr/>
          <p:nvPr/>
        </p:nvSpPr>
        <p:spPr>
          <a:xfrm>
            <a:off x="3367735" y="3977640"/>
            <a:ext cx="2636444" cy="2240280"/>
          </a:xfrm>
          <a:prstGeom prst="roundRect">
            <a:avLst>
              <a:gd name="adj" fmla="val 4898"/>
            </a:avLst>
          </a:prstGeom>
          <a:solidFill>
            <a:srgbClr val="F7F9FC"/>
          </a:solidFill>
          <a:ln w="9525">
            <a:solidFill>
              <a:srgbClr val="DDE1EE"/>
            </a:solidFill>
            <a:prstDash val="solid"/>
          </a:ln>
        </p:spPr>
      </p:sp>
      <p:sp>
        <p:nvSpPr>
          <p:cNvPr id="29" name="Text 27"/>
          <p:cNvSpPr txBox="1"/>
          <p:nvPr/>
        </p:nvSpPr>
        <p:spPr>
          <a:xfrm>
            <a:off x="3504895" y="4087368"/>
            <a:ext cx="2362124" cy="32004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2F3690"/>
                </a:solidFill>
                <a:latin typeface="Vazirmatn" pitchFamily="34" charset="0"/>
                <a:ea typeface="Vazirmatn" pitchFamily="34" charset="-122"/>
                <a:cs typeface="Vazirmatn" pitchFamily="34" charset="-120"/>
              </a:rPr>
              <a:t>معلق</a:t>
            </a:r>
            <a:endParaRPr lang="en-US" sz="1450" dirty="0"/>
          </a:p>
        </p:txBody>
      </p:sp>
      <p:sp>
        <p:nvSpPr>
          <p:cNvPr id="30" name="Text 28"/>
          <p:cNvSpPr txBox="1"/>
          <p:nvPr/>
        </p:nvSpPr>
        <p:spPr>
          <a:xfrm>
            <a:off x="3504895" y="4480560"/>
            <a:ext cx="2362124" cy="16916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1B1B2F"/>
                </a:solidFill>
                <a:latin typeface="Vazirmatn" pitchFamily="34" charset="0"/>
                <a:ea typeface="Vazirmatn" pitchFamily="34" charset="-122"/>
                <a:cs typeface="Vazirmatn" pitchFamily="34" charset="-120"/>
              </a:rPr>
              <a:t>تعلیق پس از ۴ ساعت غیرفعالیِ تأییدشده؛ جریمه ۱٪ وثیقه فقط پس از مسیر اعتراض و رأی.</a:t>
            </a:r>
            <a:endParaRPr lang="en-US" sz="1300" dirty="0"/>
          </a:p>
        </p:txBody>
      </p:sp>
      <p:sp>
        <p:nvSpPr>
          <p:cNvPr id="31" name="Shape 29"/>
          <p:cNvSpPr/>
          <p:nvPr/>
        </p:nvSpPr>
        <p:spPr>
          <a:xfrm>
            <a:off x="548640" y="3977640"/>
            <a:ext cx="2636444" cy="2240280"/>
          </a:xfrm>
          <a:prstGeom prst="roundRect">
            <a:avLst>
              <a:gd name="adj" fmla="val 4898"/>
            </a:avLst>
          </a:prstGeom>
          <a:solidFill>
            <a:srgbClr val="F0F1F5"/>
          </a:solidFill>
          <a:ln w="9525">
            <a:solidFill>
              <a:srgbClr val="F0F1F5"/>
            </a:solidFill>
            <a:prstDash val="solid"/>
          </a:ln>
        </p:spPr>
      </p:sp>
      <p:sp>
        <p:nvSpPr>
          <p:cNvPr id="32" name="Text 30"/>
          <p:cNvSpPr txBox="1"/>
          <p:nvPr/>
        </p:nvSpPr>
        <p:spPr>
          <a:xfrm>
            <a:off x="685800" y="4087368"/>
            <a:ext cx="2362124" cy="32004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2F3690"/>
                </a:solidFill>
                <a:latin typeface="Vazirmatn" pitchFamily="34" charset="0"/>
                <a:ea typeface="Vazirmatn" pitchFamily="34" charset="-122"/>
                <a:cs typeface="Vazirmatn" pitchFamily="34" charset="-120"/>
              </a:rPr>
              <a:t>در حال خروج</a:t>
            </a:r>
            <a:endParaRPr lang="en-US" sz="1450" dirty="0"/>
          </a:p>
        </p:txBody>
      </p:sp>
      <p:sp>
        <p:nvSpPr>
          <p:cNvPr id="33" name="Text 31"/>
          <p:cNvSpPr txBox="1"/>
          <p:nvPr/>
        </p:nvSpPr>
        <p:spPr>
          <a:xfrm>
            <a:off x="685800" y="4480560"/>
            <a:ext cx="2362124" cy="169164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1B1B2F"/>
                </a:solidFill>
                <a:latin typeface="Vazirmatn" pitchFamily="34" charset="0"/>
                <a:ea typeface="Vazirmatn" pitchFamily="34" charset="-122"/>
                <a:cs typeface="Vazirmatn" pitchFamily="34" charset="-120"/>
              </a:rPr>
              <a:t>درخواست خروج فوراً وظیفه را پایان می‌دهد؛ انتظار ۷ روزه؛ تا ۷۲ ساعت Verifier می‌تواند پرونده‌ی تخلف پیش از خروج ثبت کند؛ سپس برداشت.</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ولیدیتورها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تعلیق: از تشخیص تا جریمه‌ی نهایی</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22</a:t>
            </a:r>
            <a:endParaRPr lang="en-US" sz="1000" dirty="0"/>
          </a:p>
        </p:txBody>
      </p:sp>
      <p:sp>
        <p:nvSpPr>
          <p:cNvPr id="6" name="Shape 4"/>
          <p:cNvSpPr/>
          <p:nvPr/>
        </p:nvSpPr>
        <p:spPr>
          <a:xfrm>
            <a:off x="8078724" y="1417320"/>
            <a:ext cx="3564026" cy="1874520"/>
          </a:xfrm>
          <a:prstGeom prst="roundRect">
            <a:avLst>
              <a:gd name="adj" fmla="val 5854"/>
            </a:avLst>
          </a:prstGeom>
          <a:solidFill>
            <a:srgbClr val="F7F9FC"/>
          </a:solidFill>
          <a:ln w="9525">
            <a:solidFill>
              <a:srgbClr val="DDE1EE"/>
            </a:solidFill>
            <a:prstDash val="solid"/>
          </a:ln>
        </p:spPr>
      </p:sp>
      <p:sp>
        <p:nvSpPr>
          <p:cNvPr id="7" name="Shape 5"/>
          <p:cNvSpPr/>
          <p:nvPr/>
        </p:nvSpPr>
        <p:spPr>
          <a:xfrm>
            <a:off x="11048390" y="1554480"/>
            <a:ext cx="438912" cy="438912"/>
          </a:xfrm>
          <a:prstGeom prst="ellipse">
            <a:avLst/>
          </a:prstGeom>
          <a:solidFill>
            <a:srgbClr val="2F3690"/>
          </a:solidFill>
          <a:ln w="12700">
            <a:solidFill>
              <a:srgbClr val="2F3690"/>
            </a:solidFill>
            <a:prstDash val="solid"/>
          </a:ln>
        </p:spPr>
      </p:sp>
      <p:sp>
        <p:nvSpPr>
          <p:cNvPr id="8" name="Text 6"/>
          <p:cNvSpPr txBox="1"/>
          <p:nvPr/>
        </p:nvSpPr>
        <p:spPr>
          <a:xfrm>
            <a:off x="11048390" y="15544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۱</a:t>
            </a:r>
            <a:endParaRPr lang="en-US" sz="1500" dirty="0"/>
          </a:p>
        </p:txBody>
      </p:sp>
      <p:sp>
        <p:nvSpPr>
          <p:cNvPr id="9" name="Text 7"/>
          <p:cNvSpPr txBox="1"/>
          <p:nvPr/>
        </p:nvSpPr>
        <p:spPr>
          <a:xfrm>
            <a:off x="8215884" y="15544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حذف فوری</a:t>
            </a:r>
            <a:endParaRPr lang="en-US" sz="1500" dirty="0"/>
          </a:p>
        </p:txBody>
      </p:sp>
      <p:sp>
        <p:nvSpPr>
          <p:cNvPr id="10" name="Text 8"/>
          <p:cNvSpPr txBox="1"/>
          <p:nvPr/>
        </p:nvSpPr>
        <p:spPr>
          <a:xfrm>
            <a:off x="8215884" y="21031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با recordSuspension ولیدیتور فوراً و بدون قید از مجموعه‌ی فعال خارج می‌شود تا QBFT نصابش را با اندازه‌ی مجموعه‌ی زنده هماهنگ کند.</a:t>
            </a:r>
            <a:endParaRPr lang="en-US" sz="1200" dirty="0"/>
          </a:p>
        </p:txBody>
      </p:sp>
      <p:sp>
        <p:nvSpPr>
          <p:cNvPr id="11" name="Shape 9"/>
          <p:cNvSpPr/>
          <p:nvPr/>
        </p:nvSpPr>
        <p:spPr>
          <a:xfrm>
            <a:off x="4314139" y="1417320"/>
            <a:ext cx="3564026" cy="1874520"/>
          </a:xfrm>
          <a:prstGeom prst="roundRect">
            <a:avLst>
              <a:gd name="adj" fmla="val 5854"/>
            </a:avLst>
          </a:prstGeom>
          <a:solidFill>
            <a:srgbClr val="EEF0FB"/>
          </a:solidFill>
          <a:ln w="9525">
            <a:solidFill>
              <a:srgbClr val="EEF0FB"/>
            </a:solidFill>
            <a:prstDash val="solid"/>
          </a:ln>
        </p:spPr>
      </p:sp>
      <p:sp>
        <p:nvSpPr>
          <p:cNvPr id="12" name="Shape 10"/>
          <p:cNvSpPr/>
          <p:nvPr/>
        </p:nvSpPr>
        <p:spPr>
          <a:xfrm>
            <a:off x="7283806" y="1554480"/>
            <a:ext cx="438912" cy="438912"/>
          </a:xfrm>
          <a:prstGeom prst="ellipse">
            <a:avLst/>
          </a:prstGeom>
          <a:solidFill>
            <a:srgbClr val="2F3690"/>
          </a:solidFill>
          <a:ln w="12700">
            <a:solidFill>
              <a:srgbClr val="2F3690"/>
            </a:solidFill>
            <a:prstDash val="solid"/>
          </a:ln>
        </p:spPr>
      </p:sp>
      <p:sp>
        <p:nvSpPr>
          <p:cNvPr id="13" name="Text 11"/>
          <p:cNvSpPr txBox="1"/>
          <p:nvPr/>
        </p:nvSpPr>
        <p:spPr>
          <a:xfrm>
            <a:off x="7283806" y="15544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۲</a:t>
            </a:r>
            <a:endParaRPr lang="en-US" sz="1500" dirty="0"/>
          </a:p>
        </p:txBody>
      </p:sp>
      <p:sp>
        <p:nvSpPr>
          <p:cNvPr id="14" name="Text 12"/>
          <p:cNvSpPr txBox="1"/>
          <p:nvPr/>
        </p:nvSpPr>
        <p:spPr>
          <a:xfrm>
            <a:off x="4451299" y="15544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چک رخداد جمعی</a:t>
            </a:r>
            <a:endParaRPr lang="en-US" sz="1500" dirty="0"/>
          </a:p>
        </p:txBody>
      </p:sp>
      <p:sp>
        <p:nvSpPr>
          <p:cNvPr id="15" name="Text 13"/>
          <p:cNvSpPr txBox="1"/>
          <p:nvPr/>
        </p:nvSpPr>
        <p:spPr>
          <a:xfrm>
            <a:off x="4451299" y="21031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اگر در یک پنجره‌ی ۱ ساعته بیش از ۲۰٪ ولیدیتورهای فعال معلق شوند، همه از جریمه معاف می‌شوند (نشانه‌ی احتمالی خرابی خود Verifier). این چک همیشه اول اجرا می‌شود.</a:t>
            </a:r>
            <a:endParaRPr lang="en-US" sz="1200" dirty="0"/>
          </a:p>
        </p:txBody>
      </p:sp>
      <p:sp>
        <p:nvSpPr>
          <p:cNvPr id="16" name="Shape 14"/>
          <p:cNvSpPr/>
          <p:nvPr/>
        </p:nvSpPr>
        <p:spPr>
          <a:xfrm>
            <a:off x="548640" y="1417320"/>
            <a:ext cx="3564026" cy="1874520"/>
          </a:xfrm>
          <a:prstGeom prst="roundRect">
            <a:avLst>
              <a:gd name="adj" fmla="val 5854"/>
            </a:avLst>
          </a:prstGeom>
          <a:solidFill>
            <a:srgbClr val="F7F9FC"/>
          </a:solidFill>
          <a:ln w="9525">
            <a:solidFill>
              <a:srgbClr val="DDE1EE"/>
            </a:solidFill>
            <a:prstDash val="solid"/>
          </a:ln>
        </p:spPr>
      </p:sp>
      <p:sp>
        <p:nvSpPr>
          <p:cNvPr id="17" name="Shape 15"/>
          <p:cNvSpPr/>
          <p:nvPr/>
        </p:nvSpPr>
        <p:spPr>
          <a:xfrm>
            <a:off x="3518306" y="1554480"/>
            <a:ext cx="438912" cy="438912"/>
          </a:xfrm>
          <a:prstGeom prst="ellipse">
            <a:avLst/>
          </a:prstGeom>
          <a:solidFill>
            <a:srgbClr val="2F3690"/>
          </a:solidFill>
          <a:ln w="12700">
            <a:solidFill>
              <a:srgbClr val="2F3690"/>
            </a:solidFill>
            <a:prstDash val="solid"/>
          </a:ln>
        </p:spPr>
      </p:sp>
      <p:sp>
        <p:nvSpPr>
          <p:cNvPr id="18" name="Text 16"/>
          <p:cNvSpPr txBox="1"/>
          <p:nvPr/>
        </p:nvSpPr>
        <p:spPr>
          <a:xfrm>
            <a:off x="3518306" y="15544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۳</a:t>
            </a:r>
            <a:endParaRPr lang="en-US" sz="1500" dirty="0"/>
          </a:p>
        </p:txBody>
      </p:sp>
      <p:sp>
        <p:nvSpPr>
          <p:cNvPr id="19" name="Text 17"/>
          <p:cNvSpPr txBox="1"/>
          <p:nvPr/>
        </p:nvSpPr>
        <p:spPr>
          <a:xfrm>
            <a:off x="685800" y="15544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تحویل شواهد</a:t>
            </a:r>
            <a:endParaRPr lang="en-US" sz="1500" dirty="0"/>
          </a:p>
        </p:txBody>
      </p:sp>
      <p:sp>
        <p:nvSpPr>
          <p:cNvPr id="20" name="Text 18"/>
          <p:cNvSpPr txBox="1"/>
          <p:nvPr/>
        </p:nvSpPr>
        <p:spPr>
          <a:xfrm>
            <a:off x="685800" y="21031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ولیدیتور با confirmDelivery فقط دریافت بسته‌ی شواهد را تأیید می‌کند. اگر تأیید نکند، مجمع درباره‌ی «آیا تحویل شده» رأی می‌دهد.</a:t>
            </a:r>
            <a:endParaRPr lang="en-US" sz="1200" dirty="0"/>
          </a:p>
        </p:txBody>
      </p:sp>
      <p:sp>
        <p:nvSpPr>
          <p:cNvPr id="21" name="Shape 19"/>
          <p:cNvSpPr/>
          <p:nvPr/>
        </p:nvSpPr>
        <p:spPr>
          <a:xfrm>
            <a:off x="8078724" y="3474720"/>
            <a:ext cx="3564026" cy="1874520"/>
          </a:xfrm>
          <a:prstGeom prst="roundRect">
            <a:avLst>
              <a:gd name="adj" fmla="val 5854"/>
            </a:avLst>
          </a:prstGeom>
          <a:solidFill>
            <a:srgbClr val="F7F9FC"/>
          </a:solidFill>
          <a:ln w="9525">
            <a:solidFill>
              <a:srgbClr val="DDE1EE"/>
            </a:solidFill>
            <a:prstDash val="solid"/>
          </a:ln>
        </p:spPr>
      </p:sp>
      <p:sp>
        <p:nvSpPr>
          <p:cNvPr id="22" name="Shape 20"/>
          <p:cNvSpPr/>
          <p:nvPr/>
        </p:nvSpPr>
        <p:spPr>
          <a:xfrm>
            <a:off x="11048390" y="3611880"/>
            <a:ext cx="438912" cy="438912"/>
          </a:xfrm>
          <a:prstGeom prst="ellipse">
            <a:avLst/>
          </a:prstGeom>
          <a:solidFill>
            <a:srgbClr val="2F3690"/>
          </a:solidFill>
          <a:ln w="12700">
            <a:solidFill>
              <a:srgbClr val="2F3690"/>
            </a:solidFill>
            <a:prstDash val="solid"/>
          </a:ln>
        </p:spPr>
      </p:sp>
      <p:sp>
        <p:nvSpPr>
          <p:cNvPr id="23" name="Text 21"/>
          <p:cNvSpPr txBox="1"/>
          <p:nvPr/>
        </p:nvSpPr>
        <p:spPr>
          <a:xfrm>
            <a:off x="11048390" y="36118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۴</a:t>
            </a:r>
            <a:endParaRPr lang="en-US" sz="1500" dirty="0"/>
          </a:p>
        </p:txBody>
      </p:sp>
      <p:sp>
        <p:nvSpPr>
          <p:cNvPr id="24" name="Text 22"/>
          <p:cNvSpPr txBox="1"/>
          <p:nvPr/>
        </p:nvSpPr>
        <p:spPr>
          <a:xfrm>
            <a:off x="8215884" y="36118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پنجره‌ی اعتراض</a:t>
            </a:r>
            <a:endParaRPr lang="en-US" sz="1500" dirty="0"/>
          </a:p>
        </p:txBody>
      </p:sp>
      <p:sp>
        <p:nvSpPr>
          <p:cNvPr id="25" name="Text 23"/>
          <p:cNvSpPr txBox="1"/>
          <p:nvPr/>
        </p:nvSpPr>
        <p:spPr>
          <a:xfrm>
            <a:off x="8215884" y="41605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از لحظه‌ی تحویل ثابت‌شده ۷۲ ساعت؛ فقط خود ولیدیتور می‌تواند اعتراض ثبت کند.</a:t>
            </a:r>
            <a:endParaRPr lang="en-US" sz="1200" dirty="0"/>
          </a:p>
        </p:txBody>
      </p:sp>
      <p:sp>
        <p:nvSpPr>
          <p:cNvPr id="26" name="Shape 24"/>
          <p:cNvSpPr/>
          <p:nvPr/>
        </p:nvSpPr>
        <p:spPr>
          <a:xfrm>
            <a:off x="4314139" y="3474720"/>
            <a:ext cx="3564026" cy="1874520"/>
          </a:xfrm>
          <a:prstGeom prst="roundRect">
            <a:avLst>
              <a:gd name="adj" fmla="val 5854"/>
            </a:avLst>
          </a:prstGeom>
          <a:solidFill>
            <a:srgbClr val="F7F9FC"/>
          </a:solidFill>
          <a:ln w="9525">
            <a:solidFill>
              <a:srgbClr val="DDE1EE"/>
            </a:solidFill>
            <a:prstDash val="solid"/>
          </a:ln>
        </p:spPr>
      </p:sp>
      <p:sp>
        <p:nvSpPr>
          <p:cNvPr id="27" name="Shape 25"/>
          <p:cNvSpPr/>
          <p:nvPr/>
        </p:nvSpPr>
        <p:spPr>
          <a:xfrm>
            <a:off x="7283806" y="3611880"/>
            <a:ext cx="438912" cy="438912"/>
          </a:xfrm>
          <a:prstGeom prst="ellipse">
            <a:avLst/>
          </a:prstGeom>
          <a:solidFill>
            <a:srgbClr val="2F3690"/>
          </a:solidFill>
          <a:ln w="12700">
            <a:solidFill>
              <a:srgbClr val="2F3690"/>
            </a:solidFill>
            <a:prstDash val="solid"/>
          </a:ln>
        </p:spPr>
      </p:sp>
      <p:sp>
        <p:nvSpPr>
          <p:cNvPr id="28" name="Text 26"/>
          <p:cNvSpPr txBox="1"/>
          <p:nvPr/>
        </p:nvSpPr>
        <p:spPr>
          <a:xfrm>
            <a:off x="7283806" y="36118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۵</a:t>
            </a:r>
            <a:endParaRPr lang="en-US" sz="1500" dirty="0"/>
          </a:p>
        </p:txBody>
      </p:sp>
      <p:sp>
        <p:nvSpPr>
          <p:cNvPr id="29" name="Text 27"/>
          <p:cNvSpPr txBox="1"/>
          <p:nvPr/>
        </p:nvSpPr>
        <p:spPr>
          <a:xfrm>
            <a:off x="4451299" y="36118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رأی مجمع</a:t>
            </a:r>
            <a:endParaRPr lang="en-US" sz="1500" dirty="0"/>
          </a:p>
        </p:txBody>
      </p:sp>
      <p:sp>
        <p:nvSpPr>
          <p:cNvPr id="30" name="Text 28"/>
          <p:cNvSpPr txBox="1"/>
          <p:nvPr/>
        </p:nvSpPr>
        <p:spPr>
          <a:xfrm>
            <a:off x="4451299" y="41605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اکثریت ساده‌ی ولیدیتورهای فعال (جز موضوع) با مهلت ۷ روز. نرسیدن به نصاب یعنی رد جریمه؛ تعلیق اجماعی لغو نمی‌شود.</a:t>
            </a:r>
            <a:endParaRPr lang="en-US" sz="1200" dirty="0"/>
          </a:p>
        </p:txBody>
      </p:sp>
      <p:sp>
        <p:nvSpPr>
          <p:cNvPr id="31" name="Shape 29"/>
          <p:cNvSpPr/>
          <p:nvPr/>
        </p:nvSpPr>
        <p:spPr>
          <a:xfrm>
            <a:off x="548640" y="3474720"/>
            <a:ext cx="3564026" cy="1874520"/>
          </a:xfrm>
          <a:prstGeom prst="roundRect">
            <a:avLst>
              <a:gd name="adj" fmla="val 5854"/>
            </a:avLst>
          </a:prstGeom>
          <a:solidFill>
            <a:srgbClr val="F7F9FC"/>
          </a:solidFill>
          <a:ln w="9525">
            <a:solidFill>
              <a:srgbClr val="DDE1EE"/>
            </a:solidFill>
            <a:prstDash val="solid"/>
          </a:ln>
        </p:spPr>
      </p:sp>
      <p:sp>
        <p:nvSpPr>
          <p:cNvPr id="32" name="Shape 30"/>
          <p:cNvSpPr/>
          <p:nvPr/>
        </p:nvSpPr>
        <p:spPr>
          <a:xfrm>
            <a:off x="3518306" y="3611880"/>
            <a:ext cx="438912" cy="438912"/>
          </a:xfrm>
          <a:prstGeom prst="ellipse">
            <a:avLst/>
          </a:prstGeom>
          <a:solidFill>
            <a:srgbClr val="2F3690"/>
          </a:solidFill>
          <a:ln w="12700">
            <a:solidFill>
              <a:srgbClr val="2F3690"/>
            </a:solidFill>
            <a:prstDash val="solid"/>
          </a:ln>
        </p:spPr>
      </p:sp>
      <p:sp>
        <p:nvSpPr>
          <p:cNvPr id="33" name="Text 31"/>
          <p:cNvSpPr txBox="1"/>
          <p:nvPr/>
        </p:nvSpPr>
        <p:spPr>
          <a:xfrm>
            <a:off x="3518306" y="3611880"/>
            <a:ext cx="438912" cy="438912"/>
          </a:xfrm>
          <a:prstGeom prst="rect">
            <a:avLst/>
          </a:prstGeom>
          <a:noFill/>
          <a:ln/>
        </p:spPr>
        <p:txBody>
          <a:bodyPr wrap="square" lIns="0" tIns="0" rIns="0" bIns="0" rtlCol="0" anchor="ctr"/>
          <a:lstStyle/>
          <a:p>
            <a:pPr rtl="1" algn="ctr" indent="0" marL="0">
              <a:lnSpc>
                <a:spcPct val="105000"/>
              </a:lnSpc>
              <a:buNone/>
            </a:pPr>
            <a:r>
              <a:rPr lang="fa-IR" altLang="en-US" sz="1500" b="1" dirty="0">
                <a:solidFill>
                  <a:srgbClr val="FFFFFF"/>
                </a:solidFill>
                <a:latin typeface="Vazirmatn" pitchFamily="34" charset="0"/>
                <a:ea typeface="Vazirmatn" pitchFamily="34" charset="-122"/>
                <a:cs typeface="Vazirmatn" pitchFamily="34" charset="-120"/>
              </a:rPr>
              <a:t>۶</a:t>
            </a:r>
            <a:endParaRPr lang="en-US" sz="1500" dirty="0"/>
          </a:p>
        </p:txBody>
      </p:sp>
      <p:sp>
        <p:nvSpPr>
          <p:cNvPr id="34" name="Text 32"/>
          <p:cNvSpPr txBox="1"/>
          <p:nvPr/>
        </p:nvSpPr>
        <p:spPr>
          <a:xfrm>
            <a:off x="685800" y="3611880"/>
            <a:ext cx="2695346" cy="438912"/>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بدون اعتراض</a:t>
            </a:r>
            <a:endParaRPr lang="en-US" sz="1500" dirty="0"/>
          </a:p>
        </p:txBody>
      </p:sp>
      <p:sp>
        <p:nvSpPr>
          <p:cNvPr id="35" name="Text 33"/>
          <p:cNvSpPr txBox="1"/>
          <p:nvPr/>
        </p:nvSpPr>
        <p:spPr>
          <a:xfrm>
            <a:off x="685800" y="4160520"/>
            <a:ext cx="3289706" cy="114300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اگر اعتراضی نیاید، پس از ۷۲ ساعت جریمه‌ی ثبت‌شده (۱٪ وثیقه در لحظه‌ی ثبت پرونده) اجرا و به خزانه می‌رود.</a:t>
            </a:r>
            <a:endParaRPr lang="en-US" sz="1200" dirty="0"/>
          </a:p>
        </p:txBody>
      </p:sp>
      <p:sp>
        <p:nvSpPr>
          <p:cNvPr id="36" name="Text 34"/>
          <p:cNvSpPr txBox="1"/>
          <p:nvPr/>
        </p:nvSpPr>
        <p:spPr>
          <a:xfrm>
            <a:off x="548640" y="5623560"/>
            <a:ext cx="11094415" cy="64008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بسته‌ی شواهد عمومی منتشر نمی‌شود: رمزگذاری‌شده، نزد حداقل دو نگهدارنده‌ی مستقل از اپراتور Verifier، ۹۰ روز. مرجع رسیدگی مجمع کامل است، نه هیأت، چون هیأت خودش Verifier را عزل و نصب می‌کند.</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ولیدیتورها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شرایط و تعهدات هر ولیدیتور</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23</a:t>
            </a:r>
            <a:endParaRPr lang="en-US" sz="1000" dirty="0"/>
          </a:p>
        </p:txBody>
      </p:sp>
      <p:sp>
        <p:nvSpPr>
          <p:cNvPr id="6" name="Shape 4"/>
          <p:cNvSpPr/>
          <p:nvPr/>
        </p:nvSpPr>
        <p:spPr>
          <a:xfrm>
            <a:off x="8078724" y="1417320"/>
            <a:ext cx="3564026" cy="2194560"/>
          </a:xfrm>
          <a:prstGeom prst="roundRect">
            <a:avLst>
              <a:gd name="adj" fmla="val 5000"/>
            </a:avLst>
          </a:prstGeom>
          <a:solidFill>
            <a:srgbClr val="F7F9FC"/>
          </a:solidFill>
          <a:ln w="9525">
            <a:solidFill>
              <a:srgbClr val="DDE1EE"/>
            </a:solidFill>
            <a:prstDash val="solid"/>
          </a:ln>
        </p:spPr>
      </p:sp>
      <p:sp>
        <p:nvSpPr>
          <p:cNvPr id="7" name="Shape 5"/>
          <p:cNvSpPr/>
          <p:nvPr/>
        </p:nvSpPr>
        <p:spPr>
          <a:xfrm>
            <a:off x="10956950" y="1600200"/>
            <a:ext cx="502920" cy="50292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092739" y="1735988"/>
            <a:ext cx="231343" cy="231343"/>
          </a:xfrm>
          <a:prstGeom prst="rect">
            <a:avLst/>
          </a:prstGeom>
        </p:spPr>
      </p:pic>
      <p:sp>
        <p:nvSpPr>
          <p:cNvPr id="9" name="Text 6"/>
          <p:cNvSpPr txBox="1"/>
          <p:nvPr/>
        </p:nvSpPr>
        <p:spPr>
          <a:xfrm>
            <a:off x="8261604" y="167335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نود داخل ایران</a:t>
            </a:r>
            <a:endParaRPr lang="en-US" sz="1550" dirty="0"/>
          </a:p>
        </p:txBody>
      </p:sp>
      <p:sp>
        <p:nvSpPr>
          <p:cNvPr id="10" name="Text 7"/>
          <p:cNvSpPr txBox="1"/>
          <p:nvPr/>
        </p:nvSpPr>
        <p:spPr>
          <a:xfrm>
            <a:off x="8261604" y="228600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نود باید همیشه فیزیکی در ایران باشد (شرط مداوم). Verifier با IP-geolocation بررسی می‌کند؛ با VPN قابل‌دورزدن است و مکمل تعهد قراردادی است.</a:t>
            </a:r>
            <a:endParaRPr lang="en-US" sz="1250" dirty="0"/>
          </a:p>
        </p:txBody>
      </p:sp>
      <p:sp>
        <p:nvSpPr>
          <p:cNvPr id="11" name="Shape 8"/>
          <p:cNvSpPr/>
          <p:nvPr/>
        </p:nvSpPr>
        <p:spPr>
          <a:xfrm>
            <a:off x="4314139" y="1417320"/>
            <a:ext cx="3564026" cy="2194560"/>
          </a:xfrm>
          <a:prstGeom prst="roundRect">
            <a:avLst>
              <a:gd name="adj" fmla="val 5000"/>
            </a:avLst>
          </a:prstGeom>
          <a:solidFill>
            <a:srgbClr val="F7F9FC"/>
          </a:solidFill>
          <a:ln w="9525">
            <a:solidFill>
              <a:srgbClr val="DDE1EE"/>
            </a:solidFill>
            <a:prstDash val="solid"/>
          </a:ln>
        </p:spPr>
      </p:sp>
      <p:sp>
        <p:nvSpPr>
          <p:cNvPr id="12" name="Shape 9"/>
          <p:cNvSpPr/>
          <p:nvPr/>
        </p:nvSpPr>
        <p:spPr>
          <a:xfrm>
            <a:off x="7192366" y="1600200"/>
            <a:ext cx="502920" cy="502920"/>
          </a:xfrm>
          <a:prstGeom prst="ellipse">
            <a:avLst/>
          </a:prstGeom>
          <a:solidFill>
            <a:srgbClr val="2F3690"/>
          </a:solidFill>
          <a:ln w="12700">
            <a:solidFill>
              <a:srgbClr val="2F3690"/>
            </a:solidFill>
            <a:prstDash val="solid"/>
          </a:ln>
        </p:spPr>
      </p:sp>
      <p:pic>
        <p:nvPicPr>
          <p:cNvPr id="13" name="Image 1" descr="preencoded.png">    </p:cNvPr>
          <p:cNvPicPr>
            <a:picLocks noChangeAspect="1"/>
          </p:cNvPicPr>
          <p:nvPr/>
        </p:nvPicPr>
        <p:blipFill>
          <a:blip r:embed="rId2"/>
          <a:stretch>
            <a:fillRect/>
          </a:stretch>
        </p:blipFill>
        <p:spPr>
          <a:xfrm>
            <a:off x="7328154" y="1735988"/>
            <a:ext cx="231343" cy="231343"/>
          </a:xfrm>
          <a:prstGeom prst="rect">
            <a:avLst/>
          </a:prstGeom>
        </p:spPr>
      </p:pic>
      <p:sp>
        <p:nvSpPr>
          <p:cNvPr id="14" name="Text 10"/>
          <p:cNvSpPr txBox="1"/>
          <p:nvPr/>
        </p:nvSpPr>
        <p:spPr>
          <a:xfrm>
            <a:off x="4497019" y="167335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اجرای پیوسته‌ی نود</a:t>
            </a:r>
            <a:endParaRPr lang="en-US" sz="1550" dirty="0"/>
          </a:p>
        </p:txBody>
      </p:sp>
      <p:sp>
        <p:nvSpPr>
          <p:cNvPr id="15" name="Text 11"/>
          <p:cNvSpPr txBox="1"/>
          <p:nvPr/>
        </p:nvSpPr>
        <p:spPr>
          <a:xfrm>
            <a:off x="4497019" y="228600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Verifier هر ۶۰ دقیقه آف‌چین بررسی می‌کند؛ فقط تغییر وضعیت با هش شواهد روی زنجیره ثبت می‌شود.</a:t>
            </a:r>
            <a:endParaRPr lang="en-US" sz="1250" dirty="0"/>
          </a:p>
        </p:txBody>
      </p:sp>
      <p:sp>
        <p:nvSpPr>
          <p:cNvPr id="16" name="Shape 12"/>
          <p:cNvSpPr/>
          <p:nvPr/>
        </p:nvSpPr>
        <p:spPr>
          <a:xfrm>
            <a:off x="548640" y="1417320"/>
            <a:ext cx="3564026" cy="2194560"/>
          </a:xfrm>
          <a:prstGeom prst="roundRect">
            <a:avLst>
              <a:gd name="adj" fmla="val 5000"/>
            </a:avLst>
          </a:prstGeom>
          <a:solidFill>
            <a:srgbClr val="F7F9FC"/>
          </a:solidFill>
          <a:ln w="9525">
            <a:solidFill>
              <a:srgbClr val="DDE1EE"/>
            </a:solidFill>
            <a:prstDash val="solid"/>
          </a:ln>
        </p:spPr>
      </p:sp>
      <p:sp>
        <p:nvSpPr>
          <p:cNvPr id="17" name="Shape 13"/>
          <p:cNvSpPr/>
          <p:nvPr/>
        </p:nvSpPr>
        <p:spPr>
          <a:xfrm>
            <a:off x="3426866" y="1600200"/>
            <a:ext cx="502920" cy="502920"/>
          </a:xfrm>
          <a:prstGeom prst="ellipse">
            <a:avLst/>
          </a:prstGeom>
          <a:solidFill>
            <a:srgbClr val="2F3690"/>
          </a:solidFill>
          <a:ln w="12700">
            <a:solidFill>
              <a:srgbClr val="2F3690"/>
            </a:solidFill>
            <a:prstDash val="solid"/>
          </a:ln>
        </p:spPr>
      </p:sp>
      <p:pic>
        <p:nvPicPr>
          <p:cNvPr id="18" name="Image 2" descr="preencoded.png">    </p:cNvPr>
          <p:cNvPicPr>
            <a:picLocks noChangeAspect="1"/>
          </p:cNvPicPr>
          <p:nvPr/>
        </p:nvPicPr>
        <p:blipFill>
          <a:blip r:embed="rId3"/>
          <a:stretch>
            <a:fillRect/>
          </a:stretch>
        </p:blipFill>
        <p:spPr>
          <a:xfrm>
            <a:off x="3562655" y="1735988"/>
            <a:ext cx="231343" cy="231343"/>
          </a:xfrm>
          <a:prstGeom prst="rect">
            <a:avLst/>
          </a:prstGeom>
        </p:spPr>
      </p:pic>
      <p:sp>
        <p:nvSpPr>
          <p:cNvPr id="19" name="Text 14"/>
          <p:cNvSpPr txBox="1"/>
          <p:nvPr/>
        </p:nvSpPr>
        <p:spPr>
          <a:xfrm>
            <a:off x="731520" y="167335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هویت پیش از رأی‌دادن</a:t>
            </a:r>
            <a:endParaRPr lang="en-US" sz="1550" dirty="0"/>
          </a:p>
        </p:txBody>
      </p:sp>
      <p:sp>
        <p:nvSpPr>
          <p:cNvPr id="20" name="Text 15"/>
          <p:cNvSpPr txBox="1"/>
          <p:nvPr/>
        </p:nvSpPr>
        <p:spPr>
          <a:xfrm>
            <a:off x="731520" y="228600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ثبت خوداظهاری در IdentityRegistry و وریفای موبایل و تلگرام؛ فقط فلگ وریفای روی زنجیره می‌آید.</a:t>
            </a:r>
            <a:endParaRPr lang="en-US" sz="1250" dirty="0"/>
          </a:p>
        </p:txBody>
      </p:sp>
      <p:sp>
        <p:nvSpPr>
          <p:cNvPr id="21" name="Shape 16"/>
          <p:cNvSpPr/>
          <p:nvPr/>
        </p:nvSpPr>
        <p:spPr>
          <a:xfrm>
            <a:off x="8078724" y="3794760"/>
            <a:ext cx="3564026" cy="2194560"/>
          </a:xfrm>
          <a:prstGeom prst="roundRect">
            <a:avLst>
              <a:gd name="adj" fmla="val 5000"/>
            </a:avLst>
          </a:prstGeom>
          <a:solidFill>
            <a:srgbClr val="F7F9FC"/>
          </a:solidFill>
          <a:ln w="9525">
            <a:solidFill>
              <a:srgbClr val="DDE1EE"/>
            </a:solidFill>
            <a:prstDash val="solid"/>
          </a:ln>
        </p:spPr>
      </p:sp>
      <p:sp>
        <p:nvSpPr>
          <p:cNvPr id="22" name="Shape 17"/>
          <p:cNvSpPr/>
          <p:nvPr/>
        </p:nvSpPr>
        <p:spPr>
          <a:xfrm>
            <a:off x="10956950" y="3977640"/>
            <a:ext cx="502920" cy="502920"/>
          </a:xfrm>
          <a:prstGeom prst="ellipse">
            <a:avLst/>
          </a:prstGeom>
          <a:solidFill>
            <a:srgbClr val="2F3690"/>
          </a:solidFill>
          <a:ln w="12700">
            <a:solidFill>
              <a:srgbClr val="2F3690"/>
            </a:solidFill>
            <a:prstDash val="solid"/>
          </a:ln>
        </p:spPr>
      </p:sp>
      <p:pic>
        <p:nvPicPr>
          <p:cNvPr id="23" name="Image 3" descr="preencoded.png">    </p:cNvPr>
          <p:cNvPicPr>
            <a:picLocks noChangeAspect="1"/>
          </p:cNvPicPr>
          <p:nvPr/>
        </p:nvPicPr>
        <p:blipFill>
          <a:blip r:embed="rId4"/>
          <a:stretch>
            <a:fillRect/>
          </a:stretch>
        </p:blipFill>
        <p:spPr>
          <a:xfrm>
            <a:off x="11092739" y="4113428"/>
            <a:ext cx="231343" cy="231343"/>
          </a:xfrm>
          <a:prstGeom prst="rect">
            <a:avLst/>
          </a:prstGeom>
        </p:spPr>
      </p:pic>
      <p:sp>
        <p:nvSpPr>
          <p:cNvPr id="24" name="Text 18"/>
          <p:cNvSpPr txBox="1"/>
          <p:nvPr/>
        </p:nvSpPr>
        <p:spPr>
          <a:xfrm>
            <a:off x="8261604" y="405079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حقیقی یا حقوقی</a:t>
            </a:r>
            <a:endParaRPr lang="en-US" sz="1550" dirty="0"/>
          </a:p>
        </p:txBody>
      </p:sp>
      <p:sp>
        <p:nvSpPr>
          <p:cNvPr id="25" name="Text 19"/>
          <p:cNvSpPr txBox="1"/>
          <p:nvPr/>
        </p:nvSpPr>
        <p:spPr>
          <a:xfrm>
            <a:off x="8261604" y="466344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هر دو می‌توانند ولیدیتور شوند؛ Validator Agreement هر دو حالت را پوشش می‌دهد.</a:t>
            </a:r>
            <a:endParaRPr lang="en-US" sz="1250" dirty="0"/>
          </a:p>
        </p:txBody>
      </p:sp>
      <p:sp>
        <p:nvSpPr>
          <p:cNvPr id="26" name="Shape 20"/>
          <p:cNvSpPr/>
          <p:nvPr/>
        </p:nvSpPr>
        <p:spPr>
          <a:xfrm>
            <a:off x="4314139" y="3794760"/>
            <a:ext cx="3564026" cy="2194560"/>
          </a:xfrm>
          <a:prstGeom prst="roundRect">
            <a:avLst>
              <a:gd name="adj" fmla="val 5000"/>
            </a:avLst>
          </a:prstGeom>
          <a:solidFill>
            <a:srgbClr val="F7F9FC"/>
          </a:solidFill>
          <a:ln w="9525">
            <a:solidFill>
              <a:srgbClr val="DDE1EE"/>
            </a:solidFill>
            <a:prstDash val="solid"/>
          </a:ln>
        </p:spPr>
      </p:sp>
      <p:sp>
        <p:nvSpPr>
          <p:cNvPr id="27" name="Shape 21"/>
          <p:cNvSpPr/>
          <p:nvPr/>
        </p:nvSpPr>
        <p:spPr>
          <a:xfrm>
            <a:off x="7192366" y="3977640"/>
            <a:ext cx="502920" cy="502920"/>
          </a:xfrm>
          <a:prstGeom prst="ellipse">
            <a:avLst/>
          </a:prstGeom>
          <a:solidFill>
            <a:srgbClr val="2F3690"/>
          </a:solidFill>
          <a:ln w="12700">
            <a:solidFill>
              <a:srgbClr val="2F3690"/>
            </a:solidFill>
            <a:prstDash val="solid"/>
          </a:ln>
        </p:spPr>
      </p:sp>
      <p:pic>
        <p:nvPicPr>
          <p:cNvPr id="28" name="Image 4" descr="preencoded.png">    </p:cNvPr>
          <p:cNvPicPr>
            <a:picLocks noChangeAspect="1"/>
          </p:cNvPicPr>
          <p:nvPr/>
        </p:nvPicPr>
        <p:blipFill>
          <a:blip r:embed="rId5"/>
          <a:stretch>
            <a:fillRect/>
          </a:stretch>
        </p:blipFill>
        <p:spPr>
          <a:xfrm>
            <a:off x="7328154" y="4113428"/>
            <a:ext cx="231343" cy="231343"/>
          </a:xfrm>
          <a:prstGeom prst="rect">
            <a:avLst/>
          </a:prstGeom>
        </p:spPr>
      </p:pic>
      <p:sp>
        <p:nvSpPr>
          <p:cNvPr id="29" name="Text 22"/>
          <p:cNvSpPr txBox="1"/>
          <p:nvPr/>
        </p:nvSpPr>
        <p:spPr>
          <a:xfrm>
            <a:off x="4497019" y="405079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Validator Agreement</a:t>
            </a:r>
            <a:endParaRPr lang="en-US" sz="1550" dirty="0"/>
          </a:p>
        </p:txBody>
      </p:sp>
      <p:sp>
        <p:nvSpPr>
          <p:cNvPr id="30" name="Text 23"/>
          <p:cNvSpPr txBox="1"/>
          <p:nvPr/>
        </p:nvSpPr>
        <p:spPr>
          <a:xfrm>
            <a:off x="4497019" y="466344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قرارداد حقوقی مستقیم با هر ولیدیتور؛ خاموشی هماهنگ عمدی را نقض می‌شمارد؛ فعلاً بدون بند صلاحیت قضایی (ریسک پذیرفته‌شده).</a:t>
            </a:r>
            <a:endParaRPr lang="en-US" sz="1250" dirty="0"/>
          </a:p>
        </p:txBody>
      </p:sp>
      <p:sp>
        <p:nvSpPr>
          <p:cNvPr id="31" name="Shape 24"/>
          <p:cNvSpPr/>
          <p:nvPr/>
        </p:nvSpPr>
        <p:spPr>
          <a:xfrm>
            <a:off x="548640" y="3794760"/>
            <a:ext cx="3564026" cy="2194560"/>
          </a:xfrm>
          <a:prstGeom prst="roundRect">
            <a:avLst>
              <a:gd name="adj" fmla="val 5000"/>
            </a:avLst>
          </a:prstGeom>
          <a:solidFill>
            <a:srgbClr val="F7F9FC"/>
          </a:solidFill>
          <a:ln w="9525">
            <a:solidFill>
              <a:srgbClr val="DDE1EE"/>
            </a:solidFill>
            <a:prstDash val="solid"/>
          </a:ln>
        </p:spPr>
      </p:sp>
      <p:sp>
        <p:nvSpPr>
          <p:cNvPr id="32" name="Shape 25"/>
          <p:cNvSpPr/>
          <p:nvPr/>
        </p:nvSpPr>
        <p:spPr>
          <a:xfrm>
            <a:off x="3426866" y="3977640"/>
            <a:ext cx="502920" cy="502920"/>
          </a:xfrm>
          <a:prstGeom prst="ellipse">
            <a:avLst/>
          </a:prstGeom>
          <a:solidFill>
            <a:srgbClr val="2F3690"/>
          </a:solidFill>
          <a:ln w="12700">
            <a:solidFill>
              <a:srgbClr val="2F3690"/>
            </a:solidFill>
            <a:prstDash val="solid"/>
          </a:ln>
        </p:spPr>
      </p:sp>
      <p:pic>
        <p:nvPicPr>
          <p:cNvPr id="33" name="Image 5" descr="preencoded.png">    </p:cNvPr>
          <p:cNvPicPr>
            <a:picLocks noChangeAspect="1"/>
          </p:cNvPicPr>
          <p:nvPr/>
        </p:nvPicPr>
        <p:blipFill>
          <a:blip r:embed="rId6"/>
          <a:stretch>
            <a:fillRect/>
          </a:stretch>
        </p:blipFill>
        <p:spPr>
          <a:xfrm>
            <a:off x="3562655" y="4113428"/>
            <a:ext cx="231343" cy="231343"/>
          </a:xfrm>
          <a:prstGeom prst="rect">
            <a:avLst/>
          </a:prstGeom>
        </p:spPr>
      </p:pic>
      <p:sp>
        <p:nvSpPr>
          <p:cNvPr id="34" name="Text 26"/>
          <p:cNvSpPr txBox="1"/>
          <p:nvPr/>
        </p:nvSpPr>
        <p:spPr>
          <a:xfrm>
            <a:off x="731520" y="4050792"/>
            <a:ext cx="2558186" cy="411480"/>
          </a:xfrm>
          <a:prstGeom prst="rect">
            <a:avLst/>
          </a:prstGeom>
          <a:noFill/>
          <a:ln/>
        </p:spPr>
        <p:txBody>
          <a:bodyPr wrap="square" lIns="0" tIns="0" rIns="0" bIns="0" rtlCol="0" anchor="ctr"/>
          <a:lstStyle/>
          <a:p>
            <a:pPr rtl="1" algn="r" indent="0" marL="0">
              <a:lnSpc>
                <a:spcPct val="105000"/>
              </a:lnSpc>
              <a:buNone/>
            </a:pPr>
            <a:r>
              <a:rPr lang="fa-IR" altLang="en-US" sz="1550" b="1" dirty="0">
                <a:solidFill>
                  <a:srgbClr val="1B1B2F"/>
                </a:solidFill>
                <a:latin typeface="Vazirmatn" pitchFamily="34" charset="0"/>
                <a:ea typeface="Vazirmatn" pitchFamily="34" charset="-122"/>
                <a:cs typeface="Vazirmatn" pitchFamily="34" charset="-120"/>
              </a:rPr>
              <a:t>نرخ ورود محدود</a:t>
            </a:r>
            <a:endParaRPr lang="en-US" sz="1550" dirty="0"/>
          </a:p>
        </p:txBody>
      </p:sp>
      <p:sp>
        <p:nvSpPr>
          <p:cNvPr id="35" name="Text 27"/>
          <p:cNvSpPr txBox="1"/>
          <p:nvPr/>
        </p:nvSpPr>
        <p:spPr>
          <a:xfrm>
            <a:off x="731520" y="4663440"/>
            <a:ext cx="3198266" cy="12801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حداکثر یک عضویت تازه در هر ۲۴ ساعت، تا ورود دسته‌جمعی ممکن نباشد.</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حکمرانی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دو مجلس ولیدیتوری: مجمع و هیأت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24</a:t>
            </a:r>
            <a:endParaRPr lang="en-US" sz="1000" dirty="0"/>
          </a:p>
        </p:txBody>
      </p:sp>
      <p:sp>
        <p:nvSpPr>
          <p:cNvPr id="6" name="Shape 4"/>
          <p:cNvSpPr/>
          <p:nvPr/>
        </p:nvSpPr>
        <p:spPr>
          <a:xfrm>
            <a:off x="6202375" y="1417320"/>
            <a:ext cx="5440680" cy="3886200"/>
          </a:xfrm>
          <a:prstGeom prst="roundRect">
            <a:avLst>
              <a:gd name="adj" fmla="val 2824"/>
            </a:avLst>
          </a:prstGeom>
          <a:solidFill>
            <a:srgbClr val="EEF0FB"/>
          </a:solidFill>
          <a:ln w="9525">
            <a:solidFill>
              <a:srgbClr val="EEF0FB"/>
            </a:solidFill>
            <a:prstDash val="solid"/>
          </a:ln>
        </p:spPr>
      </p:sp>
      <p:sp>
        <p:nvSpPr>
          <p:cNvPr id="7" name="Shape 5"/>
          <p:cNvSpPr/>
          <p:nvPr/>
        </p:nvSpPr>
        <p:spPr>
          <a:xfrm>
            <a:off x="548640" y="1417320"/>
            <a:ext cx="5440680" cy="3886200"/>
          </a:xfrm>
          <a:prstGeom prst="roundRect">
            <a:avLst>
              <a:gd name="adj" fmla="val 2824"/>
            </a:avLst>
          </a:prstGeom>
          <a:solidFill>
            <a:srgbClr val="F7F9FC"/>
          </a:solidFill>
          <a:ln w="9525">
            <a:solidFill>
              <a:srgbClr val="DDE1EE"/>
            </a:solidFill>
            <a:prstDash val="solid"/>
          </a:ln>
        </p:spPr>
      </p:sp>
      <p:sp>
        <p:nvSpPr>
          <p:cNvPr id="8" name="Shape 6"/>
          <p:cNvSpPr/>
          <p:nvPr/>
        </p:nvSpPr>
        <p:spPr>
          <a:xfrm>
            <a:off x="10957255" y="1600200"/>
            <a:ext cx="502920" cy="502920"/>
          </a:xfrm>
          <a:prstGeom prst="ellipse">
            <a:avLst/>
          </a:prstGeom>
          <a:solidFill>
            <a:srgbClr val="2F3690"/>
          </a:solidFill>
          <a:ln w="12700">
            <a:solidFill>
              <a:srgbClr val="2F3690"/>
            </a:solidFill>
            <a:prstDash val="solid"/>
          </a:ln>
        </p:spPr>
      </p:sp>
      <p:pic>
        <p:nvPicPr>
          <p:cNvPr id="9" name="Image 0" descr="preencoded.png">    </p:cNvPr>
          <p:cNvPicPr>
            <a:picLocks noChangeAspect="1"/>
          </p:cNvPicPr>
          <p:nvPr/>
        </p:nvPicPr>
        <p:blipFill>
          <a:blip r:embed="rId1"/>
          <a:stretch>
            <a:fillRect/>
          </a:stretch>
        </p:blipFill>
        <p:spPr>
          <a:xfrm>
            <a:off x="11093044" y="1735988"/>
            <a:ext cx="231343" cy="231343"/>
          </a:xfrm>
          <a:prstGeom prst="rect">
            <a:avLst/>
          </a:prstGeom>
        </p:spPr>
      </p:pic>
      <p:sp>
        <p:nvSpPr>
          <p:cNvPr id="10" name="Text 7"/>
          <p:cNvSpPr txBox="1"/>
          <p:nvPr/>
        </p:nvSpPr>
        <p:spPr>
          <a:xfrm>
            <a:off x="6385255" y="1618488"/>
            <a:ext cx="4434840" cy="457200"/>
          </a:xfrm>
          <a:prstGeom prst="rect">
            <a:avLst/>
          </a:prstGeom>
          <a:noFill/>
          <a:ln/>
        </p:spPr>
        <p:txBody>
          <a:bodyPr wrap="square" lIns="0" tIns="0" rIns="0" bIns="0" rtlCol="0" anchor="ctr"/>
          <a:lstStyle/>
          <a:p>
            <a:pPr rtl="1" algn="r" indent="0" marL="0">
              <a:lnSpc>
                <a:spcPct val="105000"/>
              </a:lnSpc>
              <a:buNone/>
            </a:pPr>
            <a:r>
              <a:rPr lang="fa-IR" altLang="en-US" sz="1700" b="1" dirty="0">
                <a:solidFill>
                  <a:srgbClr val="2F3690"/>
                </a:solidFill>
                <a:latin typeface="Vazirmatn" pitchFamily="34" charset="0"/>
                <a:ea typeface="Vazirmatn" pitchFamily="34" charset="-122"/>
                <a:cs typeface="Vazirmatn" pitchFamily="34" charset="-120"/>
              </a:rPr>
              <a:t>مجمع ولیدیتورها (همه‌ی فعال‌ها)</a:t>
            </a:r>
            <a:endParaRPr lang="en-US" sz="1700" dirty="0"/>
          </a:p>
        </p:txBody>
      </p:sp>
      <p:sp>
        <p:nvSpPr>
          <p:cNvPr id="11" name="Text 8"/>
          <p:cNvSpPr txBox="1"/>
          <p:nvPr/>
        </p:nvSpPr>
        <p:spPr>
          <a:xfrm>
            <a:off x="6430975" y="2286000"/>
            <a:ext cx="4983480" cy="2926080"/>
          </a:xfrm>
          <a:prstGeom prst="rect">
            <a:avLst/>
          </a:prstGeom>
          <a:noFill/>
          <a:ln/>
        </p:spPr>
        <p:txBody>
          <a:bodyPr wrap="square" lIns="0" tIns="0" rIns="0" bIns="0" rtlCol="0" anchor="t"/>
          <a:lstStyle/>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هر آدرس Active در ValidatorsRegistry یک رأی دارد.</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فقط کسانی رأی می‌دهند که هنگام ساخت پیشنهاد Active بوده‌اند؛ نصاب همان لحظه ثابت می‌شود.</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ورود یا خروج بعدی پیشنهاد را باطل نمی‌کند؛ رأی ثبت‌شده می‌ماند و فرد خارج‌شده رأی تازه ندارد.</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نصاب: اکثریت ساده (پارامترهای امنیتی، اعتراض جریمه)؛ دوسوم (تغییر سهم و نرخ پاداش).</a:t>
            </a:r>
            <a:endParaRPr lang="en-US" sz="1350" dirty="0"/>
          </a:p>
        </p:txBody>
      </p:sp>
      <p:sp>
        <p:nvSpPr>
          <p:cNvPr id="12" name="Shape 9"/>
          <p:cNvSpPr/>
          <p:nvPr/>
        </p:nvSpPr>
        <p:spPr>
          <a:xfrm>
            <a:off x="5303520" y="1600200"/>
            <a:ext cx="502920" cy="502920"/>
          </a:xfrm>
          <a:prstGeom prst="ellipse">
            <a:avLst/>
          </a:prstGeom>
          <a:solidFill>
            <a:srgbClr val="3D46A8"/>
          </a:solidFill>
          <a:ln w="12700">
            <a:solidFill>
              <a:srgbClr val="3D46A8"/>
            </a:solidFill>
            <a:prstDash val="solid"/>
          </a:ln>
        </p:spPr>
      </p:sp>
      <p:pic>
        <p:nvPicPr>
          <p:cNvPr id="13" name="Image 1" descr="preencoded.png">    </p:cNvPr>
          <p:cNvPicPr>
            <a:picLocks noChangeAspect="1"/>
          </p:cNvPicPr>
          <p:nvPr/>
        </p:nvPicPr>
        <p:blipFill>
          <a:blip r:embed="rId2"/>
          <a:stretch>
            <a:fillRect/>
          </a:stretch>
        </p:blipFill>
        <p:spPr>
          <a:xfrm>
            <a:off x="5439308" y="1735988"/>
            <a:ext cx="231343" cy="231343"/>
          </a:xfrm>
          <a:prstGeom prst="rect">
            <a:avLst/>
          </a:prstGeom>
        </p:spPr>
      </p:pic>
      <p:sp>
        <p:nvSpPr>
          <p:cNvPr id="14" name="Text 10"/>
          <p:cNvSpPr txBox="1"/>
          <p:nvPr/>
        </p:nvSpPr>
        <p:spPr>
          <a:xfrm>
            <a:off x="731520" y="1618488"/>
            <a:ext cx="4434840" cy="457200"/>
          </a:xfrm>
          <a:prstGeom prst="rect">
            <a:avLst/>
          </a:prstGeom>
          <a:noFill/>
          <a:ln/>
        </p:spPr>
        <p:txBody>
          <a:bodyPr wrap="square" lIns="0" tIns="0" rIns="0" bIns="0" rtlCol="0" anchor="ctr"/>
          <a:lstStyle/>
          <a:p>
            <a:pPr rtl="1" algn="r" indent="0" marL="0">
              <a:lnSpc>
                <a:spcPct val="105000"/>
              </a:lnSpc>
              <a:buNone/>
            </a:pPr>
            <a:r>
              <a:rPr lang="fa-IR" altLang="en-US" sz="1700" b="1" dirty="0">
                <a:solidFill>
                  <a:srgbClr val="3D46A8"/>
                </a:solidFill>
                <a:latin typeface="Vazirmatn" pitchFamily="34" charset="0"/>
                <a:ea typeface="Vazirmatn" pitchFamily="34" charset="-122"/>
                <a:cs typeface="Vazirmatn" pitchFamily="34" charset="-120"/>
              </a:rPr>
              <a:t>هیأت ولیدیتورها (۵ صندلی)</a:t>
            </a:r>
            <a:endParaRPr lang="en-US" sz="1700" dirty="0"/>
          </a:p>
        </p:txBody>
      </p:sp>
      <p:sp>
        <p:nvSpPr>
          <p:cNvPr id="15" name="Text 11"/>
          <p:cNvSpPr txBox="1"/>
          <p:nvPr/>
        </p:nvSpPr>
        <p:spPr>
          <a:xfrm>
            <a:off x="777240" y="2286000"/>
            <a:ext cx="4983480" cy="2926080"/>
          </a:xfrm>
          <a:prstGeom prst="rect">
            <a:avLst/>
          </a:prstGeom>
          <a:noFill/>
          <a:ln/>
        </p:spPr>
        <p:txBody>
          <a:bodyPr wrap="square" lIns="0" tIns="0" rIns="0" bIns="0" rtlCol="0" anchor="t"/>
          <a:lstStyle/>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رأی تأییدی مستمر: هر ولیدیتور تا ۵ کاندیدا و هر لحظه قابل‌پس‌گیری.</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هیأت هر ماه میلادی با نخستین refreshBoard همان ماه نشانده می‌شود؛ هیأت ماه قبل تا آن لحظه اختیاری ندارد.</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اختیار عضو با درخواست خروج فوراً قطع می‌شود؛ مسیر عزل اضطراری وجود ندارد.</a:t>
            </a:r>
            <a:endParaRPr lang="en-US" sz="1350" dirty="0"/>
          </a:p>
          <a:p>
            <a:pPr rtl="1" algn="r" indent="0" marL="0">
              <a:lnSpc>
                <a:spcPct val="105000"/>
              </a:lnSpc>
              <a:spcAft>
                <a:spcPts val="900"/>
              </a:spcAft>
              <a:buNone/>
            </a:pPr>
            <a:r>
              <a:rPr lang="fa-IR" altLang="en-US" sz="1350" dirty="0">
                <a:solidFill>
                  <a:srgbClr val="1B1B2F"/>
                </a:solidFill>
                <a:latin typeface="Vazirmatn" pitchFamily="34" charset="0"/>
                <a:ea typeface="Vazirmatn" pitchFamily="34" charset="-122"/>
                <a:cs typeface="Vazirmatn" pitchFamily="34" charset="-120"/>
              </a:rPr>
              <a:t>اکشن‌ها با ۳ رأی از ۵ (چرخش کلیدها بدون تأخیر)؛ تغییر ترکیب هیأت، پیشنهادهای ناتمام را باطل می‌کند.</a:t>
            </a:r>
            <a:endParaRPr lang="en-US" sz="1350" dirty="0"/>
          </a:p>
        </p:txBody>
      </p:sp>
      <p:sp>
        <p:nvSpPr>
          <p:cNvPr id="16" name="Shape 12"/>
          <p:cNvSpPr/>
          <p:nvPr/>
        </p:nvSpPr>
        <p:spPr>
          <a:xfrm>
            <a:off x="548640" y="5486400"/>
            <a:ext cx="11094415" cy="777240"/>
          </a:xfrm>
          <a:prstGeom prst="roundRect">
            <a:avLst>
              <a:gd name="adj" fmla="val 14118"/>
            </a:avLst>
          </a:prstGeom>
          <a:solidFill>
            <a:srgbClr val="E3F4EC"/>
          </a:solidFill>
          <a:ln w="9525">
            <a:solidFill>
              <a:srgbClr val="E3F4EC"/>
            </a:solidFill>
            <a:prstDash val="solid"/>
          </a:ln>
        </p:spPr>
      </p:sp>
      <p:sp>
        <p:nvSpPr>
          <p:cNvPr id="17" name="Text 13"/>
          <p:cNvSpPr txBox="1"/>
          <p:nvPr/>
        </p:nvSpPr>
        <p:spPr>
          <a:xfrm>
            <a:off x="822960" y="5486400"/>
            <a:ext cx="10545775" cy="777240"/>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F7A55"/>
                </a:solidFill>
                <a:latin typeface="Vazirmatn" pitchFamily="34" charset="0"/>
                <a:ea typeface="Vazirmatn" pitchFamily="34" charset="-122"/>
                <a:cs typeface="Vazirmatn" pitchFamily="34" charset="-120"/>
              </a:rPr>
              <a:t>چرا دو مجلس: ولیدیتور عادی به سهم مستقیم بیشتر و هیأت به خزانه‌ی بزرگ‌تر گرایش دارد؛ لازم‌بودن تصویب هر دو، حرکت یک‌طرفه‌ی هرکدام به نفع خودش را مسدود می‌کند.</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حکمرانی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هیأت ولیدیتورها: شش اختیار تفویضی و حدود آن</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25</a:t>
            </a:r>
            <a:endParaRPr lang="en-US" sz="1000" dirty="0"/>
          </a:p>
        </p:txBody>
      </p:sp>
      <p:sp>
        <p:nvSpPr>
          <p:cNvPr id="6" name="Text 4"/>
          <p:cNvSpPr txBox="1"/>
          <p:nvPr/>
        </p:nvSpPr>
        <p:spPr>
          <a:xfrm>
            <a:off x="6156655" y="1371600"/>
            <a:ext cx="5486400" cy="32004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2F3690"/>
                </a:solidFill>
                <a:latin typeface="Vazirmatn" pitchFamily="34" charset="0"/>
                <a:ea typeface="Vazirmatn" pitchFamily="34" charset="-122"/>
                <a:cs typeface="Vazirmatn" pitchFamily="34" charset="-120"/>
              </a:rPr>
              <a:t>اختیارات هیأت</a:t>
            </a:r>
            <a:endParaRPr lang="en-US" sz="1600" dirty="0"/>
          </a:p>
        </p:txBody>
      </p:sp>
      <p:sp>
        <p:nvSpPr>
          <p:cNvPr id="7" name="Shape 5"/>
          <p:cNvSpPr/>
          <p:nvPr/>
        </p:nvSpPr>
        <p:spPr>
          <a:xfrm>
            <a:off x="5333695" y="1783080"/>
            <a:ext cx="6309360" cy="603504"/>
          </a:xfrm>
          <a:prstGeom prst="roundRect">
            <a:avLst>
              <a:gd name="adj" fmla="val 18182"/>
            </a:avLst>
          </a:prstGeom>
          <a:solidFill>
            <a:srgbClr val="F7F9FC"/>
          </a:solidFill>
          <a:ln w="9525">
            <a:solidFill>
              <a:srgbClr val="DDE1EE"/>
            </a:solidFill>
            <a:prstDash val="solid"/>
          </a:ln>
        </p:spPr>
      </p:sp>
      <p:sp>
        <p:nvSpPr>
          <p:cNvPr id="8" name="Shape 6"/>
          <p:cNvSpPr/>
          <p:nvPr/>
        </p:nvSpPr>
        <p:spPr>
          <a:xfrm>
            <a:off x="11149279" y="1892808"/>
            <a:ext cx="384048" cy="384048"/>
          </a:xfrm>
          <a:prstGeom prst="ellipse">
            <a:avLst/>
          </a:prstGeom>
          <a:solidFill>
            <a:srgbClr val="2F3690"/>
          </a:solidFill>
          <a:ln w="12700">
            <a:solidFill>
              <a:srgbClr val="2F3690"/>
            </a:solidFill>
            <a:prstDash val="solid"/>
          </a:ln>
        </p:spPr>
      </p:sp>
      <p:sp>
        <p:nvSpPr>
          <p:cNvPr id="9" name="Text 7"/>
          <p:cNvSpPr txBox="1"/>
          <p:nvPr/>
        </p:nvSpPr>
        <p:spPr>
          <a:xfrm>
            <a:off x="11149279" y="1892808"/>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۱</a:t>
            </a:r>
            <a:endParaRPr lang="en-US" sz="1300" dirty="0"/>
          </a:p>
        </p:txBody>
      </p:sp>
      <p:sp>
        <p:nvSpPr>
          <p:cNvPr id="10" name="Text 8"/>
          <p:cNvSpPr txBox="1"/>
          <p:nvPr/>
        </p:nvSpPr>
        <p:spPr>
          <a:xfrm>
            <a:off x="8351215" y="1783080"/>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چرخش distributionOracle</a:t>
            </a:r>
            <a:endParaRPr lang="en-US" sz="1350" dirty="0"/>
          </a:p>
        </p:txBody>
      </p:sp>
      <p:sp>
        <p:nvSpPr>
          <p:cNvPr id="11" name="Text 9"/>
          <p:cNvSpPr txBox="1"/>
          <p:nvPr/>
        </p:nvSpPr>
        <p:spPr>
          <a:xfrm>
            <a:off x="5470855" y="1783080"/>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کلید عملیاتی RewardRouter</a:t>
            </a:r>
            <a:endParaRPr lang="en-US" sz="1200" dirty="0"/>
          </a:p>
        </p:txBody>
      </p:sp>
      <p:sp>
        <p:nvSpPr>
          <p:cNvPr id="12" name="Shape 10"/>
          <p:cNvSpPr/>
          <p:nvPr/>
        </p:nvSpPr>
        <p:spPr>
          <a:xfrm>
            <a:off x="5333695" y="2496312"/>
            <a:ext cx="6309360" cy="603504"/>
          </a:xfrm>
          <a:prstGeom prst="roundRect">
            <a:avLst>
              <a:gd name="adj" fmla="val 18182"/>
            </a:avLst>
          </a:prstGeom>
          <a:solidFill>
            <a:srgbClr val="F7F9FC"/>
          </a:solidFill>
          <a:ln w="9525">
            <a:solidFill>
              <a:srgbClr val="DDE1EE"/>
            </a:solidFill>
            <a:prstDash val="solid"/>
          </a:ln>
        </p:spPr>
      </p:sp>
      <p:sp>
        <p:nvSpPr>
          <p:cNvPr id="13" name="Shape 11"/>
          <p:cNvSpPr/>
          <p:nvPr/>
        </p:nvSpPr>
        <p:spPr>
          <a:xfrm>
            <a:off x="11149279" y="2606040"/>
            <a:ext cx="384048" cy="384048"/>
          </a:xfrm>
          <a:prstGeom prst="ellipse">
            <a:avLst/>
          </a:prstGeom>
          <a:solidFill>
            <a:srgbClr val="2F3690"/>
          </a:solidFill>
          <a:ln w="12700">
            <a:solidFill>
              <a:srgbClr val="2F3690"/>
            </a:solidFill>
            <a:prstDash val="solid"/>
          </a:ln>
        </p:spPr>
      </p:sp>
      <p:sp>
        <p:nvSpPr>
          <p:cNvPr id="14" name="Text 12"/>
          <p:cNvSpPr txBox="1"/>
          <p:nvPr/>
        </p:nvSpPr>
        <p:spPr>
          <a:xfrm>
            <a:off x="11149279" y="2606040"/>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۲</a:t>
            </a:r>
            <a:endParaRPr lang="en-US" sz="1300" dirty="0"/>
          </a:p>
        </p:txBody>
      </p:sp>
      <p:sp>
        <p:nvSpPr>
          <p:cNvPr id="15" name="Text 13"/>
          <p:cNvSpPr txBox="1"/>
          <p:nvPr/>
        </p:nvSpPr>
        <p:spPr>
          <a:xfrm>
            <a:off x="8351215" y="2496312"/>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تصویب پرداخت خزانه</a:t>
            </a:r>
            <a:endParaRPr lang="en-US" sz="1350" dirty="0"/>
          </a:p>
        </p:txBody>
      </p:sp>
      <p:sp>
        <p:nvSpPr>
          <p:cNvPr id="16" name="Text 14"/>
          <p:cNvSpPr txBox="1"/>
          <p:nvPr/>
        </p:nvSpPr>
        <p:spPr>
          <a:xfrm>
            <a:off x="5470855" y="2496312"/>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حداقل ۳ رأی و زیر سقف‌های مجمع</a:t>
            </a:r>
            <a:endParaRPr lang="en-US" sz="1200" dirty="0"/>
          </a:p>
        </p:txBody>
      </p:sp>
      <p:sp>
        <p:nvSpPr>
          <p:cNvPr id="17" name="Shape 15"/>
          <p:cNvSpPr/>
          <p:nvPr/>
        </p:nvSpPr>
        <p:spPr>
          <a:xfrm>
            <a:off x="5333695" y="3209544"/>
            <a:ext cx="6309360" cy="603504"/>
          </a:xfrm>
          <a:prstGeom prst="roundRect">
            <a:avLst>
              <a:gd name="adj" fmla="val 18182"/>
            </a:avLst>
          </a:prstGeom>
          <a:solidFill>
            <a:srgbClr val="F7F9FC"/>
          </a:solidFill>
          <a:ln w="9525">
            <a:solidFill>
              <a:srgbClr val="DDE1EE"/>
            </a:solidFill>
            <a:prstDash val="solid"/>
          </a:ln>
        </p:spPr>
      </p:sp>
      <p:sp>
        <p:nvSpPr>
          <p:cNvPr id="18" name="Shape 16"/>
          <p:cNvSpPr/>
          <p:nvPr/>
        </p:nvSpPr>
        <p:spPr>
          <a:xfrm>
            <a:off x="11149279" y="3319272"/>
            <a:ext cx="384048" cy="384048"/>
          </a:xfrm>
          <a:prstGeom prst="ellipse">
            <a:avLst/>
          </a:prstGeom>
          <a:solidFill>
            <a:srgbClr val="2F3690"/>
          </a:solidFill>
          <a:ln w="12700">
            <a:solidFill>
              <a:srgbClr val="2F3690"/>
            </a:solidFill>
            <a:prstDash val="solid"/>
          </a:ln>
        </p:spPr>
      </p:sp>
      <p:sp>
        <p:nvSpPr>
          <p:cNvPr id="19" name="Text 17"/>
          <p:cNvSpPr txBox="1"/>
          <p:nvPr/>
        </p:nvSpPr>
        <p:spPr>
          <a:xfrm>
            <a:off x="11149279" y="3319272"/>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۳</a:t>
            </a:r>
            <a:endParaRPr lang="en-US" sz="1300" dirty="0"/>
          </a:p>
        </p:txBody>
      </p:sp>
      <p:sp>
        <p:nvSpPr>
          <p:cNvPr id="20" name="Text 18"/>
          <p:cNvSpPr txBox="1"/>
          <p:nvPr/>
        </p:nvSpPr>
        <p:spPr>
          <a:xfrm>
            <a:off x="8351215" y="3209544"/>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آستانه‌ی ورود (پایه)</a:t>
            </a:r>
            <a:endParaRPr lang="en-US" sz="1350" dirty="0"/>
          </a:p>
        </p:txBody>
      </p:sp>
      <p:sp>
        <p:nvSpPr>
          <p:cNvPr id="21" name="Text 19"/>
          <p:cNvSpPr txBox="1"/>
          <p:nvPr/>
        </p:nvSpPr>
        <p:spPr>
          <a:xfrm>
            <a:off x="5470855" y="3209544"/>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در بازه‌ی ۱۰۰ هزار تا ۲ میلیون سورن</a:t>
            </a:r>
            <a:endParaRPr lang="en-US" sz="1200" dirty="0"/>
          </a:p>
        </p:txBody>
      </p:sp>
      <p:sp>
        <p:nvSpPr>
          <p:cNvPr id="22" name="Shape 20"/>
          <p:cNvSpPr/>
          <p:nvPr/>
        </p:nvSpPr>
        <p:spPr>
          <a:xfrm>
            <a:off x="5333695" y="3922776"/>
            <a:ext cx="6309360" cy="603504"/>
          </a:xfrm>
          <a:prstGeom prst="roundRect">
            <a:avLst>
              <a:gd name="adj" fmla="val 18182"/>
            </a:avLst>
          </a:prstGeom>
          <a:solidFill>
            <a:srgbClr val="F7F9FC"/>
          </a:solidFill>
          <a:ln w="9525">
            <a:solidFill>
              <a:srgbClr val="DDE1EE"/>
            </a:solidFill>
            <a:prstDash val="solid"/>
          </a:ln>
        </p:spPr>
      </p:sp>
      <p:sp>
        <p:nvSpPr>
          <p:cNvPr id="23" name="Shape 21"/>
          <p:cNvSpPr/>
          <p:nvPr/>
        </p:nvSpPr>
        <p:spPr>
          <a:xfrm>
            <a:off x="11149279" y="4032504"/>
            <a:ext cx="384048" cy="384048"/>
          </a:xfrm>
          <a:prstGeom prst="ellipse">
            <a:avLst/>
          </a:prstGeom>
          <a:solidFill>
            <a:srgbClr val="2F3690"/>
          </a:solidFill>
          <a:ln w="12700">
            <a:solidFill>
              <a:srgbClr val="2F3690"/>
            </a:solidFill>
            <a:prstDash val="solid"/>
          </a:ln>
        </p:spPr>
      </p:sp>
      <p:sp>
        <p:nvSpPr>
          <p:cNvPr id="24" name="Text 22"/>
          <p:cNvSpPr txBox="1"/>
          <p:nvPr/>
        </p:nvSpPr>
        <p:spPr>
          <a:xfrm>
            <a:off x="11149279" y="4032504"/>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۴</a:t>
            </a:r>
            <a:endParaRPr lang="en-US" sz="1300" dirty="0"/>
          </a:p>
        </p:txBody>
      </p:sp>
      <p:sp>
        <p:nvSpPr>
          <p:cNvPr id="25" name="Text 23"/>
          <p:cNvSpPr txBox="1"/>
          <p:nvPr/>
        </p:nvSpPr>
        <p:spPr>
          <a:xfrm>
            <a:off x="8351215" y="3922776"/>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ضریب رشد وثیقه</a:t>
            </a:r>
            <a:endParaRPr lang="en-US" sz="1350" dirty="0"/>
          </a:p>
        </p:txBody>
      </p:sp>
      <p:sp>
        <p:nvSpPr>
          <p:cNvPr id="26" name="Text 24"/>
          <p:cNvSpPr txBox="1"/>
          <p:nvPr/>
        </p:nvSpPr>
        <p:spPr>
          <a:xfrm>
            <a:off x="5470855" y="3922776"/>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دوبرابرشدن هر ۲۰ تا ۸۰ ولیدیتور</a:t>
            </a:r>
            <a:endParaRPr lang="en-US" sz="1200" dirty="0"/>
          </a:p>
        </p:txBody>
      </p:sp>
      <p:sp>
        <p:nvSpPr>
          <p:cNvPr id="27" name="Shape 25"/>
          <p:cNvSpPr/>
          <p:nvPr/>
        </p:nvSpPr>
        <p:spPr>
          <a:xfrm>
            <a:off x="5333695" y="4636008"/>
            <a:ext cx="6309360" cy="603504"/>
          </a:xfrm>
          <a:prstGeom prst="roundRect">
            <a:avLst>
              <a:gd name="adj" fmla="val 18182"/>
            </a:avLst>
          </a:prstGeom>
          <a:solidFill>
            <a:srgbClr val="F7F9FC"/>
          </a:solidFill>
          <a:ln w="9525">
            <a:solidFill>
              <a:srgbClr val="DDE1EE"/>
            </a:solidFill>
            <a:prstDash val="solid"/>
          </a:ln>
        </p:spPr>
      </p:sp>
      <p:sp>
        <p:nvSpPr>
          <p:cNvPr id="28" name="Shape 26"/>
          <p:cNvSpPr/>
          <p:nvPr/>
        </p:nvSpPr>
        <p:spPr>
          <a:xfrm>
            <a:off x="11149279" y="4745736"/>
            <a:ext cx="384048" cy="384048"/>
          </a:xfrm>
          <a:prstGeom prst="ellipse">
            <a:avLst/>
          </a:prstGeom>
          <a:solidFill>
            <a:srgbClr val="2F3690"/>
          </a:solidFill>
          <a:ln w="12700">
            <a:solidFill>
              <a:srgbClr val="2F3690"/>
            </a:solidFill>
            <a:prstDash val="solid"/>
          </a:ln>
        </p:spPr>
      </p:sp>
      <p:sp>
        <p:nvSpPr>
          <p:cNvPr id="29" name="Text 27"/>
          <p:cNvSpPr txBox="1"/>
          <p:nvPr/>
        </p:nvSpPr>
        <p:spPr>
          <a:xfrm>
            <a:off x="11149279" y="4745736"/>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۵</a:t>
            </a:r>
            <a:endParaRPr lang="en-US" sz="1300" dirty="0"/>
          </a:p>
        </p:txBody>
      </p:sp>
      <p:sp>
        <p:nvSpPr>
          <p:cNvPr id="30" name="Text 28"/>
          <p:cNvSpPr txBox="1"/>
          <p:nvPr/>
        </p:nvSpPr>
        <p:spPr>
          <a:xfrm>
            <a:off x="8351215" y="4636008"/>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درصد کارمزد عضویت</a:t>
            </a:r>
            <a:endParaRPr lang="en-US" sz="1350" dirty="0"/>
          </a:p>
        </p:txBody>
      </p:sp>
      <p:sp>
        <p:nvSpPr>
          <p:cNvPr id="31" name="Text 29"/>
          <p:cNvSpPr txBox="1"/>
          <p:nvPr/>
        </p:nvSpPr>
        <p:spPr>
          <a:xfrm>
            <a:off x="5470855" y="4636008"/>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در بازه‌ی ۱ تا ۱۰٪</a:t>
            </a:r>
            <a:endParaRPr lang="en-US" sz="1200" dirty="0"/>
          </a:p>
        </p:txBody>
      </p:sp>
      <p:sp>
        <p:nvSpPr>
          <p:cNvPr id="32" name="Shape 30"/>
          <p:cNvSpPr/>
          <p:nvPr/>
        </p:nvSpPr>
        <p:spPr>
          <a:xfrm>
            <a:off x="5333695" y="5349240"/>
            <a:ext cx="6309360" cy="603504"/>
          </a:xfrm>
          <a:prstGeom prst="roundRect">
            <a:avLst>
              <a:gd name="adj" fmla="val 18182"/>
            </a:avLst>
          </a:prstGeom>
          <a:solidFill>
            <a:srgbClr val="F7F9FC"/>
          </a:solidFill>
          <a:ln w="9525">
            <a:solidFill>
              <a:srgbClr val="DDE1EE"/>
            </a:solidFill>
            <a:prstDash val="solid"/>
          </a:ln>
        </p:spPr>
      </p:sp>
      <p:sp>
        <p:nvSpPr>
          <p:cNvPr id="33" name="Shape 31"/>
          <p:cNvSpPr/>
          <p:nvPr/>
        </p:nvSpPr>
        <p:spPr>
          <a:xfrm>
            <a:off x="11149279" y="5458968"/>
            <a:ext cx="384048" cy="384048"/>
          </a:xfrm>
          <a:prstGeom prst="ellipse">
            <a:avLst/>
          </a:prstGeom>
          <a:solidFill>
            <a:srgbClr val="2F3690"/>
          </a:solidFill>
          <a:ln w="12700">
            <a:solidFill>
              <a:srgbClr val="2F3690"/>
            </a:solidFill>
            <a:prstDash val="solid"/>
          </a:ln>
        </p:spPr>
      </p:sp>
      <p:sp>
        <p:nvSpPr>
          <p:cNvPr id="34" name="Text 32"/>
          <p:cNvSpPr txBox="1"/>
          <p:nvPr/>
        </p:nvSpPr>
        <p:spPr>
          <a:xfrm>
            <a:off x="11149279" y="5458968"/>
            <a:ext cx="384048" cy="384048"/>
          </a:xfrm>
          <a:prstGeom prst="rect">
            <a:avLst/>
          </a:prstGeom>
          <a:noFill/>
          <a:ln/>
        </p:spPr>
        <p:txBody>
          <a:bodyPr wrap="square" lIns="0" tIns="0" rIns="0" bIns="0" rtlCol="0" anchor="ctr"/>
          <a:lstStyle/>
          <a:p>
            <a:pPr rtl="1" algn="ctr" indent="0" marL="0">
              <a:lnSpc>
                <a:spcPct val="105000"/>
              </a:lnSpc>
              <a:buNone/>
            </a:pPr>
            <a:r>
              <a:rPr lang="fa-IR" altLang="en-US" sz="1300" b="1" dirty="0">
                <a:solidFill>
                  <a:srgbClr val="FFFFFF"/>
                </a:solidFill>
                <a:latin typeface="Vazirmatn" pitchFamily="34" charset="0"/>
                <a:ea typeface="Vazirmatn" pitchFamily="34" charset="-122"/>
                <a:cs typeface="Vazirmatn" pitchFamily="34" charset="-120"/>
              </a:rPr>
              <a:t>۶</a:t>
            </a:r>
            <a:endParaRPr lang="en-US" sz="1300" dirty="0"/>
          </a:p>
        </p:txBody>
      </p:sp>
      <p:sp>
        <p:nvSpPr>
          <p:cNvPr id="35" name="Text 33"/>
          <p:cNvSpPr txBox="1"/>
          <p:nvPr/>
        </p:nvSpPr>
        <p:spPr>
          <a:xfrm>
            <a:off x="8351215" y="5349240"/>
            <a:ext cx="2651760" cy="603504"/>
          </a:xfrm>
          <a:prstGeom prst="rect">
            <a:avLst/>
          </a:prstGeom>
          <a:noFill/>
          <a:ln/>
        </p:spPr>
        <p:txBody>
          <a:bodyPr wrap="square" lIns="0" tIns="0" rIns="0" bIns="0" rtlCol="0" anchor="ctr"/>
          <a:lstStyle/>
          <a:p>
            <a:pPr rtl="1" algn="r" indent="0" marL="0">
              <a:lnSpc>
                <a:spcPct val="105000"/>
              </a:lnSpc>
              <a:buNone/>
            </a:pPr>
            <a:r>
              <a:rPr lang="fa-IR" altLang="en-US" sz="1350" b="1" dirty="0">
                <a:solidFill>
                  <a:srgbClr val="1B1B2F"/>
                </a:solidFill>
                <a:latin typeface="Vazirmatn" pitchFamily="34" charset="0"/>
                <a:ea typeface="Vazirmatn" pitchFamily="34" charset="-122"/>
                <a:cs typeface="Vazirmatn" pitchFamily="34" charset="-120"/>
              </a:rPr>
              <a:t>چرخش کلید verifier</a:t>
            </a:r>
            <a:endParaRPr lang="en-US" sz="1350" dirty="0"/>
          </a:p>
        </p:txBody>
      </p:sp>
      <p:sp>
        <p:nvSpPr>
          <p:cNvPr id="36" name="Text 34"/>
          <p:cNvSpPr txBox="1"/>
          <p:nvPr/>
        </p:nvSpPr>
        <p:spPr>
          <a:xfrm>
            <a:off x="5470855" y="5349240"/>
            <a:ext cx="2834640" cy="603504"/>
          </a:xfrm>
          <a:prstGeom prst="rect">
            <a:avLst/>
          </a:prstGeom>
          <a:noFill/>
          <a:ln/>
        </p:spPr>
        <p:txBody>
          <a:bodyPr wrap="square" lIns="0" tIns="0" rIns="0" bIns="0" rtlCol="0" anchor="ctr"/>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کلید تصمیم‌های وضعیت ولیدیتور</a:t>
            </a:r>
            <a:endParaRPr lang="en-US" sz="1200" dirty="0"/>
          </a:p>
        </p:txBody>
      </p:sp>
      <p:sp>
        <p:nvSpPr>
          <p:cNvPr id="37" name="Shape 35"/>
          <p:cNvSpPr/>
          <p:nvPr/>
        </p:nvSpPr>
        <p:spPr>
          <a:xfrm>
            <a:off x="548640" y="1371600"/>
            <a:ext cx="4526280" cy="4754880"/>
          </a:xfrm>
          <a:prstGeom prst="roundRect">
            <a:avLst>
              <a:gd name="adj" fmla="val 2424"/>
            </a:avLst>
          </a:prstGeom>
          <a:solidFill>
            <a:srgbClr val="F0F1F5"/>
          </a:solidFill>
          <a:ln w="9525">
            <a:solidFill>
              <a:srgbClr val="F0F1F5"/>
            </a:solidFill>
            <a:prstDash val="solid"/>
          </a:ln>
        </p:spPr>
      </p:sp>
      <p:sp>
        <p:nvSpPr>
          <p:cNvPr id="38" name="Text 36"/>
          <p:cNvSpPr txBox="1"/>
          <p:nvPr/>
        </p:nvSpPr>
        <p:spPr>
          <a:xfrm>
            <a:off x="731520" y="1508760"/>
            <a:ext cx="4160520" cy="32004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5F6472"/>
                </a:solidFill>
                <a:latin typeface="Vazirmatn" pitchFamily="34" charset="0"/>
                <a:ea typeface="Vazirmatn" pitchFamily="34" charset="-122"/>
                <a:cs typeface="Vazirmatn" pitchFamily="34" charset="-120"/>
              </a:rPr>
              <a:t>آنچه هیأت نمی‌تواند</a:t>
            </a:r>
            <a:endParaRPr lang="en-US" sz="1600" dirty="0"/>
          </a:p>
        </p:txBody>
      </p:sp>
      <p:sp>
        <p:nvSpPr>
          <p:cNvPr id="39" name="Text 37"/>
          <p:cNvSpPr txBox="1"/>
          <p:nvPr/>
        </p:nvSpPr>
        <p:spPr>
          <a:xfrm>
            <a:off x="731520" y="1965960"/>
            <a:ext cx="4160520" cy="4023360"/>
          </a:xfrm>
          <a:prstGeom prst="rect">
            <a:avLst/>
          </a:prstGeom>
          <a:noFill/>
          <a:ln/>
        </p:spPr>
        <p:txBody>
          <a:bodyPr wrap="square" lIns="0" tIns="0" rIns="0" bIns="0" rtlCol="0" anchor="t"/>
          <a:lstStyle/>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سایر پارامترهای امنیتی (دوره‌ی آزمایشی، بازگشت، درصد جریمه، انتظار خروج) فقط با رأی کامل مجمع.</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سقف‌های خزانه فقط با رأی مجمع و تأخیر ۷ روزه.</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آدرس قراردادهای اصلی و رسیدگی به جریمه‌ها (مرجع: مجمع کامل).</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اگر اعضای دارای اختیار کمتر از ۳ نفر شوند، پرداخت خزانه متوقف می‌شود.</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حکمرانی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نقشه‌ی تصمیم‌ها: چه کسی، با چه نصابی، با چه تأخیری</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26</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87775"/>
                <a:gridCol w="1920240"/>
                <a:gridCol w="2286000"/>
                <a:gridCol w="3200400"/>
              </a:tblGrid>
              <a:tr h="384048">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شرط یا تأخیر</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نصاب</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مرجع</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تصمیم</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حدود مجاز؛ ۱۸۰ روز قفل مشترک پس از هر تغییر</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۳ از ۵</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هیأت ولیدیتورها</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سه پارامتر اقتصادی ورود</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قیدهای کد (مثلاً انتظار خروج بلندتر از ۷۲ ساعت)</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اکثریت ساده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مجمع ولیدیتورها</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پارامترهای امنیتی ولیدیتور</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حداقل ۱۸۰ روز بین دو تغییر؛ انقضا ۳۰ روز</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۳ از ۵ و دوسوم</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هیأت و مجمع</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سهم مستقیم ولیدیتورها (۴۰ تا ۶۵٪)</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۷ روز تأخیر و حداقل ۲۰۱٬۶۰۰ بلاک تا شروع</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۳ از ۵ و دوسوم</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هیأت و مجمع</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نرخ پاداش هر بلاک</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تا ۵۰٬۰۰۰ هر پرداخت و ۲۰۰٬۰۰۰ در پنجره‌ی ۳۰روزه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حداقل ۳ رأی</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هیأت</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خرج از خزانه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۷ روز تأخیر پیش از اعمال</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اکثریت ساده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مجمع ولیدیتورها</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تغییر سقف‌های خزانه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اعتراض ۷۲ ساعته و مهلت رأی ۷ روزه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اکثریت ساده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مجمع (به‌جز موضوع)</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جریمه‌ی ولیدیتور</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سایر پیشنهادها اکثریت ساده (۸ از ۱۵)</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دوسوم (۱۰ از ۱۵)</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FoundationDAO</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افزودن یا حذف عضو بنیاد</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حکمرانی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تغییر نرخ پاداش بلاک: حکمرانی روی زنجیره، اعمال روی Besu</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27</a:t>
            </a:r>
            <a:endParaRPr lang="en-US" sz="1000" dirty="0"/>
          </a:p>
        </p:txBody>
      </p:sp>
      <p:sp>
        <p:nvSpPr>
          <p:cNvPr id="6" name="Shape 4"/>
          <p:cNvSpPr/>
          <p:nvPr/>
        </p:nvSpPr>
        <p:spPr>
          <a:xfrm>
            <a:off x="9951415" y="1463040"/>
            <a:ext cx="1691640" cy="2057400"/>
          </a:xfrm>
          <a:prstGeom prst="roundRect">
            <a:avLst>
              <a:gd name="adj" fmla="val 6486"/>
            </a:avLst>
          </a:prstGeom>
          <a:solidFill>
            <a:srgbClr val="EEF0FB"/>
          </a:solidFill>
          <a:ln w="9525">
            <a:solidFill>
              <a:srgbClr val="EEF0FB"/>
            </a:solidFill>
            <a:prstDash val="solid"/>
          </a:ln>
        </p:spPr>
      </p:sp>
      <p:sp>
        <p:nvSpPr>
          <p:cNvPr id="7" name="Shape 5"/>
          <p:cNvSpPr/>
          <p:nvPr/>
        </p:nvSpPr>
        <p:spPr>
          <a:xfrm>
            <a:off x="10568635" y="1572768"/>
            <a:ext cx="457200" cy="457200"/>
          </a:xfrm>
          <a:prstGeom prst="ellipse">
            <a:avLst/>
          </a:prstGeom>
          <a:solidFill>
            <a:srgbClr val="2F3690"/>
          </a:solidFill>
          <a:ln w="12700">
            <a:solidFill>
              <a:srgbClr val="2F3690"/>
            </a:solidFill>
            <a:prstDash val="solid"/>
          </a:ln>
        </p:spPr>
      </p:sp>
      <p:sp>
        <p:nvSpPr>
          <p:cNvPr id="8" name="Text 6"/>
          <p:cNvSpPr txBox="1"/>
          <p:nvPr/>
        </p:nvSpPr>
        <p:spPr>
          <a:xfrm>
            <a:off x="10568635"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۱</a:t>
            </a:r>
            <a:endParaRPr lang="en-US" sz="1400" dirty="0"/>
          </a:p>
        </p:txBody>
      </p:sp>
      <p:sp>
        <p:nvSpPr>
          <p:cNvPr id="9" name="Text 7"/>
          <p:cNvSpPr txBox="1"/>
          <p:nvPr/>
        </p:nvSpPr>
        <p:spPr>
          <a:xfrm>
            <a:off x="10042855"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پیشنهاد</a:t>
            </a:r>
            <a:endParaRPr lang="en-US" sz="1300" dirty="0"/>
          </a:p>
        </p:txBody>
      </p:sp>
      <p:sp>
        <p:nvSpPr>
          <p:cNvPr id="10" name="Text 8"/>
          <p:cNvSpPr txBox="1"/>
          <p:nvPr/>
        </p:nvSpPr>
        <p:spPr>
          <a:xfrm>
            <a:off x="10042855"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ولیدیتور فعال ارتفاع شروع و نرخ را پیشنهاد می‌دهد</a:t>
            </a:r>
            <a:endParaRPr lang="en-US" sz="1100" dirty="0"/>
          </a:p>
        </p:txBody>
      </p:sp>
      <p:sp>
        <p:nvSpPr>
          <p:cNvPr id="11" name="Shape 9"/>
          <p:cNvSpPr/>
          <p:nvPr/>
        </p:nvSpPr>
        <p:spPr>
          <a:xfrm flipH="1">
            <a:off x="9782251" y="2468880"/>
            <a:ext cx="150876" cy="0"/>
          </a:xfrm>
          <a:prstGeom prst="line">
            <a:avLst/>
          </a:prstGeom>
          <a:noFill/>
          <a:ln w="25400">
            <a:solidFill>
              <a:srgbClr val="2F3690"/>
            </a:solidFill>
            <a:prstDash val="solid"/>
            <a:tailEnd type="triangle"/>
          </a:ln>
        </p:spPr>
      </p:sp>
      <p:sp>
        <p:nvSpPr>
          <p:cNvPr id="12" name="Shape 10"/>
          <p:cNvSpPr/>
          <p:nvPr/>
        </p:nvSpPr>
        <p:spPr>
          <a:xfrm>
            <a:off x="8072323" y="1463040"/>
            <a:ext cx="1691640" cy="2057400"/>
          </a:xfrm>
          <a:prstGeom prst="roundRect">
            <a:avLst>
              <a:gd name="adj" fmla="val 6486"/>
            </a:avLst>
          </a:prstGeom>
          <a:solidFill>
            <a:srgbClr val="F7F9FC"/>
          </a:solidFill>
          <a:ln w="9525">
            <a:solidFill>
              <a:srgbClr val="DDE1EE"/>
            </a:solidFill>
            <a:prstDash val="solid"/>
          </a:ln>
        </p:spPr>
      </p:sp>
      <p:sp>
        <p:nvSpPr>
          <p:cNvPr id="13" name="Shape 11"/>
          <p:cNvSpPr/>
          <p:nvPr/>
        </p:nvSpPr>
        <p:spPr>
          <a:xfrm>
            <a:off x="8689543" y="1572768"/>
            <a:ext cx="457200" cy="457200"/>
          </a:xfrm>
          <a:prstGeom prst="ellipse">
            <a:avLst/>
          </a:prstGeom>
          <a:solidFill>
            <a:srgbClr val="2F3690"/>
          </a:solidFill>
          <a:ln w="12700">
            <a:solidFill>
              <a:srgbClr val="2F3690"/>
            </a:solidFill>
            <a:prstDash val="solid"/>
          </a:ln>
        </p:spPr>
      </p:sp>
      <p:sp>
        <p:nvSpPr>
          <p:cNvPr id="14" name="Text 12"/>
          <p:cNvSpPr txBox="1"/>
          <p:nvPr/>
        </p:nvSpPr>
        <p:spPr>
          <a:xfrm>
            <a:off x="8689543"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۲</a:t>
            </a:r>
            <a:endParaRPr lang="en-US" sz="1400" dirty="0"/>
          </a:p>
        </p:txBody>
      </p:sp>
      <p:sp>
        <p:nvSpPr>
          <p:cNvPr id="15" name="Text 13"/>
          <p:cNvSpPr txBox="1"/>
          <p:nvPr/>
        </p:nvSpPr>
        <p:spPr>
          <a:xfrm>
            <a:off x="8163763"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رأی‌گیری تا ۳۰ روز</a:t>
            </a:r>
            <a:endParaRPr lang="en-US" sz="1300" dirty="0"/>
          </a:p>
        </p:txBody>
      </p:sp>
      <p:sp>
        <p:nvSpPr>
          <p:cNvPr id="16" name="Text 14"/>
          <p:cNvSpPr txBox="1"/>
          <p:nvPr/>
        </p:nvSpPr>
        <p:spPr>
          <a:xfrm>
            <a:off x="8163763"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هیأت ۳ از ۵ و دوسوم ولیدیتورهای واجد هنگام ساخت</a:t>
            </a:r>
            <a:endParaRPr lang="en-US" sz="1100" dirty="0"/>
          </a:p>
        </p:txBody>
      </p:sp>
      <p:sp>
        <p:nvSpPr>
          <p:cNvPr id="17" name="Shape 15"/>
          <p:cNvSpPr/>
          <p:nvPr/>
        </p:nvSpPr>
        <p:spPr>
          <a:xfrm flipH="1">
            <a:off x="7903159" y="2468880"/>
            <a:ext cx="150876" cy="0"/>
          </a:xfrm>
          <a:prstGeom prst="line">
            <a:avLst/>
          </a:prstGeom>
          <a:noFill/>
          <a:ln w="25400">
            <a:solidFill>
              <a:srgbClr val="2F3690"/>
            </a:solidFill>
            <a:prstDash val="solid"/>
            <a:tailEnd type="triangle"/>
          </a:ln>
        </p:spPr>
      </p:sp>
      <p:sp>
        <p:nvSpPr>
          <p:cNvPr id="18" name="Shape 16"/>
          <p:cNvSpPr/>
          <p:nvPr/>
        </p:nvSpPr>
        <p:spPr>
          <a:xfrm>
            <a:off x="6193231" y="1463040"/>
            <a:ext cx="1691640" cy="2057400"/>
          </a:xfrm>
          <a:prstGeom prst="roundRect">
            <a:avLst>
              <a:gd name="adj" fmla="val 6486"/>
            </a:avLst>
          </a:prstGeom>
          <a:solidFill>
            <a:srgbClr val="EEF0FB"/>
          </a:solidFill>
          <a:ln w="9525">
            <a:solidFill>
              <a:srgbClr val="EEF0FB"/>
            </a:solidFill>
            <a:prstDash val="solid"/>
          </a:ln>
        </p:spPr>
      </p:sp>
      <p:sp>
        <p:nvSpPr>
          <p:cNvPr id="19" name="Shape 17"/>
          <p:cNvSpPr/>
          <p:nvPr/>
        </p:nvSpPr>
        <p:spPr>
          <a:xfrm>
            <a:off x="6810451" y="1572768"/>
            <a:ext cx="457200" cy="457200"/>
          </a:xfrm>
          <a:prstGeom prst="ellipse">
            <a:avLst/>
          </a:prstGeom>
          <a:solidFill>
            <a:srgbClr val="2F3690"/>
          </a:solidFill>
          <a:ln w="12700">
            <a:solidFill>
              <a:srgbClr val="2F3690"/>
            </a:solidFill>
            <a:prstDash val="solid"/>
          </a:ln>
        </p:spPr>
      </p:sp>
      <p:sp>
        <p:nvSpPr>
          <p:cNvPr id="20" name="Text 18"/>
          <p:cNvSpPr txBox="1"/>
          <p:nvPr/>
        </p:nvSpPr>
        <p:spPr>
          <a:xfrm>
            <a:off x="6810451"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۳</a:t>
            </a:r>
            <a:endParaRPr lang="en-US" sz="1400" dirty="0"/>
          </a:p>
        </p:txBody>
      </p:sp>
      <p:sp>
        <p:nvSpPr>
          <p:cNvPr id="21" name="Text 19"/>
          <p:cNvSpPr txBox="1"/>
          <p:nvPr/>
        </p:nvSpPr>
        <p:spPr>
          <a:xfrm>
            <a:off x="6284671"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تأخیر ۷ روزه</a:t>
            </a:r>
            <a:endParaRPr lang="en-US" sz="1300" dirty="0"/>
          </a:p>
        </p:txBody>
      </p:sp>
      <p:sp>
        <p:nvSpPr>
          <p:cNvPr id="22" name="Text 20"/>
          <p:cNvSpPr txBox="1"/>
          <p:nvPr/>
        </p:nvSpPr>
        <p:spPr>
          <a:xfrm>
            <a:off x="6284671"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از تکمیل هر دو مجلس</a:t>
            </a:r>
            <a:endParaRPr lang="en-US" sz="1100" dirty="0"/>
          </a:p>
        </p:txBody>
      </p:sp>
      <p:sp>
        <p:nvSpPr>
          <p:cNvPr id="23" name="Shape 21"/>
          <p:cNvSpPr/>
          <p:nvPr/>
        </p:nvSpPr>
        <p:spPr>
          <a:xfrm flipH="1">
            <a:off x="6024067" y="2468880"/>
            <a:ext cx="150876" cy="0"/>
          </a:xfrm>
          <a:prstGeom prst="line">
            <a:avLst/>
          </a:prstGeom>
          <a:noFill/>
          <a:ln w="25400">
            <a:solidFill>
              <a:srgbClr val="2F3690"/>
            </a:solidFill>
            <a:prstDash val="solid"/>
            <a:tailEnd type="triangle"/>
          </a:ln>
        </p:spPr>
      </p:sp>
      <p:sp>
        <p:nvSpPr>
          <p:cNvPr id="24" name="Shape 22"/>
          <p:cNvSpPr/>
          <p:nvPr/>
        </p:nvSpPr>
        <p:spPr>
          <a:xfrm>
            <a:off x="4314139" y="1463040"/>
            <a:ext cx="1691640" cy="2057400"/>
          </a:xfrm>
          <a:prstGeom prst="roundRect">
            <a:avLst>
              <a:gd name="adj" fmla="val 6486"/>
            </a:avLst>
          </a:prstGeom>
          <a:solidFill>
            <a:srgbClr val="F7F9FC"/>
          </a:solidFill>
          <a:ln w="9525">
            <a:solidFill>
              <a:srgbClr val="DDE1EE"/>
            </a:solidFill>
            <a:prstDash val="solid"/>
          </a:ln>
        </p:spPr>
      </p:sp>
      <p:sp>
        <p:nvSpPr>
          <p:cNvPr id="25" name="Shape 23"/>
          <p:cNvSpPr/>
          <p:nvPr/>
        </p:nvSpPr>
        <p:spPr>
          <a:xfrm>
            <a:off x="4931359" y="1572768"/>
            <a:ext cx="457200" cy="457200"/>
          </a:xfrm>
          <a:prstGeom prst="ellipse">
            <a:avLst/>
          </a:prstGeom>
          <a:solidFill>
            <a:srgbClr val="2F3690"/>
          </a:solidFill>
          <a:ln w="12700">
            <a:solidFill>
              <a:srgbClr val="2F3690"/>
            </a:solidFill>
            <a:prstDash val="solid"/>
          </a:ln>
        </p:spPr>
      </p:sp>
      <p:sp>
        <p:nvSpPr>
          <p:cNvPr id="26" name="Text 24"/>
          <p:cNvSpPr txBox="1"/>
          <p:nvPr/>
        </p:nvSpPr>
        <p:spPr>
          <a:xfrm>
            <a:off x="4931359"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۴</a:t>
            </a:r>
            <a:endParaRPr lang="en-US" sz="1400" dirty="0"/>
          </a:p>
        </p:txBody>
      </p:sp>
      <p:sp>
        <p:nvSpPr>
          <p:cNvPr id="27" name="Text 25"/>
          <p:cNvSpPr txBox="1"/>
          <p:nvPr/>
        </p:nvSpPr>
        <p:spPr>
          <a:xfrm>
            <a:off x="4405579"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اجرا و ثبت</a:t>
            </a:r>
            <a:endParaRPr lang="en-US" sz="1300" dirty="0"/>
          </a:p>
        </p:txBody>
      </p:sp>
      <p:sp>
        <p:nvSpPr>
          <p:cNvPr id="28" name="Text 26"/>
          <p:cNvSpPr txBox="1"/>
          <p:nvPr/>
        </p:nvSpPr>
        <p:spPr>
          <a:xfrm>
            <a:off x="4405579"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هرکس اجرا می‌کند؛ نرخ در تاریخچه‌ی فقط‌افزودنی ثبت می‌شود</a:t>
            </a:r>
            <a:endParaRPr lang="en-US" sz="1100" dirty="0"/>
          </a:p>
        </p:txBody>
      </p:sp>
      <p:sp>
        <p:nvSpPr>
          <p:cNvPr id="29" name="Shape 27"/>
          <p:cNvSpPr/>
          <p:nvPr/>
        </p:nvSpPr>
        <p:spPr>
          <a:xfrm flipH="1">
            <a:off x="4144975" y="2468880"/>
            <a:ext cx="150876" cy="0"/>
          </a:xfrm>
          <a:prstGeom prst="line">
            <a:avLst/>
          </a:prstGeom>
          <a:noFill/>
          <a:ln w="25400">
            <a:solidFill>
              <a:srgbClr val="2F3690"/>
            </a:solidFill>
            <a:prstDash val="solid"/>
            <a:tailEnd type="triangle"/>
          </a:ln>
        </p:spPr>
      </p:sp>
      <p:sp>
        <p:nvSpPr>
          <p:cNvPr id="30" name="Shape 28"/>
          <p:cNvSpPr/>
          <p:nvPr/>
        </p:nvSpPr>
        <p:spPr>
          <a:xfrm>
            <a:off x="2435047" y="1463040"/>
            <a:ext cx="1691640" cy="2057400"/>
          </a:xfrm>
          <a:prstGeom prst="roundRect">
            <a:avLst>
              <a:gd name="adj" fmla="val 6486"/>
            </a:avLst>
          </a:prstGeom>
          <a:solidFill>
            <a:srgbClr val="EEF0FB"/>
          </a:solidFill>
          <a:ln w="9525">
            <a:solidFill>
              <a:srgbClr val="EEF0FB"/>
            </a:solidFill>
            <a:prstDash val="solid"/>
          </a:ln>
        </p:spPr>
      </p:sp>
      <p:sp>
        <p:nvSpPr>
          <p:cNvPr id="31" name="Shape 29"/>
          <p:cNvSpPr/>
          <p:nvPr/>
        </p:nvSpPr>
        <p:spPr>
          <a:xfrm>
            <a:off x="3052267" y="1572768"/>
            <a:ext cx="457200" cy="457200"/>
          </a:xfrm>
          <a:prstGeom prst="ellipse">
            <a:avLst/>
          </a:prstGeom>
          <a:solidFill>
            <a:srgbClr val="2F3690"/>
          </a:solidFill>
          <a:ln w="12700">
            <a:solidFill>
              <a:srgbClr val="2F3690"/>
            </a:solidFill>
            <a:prstDash val="solid"/>
          </a:ln>
        </p:spPr>
      </p:sp>
      <p:sp>
        <p:nvSpPr>
          <p:cNvPr id="32" name="Text 30"/>
          <p:cNvSpPr txBox="1"/>
          <p:nvPr/>
        </p:nvSpPr>
        <p:spPr>
          <a:xfrm>
            <a:off x="3052267"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۵</a:t>
            </a:r>
            <a:endParaRPr lang="en-US" sz="1400" dirty="0"/>
          </a:p>
        </p:txBody>
      </p:sp>
      <p:sp>
        <p:nvSpPr>
          <p:cNvPr id="33" name="Text 31"/>
          <p:cNvSpPr txBox="1"/>
          <p:nvPr/>
        </p:nvSpPr>
        <p:spPr>
          <a:xfrm>
            <a:off x="2526487"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حداقل ۲۰۱٬۶۰۰ بلاک</a:t>
            </a:r>
            <a:endParaRPr lang="en-US" sz="1300" dirty="0"/>
          </a:p>
        </p:txBody>
      </p:sp>
      <p:sp>
        <p:nvSpPr>
          <p:cNvPr id="34" name="Text 32"/>
          <p:cNvSpPr txBox="1"/>
          <p:nvPr/>
        </p:nvSpPr>
        <p:spPr>
          <a:xfrm>
            <a:off x="2526487"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فاصله‌ی بلاک اجرا تا ارتفاع شروع (حدود ۷ روز؛ جدا از تأخیر زمانی)</a:t>
            </a:r>
            <a:endParaRPr lang="en-US" sz="1100" dirty="0"/>
          </a:p>
        </p:txBody>
      </p:sp>
      <p:sp>
        <p:nvSpPr>
          <p:cNvPr id="35" name="Shape 33"/>
          <p:cNvSpPr/>
          <p:nvPr/>
        </p:nvSpPr>
        <p:spPr>
          <a:xfrm flipH="1">
            <a:off x="2265883" y="2468880"/>
            <a:ext cx="150876" cy="0"/>
          </a:xfrm>
          <a:prstGeom prst="line">
            <a:avLst/>
          </a:prstGeom>
          <a:noFill/>
          <a:ln w="25400">
            <a:solidFill>
              <a:srgbClr val="2F3690"/>
            </a:solidFill>
            <a:prstDash val="solid"/>
            <a:tailEnd type="triangle"/>
          </a:ln>
        </p:spPr>
      </p:sp>
      <p:sp>
        <p:nvSpPr>
          <p:cNvPr id="36" name="Shape 34"/>
          <p:cNvSpPr/>
          <p:nvPr/>
        </p:nvSpPr>
        <p:spPr>
          <a:xfrm>
            <a:off x="555955" y="1463040"/>
            <a:ext cx="1691640" cy="2057400"/>
          </a:xfrm>
          <a:prstGeom prst="roundRect">
            <a:avLst>
              <a:gd name="adj" fmla="val 6486"/>
            </a:avLst>
          </a:prstGeom>
          <a:solidFill>
            <a:srgbClr val="FCEAE4"/>
          </a:solidFill>
          <a:ln w="9525">
            <a:solidFill>
              <a:srgbClr val="FCEAE4"/>
            </a:solidFill>
            <a:prstDash val="solid"/>
          </a:ln>
        </p:spPr>
      </p:sp>
      <p:sp>
        <p:nvSpPr>
          <p:cNvPr id="37" name="Shape 35"/>
          <p:cNvSpPr/>
          <p:nvPr/>
        </p:nvSpPr>
        <p:spPr>
          <a:xfrm>
            <a:off x="1173175" y="1572768"/>
            <a:ext cx="457200" cy="457200"/>
          </a:xfrm>
          <a:prstGeom prst="ellipse">
            <a:avLst/>
          </a:prstGeom>
          <a:solidFill>
            <a:srgbClr val="C8431F"/>
          </a:solidFill>
          <a:ln w="12700">
            <a:solidFill>
              <a:srgbClr val="C8431F"/>
            </a:solidFill>
            <a:prstDash val="solid"/>
          </a:ln>
        </p:spPr>
      </p:sp>
      <p:sp>
        <p:nvSpPr>
          <p:cNvPr id="38" name="Text 36"/>
          <p:cNvSpPr txBox="1"/>
          <p:nvPr/>
        </p:nvSpPr>
        <p:spPr>
          <a:xfrm>
            <a:off x="1173175" y="1572768"/>
            <a:ext cx="457200" cy="45720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۶</a:t>
            </a:r>
            <a:endParaRPr lang="en-US" sz="1400" dirty="0"/>
          </a:p>
        </p:txBody>
      </p:sp>
      <p:sp>
        <p:nvSpPr>
          <p:cNvPr id="39" name="Text 37"/>
          <p:cNvSpPr txBox="1"/>
          <p:nvPr/>
        </p:nvSpPr>
        <p:spPr>
          <a:xfrm>
            <a:off x="647395" y="2121408"/>
            <a:ext cx="1508760" cy="502920"/>
          </a:xfrm>
          <a:prstGeom prst="rect">
            <a:avLst/>
          </a:prstGeom>
          <a:noFill/>
          <a:ln/>
        </p:spPr>
        <p:txBody>
          <a:bodyPr wrap="square" lIns="0" tIns="0" rIns="0" bIns="0" rtlCol="0" anchor="t"/>
          <a:lstStyle/>
          <a:p>
            <a:pPr rtl="1" algn="ctr" indent="0" marL="0">
              <a:lnSpc>
                <a:spcPct val="105000"/>
              </a:lnSpc>
              <a:buNone/>
            </a:pPr>
            <a:r>
              <a:rPr lang="fa-IR" altLang="en-US" sz="1300" b="1" dirty="0">
                <a:solidFill>
                  <a:srgbClr val="1B1B2F"/>
                </a:solidFill>
                <a:latin typeface="Vazirmatn" pitchFamily="34" charset="0"/>
                <a:ea typeface="Vazirmatn" pitchFamily="34" charset="-122"/>
                <a:cs typeface="Vazirmatn" pitchFamily="34" charset="-120"/>
              </a:rPr>
              <a:t>اعمال در Besu</a:t>
            </a:r>
            <a:endParaRPr lang="en-US" sz="1300" dirty="0"/>
          </a:p>
        </p:txBody>
      </p:sp>
      <p:sp>
        <p:nvSpPr>
          <p:cNvPr id="40" name="Text 38"/>
          <p:cNvSpPr txBox="1"/>
          <p:nvPr/>
        </p:nvSpPr>
        <p:spPr>
          <a:xfrm>
            <a:off x="647395" y="2651760"/>
            <a:ext cx="1508760" cy="822960"/>
          </a:xfrm>
          <a:prstGeom prst="rect">
            <a:avLst/>
          </a:prstGeom>
          <a:noFill/>
          <a:ln/>
        </p:spPr>
        <p:txBody>
          <a:bodyPr wrap="square" lIns="0" tIns="0" rIns="0" bIns="0" rtlCol="0" anchor="t"/>
          <a:lstStyle/>
          <a:p>
            <a:pPr rtl="1" algn="ct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تنظیم گذار (transition) در پیکربندی همه‌ی نودها، پیش از ارتفاع شروع</a:t>
            </a:r>
            <a:endParaRPr lang="en-US" sz="1100" dirty="0"/>
          </a:p>
        </p:txBody>
      </p:sp>
      <p:sp>
        <p:nvSpPr>
          <p:cNvPr id="41" name="Shape 39"/>
          <p:cNvSpPr/>
          <p:nvPr/>
        </p:nvSpPr>
        <p:spPr>
          <a:xfrm>
            <a:off x="8078724" y="3749040"/>
            <a:ext cx="3564026" cy="2468880"/>
          </a:xfrm>
          <a:prstGeom prst="roundRect">
            <a:avLst>
              <a:gd name="adj" fmla="val 4444"/>
            </a:avLst>
          </a:prstGeom>
          <a:solidFill>
            <a:srgbClr val="F7F9FC"/>
          </a:solidFill>
          <a:ln w="9525">
            <a:solidFill>
              <a:srgbClr val="DDE1EE"/>
            </a:solidFill>
            <a:prstDash val="solid"/>
          </a:ln>
        </p:spPr>
      </p:sp>
      <p:sp>
        <p:nvSpPr>
          <p:cNvPr id="42" name="Shape 40"/>
          <p:cNvSpPr/>
          <p:nvPr/>
        </p:nvSpPr>
        <p:spPr>
          <a:xfrm>
            <a:off x="11002670" y="3886200"/>
            <a:ext cx="457200" cy="457200"/>
          </a:xfrm>
          <a:prstGeom prst="ellipse">
            <a:avLst/>
          </a:prstGeom>
          <a:solidFill>
            <a:srgbClr val="2F3690"/>
          </a:solidFill>
          <a:ln w="12700">
            <a:solidFill>
              <a:srgbClr val="2F3690"/>
            </a:solidFill>
            <a:prstDash val="solid"/>
          </a:ln>
        </p:spPr>
      </p:sp>
      <p:pic>
        <p:nvPicPr>
          <p:cNvPr id="43" name="Image 0" descr="preencoded.png">    </p:cNvPr>
          <p:cNvPicPr>
            <a:picLocks noChangeAspect="1"/>
          </p:cNvPicPr>
          <p:nvPr/>
        </p:nvPicPr>
        <p:blipFill>
          <a:blip r:embed="rId1"/>
          <a:stretch>
            <a:fillRect/>
          </a:stretch>
        </p:blipFill>
        <p:spPr>
          <a:xfrm>
            <a:off x="11126114" y="4009644"/>
            <a:ext cx="210312" cy="210312"/>
          </a:xfrm>
          <a:prstGeom prst="rect">
            <a:avLst/>
          </a:prstGeom>
        </p:spPr>
      </p:pic>
      <p:sp>
        <p:nvSpPr>
          <p:cNvPr id="44" name="Text 41"/>
          <p:cNvSpPr txBox="1"/>
          <p:nvPr/>
        </p:nvSpPr>
        <p:spPr>
          <a:xfrm>
            <a:off x="8215884" y="3931920"/>
            <a:ext cx="2649626"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سقف تاریخی در قرارداد</a:t>
            </a:r>
            <a:endParaRPr lang="en-US" sz="1400" dirty="0"/>
          </a:p>
        </p:txBody>
      </p:sp>
      <p:sp>
        <p:nvSpPr>
          <p:cNvPr id="45" name="Text 42"/>
          <p:cNvSpPr txBox="1"/>
          <p:nvPr/>
        </p:nvSpPr>
        <p:spPr>
          <a:xfrm>
            <a:off x="8215884" y="4526280"/>
            <a:ext cx="3289706" cy="16459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پاداش هر توزیع نباید از مجموع نرخ مصوبِ همان بازه بیشتر باشد (هزینه‌ی محاسبه: O(log n + k) با k تغییر نرخ داخل بازه).</a:t>
            </a:r>
            <a:endParaRPr lang="en-US" sz="1200" dirty="0"/>
          </a:p>
        </p:txBody>
      </p:sp>
      <p:sp>
        <p:nvSpPr>
          <p:cNvPr id="46" name="Shape 43"/>
          <p:cNvSpPr/>
          <p:nvPr/>
        </p:nvSpPr>
        <p:spPr>
          <a:xfrm>
            <a:off x="4314139" y="3749040"/>
            <a:ext cx="3564026" cy="2468880"/>
          </a:xfrm>
          <a:prstGeom prst="roundRect">
            <a:avLst>
              <a:gd name="adj" fmla="val 4444"/>
            </a:avLst>
          </a:prstGeom>
          <a:solidFill>
            <a:srgbClr val="FCEAE4"/>
          </a:solidFill>
          <a:ln w="9525">
            <a:solidFill>
              <a:srgbClr val="FCEAE4"/>
            </a:solidFill>
            <a:prstDash val="solid"/>
          </a:ln>
        </p:spPr>
      </p:sp>
      <p:sp>
        <p:nvSpPr>
          <p:cNvPr id="47" name="Shape 44"/>
          <p:cNvSpPr/>
          <p:nvPr/>
        </p:nvSpPr>
        <p:spPr>
          <a:xfrm>
            <a:off x="7238086" y="3886200"/>
            <a:ext cx="457200" cy="457200"/>
          </a:xfrm>
          <a:prstGeom prst="ellipse">
            <a:avLst/>
          </a:prstGeom>
          <a:solidFill>
            <a:srgbClr val="C8431F"/>
          </a:solidFill>
          <a:ln w="12700">
            <a:solidFill>
              <a:srgbClr val="C8431F"/>
            </a:solidFill>
            <a:prstDash val="solid"/>
          </a:ln>
        </p:spPr>
      </p:sp>
      <p:pic>
        <p:nvPicPr>
          <p:cNvPr id="48" name="Image 1" descr="preencoded.png">    </p:cNvPr>
          <p:cNvPicPr>
            <a:picLocks noChangeAspect="1"/>
          </p:cNvPicPr>
          <p:nvPr/>
        </p:nvPicPr>
        <p:blipFill>
          <a:blip r:embed="rId2"/>
          <a:stretch>
            <a:fillRect/>
          </a:stretch>
        </p:blipFill>
        <p:spPr>
          <a:xfrm>
            <a:off x="7361530" y="4009644"/>
            <a:ext cx="210312" cy="210312"/>
          </a:xfrm>
          <a:prstGeom prst="rect">
            <a:avLst/>
          </a:prstGeom>
        </p:spPr>
      </p:pic>
      <p:sp>
        <p:nvSpPr>
          <p:cNvPr id="49" name="Text 45"/>
          <p:cNvSpPr txBox="1"/>
          <p:nvPr/>
        </p:nvSpPr>
        <p:spPr>
          <a:xfrm>
            <a:off x="4451299" y="3931920"/>
            <a:ext cx="2649626"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اگر نرخ واقعی Besu بیشتر باشد</a:t>
            </a:r>
            <a:endParaRPr lang="en-US" sz="1400" dirty="0"/>
          </a:p>
        </p:txBody>
      </p:sp>
      <p:sp>
        <p:nvSpPr>
          <p:cNvPr id="50" name="Text 46"/>
          <p:cNvSpPr txBox="1"/>
          <p:nvPr/>
        </p:nvSpPr>
        <p:spPr>
          <a:xfrm>
            <a:off x="4451299" y="4526280"/>
            <a:ext cx="3289706" cy="16459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توزیع آن بازه رد می‌شود و پاداش کاهش داده نمی‌شود. مسیر رفع برای بازه‌ی گذشته هنوز تعریف نشده و هیچ مسیر دورزدن اضطراری وجود ندارد.</a:t>
            </a:r>
            <a:endParaRPr lang="en-US" sz="1200" dirty="0"/>
          </a:p>
        </p:txBody>
      </p:sp>
      <p:sp>
        <p:nvSpPr>
          <p:cNvPr id="51" name="Shape 47"/>
          <p:cNvSpPr/>
          <p:nvPr/>
        </p:nvSpPr>
        <p:spPr>
          <a:xfrm>
            <a:off x="548640" y="3749040"/>
            <a:ext cx="3564026" cy="2468880"/>
          </a:xfrm>
          <a:prstGeom prst="roundRect">
            <a:avLst>
              <a:gd name="adj" fmla="val 4444"/>
            </a:avLst>
          </a:prstGeom>
          <a:solidFill>
            <a:srgbClr val="F7F9FC"/>
          </a:solidFill>
          <a:ln w="9525">
            <a:solidFill>
              <a:srgbClr val="DDE1EE"/>
            </a:solidFill>
            <a:prstDash val="solid"/>
          </a:ln>
        </p:spPr>
      </p:sp>
      <p:sp>
        <p:nvSpPr>
          <p:cNvPr id="52" name="Shape 48"/>
          <p:cNvSpPr/>
          <p:nvPr/>
        </p:nvSpPr>
        <p:spPr>
          <a:xfrm>
            <a:off x="3472586" y="3886200"/>
            <a:ext cx="457200" cy="457200"/>
          </a:xfrm>
          <a:prstGeom prst="ellipse">
            <a:avLst/>
          </a:prstGeom>
          <a:solidFill>
            <a:srgbClr val="2F3690"/>
          </a:solidFill>
          <a:ln w="12700">
            <a:solidFill>
              <a:srgbClr val="2F3690"/>
            </a:solidFill>
            <a:prstDash val="solid"/>
          </a:ln>
        </p:spPr>
      </p:sp>
      <p:pic>
        <p:nvPicPr>
          <p:cNvPr id="53" name="Image 2" descr="preencoded.png">    </p:cNvPr>
          <p:cNvPicPr>
            <a:picLocks noChangeAspect="1"/>
          </p:cNvPicPr>
          <p:nvPr/>
        </p:nvPicPr>
        <p:blipFill>
          <a:blip r:embed="rId3"/>
          <a:stretch>
            <a:fillRect/>
          </a:stretch>
        </p:blipFill>
        <p:spPr>
          <a:xfrm>
            <a:off x="3596030" y="4009644"/>
            <a:ext cx="210312" cy="210312"/>
          </a:xfrm>
          <a:prstGeom prst="rect">
            <a:avLst/>
          </a:prstGeom>
        </p:spPr>
      </p:pic>
      <p:sp>
        <p:nvSpPr>
          <p:cNvPr id="54" name="Text 49"/>
          <p:cNvSpPr txBox="1"/>
          <p:nvPr/>
        </p:nvSpPr>
        <p:spPr>
          <a:xfrm>
            <a:off x="685800" y="3931920"/>
            <a:ext cx="2649626" cy="41148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هماهنگی عملیاتی</a:t>
            </a:r>
            <a:endParaRPr lang="en-US" sz="1400" dirty="0"/>
          </a:p>
        </p:txBody>
      </p:sp>
      <p:sp>
        <p:nvSpPr>
          <p:cNvPr id="55" name="Text 50"/>
          <p:cNvSpPr txBox="1"/>
          <p:nvPr/>
        </p:nvSpPr>
        <p:spPr>
          <a:xfrm>
            <a:off x="685800" y="4526280"/>
            <a:ext cx="3289706" cy="164592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1B1B2F"/>
                </a:solidFill>
                <a:latin typeface="Vazirmatn" pitchFamily="34" charset="0"/>
                <a:ea typeface="Vazirmatn" pitchFamily="34" charset="-122"/>
                <a:cs typeface="Vazirmatn" pitchFamily="34" charset="-120"/>
              </a:rPr>
              <a:t>تغییر واقعی پاداش با transitions.qbft در پیکربندی Besu انجام می‌شود و باید پیش از ارتفاع شروع، هم‌زمان روی همه‌ی نودها اعمال شود.</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حکمرانی</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خزانه‌ی ولیدیتورها: انباشت با توان خرج یکی نیست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28</a:t>
            </a:r>
            <a:endParaRPr lang="en-US" sz="1000" dirty="0"/>
          </a:p>
        </p:txBody>
      </p:sp>
      <p:graphicFrame>
        <p:nvGraphicFramePr>
          <p:cNvPr id="6" name="Chart 0" descr=""/>
          <p:cNvGraphicFramePr/>
          <p:nvPr/>
        </p:nvGraphicFramePr>
        <p:xfrm>
          <a:off x="548640" y="1463040"/>
          <a:ext cx="521208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349240"/>
            <a:ext cx="5212080" cy="457200"/>
          </a:xfrm>
          <a:prstGeom prst="rect">
            <a:avLst/>
          </a:prstGeom>
          <a:noFill/>
          <a:ln/>
        </p:spPr>
        <p:txBody>
          <a:bodyPr wrap="square" lIns="0" tIns="0" rIns="0" bIns="0" rtlCol="0" anchor="t"/>
          <a:lstStyle/>
          <a:p>
            <a:pPr rtl="1" algn="ct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میلیون سورن در سال با پیش‌فرض‌های فعلی؛ سقف خرج = ۲۰۰٬۰۰۰ × ۳۶۵ ÷ ۳۰</a:t>
            </a:r>
            <a:endParaRPr lang="en-US" sz="1200" dirty="0"/>
          </a:p>
        </p:txBody>
      </p:sp>
      <p:sp>
        <p:nvSpPr>
          <p:cNvPr id="8" name="Shape 5"/>
          <p:cNvSpPr/>
          <p:nvPr/>
        </p:nvSpPr>
        <p:spPr>
          <a:xfrm>
            <a:off x="5973775" y="1463040"/>
            <a:ext cx="5669280" cy="1463040"/>
          </a:xfrm>
          <a:prstGeom prst="roundRect">
            <a:avLst>
              <a:gd name="adj" fmla="val 7500"/>
            </a:avLst>
          </a:prstGeom>
          <a:solidFill>
            <a:srgbClr val="F7F9FC"/>
          </a:solidFill>
          <a:ln w="9525">
            <a:solidFill>
              <a:srgbClr val="DDE1EE"/>
            </a:solidFill>
            <a:prstDash val="solid"/>
          </a:ln>
        </p:spPr>
      </p:sp>
      <p:sp>
        <p:nvSpPr>
          <p:cNvPr id="9" name="Shape 6"/>
          <p:cNvSpPr/>
          <p:nvPr/>
        </p:nvSpPr>
        <p:spPr>
          <a:xfrm>
            <a:off x="11048695" y="1600200"/>
            <a:ext cx="457200" cy="457200"/>
          </a:xfrm>
          <a:prstGeom prst="ellipse">
            <a:avLst/>
          </a:prstGeom>
          <a:solidFill>
            <a:srgbClr val="2F3690"/>
          </a:solidFill>
          <a:ln w="12700">
            <a:solidFill>
              <a:srgbClr val="2F3690"/>
            </a:solidFill>
            <a:prstDash val="solid"/>
          </a:ln>
        </p:spPr>
      </p:sp>
      <p:pic>
        <p:nvPicPr>
          <p:cNvPr id="10" name="Image 0" descr="preencoded.png">    </p:cNvPr>
          <p:cNvPicPr>
            <a:picLocks noChangeAspect="1"/>
          </p:cNvPicPr>
          <p:nvPr/>
        </p:nvPicPr>
        <p:blipFill>
          <a:blip r:embed="rId2"/>
          <a:stretch>
            <a:fillRect/>
          </a:stretch>
        </p:blipFill>
        <p:spPr>
          <a:xfrm>
            <a:off x="11172139" y="1723644"/>
            <a:ext cx="210312" cy="210312"/>
          </a:xfrm>
          <a:prstGeom prst="rect">
            <a:avLst/>
          </a:prstGeom>
        </p:spPr>
      </p:pic>
      <p:sp>
        <p:nvSpPr>
          <p:cNvPr id="11" name="Text 7"/>
          <p:cNvSpPr txBox="1"/>
          <p:nvPr/>
        </p:nvSpPr>
        <p:spPr>
          <a:xfrm>
            <a:off x="6156655" y="1600200"/>
            <a:ext cx="4754880" cy="36576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منابع</a:t>
            </a:r>
            <a:endParaRPr lang="en-US" sz="1500" dirty="0"/>
          </a:p>
        </p:txBody>
      </p:sp>
      <p:sp>
        <p:nvSpPr>
          <p:cNvPr id="12" name="Text 8"/>
          <p:cNvSpPr txBox="1"/>
          <p:nvPr/>
        </p:nvSpPr>
        <p:spPr>
          <a:xfrm>
            <a:off x="6156655" y="2057400"/>
            <a:ext cx="5303520" cy="82296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سهم باقی‌مانده‌ی ریوارد (۲۰ تا ۴۵٪؛ پیش‌فرض ۳۵٪ یعنی ۷٬۳۵۸٬۴۰۰ سورن در سال) و بخش جریمه‌شده‌ی وثیقه. کارمزد عضویت به خزانه نمی‌رود.</a:t>
            </a:r>
            <a:endParaRPr lang="en-US" sz="1200" dirty="0"/>
          </a:p>
        </p:txBody>
      </p:sp>
      <p:sp>
        <p:nvSpPr>
          <p:cNvPr id="13" name="Shape 9"/>
          <p:cNvSpPr/>
          <p:nvPr/>
        </p:nvSpPr>
        <p:spPr>
          <a:xfrm>
            <a:off x="5973775" y="3063240"/>
            <a:ext cx="5669280" cy="1463040"/>
          </a:xfrm>
          <a:prstGeom prst="roundRect">
            <a:avLst>
              <a:gd name="adj" fmla="val 7500"/>
            </a:avLst>
          </a:prstGeom>
          <a:solidFill>
            <a:srgbClr val="F7F9FC"/>
          </a:solidFill>
          <a:ln w="9525">
            <a:solidFill>
              <a:srgbClr val="DDE1EE"/>
            </a:solidFill>
            <a:prstDash val="solid"/>
          </a:ln>
        </p:spPr>
      </p:sp>
      <p:sp>
        <p:nvSpPr>
          <p:cNvPr id="14" name="Shape 10"/>
          <p:cNvSpPr/>
          <p:nvPr/>
        </p:nvSpPr>
        <p:spPr>
          <a:xfrm>
            <a:off x="11048695" y="3200400"/>
            <a:ext cx="457200" cy="457200"/>
          </a:xfrm>
          <a:prstGeom prst="ellipse">
            <a:avLst/>
          </a:prstGeom>
          <a:solidFill>
            <a:srgbClr val="2F3690"/>
          </a:solidFill>
          <a:ln w="12700">
            <a:solidFill>
              <a:srgbClr val="2F3690"/>
            </a:solidFill>
            <a:prstDash val="solid"/>
          </a:ln>
        </p:spPr>
      </p:sp>
      <p:pic>
        <p:nvPicPr>
          <p:cNvPr id="15" name="Image 1" descr="preencoded.png">    </p:cNvPr>
          <p:cNvPicPr>
            <a:picLocks noChangeAspect="1"/>
          </p:cNvPicPr>
          <p:nvPr/>
        </p:nvPicPr>
        <p:blipFill>
          <a:blip r:embed="rId3"/>
          <a:stretch>
            <a:fillRect/>
          </a:stretch>
        </p:blipFill>
        <p:spPr>
          <a:xfrm>
            <a:off x="11172139" y="3323844"/>
            <a:ext cx="210312" cy="210312"/>
          </a:xfrm>
          <a:prstGeom prst="rect">
            <a:avLst/>
          </a:prstGeom>
        </p:spPr>
      </p:pic>
      <p:sp>
        <p:nvSpPr>
          <p:cNvPr id="16" name="Text 11"/>
          <p:cNvSpPr txBox="1"/>
          <p:nvPr/>
        </p:nvSpPr>
        <p:spPr>
          <a:xfrm>
            <a:off x="6156655" y="3200400"/>
            <a:ext cx="4754880" cy="36576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مسیر خرج</a:t>
            </a:r>
            <a:endParaRPr lang="en-US" sz="1500" dirty="0"/>
          </a:p>
        </p:txBody>
      </p:sp>
      <p:sp>
        <p:nvSpPr>
          <p:cNvPr id="17" name="Text 12"/>
          <p:cNvSpPr txBox="1"/>
          <p:nvPr/>
        </p:nvSpPr>
        <p:spPr>
          <a:xfrm>
            <a:off x="6156655" y="3657600"/>
            <a:ext cx="5303520" cy="82296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فقط هیأت (حداقل ۳ رأی) و فقط در سقف‌ها: ۵۰٬۰۰۰ سورن برای هر پرداخت و ۲۰۰٬۰۰۰ برای مجموع پنجره‌ی حدود ۳۰روزه؛ خرد کردن پرداخت راه دورزدن نیست.</a:t>
            </a:r>
            <a:endParaRPr lang="en-US" sz="1200" dirty="0"/>
          </a:p>
        </p:txBody>
      </p:sp>
      <p:sp>
        <p:nvSpPr>
          <p:cNvPr id="18" name="Shape 13"/>
          <p:cNvSpPr/>
          <p:nvPr/>
        </p:nvSpPr>
        <p:spPr>
          <a:xfrm>
            <a:off x="5973775" y="4663440"/>
            <a:ext cx="5669280" cy="1463040"/>
          </a:xfrm>
          <a:prstGeom prst="roundRect">
            <a:avLst>
              <a:gd name="adj" fmla="val 7500"/>
            </a:avLst>
          </a:prstGeom>
          <a:solidFill>
            <a:srgbClr val="F7F9FC"/>
          </a:solidFill>
          <a:ln w="9525">
            <a:solidFill>
              <a:srgbClr val="DDE1EE"/>
            </a:solidFill>
            <a:prstDash val="solid"/>
          </a:ln>
        </p:spPr>
      </p:sp>
      <p:sp>
        <p:nvSpPr>
          <p:cNvPr id="19" name="Shape 14"/>
          <p:cNvSpPr/>
          <p:nvPr/>
        </p:nvSpPr>
        <p:spPr>
          <a:xfrm>
            <a:off x="11048695" y="4800600"/>
            <a:ext cx="457200" cy="457200"/>
          </a:xfrm>
          <a:prstGeom prst="ellipse">
            <a:avLst/>
          </a:prstGeom>
          <a:solidFill>
            <a:srgbClr val="2F3690"/>
          </a:solidFill>
          <a:ln w="12700">
            <a:solidFill>
              <a:srgbClr val="2F3690"/>
            </a:solidFill>
            <a:prstDash val="solid"/>
          </a:ln>
        </p:spPr>
      </p:sp>
      <p:pic>
        <p:nvPicPr>
          <p:cNvPr id="20" name="Image 2" descr="preencoded.png">    </p:cNvPr>
          <p:cNvPicPr>
            <a:picLocks noChangeAspect="1"/>
          </p:cNvPicPr>
          <p:nvPr/>
        </p:nvPicPr>
        <p:blipFill>
          <a:blip r:embed="rId4"/>
          <a:stretch>
            <a:fillRect/>
          </a:stretch>
        </p:blipFill>
        <p:spPr>
          <a:xfrm>
            <a:off x="11172139" y="4924044"/>
            <a:ext cx="210312" cy="210312"/>
          </a:xfrm>
          <a:prstGeom prst="rect">
            <a:avLst/>
          </a:prstGeom>
        </p:spPr>
      </p:pic>
      <p:sp>
        <p:nvSpPr>
          <p:cNvPr id="21" name="Text 15"/>
          <p:cNvSpPr txBox="1"/>
          <p:nvPr/>
        </p:nvSpPr>
        <p:spPr>
          <a:xfrm>
            <a:off x="6156655" y="4800600"/>
            <a:ext cx="4754880" cy="365760"/>
          </a:xfrm>
          <a:prstGeom prst="rect">
            <a:avLst/>
          </a:prstGeom>
          <a:noFill/>
          <a:ln/>
        </p:spPr>
        <p:txBody>
          <a:bodyPr wrap="square" lIns="0" tIns="0" rIns="0" bIns="0" rtlCol="0" anchor="ctr"/>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نقش مجمع</a:t>
            </a:r>
            <a:endParaRPr lang="en-US" sz="1500" dirty="0"/>
          </a:p>
        </p:txBody>
      </p:sp>
      <p:sp>
        <p:nvSpPr>
          <p:cNvPr id="22" name="Text 16"/>
          <p:cNvSpPr txBox="1"/>
          <p:nvPr/>
        </p:nvSpPr>
        <p:spPr>
          <a:xfrm>
            <a:off x="6156655" y="5257800"/>
            <a:ext cx="5303520" cy="822960"/>
          </a:xfrm>
          <a:prstGeom prst="rect">
            <a:avLst/>
          </a:prstGeom>
          <a:noFill/>
          <a:ln/>
        </p:spPr>
        <p:txBody>
          <a:bodyPr wrap="square" lIns="0" tIns="0" rIns="0" bIns="0" rtlCol="0" anchor="t"/>
          <a:lstStyle/>
          <a:p>
            <a:pPr rtl="1" algn="r" indent="0" marL="0">
              <a:lnSpc>
                <a:spcPct val="105000"/>
              </a:lnSpc>
              <a:buNone/>
            </a:pPr>
            <a:r>
              <a:rPr lang="fa-IR" altLang="en-US" sz="1200" dirty="0">
                <a:solidFill>
                  <a:srgbClr val="565D7A"/>
                </a:solidFill>
                <a:latin typeface="Vazirmatn" pitchFamily="34" charset="0"/>
                <a:ea typeface="Vazirmatn" pitchFamily="34" charset="-122"/>
                <a:cs typeface="Vazirmatn" pitchFamily="34" charset="-120"/>
              </a:rPr>
              <a:t>مجمع پرداخت موردی تصویب نمی‌کند؛ فقط سقف‌ها را با تأخیر ۷روزه تغییر می‌دهد. سهم هیچ گیرنده‌ای، از جمله بنیاد، تضمین‌شده نیست.</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بنیاد سور</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بنیاد سور: ساختار حقوقی و مأموریت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29</a:t>
            </a:r>
            <a:endParaRPr lang="en-US" sz="1000" dirty="0"/>
          </a:p>
        </p:txBody>
      </p:sp>
      <p:sp>
        <p:nvSpPr>
          <p:cNvPr id="6" name="Shape 4"/>
          <p:cNvSpPr/>
          <p:nvPr/>
        </p:nvSpPr>
        <p:spPr>
          <a:xfrm>
            <a:off x="7802575" y="1463040"/>
            <a:ext cx="3291840" cy="731520"/>
          </a:xfrm>
          <a:prstGeom prst="roundRect">
            <a:avLst>
              <a:gd name="adj" fmla="val 15000"/>
            </a:avLst>
          </a:prstGeom>
          <a:solidFill>
            <a:srgbClr val="2F3690"/>
          </a:solidFill>
          <a:ln w="9525">
            <a:solidFill>
              <a:srgbClr val="2F3690"/>
            </a:solidFill>
            <a:prstDash val="solid"/>
          </a:ln>
        </p:spPr>
      </p:sp>
      <p:sp>
        <p:nvSpPr>
          <p:cNvPr id="7" name="Text 5"/>
          <p:cNvSpPr txBox="1"/>
          <p:nvPr/>
        </p:nvSpPr>
        <p:spPr>
          <a:xfrm>
            <a:off x="7802575" y="1463040"/>
            <a:ext cx="329184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مجمع عمومی (شرکا)</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عادی و فوق‌العاده</a:t>
            </a:r>
            <a:endParaRPr lang="en-US" sz="1400" dirty="0"/>
          </a:p>
        </p:txBody>
      </p:sp>
      <p:sp>
        <p:nvSpPr>
          <p:cNvPr id="8" name="Shape 6"/>
          <p:cNvSpPr/>
          <p:nvPr/>
        </p:nvSpPr>
        <p:spPr>
          <a:xfrm>
            <a:off x="7802575" y="2651760"/>
            <a:ext cx="3291840" cy="731520"/>
          </a:xfrm>
          <a:prstGeom prst="roundRect">
            <a:avLst>
              <a:gd name="adj" fmla="val 15000"/>
            </a:avLst>
          </a:prstGeom>
          <a:solidFill>
            <a:srgbClr val="3D46A8"/>
          </a:solidFill>
          <a:ln w="9525">
            <a:solidFill>
              <a:srgbClr val="3D46A8"/>
            </a:solidFill>
            <a:prstDash val="solid"/>
          </a:ln>
        </p:spPr>
      </p:sp>
      <p:sp>
        <p:nvSpPr>
          <p:cNvPr id="9" name="Text 7"/>
          <p:cNvSpPr txBox="1"/>
          <p:nvPr/>
        </p:nvSpPr>
        <p:spPr>
          <a:xfrm>
            <a:off x="7802575" y="2651760"/>
            <a:ext cx="329184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FFFFFF"/>
                </a:solidFill>
                <a:latin typeface="Vazirmatn" pitchFamily="34" charset="0"/>
                <a:ea typeface="Vazirmatn" pitchFamily="34" charset="-122"/>
                <a:cs typeface="Vazirmatn" pitchFamily="34" charset="-120"/>
              </a:rPr>
              <a:t>هیأت‌مدیره</a:t>
            </a:r>
            <a:endParaRPr lang="en-US" sz="1400" dirty="0"/>
          </a:p>
          <a:p>
            <a:pPr rtl="1" algn="ctr" indent="0" marL="0">
              <a:lnSpc>
                <a:spcPct val="105000"/>
              </a:lnSpc>
              <a:buNone/>
            </a:pPr>
            <a:r>
              <a:rPr lang="fa-IR" altLang="en-US" sz="1100" dirty="0">
                <a:solidFill>
                  <a:srgbClr val="FFFFFF"/>
                </a:solidFill>
                <a:latin typeface="Vazirmatn" pitchFamily="34" charset="0"/>
                <a:ea typeface="Vazirmatn" pitchFamily="34" charset="-122"/>
                <a:cs typeface="Vazirmatn" pitchFamily="34" charset="-120"/>
              </a:rPr>
              <a:t>۵ عضو اصلی و ۲ علی‌البدل، ۲ سال</a:t>
            </a:r>
            <a:endParaRPr lang="en-US" sz="1400" dirty="0"/>
          </a:p>
        </p:txBody>
      </p:sp>
      <p:sp>
        <p:nvSpPr>
          <p:cNvPr id="10" name="Shape 8"/>
          <p:cNvSpPr/>
          <p:nvPr/>
        </p:nvSpPr>
        <p:spPr>
          <a:xfrm>
            <a:off x="5425135" y="2651760"/>
            <a:ext cx="2103120" cy="731520"/>
          </a:xfrm>
          <a:prstGeom prst="roundRect">
            <a:avLst>
              <a:gd name="adj" fmla="val 15000"/>
            </a:avLst>
          </a:prstGeom>
          <a:solidFill>
            <a:srgbClr val="F0F1F5"/>
          </a:solidFill>
          <a:ln w="9525">
            <a:solidFill>
              <a:srgbClr val="F0F1F5"/>
            </a:solidFill>
            <a:prstDash val="solid"/>
          </a:ln>
        </p:spPr>
      </p:sp>
      <p:sp>
        <p:nvSpPr>
          <p:cNvPr id="11" name="Text 9"/>
          <p:cNvSpPr txBox="1"/>
          <p:nvPr/>
        </p:nvSpPr>
        <p:spPr>
          <a:xfrm>
            <a:off x="5425135" y="2651760"/>
            <a:ext cx="210312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بازرس</a:t>
            </a:r>
            <a:endParaRPr lang="en-US" sz="14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انتخاب مجمع، ۲ سال</a:t>
            </a:r>
            <a:endParaRPr lang="en-US" sz="1400" dirty="0"/>
          </a:p>
        </p:txBody>
      </p:sp>
      <p:sp>
        <p:nvSpPr>
          <p:cNvPr id="12" name="Shape 10"/>
          <p:cNvSpPr/>
          <p:nvPr/>
        </p:nvSpPr>
        <p:spPr>
          <a:xfrm>
            <a:off x="9448495" y="2194560"/>
            <a:ext cx="0" cy="457200"/>
          </a:xfrm>
          <a:prstGeom prst="line">
            <a:avLst/>
          </a:prstGeom>
          <a:noFill/>
          <a:ln w="25400">
            <a:solidFill>
              <a:srgbClr val="2F3690"/>
            </a:solidFill>
            <a:prstDash val="solid"/>
          </a:ln>
        </p:spPr>
      </p:sp>
      <p:sp>
        <p:nvSpPr>
          <p:cNvPr id="13" name="Shape 11"/>
          <p:cNvSpPr/>
          <p:nvPr/>
        </p:nvSpPr>
        <p:spPr>
          <a:xfrm flipH="1">
            <a:off x="6476695" y="2194560"/>
            <a:ext cx="4617720" cy="0"/>
          </a:xfrm>
          <a:prstGeom prst="line">
            <a:avLst/>
          </a:prstGeom>
          <a:noFill/>
          <a:ln w="19050">
            <a:solidFill>
              <a:srgbClr val="DDE1EE"/>
            </a:solidFill>
            <a:prstDash val="solid"/>
          </a:ln>
        </p:spPr>
      </p:sp>
      <p:sp>
        <p:nvSpPr>
          <p:cNvPr id="14" name="Shape 12"/>
          <p:cNvSpPr/>
          <p:nvPr/>
        </p:nvSpPr>
        <p:spPr>
          <a:xfrm>
            <a:off x="6476695" y="2194560"/>
            <a:ext cx="0" cy="457200"/>
          </a:xfrm>
          <a:prstGeom prst="line">
            <a:avLst/>
          </a:prstGeom>
          <a:noFill/>
          <a:ln w="19050">
            <a:solidFill>
              <a:srgbClr val="DDE1EE"/>
            </a:solidFill>
            <a:prstDash val="solid"/>
          </a:ln>
        </p:spPr>
      </p:sp>
      <p:sp>
        <p:nvSpPr>
          <p:cNvPr id="15" name="Shape 13"/>
          <p:cNvSpPr/>
          <p:nvPr/>
        </p:nvSpPr>
        <p:spPr>
          <a:xfrm>
            <a:off x="9539935" y="3840480"/>
            <a:ext cx="1737360" cy="731520"/>
          </a:xfrm>
          <a:prstGeom prst="roundRect">
            <a:avLst>
              <a:gd name="adj" fmla="val 15000"/>
            </a:avLst>
          </a:prstGeom>
          <a:solidFill>
            <a:srgbClr val="EEF0FB"/>
          </a:solidFill>
          <a:ln w="9525">
            <a:solidFill>
              <a:srgbClr val="EEF0FB"/>
            </a:solidFill>
            <a:prstDash val="solid"/>
          </a:ln>
        </p:spPr>
      </p:sp>
      <p:sp>
        <p:nvSpPr>
          <p:cNvPr id="16" name="Text 14"/>
          <p:cNvSpPr txBox="1"/>
          <p:nvPr/>
        </p:nvSpPr>
        <p:spPr>
          <a:xfrm>
            <a:off x="9539935" y="3840480"/>
            <a:ext cx="173736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رئیس هیأت‌مدیره</a:t>
            </a:r>
            <a:endParaRPr lang="en-US" sz="14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از میان اعضا</a:t>
            </a:r>
            <a:endParaRPr lang="en-US" sz="1400" dirty="0"/>
          </a:p>
        </p:txBody>
      </p:sp>
      <p:sp>
        <p:nvSpPr>
          <p:cNvPr id="17" name="Shape 15"/>
          <p:cNvSpPr/>
          <p:nvPr/>
        </p:nvSpPr>
        <p:spPr>
          <a:xfrm flipV="1">
            <a:off x="10408615" y="3611880"/>
            <a:ext cx="0" cy="228600"/>
          </a:xfrm>
          <a:prstGeom prst="line">
            <a:avLst/>
          </a:prstGeom>
          <a:noFill/>
          <a:ln w="19050">
            <a:solidFill>
              <a:srgbClr val="DDE1EE"/>
            </a:solidFill>
            <a:prstDash val="solid"/>
          </a:ln>
        </p:spPr>
      </p:sp>
      <p:sp>
        <p:nvSpPr>
          <p:cNvPr id="18" name="Shape 16"/>
          <p:cNvSpPr/>
          <p:nvPr/>
        </p:nvSpPr>
        <p:spPr>
          <a:xfrm>
            <a:off x="7665415" y="3840480"/>
            <a:ext cx="1737360" cy="731520"/>
          </a:xfrm>
          <a:prstGeom prst="roundRect">
            <a:avLst>
              <a:gd name="adj" fmla="val 15000"/>
            </a:avLst>
          </a:prstGeom>
          <a:solidFill>
            <a:srgbClr val="EEF0FB"/>
          </a:solidFill>
          <a:ln w="9525">
            <a:solidFill>
              <a:srgbClr val="EEF0FB"/>
            </a:solidFill>
            <a:prstDash val="solid"/>
          </a:ln>
        </p:spPr>
      </p:sp>
      <p:sp>
        <p:nvSpPr>
          <p:cNvPr id="19" name="Text 17"/>
          <p:cNvSpPr txBox="1"/>
          <p:nvPr/>
        </p:nvSpPr>
        <p:spPr>
          <a:xfrm>
            <a:off x="7665415" y="3840480"/>
            <a:ext cx="173736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خزانه‌دار</a:t>
            </a:r>
            <a:endParaRPr lang="en-US" sz="14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از میان اعضا</a:t>
            </a:r>
            <a:endParaRPr lang="en-US" sz="1400" dirty="0"/>
          </a:p>
        </p:txBody>
      </p:sp>
      <p:sp>
        <p:nvSpPr>
          <p:cNvPr id="20" name="Shape 18"/>
          <p:cNvSpPr/>
          <p:nvPr/>
        </p:nvSpPr>
        <p:spPr>
          <a:xfrm flipV="1">
            <a:off x="8534095" y="3611880"/>
            <a:ext cx="0" cy="228600"/>
          </a:xfrm>
          <a:prstGeom prst="line">
            <a:avLst/>
          </a:prstGeom>
          <a:noFill/>
          <a:ln w="19050">
            <a:solidFill>
              <a:srgbClr val="DDE1EE"/>
            </a:solidFill>
            <a:prstDash val="solid"/>
          </a:ln>
        </p:spPr>
      </p:sp>
      <p:sp>
        <p:nvSpPr>
          <p:cNvPr id="21" name="Shape 19"/>
          <p:cNvSpPr/>
          <p:nvPr/>
        </p:nvSpPr>
        <p:spPr>
          <a:xfrm>
            <a:off x="5790895" y="3840480"/>
            <a:ext cx="1737360" cy="731520"/>
          </a:xfrm>
          <a:prstGeom prst="roundRect">
            <a:avLst>
              <a:gd name="adj" fmla="val 15000"/>
            </a:avLst>
          </a:prstGeom>
          <a:solidFill>
            <a:srgbClr val="EEF0FB"/>
          </a:solidFill>
          <a:ln w="9525">
            <a:solidFill>
              <a:srgbClr val="EEF0FB"/>
            </a:solidFill>
            <a:prstDash val="solid"/>
          </a:ln>
        </p:spPr>
      </p:sp>
      <p:sp>
        <p:nvSpPr>
          <p:cNvPr id="22" name="Text 20"/>
          <p:cNvSpPr txBox="1"/>
          <p:nvPr/>
        </p:nvSpPr>
        <p:spPr>
          <a:xfrm>
            <a:off x="5790895" y="3840480"/>
            <a:ext cx="1737360" cy="731520"/>
          </a:xfrm>
          <a:prstGeom prst="rect">
            <a:avLst/>
          </a:prstGeom>
          <a:noFill/>
          <a:ln/>
        </p:spPr>
        <p:txBody>
          <a:bodyPr wrap="square" lIns="0" tIns="0" rIns="0" bIns="0" rtlCol="0" anchor="ctr"/>
          <a:lstStyle/>
          <a:p>
            <a:pPr rtl="1" algn="ct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مدیرعامل</a:t>
            </a:r>
            <a:endParaRPr lang="en-US" sz="1400" dirty="0"/>
          </a:p>
          <a:p>
            <a:pPr rtl="1" algn="ct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منصوب هیأت‌مدیره</a:t>
            </a:r>
            <a:endParaRPr lang="en-US" sz="1400" dirty="0"/>
          </a:p>
        </p:txBody>
      </p:sp>
      <p:sp>
        <p:nvSpPr>
          <p:cNvPr id="23" name="Shape 21"/>
          <p:cNvSpPr/>
          <p:nvPr/>
        </p:nvSpPr>
        <p:spPr>
          <a:xfrm flipV="1">
            <a:off x="6659575" y="3611880"/>
            <a:ext cx="0" cy="228600"/>
          </a:xfrm>
          <a:prstGeom prst="line">
            <a:avLst/>
          </a:prstGeom>
          <a:noFill/>
          <a:ln w="19050">
            <a:solidFill>
              <a:srgbClr val="DDE1EE"/>
            </a:solidFill>
            <a:prstDash val="solid"/>
          </a:ln>
        </p:spPr>
      </p:sp>
      <p:sp>
        <p:nvSpPr>
          <p:cNvPr id="24" name="Shape 22"/>
          <p:cNvSpPr/>
          <p:nvPr/>
        </p:nvSpPr>
        <p:spPr>
          <a:xfrm flipH="1">
            <a:off x="6659575" y="3611880"/>
            <a:ext cx="3749040" cy="0"/>
          </a:xfrm>
          <a:prstGeom prst="line">
            <a:avLst/>
          </a:prstGeom>
          <a:noFill/>
          <a:ln w="19050">
            <a:solidFill>
              <a:srgbClr val="DDE1EE"/>
            </a:solidFill>
            <a:prstDash val="solid"/>
          </a:ln>
        </p:spPr>
      </p:sp>
      <p:sp>
        <p:nvSpPr>
          <p:cNvPr id="25" name="Shape 23"/>
          <p:cNvSpPr/>
          <p:nvPr/>
        </p:nvSpPr>
        <p:spPr>
          <a:xfrm>
            <a:off x="9448495" y="3383280"/>
            <a:ext cx="0" cy="228600"/>
          </a:xfrm>
          <a:prstGeom prst="line">
            <a:avLst/>
          </a:prstGeom>
          <a:noFill/>
          <a:ln w="25400">
            <a:solidFill>
              <a:srgbClr val="2F3690"/>
            </a:solidFill>
            <a:prstDash val="solid"/>
          </a:ln>
        </p:spPr>
      </p:sp>
      <p:sp>
        <p:nvSpPr>
          <p:cNvPr id="26" name="Text 24"/>
          <p:cNvSpPr txBox="1"/>
          <p:nvPr/>
        </p:nvSpPr>
        <p:spPr>
          <a:xfrm>
            <a:off x="5425135" y="4892040"/>
            <a:ext cx="5669280"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کمیته‌های اجرایی (تفویضی از هیأت‌مدیره)</a:t>
            </a:r>
            <a:endParaRPr lang="en-US" sz="1300" dirty="0"/>
          </a:p>
        </p:txBody>
      </p:sp>
      <p:sp>
        <p:nvSpPr>
          <p:cNvPr id="27" name="Shape 25"/>
          <p:cNvSpPr/>
          <p:nvPr/>
        </p:nvSpPr>
        <p:spPr>
          <a:xfrm>
            <a:off x="9997135" y="5303520"/>
            <a:ext cx="1097280" cy="566928"/>
          </a:xfrm>
          <a:prstGeom prst="roundRect">
            <a:avLst>
              <a:gd name="adj" fmla="val 50000"/>
            </a:avLst>
          </a:prstGeom>
          <a:solidFill>
            <a:srgbClr val="F7F9FC"/>
          </a:solidFill>
          <a:ln w="9525">
            <a:solidFill>
              <a:srgbClr val="F7F9FC"/>
            </a:solidFill>
            <a:prstDash val="solid"/>
          </a:ln>
        </p:spPr>
      </p:sp>
      <p:sp>
        <p:nvSpPr>
          <p:cNvPr id="28" name="Text 26"/>
          <p:cNvSpPr txBox="1"/>
          <p:nvPr/>
        </p:nvSpPr>
        <p:spPr>
          <a:xfrm>
            <a:off x="9997135" y="5303520"/>
            <a:ext cx="1097280" cy="566928"/>
          </a:xfrm>
          <a:prstGeom prst="rect">
            <a:avLst/>
          </a:prstGeom>
          <a:noFill/>
          <a:ln/>
        </p:spPr>
        <p:txBody>
          <a:bodyPr wrap="square" lIns="0" tIns="0" rIns="0" bIns="0" rtlCol="0" anchor="ctr"/>
          <a:lstStyle/>
          <a:p>
            <a:pPr rtl="1" algn="ctr" indent="0" marL="0">
              <a:lnSpc>
                <a:spcPct val="105000"/>
              </a:lnSpc>
              <a:buNone/>
            </a:pPr>
            <a:r>
              <a:rPr lang="fa-IR" altLang="en-US" sz="1050" b="1" dirty="0">
                <a:solidFill>
                  <a:srgbClr val="1B1B2F"/>
                </a:solidFill>
                <a:latin typeface="Vazirmatn" pitchFamily="34" charset="0"/>
                <a:ea typeface="Vazirmatn" pitchFamily="34" charset="-122"/>
                <a:cs typeface="Vazirmatn" pitchFamily="34" charset="-120"/>
              </a:rPr>
              <a:t>توسعه</a:t>
            </a:r>
            <a:endParaRPr lang="en-US" sz="1050" dirty="0"/>
          </a:p>
        </p:txBody>
      </p:sp>
      <p:sp>
        <p:nvSpPr>
          <p:cNvPr id="29" name="Shape 27"/>
          <p:cNvSpPr/>
          <p:nvPr/>
        </p:nvSpPr>
        <p:spPr>
          <a:xfrm>
            <a:off x="8826703" y="5303520"/>
            <a:ext cx="1097280" cy="566928"/>
          </a:xfrm>
          <a:prstGeom prst="roundRect">
            <a:avLst>
              <a:gd name="adj" fmla="val 50000"/>
            </a:avLst>
          </a:prstGeom>
          <a:solidFill>
            <a:srgbClr val="F7F9FC"/>
          </a:solidFill>
          <a:ln w="9525">
            <a:solidFill>
              <a:srgbClr val="F7F9FC"/>
            </a:solidFill>
            <a:prstDash val="solid"/>
          </a:ln>
        </p:spPr>
      </p:sp>
      <p:sp>
        <p:nvSpPr>
          <p:cNvPr id="30" name="Text 28"/>
          <p:cNvSpPr txBox="1"/>
          <p:nvPr/>
        </p:nvSpPr>
        <p:spPr>
          <a:xfrm>
            <a:off x="8826703" y="5303520"/>
            <a:ext cx="1097280" cy="566928"/>
          </a:xfrm>
          <a:prstGeom prst="rect">
            <a:avLst/>
          </a:prstGeom>
          <a:noFill/>
          <a:ln/>
        </p:spPr>
        <p:txBody>
          <a:bodyPr wrap="square" lIns="0" tIns="0" rIns="0" bIns="0" rtlCol="0" anchor="ctr"/>
          <a:lstStyle/>
          <a:p>
            <a:pPr rtl="1" algn="ctr" indent="0" marL="0">
              <a:lnSpc>
                <a:spcPct val="105000"/>
              </a:lnSpc>
              <a:buNone/>
            </a:pPr>
            <a:r>
              <a:rPr lang="fa-IR" altLang="en-US" sz="1050" b="1" dirty="0">
                <a:solidFill>
                  <a:srgbClr val="1B1B2F"/>
                </a:solidFill>
                <a:latin typeface="Vazirmatn" pitchFamily="34" charset="0"/>
                <a:ea typeface="Vazirmatn" pitchFamily="34" charset="-122"/>
                <a:cs typeface="Vazirmatn" pitchFamily="34" charset="-120"/>
              </a:rPr>
              <a:t>آموزش</a:t>
            </a:r>
            <a:endParaRPr lang="en-US" sz="1050" dirty="0"/>
          </a:p>
        </p:txBody>
      </p:sp>
      <p:sp>
        <p:nvSpPr>
          <p:cNvPr id="31" name="Shape 29"/>
          <p:cNvSpPr/>
          <p:nvPr/>
        </p:nvSpPr>
        <p:spPr>
          <a:xfrm>
            <a:off x="7656271" y="5303520"/>
            <a:ext cx="1097280" cy="566928"/>
          </a:xfrm>
          <a:prstGeom prst="roundRect">
            <a:avLst>
              <a:gd name="adj" fmla="val 50000"/>
            </a:avLst>
          </a:prstGeom>
          <a:solidFill>
            <a:srgbClr val="F7F9FC"/>
          </a:solidFill>
          <a:ln w="9525">
            <a:solidFill>
              <a:srgbClr val="F7F9FC"/>
            </a:solidFill>
            <a:prstDash val="solid"/>
          </a:ln>
        </p:spPr>
      </p:sp>
      <p:sp>
        <p:nvSpPr>
          <p:cNvPr id="32" name="Text 30"/>
          <p:cNvSpPr txBox="1"/>
          <p:nvPr/>
        </p:nvSpPr>
        <p:spPr>
          <a:xfrm>
            <a:off x="7656271" y="5303520"/>
            <a:ext cx="1097280" cy="566928"/>
          </a:xfrm>
          <a:prstGeom prst="rect">
            <a:avLst/>
          </a:prstGeom>
          <a:noFill/>
          <a:ln/>
        </p:spPr>
        <p:txBody>
          <a:bodyPr wrap="square" lIns="0" tIns="0" rIns="0" bIns="0" rtlCol="0" anchor="ctr"/>
          <a:lstStyle/>
          <a:p>
            <a:pPr rtl="1" algn="ctr" indent="0" marL="0">
              <a:lnSpc>
                <a:spcPct val="105000"/>
              </a:lnSpc>
              <a:buNone/>
            </a:pPr>
            <a:r>
              <a:rPr lang="fa-IR" altLang="en-US" sz="1050" b="1" dirty="0">
                <a:solidFill>
                  <a:srgbClr val="1B1B2F"/>
                </a:solidFill>
                <a:latin typeface="Vazirmatn" pitchFamily="34" charset="0"/>
                <a:ea typeface="Vazirmatn" pitchFamily="34" charset="-122"/>
                <a:cs typeface="Vazirmatn" pitchFamily="34" charset="-120"/>
              </a:rPr>
              <a:t>تبلیغات و روابط‌عمومی</a:t>
            </a:r>
            <a:endParaRPr lang="en-US" sz="1050" dirty="0"/>
          </a:p>
        </p:txBody>
      </p:sp>
      <p:sp>
        <p:nvSpPr>
          <p:cNvPr id="33" name="Shape 31"/>
          <p:cNvSpPr/>
          <p:nvPr/>
        </p:nvSpPr>
        <p:spPr>
          <a:xfrm>
            <a:off x="6485839" y="5303520"/>
            <a:ext cx="1097280" cy="566928"/>
          </a:xfrm>
          <a:prstGeom prst="roundRect">
            <a:avLst>
              <a:gd name="adj" fmla="val 50000"/>
            </a:avLst>
          </a:prstGeom>
          <a:solidFill>
            <a:srgbClr val="F7F9FC"/>
          </a:solidFill>
          <a:ln w="9525">
            <a:solidFill>
              <a:srgbClr val="F7F9FC"/>
            </a:solidFill>
            <a:prstDash val="solid"/>
          </a:ln>
        </p:spPr>
      </p:sp>
      <p:sp>
        <p:nvSpPr>
          <p:cNvPr id="34" name="Text 32"/>
          <p:cNvSpPr txBox="1"/>
          <p:nvPr/>
        </p:nvSpPr>
        <p:spPr>
          <a:xfrm>
            <a:off x="6485839" y="5303520"/>
            <a:ext cx="1097280" cy="566928"/>
          </a:xfrm>
          <a:prstGeom prst="rect">
            <a:avLst/>
          </a:prstGeom>
          <a:noFill/>
          <a:ln/>
        </p:spPr>
        <p:txBody>
          <a:bodyPr wrap="square" lIns="0" tIns="0" rIns="0" bIns="0" rtlCol="0" anchor="ctr"/>
          <a:lstStyle/>
          <a:p>
            <a:pPr rtl="1" algn="ctr" indent="0" marL="0">
              <a:lnSpc>
                <a:spcPct val="105000"/>
              </a:lnSpc>
              <a:buNone/>
            </a:pPr>
            <a:r>
              <a:rPr lang="fa-IR" altLang="en-US" sz="1050" b="1" dirty="0">
                <a:solidFill>
                  <a:srgbClr val="1B1B2F"/>
                </a:solidFill>
                <a:latin typeface="Vazirmatn" pitchFamily="34" charset="0"/>
                <a:ea typeface="Vazirmatn" pitchFamily="34" charset="-122"/>
                <a:cs typeface="Vazirmatn" pitchFamily="34" charset="-120"/>
              </a:rPr>
              <a:t>حقوقی و تطبیق</a:t>
            </a:r>
            <a:endParaRPr lang="en-US" sz="1050" dirty="0"/>
          </a:p>
        </p:txBody>
      </p:sp>
      <p:sp>
        <p:nvSpPr>
          <p:cNvPr id="35" name="Shape 33"/>
          <p:cNvSpPr/>
          <p:nvPr/>
        </p:nvSpPr>
        <p:spPr>
          <a:xfrm>
            <a:off x="5315407" y="5303520"/>
            <a:ext cx="1097280" cy="566928"/>
          </a:xfrm>
          <a:prstGeom prst="roundRect">
            <a:avLst>
              <a:gd name="adj" fmla="val 50000"/>
            </a:avLst>
          </a:prstGeom>
          <a:solidFill>
            <a:srgbClr val="F7F9FC"/>
          </a:solidFill>
          <a:ln w="9525">
            <a:solidFill>
              <a:srgbClr val="F7F9FC"/>
            </a:solidFill>
            <a:prstDash val="solid"/>
          </a:ln>
        </p:spPr>
      </p:sp>
      <p:sp>
        <p:nvSpPr>
          <p:cNvPr id="36" name="Text 34"/>
          <p:cNvSpPr txBox="1"/>
          <p:nvPr/>
        </p:nvSpPr>
        <p:spPr>
          <a:xfrm>
            <a:off x="5315407" y="5303520"/>
            <a:ext cx="1097280" cy="566928"/>
          </a:xfrm>
          <a:prstGeom prst="rect">
            <a:avLst/>
          </a:prstGeom>
          <a:noFill/>
          <a:ln/>
        </p:spPr>
        <p:txBody>
          <a:bodyPr wrap="square" lIns="0" tIns="0" rIns="0" bIns="0" rtlCol="0" anchor="ctr"/>
          <a:lstStyle/>
          <a:p>
            <a:pPr rtl="1" algn="ctr" indent="0" marL="0">
              <a:lnSpc>
                <a:spcPct val="105000"/>
              </a:lnSpc>
              <a:buNone/>
            </a:pPr>
            <a:r>
              <a:rPr lang="fa-IR" altLang="en-US" sz="1050" b="1" dirty="0">
                <a:solidFill>
                  <a:srgbClr val="1B1B2F"/>
                </a:solidFill>
                <a:latin typeface="Vazirmatn" pitchFamily="34" charset="0"/>
                <a:ea typeface="Vazirmatn" pitchFamily="34" charset="-122"/>
                <a:cs typeface="Vazirmatn" pitchFamily="34" charset="-120"/>
              </a:rPr>
              <a:t>مالی و حسابرسی</a:t>
            </a:r>
            <a:endParaRPr lang="en-US" sz="1050" dirty="0"/>
          </a:p>
        </p:txBody>
      </p:sp>
      <p:sp>
        <p:nvSpPr>
          <p:cNvPr id="37" name="Shape 35"/>
          <p:cNvSpPr/>
          <p:nvPr/>
        </p:nvSpPr>
        <p:spPr>
          <a:xfrm>
            <a:off x="548640" y="1463040"/>
            <a:ext cx="4480560" cy="4434840"/>
          </a:xfrm>
          <a:prstGeom prst="roundRect">
            <a:avLst>
              <a:gd name="adj" fmla="val 2474"/>
            </a:avLst>
          </a:prstGeom>
          <a:solidFill>
            <a:srgbClr val="F7F9FC"/>
          </a:solidFill>
          <a:ln w="9525">
            <a:solidFill>
              <a:srgbClr val="DDE1EE"/>
            </a:solidFill>
            <a:prstDash val="solid"/>
          </a:ln>
        </p:spPr>
      </p:sp>
      <p:sp>
        <p:nvSpPr>
          <p:cNvPr id="38" name="Text 36"/>
          <p:cNvSpPr txBox="1"/>
          <p:nvPr/>
        </p:nvSpPr>
        <p:spPr>
          <a:xfrm>
            <a:off x="731520" y="1600200"/>
            <a:ext cx="4114800" cy="32004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2F3690"/>
                </a:solidFill>
                <a:latin typeface="Vazirmatn" pitchFamily="34" charset="0"/>
                <a:ea typeface="Vazirmatn" pitchFamily="34" charset="-122"/>
                <a:cs typeface="Vazirmatn" pitchFamily="34" charset="-120"/>
              </a:rPr>
              <a:t>جایگاه و مأموریت</a:t>
            </a:r>
            <a:endParaRPr lang="en-US" sz="1600" dirty="0"/>
          </a:p>
        </p:txBody>
      </p:sp>
      <p:sp>
        <p:nvSpPr>
          <p:cNvPr id="39" name="Text 37"/>
          <p:cNvSpPr txBox="1"/>
          <p:nvPr/>
        </p:nvSpPr>
        <p:spPr>
          <a:xfrm>
            <a:off x="731520" y="2011680"/>
            <a:ext cx="4114800" cy="3840480"/>
          </a:xfrm>
          <a:prstGeom prst="rect">
            <a:avLst/>
          </a:prstGeom>
          <a:noFill/>
          <a:ln/>
        </p:spPr>
        <p:txBody>
          <a:bodyPr wrap="square" lIns="0" tIns="0" rIns="0" bIns="0" rtlCol="0" anchor="t"/>
          <a:lstStyle/>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بنیاد نوآوری و توسعه‌ی فناوری زنجیره‌ی بلوک سور؛ مؤسسه‌ی غیرتجاری، تأسیس‌شده در ایران.</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مأموریت: توسعه، آموزش و تبلیغ اکوسیستم.</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هیچ کنترلی روی اجماع، ولیدیتورها و پارامترهای شبکه ندارد؛ این مرز تصمیم پروژه است و در قراردادها اجرا می‌شود، نه در اساسنامه.</a:t>
            </a:r>
            <a:endParaRPr lang="en-US" sz="1250" dirty="0"/>
          </a:p>
          <a:p>
            <a:pPr rtl="1" algn="r" indent="0" marL="0">
              <a:lnSpc>
                <a:spcPct val="105000"/>
              </a:lnSpc>
              <a:spcAft>
                <a:spcPts val="1000"/>
              </a:spcAft>
              <a:buNone/>
            </a:pPr>
            <a:r>
              <a:rPr lang="fa-IR" altLang="en-US" sz="1250" dirty="0">
                <a:solidFill>
                  <a:srgbClr val="1B1B2F"/>
                </a:solidFill>
                <a:latin typeface="Vazirmatn" pitchFamily="34" charset="0"/>
                <a:ea typeface="Vazirmatn" pitchFamily="34" charset="-122"/>
                <a:cs typeface="Vazirmatn" pitchFamily="34" charset="-120"/>
              </a:rPr>
              <a:t>اعضای بنیاد می‌توانند هم‌زمان ولیدیتور یا عضو هیأت ولیدیتورها باشند؛ این هم‌پوشانی ریسک روایتی و حقوقی آگاهانه‌پذیرفته‌شده است.</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بنیاد سور</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FoundationDAO و منابع مالی بنیاد</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30</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248095" y="1463040"/>
          <a:ext cx="5394960" cy="914400"/>
        </p:xfrm>
        <a:graphic>
          <a:graphicData uri="http://schemas.openxmlformats.org/drawingml/2006/table">
            <a:tbl>
              <a:tblPr/>
              <a:tblGrid>
                <a:gridCol w="2377440"/>
                <a:gridCol w="3017520"/>
              </a:tblGrid>
              <a:tr h="411480">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نصاب با ۱۵ عضو</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300" b="1" dirty="0">
                          <a:solidFill>
                            <a:srgbClr val="FFFFFF"/>
                          </a:solidFill>
                          <a:latin typeface="Vazirmatn" pitchFamily="34" charset="0"/>
                          <a:ea typeface="Vazirmatn" pitchFamily="34" charset="-122"/>
                          <a:cs typeface="Vazirmatn" pitchFamily="34" charset="-120"/>
                        </a:rPr>
                        <a:t>نوع پیشنهاد</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0292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دوسوم: ۱۰ رأی</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افزودن یا حذف عضو</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اکثریت ساده: ۸ رأی</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انتقال سورن</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02920">
                <a:tc>
                  <a:txBody>
                    <a:bodyPr/>
                    <a:lstStyle/>
                    <a:p>
                      <a:pPr rtl="1" algn="r" indent="0" marL="0">
                        <a:buNone/>
                      </a:pPr>
                      <a:r>
                        <a:rPr lang="fa-IR" altLang="en-US" sz="1300" dirty="0">
                          <a:solidFill>
                            <a:srgbClr val="1B1B2F"/>
                          </a:solidFill>
                          <a:latin typeface="Vazirmatn" pitchFamily="34" charset="0"/>
                          <a:ea typeface="Vazirmatn" pitchFamily="34" charset="-122"/>
                          <a:cs typeface="Vazirmatn" pitchFamily="34" charset="-120"/>
                        </a:rPr>
                        <a:t>اکثریت ساده: ۸ رأی</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300" b="1" dirty="0">
                          <a:solidFill>
                            <a:srgbClr val="1B1B2F"/>
                          </a:solidFill>
                          <a:latin typeface="Vazirmatn" pitchFamily="34" charset="0"/>
                          <a:ea typeface="Vazirmatn" pitchFamily="34" charset="-122"/>
                          <a:cs typeface="Vazirmatn" pitchFamily="34" charset="-120"/>
                        </a:rPr>
                        <a:t>انتقال ERC20 و اجرای دلخواه</a:t>
                      </a:r>
                      <a:endParaRPr lang="fa-IR" sz="13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248095" y="3703320"/>
            <a:ext cx="5394960" cy="2468880"/>
          </a:xfrm>
          <a:prstGeom prst="rect">
            <a:avLst/>
          </a:prstGeom>
          <a:noFill/>
          <a:ln/>
        </p:spPr>
        <p:txBody>
          <a:bodyPr wrap="square" lIns="0" tIns="0" rIns="0" bIns="0" rtlCol="0" anchor="t"/>
          <a:lstStyle/>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قرارداد ۱۵ عضو دارد؛ همه‌ی اعضا یک نقش دارند.</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فقط دو کلید را کنترل می‌کند: identityOracle و paymentOracle.</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هیچ قرارداد دیگری را نمی‌شناسد و به خزانه‌ی ولیدیتورها وصل نیست؛ هیچ مسیر رسمی روی زنجیره برای درخواست بودجه از خزانه ندارد.</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اجرای پیشنهاد در همان تراکنش رسیدن به نصاب انجام می‌شود.</a:t>
            </a:r>
            <a:endParaRPr lang="en-US" sz="1250" dirty="0"/>
          </a:p>
        </p:txBody>
      </p:sp>
      <p:sp>
        <p:nvSpPr>
          <p:cNvPr id="8" name="Shape 5"/>
          <p:cNvSpPr/>
          <p:nvPr/>
        </p:nvSpPr>
        <p:spPr>
          <a:xfrm>
            <a:off x="548640" y="1463040"/>
            <a:ext cx="5394960" cy="2148840"/>
          </a:xfrm>
          <a:prstGeom prst="roundRect">
            <a:avLst>
              <a:gd name="adj" fmla="val 5106"/>
            </a:avLst>
          </a:prstGeom>
          <a:solidFill>
            <a:srgbClr val="EEF0FB"/>
          </a:solidFill>
          <a:ln w="9525">
            <a:solidFill>
              <a:srgbClr val="EEF0FB"/>
            </a:solidFill>
            <a:prstDash val="solid"/>
          </a:ln>
        </p:spPr>
      </p:sp>
      <p:sp>
        <p:nvSpPr>
          <p:cNvPr id="9" name="Text 6"/>
          <p:cNvSpPr txBox="1"/>
          <p:nvPr/>
        </p:nvSpPr>
        <p:spPr>
          <a:xfrm>
            <a:off x="777240" y="1645920"/>
            <a:ext cx="4937760"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۲۰ میلیون</a:t>
            </a:r>
            <a:endParaRPr lang="en-US" sz="3400" dirty="0"/>
          </a:p>
        </p:txBody>
      </p:sp>
      <p:sp>
        <p:nvSpPr>
          <p:cNvPr id="10" name="Text 7"/>
          <p:cNvSpPr txBox="1"/>
          <p:nvPr/>
        </p:nvSpPr>
        <p:spPr>
          <a:xfrm>
            <a:off x="777240" y="2423160"/>
            <a:ext cx="4937760" cy="365760"/>
          </a:xfrm>
          <a:prstGeom prst="rect">
            <a:avLst/>
          </a:prstGeom>
          <a:noFill/>
          <a:ln/>
        </p:spPr>
        <p:txBody>
          <a:bodyPr wrap="square" lIns="0" tIns="0" rIns="0" bIns="0" rtlCol="0" anchor="t"/>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سورن یک‌باره در genesis</a:t>
            </a:r>
            <a:endParaRPr lang="en-US" sz="1500" dirty="0"/>
          </a:p>
        </p:txBody>
      </p:sp>
      <p:sp>
        <p:nvSpPr>
          <p:cNvPr id="11" name="Text 8"/>
          <p:cNvSpPr txBox="1"/>
          <p:nvPr/>
        </p:nvSpPr>
        <p:spPr>
          <a:xfrm>
            <a:off x="777240" y="2834640"/>
            <a:ext cx="4937760" cy="68580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برای توسعه، آموزش، تبلیغات و فروش دوره‌ی قیمت ثابت</a:t>
            </a:r>
            <a:endParaRPr lang="en-US" sz="1250" dirty="0"/>
          </a:p>
        </p:txBody>
      </p:sp>
      <p:sp>
        <p:nvSpPr>
          <p:cNvPr id="12" name="Shape 9"/>
          <p:cNvSpPr/>
          <p:nvPr/>
        </p:nvSpPr>
        <p:spPr>
          <a:xfrm>
            <a:off x="548640" y="3794760"/>
            <a:ext cx="5394960" cy="2148840"/>
          </a:xfrm>
          <a:prstGeom prst="roundRect">
            <a:avLst>
              <a:gd name="adj" fmla="val 5106"/>
            </a:avLst>
          </a:prstGeom>
          <a:solidFill>
            <a:srgbClr val="EEF0FB"/>
          </a:solidFill>
          <a:ln w="9525">
            <a:solidFill>
              <a:srgbClr val="EEF0FB"/>
            </a:solidFill>
            <a:prstDash val="solid"/>
          </a:ln>
        </p:spPr>
      </p:sp>
      <p:sp>
        <p:nvSpPr>
          <p:cNvPr id="13" name="Text 10"/>
          <p:cNvSpPr txBox="1"/>
          <p:nvPr/>
        </p:nvSpPr>
        <p:spPr>
          <a:xfrm>
            <a:off x="777240" y="3977640"/>
            <a:ext cx="4937760" cy="731520"/>
          </a:xfrm>
          <a:prstGeom prst="rect">
            <a:avLst/>
          </a:prstGeom>
          <a:noFill/>
          <a:ln/>
        </p:spPr>
        <p:txBody>
          <a:bodyPr wrap="square" lIns="0" tIns="0" rIns="0" bIns="0" rtlCol="0" anchor="ctr"/>
          <a:lstStyle/>
          <a:p>
            <a:pPr rtl="1" algn="r" indent="0" marL="0">
              <a:lnSpc>
                <a:spcPct val="105000"/>
              </a:lnSpc>
              <a:buNone/>
            </a:pPr>
            <a:r>
              <a:rPr lang="fa-IR" altLang="en-US" sz="3400" b="1" dirty="0">
                <a:solidFill>
                  <a:srgbClr val="2F3690"/>
                </a:solidFill>
                <a:latin typeface="Vazirmatn" pitchFamily="34" charset="0"/>
                <a:ea typeface="Vazirmatn" pitchFamily="34" charset="-122"/>
                <a:cs typeface="Vazirmatn" pitchFamily="34" charset="-120"/>
              </a:rPr>
              <a:t>≈ ۳٫۱۵ میلیون</a:t>
            </a:r>
            <a:endParaRPr lang="en-US" sz="3400" dirty="0"/>
          </a:p>
        </p:txBody>
      </p:sp>
      <p:sp>
        <p:nvSpPr>
          <p:cNvPr id="14" name="Text 11"/>
          <p:cNvSpPr txBox="1"/>
          <p:nvPr/>
        </p:nvSpPr>
        <p:spPr>
          <a:xfrm>
            <a:off x="777240" y="4754880"/>
            <a:ext cx="4937760" cy="365760"/>
          </a:xfrm>
          <a:prstGeom prst="rect">
            <a:avLst/>
          </a:prstGeom>
          <a:noFill/>
          <a:ln/>
        </p:spPr>
        <p:txBody>
          <a:bodyPr wrap="square" lIns="0" tIns="0" rIns="0" bIns="0" rtlCol="0" anchor="t"/>
          <a:lstStyle/>
          <a:p>
            <a:pPr rtl="1" algn="r" indent="0" marL="0">
              <a:lnSpc>
                <a:spcPct val="105000"/>
              </a:lnSpc>
              <a:buNone/>
            </a:pPr>
            <a:r>
              <a:rPr lang="fa-IR" altLang="en-US" sz="1500" b="1" dirty="0">
                <a:solidFill>
                  <a:srgbClr val="1B1B2F"/>
                </a:solidFill>
                <a:latin typeface="Vazirmatn" pitchFamily="34" charset="0"/>
                <a:ea typeface="Vazirmatn" pitchFamily="34" charset="-122"/>
                <a:cs typeface="Vazirmatn" pitchFamily="34" charset="-120"/>
              </a:rPr>
              <a:t>سورن در سال، خودکار</a:t>
            </a:r>
            <a:endParaRPr lang="en-US" sz="1500" dirty="0"/>
          </a:p>
        </p:txBody>
      </p:sp>
      <p:sp>
        <p:nvSpPr>
          <p:cNvPr id="15" name="Text 12"/>
          <p:cNvSpPr txBox="1"/>
          <p:nvPr/>
        </p:nvSpPr>
        <p:spPr>
          <a:xfrm>
            <a:off x="777240" y="5166360"/>
            <a:ext cx="4937760" cy="68580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۱۵٪ از کل ریوارد؛ فقط هزینه‌ی جاری و حقوق، نه بودجه‌ی کمپین</a:t>
            </a:r>
            <a:endParaRPr lang="en-US" sz="1250" dirty="0"/>
          </a:p>
        </p:txBody>
      </p:sp>
      <p:sp>
        <p:nvSpPr>
          <p:cNvPr id="16" name="Text 13"/>
          <p:cNvSpPr txBox="1"/>
          <p:nvPr/>
        </p:nvSpPr>
        <p:spPr>
          <a:xfrm>
            <a:off x="548640" y="6126480"/>
            <a:ext cx="539496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C8431F"/>
                </a:solidFill>
                <a:latin typeface="Vazirmatn" pitchFamily="34" charset="0"/>
                <a:ea typeface="Vazirmatn" pitchFamily="34" charset="-122"/>
                <a:cs typeface="Vazirmatn" pitchFamily="34" charset="-120"/>
              </a:rPr>
              <a:t>برای هر چیز فراتر از این دو، مسیر رسمی روی زنجیره وجود ندارد.</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فروش سورن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پیش‌فروش سورن: سه مرحله و قیمت هر مرحله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31</a:t>
            </a:r>
            <a:endParaRPr lang="en-US" sz="1000" dirty="0"/>
          </a:p>
        </p:txBody>
      </p:sp>
      <p:sp>
        <p:nvSpPr>
          <p:cNvPr id="6" name="Text 4"/>
          <p:cNvSpPr txBox="1"/>
          <p:nvPr/>
        </p:nvSpPr>
        <p:spPr>
          <a:xfrm>
            <a:off x="548640" y="1371600"/>
            <a:ext cx="11094415" cy="73152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بنیاد سورن را از موجودی ۲۰ میلیونی خودش (ردیف ۱ genesis) و فقط با قرارداد SurenSale می‌فروشد. پرداخت به تومان و از طریق درگاه است؛ سورن خریدار در همان تراکنش از قرارداد منتقل می‌شود. بنیاد فقط می‌فروشد و هرگز بازخرید نمی‌کند.</a:t>
            </a:r>
            <a:endParaRPr lang="en-US" sz="1300" dirty="0"/>
          </a:p>
        </p:txBody>
      </p:sp>
      <p:sp>
        <p:nvSpPr>
          <p:cNvPr id="7" name="Shape 5"/>
          <p:cNvSpPr/>
          <p:nvPr/>
        </p:nvSpPr>
        <p:spPr>
          <a:xfrm>
            <a:off x="8078724" y="2240280"/>
            <a:ext cx="3564026" cy="2377440"/>
          </a:xfrm>
          <a:prstGeom prst="roundRect">
            <a:avLst>
              <a:gd name="adj" fmla="val 4615"/>
            </a:avLst>
          </a:prstGeom>
          <a:solidFill>
            <a:srgbClr val="FFFFFF"/>
          </a:solidFill>
          <a:ln w="22225">
            <a:solidFill>
              <a:srgbClr val="2F3690"/>
            </a:solidFill>
            <a:prstDash val="solid"/>
          </a:ln>
        </p:spPr>
      </p:sp>
      <p:sp>
        <p:nvSpPr>
          <p:cNvPr id="8" name="Text 6"/>
          <p:cNvSpPr txBox="1"/>
          <p:nvPr/>
        </p:nvSpPr>
        <p:spPr>
          <a:xfrm>
            <a:off x="8215884" y="2331720"/>
            <a:ext cx="3289706" cy="3657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2F3690"/>
                </a:solidFill>
                <a:latin typeface="Vazirmatn" pitchFamily="34" charset="0"/>
                <a:ea typeface="Vazirmatn" pitchFamily="34" charset="-122"/>
                <a:cs typeface="Vazirmatn" pitchFamily="34" charset="-120"/>
              </a:rPr>
              <a:t>مرحله‌ی ۱: قیمت ثابت</a:t>
            </a:r>
            <a:endParaRPr lang="en-US" sz="1450" dirty="0"/>
          </a:p>
        </p:txBody>
      </p:sp>
      <p:sp>
        <p:nvSpPr>
          <p:cNvPr id="9" name="Text 7"/>
          <p:cNvSpPr txBox="1"/>
          <p:nvPr/>
        </p:nvSpPr>
        <p:spPr>
          <a:xfrm>
            <a:off x="8215884" y="2743200"/>
            <a:ext cx="3289706" cy="27432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565D7A"/>
                </a:solidFill>
                <a:latin typeface="Vazirmatn" pitchFamily="34" charset="0"/>
                <a:ea typeface="Vazirmatn" pitchFamily="34" charset="-122"/>
                <a:cs typeface="Vazirmatn" pitchFamily="34" charset="-120"/>
              </a:rPr>
              <a:t>روز ۱ تا ۱۸۰ (۶ ماه ۳۰روزه)</a:t>
            </a:r>
            <a:endParaRPr lang="en-US" sz="1150" dirty="0"/>
          </a:p>
        </p:txBody>
      </p:sp>
      <p:sp>
        <p:nvSpPr>
          <p:cNvPr id="10" name="Text 8"/>
          <p:cNvSpPr txBox="1"/>
          <p:nvPr/>
        </p:nvSpPr>
        <p:spPr>
          <a:xfrm>
            <a:off x="8215884" y="3108960"/>
            <a:ext cx="3289706" cy="457200"/>
          </a:xfrm>
          <a:prstGeom prst="rect">
            <a:avLst/>
          </a:prstGeom>
          <a:noFill/>
          <a:ln/>
        </p:spPr>
        <p:txBody>
          <a:bodyPr wrap="square" lIns="0" tIns="0" rIns="0" bIns="0" rtlCol="0" anchor="t"/>
          <a:lstStyle/>
          <a:p>
            <a:pPr rtl="1" algn="r" indent="0" marL="0">
              <a:lnSpc>
                <a:spcPct val="105000"/>
              </a:lnSpc>
              <a:buNone/>
            </a:pPr>
            <a:r>
              <a:rPr lang="fa-IR" altLang="en-US" sz="1700" b="1" dirty="0">
                <a:solidFill>
                  <a:srgbClr val="1B1B2F"/>
                </a:solidFill>
                <a:latin typeface="Vazirmatn" pitchFamily="34" charset="0"/>
                <a:ea typeface="Vazirmatn" pitchFamily="34" charset="-122"/>
                <a:cs typeface="Vazirmatn" pitchFamily="34" charset="-120"/>
              </a:rPr>
              <a:t>۱۰۰ تا ۱۱۶ تومان</a:t>
            </a:r>
            <a:endParaRPr lang="en-US" sz="1700" dirty="0"/>
          </a:p>
        </p:txBody>
      </p:sp>
      <p:sp>
        <p:nvSpPr>
          <p:cNvPr id="11" name="Text 9"/>
          <p:cNvSpPr txBox="1"/>
          <p:nvPr/>
        </p:nvSpPr>
        <p:spPr>
          <a:xfrm>
            <a:off x="8215884" y="3657600"/>
            <a:ext cx="3289706" cy="91440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هر ماه قیمت پله‌ای بالاتر؛ جدول ثابت و مستقل از حجم فروش. رشد کل ۱۶٪.</a:t>
            </a:r>
            <a:endParaRPr lang="en-US" sz="1150" dirty="0"/>
          </a:p>
        </p:txBody>
      </p:sp>
      <p:sp>
        <p:nvSpPr>
          <p:cNvPr id="12" name="Shape 10"/>
          <p:cNvSpPr/>
          <p:nvPr/>
        </p:nvSpPr>
        <p:spPr>
          <a:xfrm>
            <a:off x="4314139" y="2240280"/>
            <a:ext cx="3564026" cy="2377440"/>
          </a:xfrm>
          <a:prstGeom prst="roundRect">
            <a:avLst>
              <a:gd name="adj" fmla="val 4615"/>
            </a:avLst>
          </a:prstGeom>
          <a:solidFill>
            <a:srgbClr val="FFFFFF"/>
          </a:solidFill>
          <a:ln w="22225">
            <a:solidFill>
              <a:srgbClr val="3D46A8"/>
            </a:solidFill>
            <a:prstDash val="solid"/>
          </a:ln>
        </p:spPr>
      </p:sp>
      <p:sp>
        <p:nvSpPr>
          <p:cNvPr id="13" name="Text 11"/>
          <p:cNvSpPr txBox="1"/>
          <p:nvPr/>
        </p:nvSpPr>
        <p:spPr>
          <a:xfrm>
            <a:off x="4451299" y="2331720"/>
            <a:ext cx="3289706" cy="3657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3D46A8"/>
                </a:solidFill>
                <a:latin typeface="Vazirmatn" pitchFamily="34" charset="0"/>
                <a:ea typeface="Vazirmatn" pitchFamily="34" charset="-122"/>
                <a:cs typeface="Vazirmatn" pitchFamily="34" charset="-120"/>
              </a:rPr>
              <a:t>مرحله‌ی میانی: گذار کنترل‌شده</a:t>
            </a:r>
            <a:endParaRPr lang="en-US" sz="1450" dirty="0"/>
          </a:p>
        </p:txBody>
      </p:sp>
      <p:sp>
        <p:nvSpPr>
          <p:cNvPr id="14" name="Text 12"/>
          <p:cNvSpPr txBox="1"/>
          <p:nvPr/>
        </p:nvSpPr>
        <p:spPr>
          <a:xfrm>
            <a:off x="4451299" y="2743200"/>
            <a:ext cx="3289706" cy="27432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565D7A"/>
                </a:solidFill>
                <a:latin typeface="Vazirmatn" pitchFamily="34" charset="0"/>
                <a:ea typeface="Vazirmatn" pitchFamily="34" charset="-122"/>
                <a:cs typeface="Vazirmatn" pitchFamily="34" charset="-120"/>
              </a:rPr>
              <a:t>روز ۱۸۱ تا ۲۲۵ (۴۵ روز)</a:t>
            </a:r>
            <a:endParaRPr lang="en-US" sz="1150" dirty="0"/>
          </a:p>
        </p:txBody>
      </p:sp>
      <p:sp>
        <p:nvSpPr>
          <p:cNvPr id="15" name="Text 13"/>
          <p:cNvSpPr txBox="1"/>
          <p:nvPr/>
        </p:nvSpPr>
        <p:spPr>
          <a:xfrm>
            <a:off x="4451299" y="3108960"/>
            <a:ext cx="3289706" cy="457200"/>
          </a:xfrm>
          <a:prstGeom prst="rect">
            <a:avLst/>
          </a:prstGeom>
          <a:noFill/>
          <a:ln/>
        </p:spPr>
        <p:txBody>
          <a:bodyPr wrap="square" lIns="0" tIns="0" rIns="0" bIns="0" rtlCol="0" anchor="t"/>
          <a:lstStyle/>
          <a:p>
            <a:pPr rtl="1" algn="r" indent="0" marL="0">
              <a:lnSpc>
                <a:spcPct val="105000"/>
              </a:lnSpc>
              <a:buNone/>
            </a:pPr>
            <a:r>
              <a:rPr lang="fa-IR" altLang="en-US" sz="1700" b="1" dirty="0">
                <a:solidFill>
                  <a:srgbClr val="1B1B2F"/>
                </a:solidFill>
                <a:latin typeface="Vazirmatn" pitchFamily="34" charset="0"/>
                <a:ea typeface="Vazirmatn" pitchFamily="34" charset="-122"/>
                <a:cs typeface="Vazirmatn" pitchFamily="34" charset="-120"/>
              </a:rPr>
              <a:t>شروع ۱۱۶ تومان، تغییر روزانه</a:t>
            </a:r>
            <a:endParaRPr lang="en-US" sz="1700" dirty="0"/>
          </a:p>
        </p:txBody>
      </p:sp>
      <p:sp>
        <p:nvSpPr>
          <p:cNvPr id="16" name="Text 14"/>
          <p:cNvSpPr txBox="1"/>
          <p:nvPr/>
        </p:nvSpPr>
        <p:spPr>
          <a:xfrm>
            <a:off x="4451299" y="3657600"/>
            <a:ext cx="3289706" cy="91440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هر روز بر پایه‌ی حجم فروش روز قبل تا ۰٫۵٪ بالا یا پایین می‌رود. بنیاد هنوز تنها فروشنده است.</a:t>
            </a:r>
            <a:endParaRPr lang="en-US" sz="1150" dirty="0"/>
          </a:p>
        </p:txBody>
      </p:sp>
      <p:sp>
        <p:nvSpPr>
          <p:cNvPr id="17" name="Shape 15"/>
          <p:cNvSpPr/>
          <p:nvPr/>
        </p:nvSpPr>
        <p:spPr>
          <a:xfrm>
            <a:off x="548640" y="2240280"/>
            <a:ext cx="3564026" cy="2377440"/>
          </a:xfrm>
          <a:prstGeom prst="roundRect">
            <a:avLst>
              <a:gd name="adj" fmla="val 4615"/>
            </a:avLst>
          </a:prstGeom>
          <a:solidFill>
            <a:srgbClr val="FFFFFF"/>
          </a:solidFill>
          <a:ln w="22225">
            <a:solidFill>
              <a:srgbClr val="C8431F"/>
            </a:solidFill>
            <a:prstDash val="solid"/>
          </a:ln>
        </p:spPr>
      </p:sp>
      <p:sp>
        <p:nvSpPr>
          <p:cNvPr id="18" name="Text 16"/>
          <p:cNvSpPr txBox="1"/>
          <p:nvPr/>
        </p:nvSpPr>
        <p:spPr>
          <a:xfrm>
            <a:off x="685800" y="2331720"/>
            <a:ext cx="3289706" cy="3657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C8431F"/>
                </a:solidFill>
                <a:latin typeface="Vazirmatn" pitchFamily="34" charset="0"/>
                <a:ea typeface="Vazirmatn" pitchFamily="34" charset="-122"/>
                <a:cs typeface="Vazirmatn" pitchFamily="34" charset="-120"/>
              </a:rPr>
              <a:t>پس از گذار: پایان فروش</a:t>
            </a:r>
            <a:endParaRPr lang="en-US" sz="1450" dirty="0"/>
          </a:p>
        </p:txBody>
      </p:sp>
      <p:sp>
        <p:nvSpPr>
          <p:cNvPr id="19" name="Text 17"/>
          <p:cNvSpPr txBox="1"/>
          <p:nvPr/>
        </p:nvSpPr>
        <p:spPr>
          <a:xfrm>
            <a:off x="685800" y="2743200"/>
            <a:ext cx="3289706" cy="27432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565D7A"/>
                </a:solidFill>
                <a:latin typeface="Vazirmatn" pitchFamily="34" charset="0"/>
                <a:ea typeface="Vazirmatn" pitchFamily="34" charset="-122"/>
                <a:cs typeface="Vazirmatn" pitchFamily="34" charset="-120"/>
              </a:rPr>
              <a:t>از روز ۲۲۶</a:t>
            </a:r>
            <a:endParaRPr lang="en-US" sz="1150" dirty="0"/>
          </a:p>
        </p:txBody>
      </p:sp>
      <p:sp>
        <p:nvSpPr>
          <p:cNvPr id="20" name="Text 18"/>
          <p:cNvSpPr txBox="1"/>
          <p:nvPr/>
        </p:nvSpPr>
        <p:spPr>
          <a:xfrm>
            <a:off x="685800" y="3108960"/>
            <a:ext cx="3289706" cy="457200"/>
          </a:xfrm>
          <a:prstGeom prst="rect">
            <a:avLst/>
          </a:prstGeom>
          <a:noFill/>
          <a:ln/>
        </p:spPr>
        <p:txBody>
          <a:bodyPr wrap="square" lIns="0" tIns="0" rIns="0" bIns="0" rtlCol="0" anchor="t"/>
          <a:lstStyle/>
          <a:p>
            <a:pPr rtl="1" algn="r" indent="0" marL="0">
              <a:lnSpc>
                <a:spcPct val="105000"/>
              </a:lnSpc>
              <a:buNone/>
            </a:pPr>
            <a:r>
              <a:rPr lang="fa-IR" altLang="en-US" sz="1700" b="1" dirty="0">
                <a:solidFill>
                  <a:srgbClr val="1B1B2F"/>
                </a:solidFill>
                <a:latin typeface="Vazirmatn" pitchFamily="34" charset="0"/>
                <a:ea typeface="Vazirmatn" pitchFamily="34" charset="-122"/>
                <a:cs typeface="Vazirmatn" pitchFamily="34" charset="-120"/>
              </a:rPr>
              <a:t>قیمت را بازار تعیین می‌کند</a:t>
            </a:r>
            <a:endParaRPr lang="en-US" sz="1700" dirty="0"/>
          </a:p>
        </p:txBody>
      </p:sp>
      <p:sp>
        <p:nvSpPr>
          <p:cNvPr id="21" name="Text 19"/>
          <p:cNvSpPr txBox="1"/>
          <p:nvPr/>
        </p:nvSpPr>
        <p:spPr>
          <a:xfrm>
            <a:off x="685800" y="3657600"/>
            <a:ext cx="3289706" cy="91440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قرارداد دیگر پرداخت نمی‌پذیرد؛ موجودی فروش‌نرفته را فقط بنیاد می‌تواند برداشت کند.</a:t>
            </a:r>
            <a:endParaRPr lang="en-US" sz="1150" dirty="0"/>
          </a:p>
        </p:txBody>
      </p:sp>
      <p:sp>
        <p:nvSpPr>
          <p:cNvPr id="22" name="Shape 20"/>
          <p:cNvSpPr/>
          <p:nvPr/>
        </p:nvSpPr>
        <p:spPr>
          <a:xfrm>
            <a:off x="8078724" y="4800600"/>
            <a:ext cx="3564026" cy="1508760"/>
          </a:xfrm>
          <a:prstGeom prst="roundRect">
            <a:avLst>
              <a:gd name="adj" fmla="val 7273"/>
            </a:avLst>
          </a:prstGeom>
          <a:solidFill>
            <a:srgbClr val="F7F9FC"/>
          </a:solidFill>
          <a:ln w="9525">
            <a:solidFill>
              <a:srgbClr val="DDE1EE"/>
            </a:solidFill>
            <a:prstDash val="solid"/>
          </a:ln>
        </p:spPr>
      </p:sp>
      <p:sp>
        <p:nvSpPr>
          <p:cNvPr id="23" name="Text 21"/>
          <p:cNvSpPr txBox="1"/>
          <p:nvPr/>
        </p:nvSpPr>
        <p:spPr>
          <a:xfrm>
            <a:off x="8215884" y="487375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پایان فروش</a:t>
            </a:r>
            <a:endParaRPr lang="en-US" sz="1300" dirty="0"/>
          </a:p>
        </p:txBody>
      </p:sp>
      <p:sp>
        <p:nvSpPr>
          <p:cNvPr id="24" name="Text 22"/>
          <p:cNvSpPr txBox="1"/>
          <p:nvPr/>
        </p:nvSpPr>
        <p:spPr>
          <a:xfrm>
            <a:off x="8215884" y="5239512"/>
            <a:ext cx="3289706" cy="105156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هرکدام زودتر برسد: پایان روز ۲۲۵، یا تمام‌شدن موجودی قرارداد. دوره‌ی قیمت ثابت ۶ ماهه قابل‌بازنگری است؛ اگر تقاضا هنوز قوی باشد، دور دوم قیمت ثابت جداگانه تصمیم‌گیری می‌شود.</a:t>
            </a:r>
            <a:endParaRPr lang="en-US" sz="1050" dirty="0"/>
          </a:p>
        </p:txBody>
      </p:sp>
      <p:sp>
        <p:nvSpPr>
          <p:cNvPr id="25" name="Shape 23"/>
          <p:cNvSpPr/>
          <p:nvPr/>
        </p:nvSpPr>
        <p:spPr>
          <a:xfrm>
            <a:off x="4314139" y="4800600"/>
            <a:ext cx="3564026" cy="1508760"/>
          </a:xfrm>
          <a:prstGeom prst="roundRect">
            <a:avLst>
              <a:gd name="adj" fmla="val 7273"/>
            </a:avLst>
          </a:prstGeom>
          <a:solidFill>
            <a:srgbClr val="F7F9FC"/>
          </a:solidFill>
          <a:ln w="9525">
            <a:solidFill>
              <a:srgbClr val="DDE1EE"/>
            </a:solidFill>
            <a:prstDash val="solid"/>
          </a:ln>
        </p:spPr>
      </p:sp>
      <p:sp>
        <p:nvSpPr>
          <p:cNvPr id="26" name="Text 24"/>
          <p:cNvSpPr txBox="1"/>
          <p:nvPr/>
        </p:nvSpPr>
        <p:spPr>
          <a:xfrm>
            <a:off x="4451299" y="487375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موجودی</a:t>
            </a:r>
            <a:endParaRPr lang="en-US" sz="1300" dirty="0"/>
          </a:p>
        </p:txBody>
      </p:sp>
      <p:sp>
        <p:nvSpPr>
          <p:cNvPr id="27" name="Text 25"/>
          <p:cNvSpPr txBox="1"/>
          <p:nvPr/>
        </p:nvSpPr>
        <p:spPr>
          <a:xfrm>
            <a:off x="4451299" y="5239512"/>
            <a:ext cx="3289706" cy="105156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کل ۲۰ میلیون سورن یک‌جا به قرارداد داده نمی‌شود؛ بنیاد دوره‌ای (مثلاً ماهانه و به‌اندازه‌ی نیاز همان ماه) تأمین می‌کند تا سقف زیان یک کلید هک‌شده محدود بماند. مبلغ و تناوب هنوز تعیین نشده است.</a:t>
            </a:r>
            <a:endParaRPr lang="en-US" sz="1050" dirty="0"/>
          </a:p>
        </p:txBody>
      </p:sp>
      <p:sp>
        <p:nvSpPr>
          <p:cNvPr id="28" name="Shape 26"/>
          <p:cNvSpPr/>
          <p:nvPr/>
        </p:nvSpPr>
        <p:spPr>
          <a:xfrm>
            <a:off x="548640" y="4800600"/>
            <a:ext cx="3564026" cy="1508760"/>
          </a:xfrm>
          <a:prstGeom prst="roundRect">
            <a:avLst>
              <a:gd name="adj" fmla="val 7273"/>
            </a:avLst>
          </a:prstGeom>
          <a:solidFill>
            <a:srgbClr val="F7F9FC"/>
          </a:solidFill>
          <a:ln w="9525">
            <a:solidFill>
              <a:srgbClr val="DDE1EE"/>
            </a:solidFill>
            <a:prstDash val="solid"/>
          </a:ln>
        </p:spPr>
      </p:sp>
      <p:sp>
        <p:nvSpPr>
          <p:cNvPr id="29" name="Text 27"/>
          <p:cNvSpPr txBox="1"/>
          <p:nvPr/>
        </p:nvSpPr>
        <p:spPr>
          <a:xfrm>
            <a:off x="685800" y="4873752"/>
            <a:ext cx="3289706" cy="32004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بازار ثانویه</a:t>
            </a:r>
            <a:endParaRPr lang="en-US" sz="1300" dirty="0"/>
          </a:p>
        </p:txBody>
      </p:sp>
      <p:sp>
        <p:nvSpPr>
          <p:cNvPr id="30" name="Text 28"/>
          <p:cNvSpPr txBox="1"/>
          <p:nvPr/>
        </p:nvSpPr>
        <p:spPr>
          <a:xfrm>
            <a:off x="685800" y="5239512"/>
            <a:ext cx="3289706" cy="1051560"/>
          </a:xfrm>
          <a:prstGeom prst="rect">
            <a:avLst/>
          </a:prstGeom>
          <a:noFill/>
          <a:ln/>
        </p:spPr>
        <p:txBody>
          <a:bodyPr wrap="square" lIns="0" tIns="0" rIns="0" bIns="0" rtlCol="0" anchor="t"/>
          <a:lstStyle/>
          <a:p>
            <a:pPr rtl="1" algn="r" indent="0" marL="0">
              <a:lnSpc>
                <a:spcPct val="105000"/>
              </a:lnSpc>
              <a:buNone/>
            </a:pPr>
            <a:r>
              <a:rPr lang="fa-IR" altLang="en-US" sz="1050" dirty="0">
                <a:solidFill>
                  <a:srgbClr val="1B1B2F"/>
                </a:solidFill>
                <a:latin typeface="Vazirmatn" pitchFamily="34" charset="0"/>
                <a:ea typeface="Vazirmatn" pitchFamily="34" charset="-122"/>
                <a:cs typeface="Vazirmatn" pitchFamily="34" charset="-120"/>
              </a:rPr>
              <a:t>در همه‌ی مراحل معامله‌ی همتا‌به‌همتا آزاد است. چون بنیاد بازخرید نمی‌کند، قیمت بنیاد سقفی برای قیمت بازار می‌سازد ولی هیچ کفی ندارد.</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فروش سورن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مرحله‌ی اول: قیمت ثابت ۶ ماهه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32</a:t>
            </a:r>
            <a:endParaRPr lang="en-US" sz="1000" dirty="0"/>
          </a:p>
        </p:txBody>
      </p:sp>
      <p:graphicFrame>
        <p:nvGraphicFramePr>
          <p:cNvPr id="6" name="Chart 0" descr=""/>
          <p:cNvGraphicFramePr/>
          <p:nvPr/>
        </p:nvGraphicFramePr>
        <p:xfrm>
          <a:off x="548640" y="141732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394960"/>
            <a:ext cx="5394960" cy="274320"/>
          </a:xfrm>
          <a:prstGeom prst="rect">
            <a:avLst/>
          </a:prstGeom>
          <a:noFill/>
          <a:ln/>
        </p:spPr>
        <p:txBody>
          <a:bodyPr wrap="square" lIns="0" tIns="0" rIns="0" bIns="0" rtlCol="0" anchor="t"/>
          <a:lstStyle/>
          <a:p>
            <a:pPr rtl="1" algn="ctr" indent="0" marL="0">
              <a:lnSpc>
                <a:spcPct val="105000"/>
              </a:lnSpc>
              <a:buNone/>
            </a:pPr>
            <a:r>
              <a:rPr lang="fa-IR" altLang="en-US" sz="1150" dirty="0">
                <a:solidFill>
                  <a:srgbClr val="565D7A"/>
                </a:solidFill>
                <a:latin typeface="Vazirmatn" pitchFamily="34" charset="0"/>
                <a:ea typeface="Vazirmatn" pitchFamily="34" charset="-122"/>
                <a:cs typeface="Vazirmatn" pitchFamily="34" charset="-120"/>
              </a:rPr>
              <a:t>قیمت هر سورن به تومان در هر ماه</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202375" y="1417320"/>
          <a:ext cx="5440680" cy="914400"/>
        </p:xfrm>
        <a:graphic>
          <a:graphicData uri="http://schemas.openxmlformats.org/drawingml/2006/table">
            <a:tbl>
              <a:tblPr/>
              <a:tblGrid>
                <a:gridCol w="2011680"/>
                <a:gridCol w="1371600"/>
                <a:gridCol w="1325880"/>
                <a:gridCol w="731520"/>
              </a:tblGrid>
              <a:tr h="384048">
                <a:tc>
                  <a:txBody>
                    <a:bodyPr/>
                    <a:lstStyle/>
                    <a:p>
                      <a:pPr rtl="1" algn="r" indent="0" marL="0">
                        <a:buNone/>
                      </a:pPr>
                      <a:r>
                        <a:rPr lang="fa-IR" altLang="en-US" sz="1150" b="1" dirty="0">
                          <a:solidFill>
                            <a:srgbClr val="FFFFFF"/>
                          </a:solidFill>
                          <a:latin typeface="Vazirmatn" pitchFamily="34" charset="0"/>
                          <a:ea typeface="Vazirmatn" pitchFamily="34" charset="-122"/>
                          <a:cs typeface="Vazirmatn" pitchFamily="34" charset="-120"/>
                        </a:rPr>
                        <a:t>سورن برای ۱ میلیون</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150" b="1" dirty="0">
                          <a:solidFill>
                            <a:srgbClr val="FFFFFF"/>
                          </a:solidFill>
                          <a:latin typeface="Vazirmatn" pitchFamily="34" charset="0"/>
                          <a:ea typeface="Vazirmatn" pitchFamily="34" charset="-122"/>
                          <a:cs typeface="Vazirmatn" pitchFamily="34" charset="-120"/>
                        </a:rPr>
                        <a:t>قیمت (تومان)</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150" b="1" dirty="0">
                          <a:solidFill>
                            <a:srgbClr val="FFFFFF"/>
                          </a:solidFill>
                          <a:latin typeface="Vazirmatn" pitchFamily="34" charset="0"/>
                          <a:ea typeface="Vazirmatn" pitchFamily="34" charset="-122"/>
                          <a:cs typeface="Vazirmatn" pitchFamily="34" charset="-120"/>
                        </a:rPr>
                        <a:t>روزها</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150" b="1" dirty="0">
                          <a:solidFill>
                            <a:srgbClr val="FFFFFF"/>
                          </a:solidFill>
                          <a:latin typeface="Vazirmatn" pitchFamily="34" charset="0"/>
                          <a:ea typeface="Vazirmatn" pitchFamily="34" charset="-122"/>
                          <a:cs typeface="Vazirmatn" pitchFamily="34" charset="-120"/>
                        </a:rPr>
                        <a:t>ماه</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۱۰٬۰۰۰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۱۰۰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 تا ۳۰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۱</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۹٬۷۰۹</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۱۰۳</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۳۱ تا ۶۰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۲</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۹٬۴۳۴</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۱۰۶</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۶۱ تا ۹۰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۳</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۹٬۱۷۴</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۱۰۹</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۹۱ تا ۱۲۰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۴</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۸٬۸۵۰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۱۱۳</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۱۲۱ تا ۱۵۰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۵</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384048">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۸٬۶۲۱</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۱۱۶</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dirty="0">
                          <a:solidFill>
                            <a:srgbClr val="1B1B2F"/>
                          </a:solidFill>
                          <a:latin typeface="Vazirmatn" pitchFamily="34" charset="0"/>
                          <a:ea typeface="Vazirmatn" pitchFamily="34" charset="-122"/>
                          <a:cs typeface="Vazirmatn" pitchFamily="34" charset="-120"/>
                        </a:rPr>
                        <a:t>۱۵۱ تا ۱۸۰</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150" b="1" dirty="0">
                          <a:solidFill>
                            <a:srgbClr val="1B1B2F"/>
                          </a:solidFill>
                          <a:latin typeface="Vazirmatn" pitchFamily="34" charset="0"/>
                          <a:ea typeface="Vazirmatn" pitchFamily="34" charset="-122"/>
                          <a:cs typeface="Vazirmatn" pitchFamily="34" charset="-120"/>
                        </a:rPr>
                        <a:t>۶</a:t>
                      </a:r>
                      <a:endParaRPr lang="fa-IR" sz="11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
        <p:nvSpPr>
          <p:cNvPr id="9" name="Text 5"/>
          <p:cNvSpPr txBox="1"/>
          <p:nvPr/>
        </p:nvSpPr>
        <p:spPr>
          <a:xfrm>
            <a:off x="6202375" y="4297680"/>
            <a:ext cx="5440680" cy="2057400"/>
          </a:xfrm>
          <a:prstGeom prst="rect">
            <a:avLst/>
          </a:prstGeom>
          <a:noFill/>
          <a:ln/>
        </p:spPr>
        <p:txBody>
          <a:bodyPr wrap="square" lIns="0" tIns="0" rIns="0" bIns="0" rtlCol="0" anchor="t"/>
          <a:lstStyle/>
          <a:p>
            <a:pPr rtl="1" algn="r" indent="0" marL="0">
              <a:lnSpc>
                <a:spcPct val="105000"/>
              </a:lnSpc>
              <a:spcAft>
                <a:spcPts val="400"/>
              </a:spcAft>
              <a:buNone/>
            </a:pPr>
            <a:r>
              <a:rPr lang="fa-IR" altLang="en-US" sz="1050" dirty="0">
                <a:solidFill>
                  <a:srgbClr val="1B1B2F"/>
                </a:solidFill>
                <a:latin typeface="Vazirmatn" pitchFamily="34" charset="0"/>
                <a:ea typeface="Vazirmatn" pitchFamily="34" charset="-122"/>
                <a:cs typeface="Vazirmatn" pitchFamily="34" charset="-120"/>
              </a:rPr>
              <a:t>قیمت فقط از زمان بلاک خوانده می‌شود: ماه = ⌊(زمان − شروع فروش) ÷ ۳۰ روز⌋ و آخرین ماه ثابت می‌ماند. جدول در قرارداد ثابت نوشته شده است (رشد ۳٪ مرکب ماهانه، گرد‌شده به نزدیک‌ترین تومان).</a:t>
            </a:r>
            <a:endParaRPr lang="en-US" sz="1050" dirty="0"/>
          </a:p>
          <a:p>
            <a:pPr rtl="1" algn="r" indent="0" marL="0">
              <a:lnSpc>
                <a:spcPct val="105000"/>
              </a:lnSpc>
              <a:spcAft>
                <a:spcPts val="400"/>
              </a:spcAft>
              <a:buNone/>
            </a:pPr>
            <a:r>
              <a:rPr lang="fa-IR" altLang="en-US" sz="1050" dirty="0">
                <a:solidFill>
                  <a:srgbClr val="1B1B2F"/>
                </a:solidFill>
                <a:latin typeface="Vazirmatn" pitchFamily="34" charset="0"/>
                <a:ea typeface="Vazirmatn" pitchFamily="34" charset="-122"/>
                <a:cs typeface="Vazirmatn" pitchFamily="34" charset="-120"/>
              </a:rPr>
              <a:t>چرا ۶ ماه: انتشار سالانه (۲۱ میلیون) تقریباً برابر کل موجودی بنیاد است و هر ماه اضافه یعنی رقیق‌شدن بیشتر پیش از بازار آزاد؛ ۶ ماه برگشت‌پذیرتر از ۱۲ ماه است.</a:t>
            </a:r>
            <a:endParaRPr lang="en-US" sz="1050" dirty="0"/>
          </a:p>
          <a:p>
            <a:pPr rtl="1" algn="r" indent="0" marL="0">
              <a:lnSpc>
                <a:spcPct val="105000"/>
              </a:lnSpc>
              <a:spcAft>
                <a:spcPts val="400"/>
              </a:spcAft>
              <a:buNone/>
            </a:pPr>
            <a:r>
              <a:rPr lang="fa-IR" altLang="en-US" sz="1050" dirty="0">
                <a:solidFill>
                  <a:srgbClr val="1B1B2F"/>
                </a:solidFill>
                <a:latin typeface="Vazirmatn" pitchFamily="34" charset="0"/>
                <a:ea typeface="Vazirmatn" pitchFamily="34" charset="-122"/>
                <a:cs typeface="Vazirmatn" pitchFamily="34" charset="-120"/>
              </a:rPr>
              <a:t>چرا پله‌ی درصدی: با هر قیمت پایه‌ای معنا دارد و رشد ملایم فقط پاداش مشارکت زودهنگام است.</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فروش سورن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مرحله‌ی میانی: گذار ۴۵ روزه و قیمت‌گذاری روزانه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33</a:t>
            </a:r>
            <a:endParaRPr lang="en-US" sz="1000" dirty="0"/>
          </a:p>
        </p:txBody>
      </p:sp>
      <p:sp>
        <p:nvSpPr>
          <p:cNvPr id="6" name="Text 4"/>
          <p:cNvSpPr txBox="1"/>
          <p:nvPr/>
        </p:nvSpPr>
        <p:spPr>
          <a:xfrm>
            <a:off x="548640" y="1371600"/>
            <a:ext cx="11094415" cy="59436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565D7A"/>
                </a:solidFill>
                <a:latin typeface="Vazirmatn" pitchFamily="34" charset="0"/>
                <a:ea typeface="Vazirmatn" pitchFamily="34" charset="-122"/>
                <a:cs typeface="Vazirmatn" pitchFamily="34" charset="-120"/>
              </a:rPr>
              <a:t>برای اینکه قیمت از «۱۱۶ تومان تضمینی» ناگهان به بازار آزاد نپرد، ۴۵ روز قیمت‌گذاری پویا و متقارن اجرا می‌شود. قیمت هر روز ثابت است؛ تغییر برای روز بعد با حجم فروش همین روز تعیین می‌شود.</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202375" y="2103120"/>
          <a:ext cx="5440680" cy="914400"/>
        </p:xfrm>
        <a:graphic>
          <a:graphicData uri="http://schemas.openxmlformats.org/drawingml/2006/table">
            <a:tbl>
              <a:tblPr/>
              <a:tblGrid>
                <a:gridCol w="2148840"/>
                <a:gridCol w="3291840"/>
              </a:tblGrid>
              <a:tr h="384048">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تغییر قیمت روز بعد</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00" b="1" dirty="0">
                          <a:solidFill>
                            <a:srgbClr val="FFFFFF"/>
                          </a:solidFill>
                          <a:latin typeface="Vazirmatn" pitchFamily="34" charset="0"/>
                          <a:ea typeface="Vazirmatn" pitchFamily="34" charset="-122"/>
                          <a:cs typeface="Vazirmatn" pitchFamily="34" charset="-120"/>
                        </a:rPr>
                        <a:t>حجم فروش آن روز (سورن)</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02920">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۰٫۵٪ افزایش</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بیش از ۱۲۰٪ میانگین ۷ روز گذشته</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457200">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بدون تغییر</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بین ۸۰٪ و ۱۲۰٪ میانگین</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457200">
                <a:tc>
                  <a:txBody>
                    <a:bodyPr/>
                    <a:lstStyle/>
                    <a:p>
                      <a:pPr rtl="1" algn="r" indent="0" marL="0">
                        <a:buNone/>
                      </a:pPr>
                      <a:r>
                        <a:rPr lang="fa-IR" altLang="en-US" sz="1200" dirty="0">
                          <a:solidFill>
                            <a:srgbClr val="1B1B2F"/>
                          </a:solidFill>
                          <a:latin typeface="Vazirmatn" pitchFamily="34" charset="0"/>
                          <a:ea typeface="Vazirmatn" pitchFamily="34" charset="-122"/>
                          <a:cs typeface="Vazirmatn" pitchFamily="34" charset="-120"/>
                        </a:rPr>
                        <a:t>۰٫۵٪ کاهش</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00" b="1" dirty="0">
                          <a:solidFill>
                            <a:srgbClr val="1B1B2F"/>
                          </a:solidFill>
                          <a:latin typeface="Vazirmatn" pitchFamily="34" charset="0"/>
                          <a:ea typeface="Vazirmatn" pitchFamily="34" charset="-122"/>
                          <a:cs typeface="Vazirmatn" pitchFamily="34" charset="-120"/>
                        </a:rPr>
                        <a:t>کمتر از ۸۰٪ میانگین</a:t>
                      </a:r>
                      <a:endParaRPr lang="fa-IR" sz="120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bl>
          </a:graphicData>
        </a:graphic>
      </p:graphicFrame>
      <p:sp>
        <p:nvSpPr>
          <p:cNvPr id="8" name="Shape 5"/>
          <p:cNvSpPr/>
          <p:nvPr/>
        </p:nvSpPr>
        <p:spPr>
          <a:xfrm>
            <a:off x="6202375" y="4114800"/>
            <a:ext cx="5440680" cy="2194560"/>
          </a:xfrm>
          <a:prstGeom prst="roundRect">
            <a:avLst>
              <a:gd name="adj" fmla="val 5000"/>
            </a:avLst>
          </a:prstGeom>
          <a:solidFill>
            <a:srgbClr val="EEF0FB"/>
          </a:solidFill>
          <a:ln w="9525">
            <a:solidFill>
              <a:srgbClr val="EEF0FB"/>
            </a:solidFill>
            <a:prstDash val="solid"/>
          </a:ln>
        </p:spPr>
      </p:sp>
      <p:sp>
        <p:nvSpPr>
          <p:cNvPr id="9" name="Text 6"/>
          <p:cNvSpPr txBox="1"/>
          <p:nvPr/>
        </p:nvSpPr>
        <p:spPr>
          <a:xfrm>
            <a:off x="6385255" y="4187952"/>
            <a:ext cx="5074920" cy="320040"/>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2F3690"/>
                </a:solidFill>
                <a:latin typeface="Vazirmatn" pitchFamily="34" charset="0"/>
                <a:ea typeface="Vazirmatn" pitchFamily="34" charset="-122"/>
                <a:cs typeface="Vazirmatn" pitchFamily="34" charset="-120"/>
              </a:rPr>
              <a:t>مثال عددی</a:t>
            </a:r>
            <a:endParaRPr lang="en-US" sz="1400" dirty="0"/>
          </a:p>
        </p:txBody>
      </p:sp>
      <p:sp>
        <p:nvSpPr>
          <p:cNvPr id="10" name="Text 7"/>
          <p:cNvSpPr txBox="1"/>
          <p:nvPr/>
        </p:nvSpPr>
        <p:spPr>
          <a:xfrm>
            <a:off x="6385255" y="4572000"/>
            <a:ext cx="5074920" cy="1691640"/>
          </a:xfrm>
          <a:prstGeom prst="rect">
            <a:avLst/>
          </a:prstGeom>
          <a:noFill/>
          <a:ln/>
        </p:spPr>
        <p:txBody>
          <a:bodyPr wrap="square" lIns="0" tIns="0" rIns="0" bIns="0" rtlCol="0" anchor="t"/>
          <a:lstStyle/>
          <a:p>
            <a:pPr rtl="1" algn="r" indent="0" marL="0">
              <a:lnSpc>
                <a:spcPct val="105000"/>
              </a:lnSpc>
              <a:spcAft>
                <a:spcPts val="500"/>
              </a:spcAft>
              <a:buNone/>
            </a:pPr>
            <a:r>
              <a:rPr lang="fa-IR" altLang="en-US" sz="1150" dirty="0">
                <a:solidFill>
                  <a:srgbClr val="1B1B2F"/>
                </a:solidFill>
                <a:latin typeface="Vazirmatn" pitchFamily="34" charset="0"/>
                <a:ea typeface="Vazirmatn" pitchFamily="34" charset="-122"/>
                <a:cs typeface="Vazirmatn" pitchFamily="34" charset="-120"/>
              </a:rPr>
              <a:t>قیمت امروز ۱۱۶٫۰۰۰ تومان است. میانگین ۷ روز قبل ۱۰۰ هزار سورن و فروش امروز ۱۳۰ هزار سورن بوده (بالاتر از آستانه‌ی ۱۲۰ هزار).</a:t>
            </a:r>
            <a:endParaRPr lang="en-US" sz="1150" dirty="0"/>
          </a:p>
          <a:p>
            <a:pPr rtl="1" algn="r" indent="0" marL="0">
              <a:lnSpc>
                <a:spcPct val="105000"/>
              </a:lnSpc>
              <a:spcAft>
                <a:spcPts val="500"/>
              </a:spcAft>
              <a:buNone/>
            </a:pPr>
            <a:r>
              <a:rPr lang="fa-IR" altLang="en-US" sz="1150" dirty="0">
                <a:solidFill>
                  <a:srgbClr val="1B1B2F"/>
                </a:solidFill>
                <a:latin typeface="Vazirmatn" pitchFamily="34" charset="0"/>
                <a:ea typeface="Vazirmatn" pitchFamily="34" charset="-122"/>
                <a:cs typeface="Vazirmatn" pitchFamily="34" charset="-120"/>
              </a:rPr>
              <a:t>قیمت فردا = ۱۱۶٫۰۰۰ + ۰٫۵٪ = ۱۱۶٫۵۸۰ تومان؛ با ۱ میلیون تومان آن روز ۸٬۵۷۸ سورن می‌خرید.</a:t>
            </a:r>
            <a:endParaRPr lang="en-US" sz="1150" dirty="0"/>
          </a:p>
          <a:p>
            <a:pPr rtl="1" algn="r" indent="0" marL="0">
              <a:lnSpc>
                <a:spcPct val="105000"/>
              </a:lnSpc>
              <a:spcAft>
                <a:spcPts val="500"/>
              </a:spcAft>
              <a:buNone/>
            </a:pPr>
            <a:r>
              <a:rPr lang="fa-IR" altLang="en-US" sz="1150" dirty="0">
                <a:solidFill>
                  <a:srgbClr val="1B1B2F"/>
                </a:solidFill>
                <a:latin typeface="Vazirmatn" pitchFamily="34" charset="0"/>
                <a:ea typeface="Vazirmatn" pitchFamily="34" charset="-122"/>
                <a:cs typeface="Vazirmatn" pitchFamily="34" charset="-120"/>
              </a:rPr>
              <a:t>قیمت با دقت هزارم تومان محاسبه می‌شود، پس هر پله دقیقاً ۰٫۵٪ است و به تومان کامل گرد نمی‌شود.</a:t>
            </a:r>
            <a:endParaRPr lang="en-US" sz="1150" dirty="0"/>
          </a:p>
        </p:txBody>
      </p:sp>
      <p:sp>
        <p:nvSpPr>
          <p:cNvPr id="11" name="Shape 8"/>
          <p:cNvSpPr/>
          <p:nvPr/>
        </p:nvSpPr>
        <p:spPr>
          <a:xfrm>
            <a:off x="548640" y="2103120"/>
            <a:ext cx="5440680" cy="960120"/>
          </a:xfrm>
          <a:prstGeom prst="roundRect">
            <a:avLst>
              <a:gd name="adj" fmla="val 11429"/>
            </a:avLst>
          </a:prstGeom>
          <a:solidFill>
            <a:srgbClr val="FFFFFF"/>
          </a:solidFill>
          <a:ln w="15875">
            <a:solidFill>
              <a:srgbClr val="2F3690"/>
            </a:solidFill>
            <a:prstDash val="solid"/>
          </a:ln>
        </p:spPr>
      </p:sp>
      <p:sp>
        <p:nvSpPr>
          <p:cNvPr id="12" name="Text 9"/>
          <p:cNvSpPr txBox="1"/>
          <p:nvPr/>
        </p:nvSpPr>
        <p:spPr>
          <a:xfrm>
            <a:off x="685800" y="2157984"/>
            <a:ext cx="5166360" cy="274320"/>
          </a:xfrm>
          <a:prstGeom prst="rect">
            <a:avLst/>
          </a:prstGeom>
          <a:noFill/>
          <a:ln/>
        </p:spPr>
        <p:txBody>
          <a:bodyPr wrap="square" lIns="0" tIns="0" rIns="0" bIns="0" rtlCol="0" anchor="t"/>
          <a:lstStyle/>
          <a:p>
            <a:pPr rtl="1" algn="r" indent="0" marL="0">
              <a:lnSpc>
                <a:spcPct val="105000"/>
              </a:lnSpc>
              <a:buNone/>
            </a:pPr>
            <a:r>
              <a:rPr lang="fa-IR" altLang="en-US" sz="1250" b="1" dirty="0">
                <a:solidFill>
                  <a:srgbClr val="2F3690"/>
                </a:solidFill>
                <a:latin typeface="Vazirmatn" pitchFamily="34" charset="0"/>
                <a:ea typeface="Vazirmatn" pitchFamily="34" charset="-122"/>
                <a:cs typeface="Vazirmatn" pitchFamily="34" charset="-120"/>
              </a:rPr>
              <a:t>آغاز</a:t>
            </a:r>
            <a:endParaRPr lang="en-US" sz="1250" dirty="0"/>
          </a:p>
        </p:txBody>
      </p:sp>
      <p:sp>
        <p:nvSpPr>
          <p:cNvPr id="13" name="Text 10"/>
          <p:cNvSpPr txBox="1"/>
          <p:nvPr/>
        </p:nvSpPr>
        <p:spPr>
          <a:xfrm>
            <a:off x="685800" y="2450592"/>
            <a:ext cx="5166360" cy="59436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1B1B2F"/>
                </a:solidFill>
                <a:latin typeface="Vazirmatn" pitchFamily="34" charset="0"/>
                <a:ea typeface="Vazirmatn" pitchFamily="34" charset="-122"/>
                <a:cs typeface="Vazirmatn" pitchFamily="34" charset="-120"/>
              </a:rPr>
              <a:t>قیمت از آخرین قیمت ثابت (۱۱۶) شروع می‌شود. روز اول و هر روزی که میانگین قبلی وجود ندارد بدون تغییر است.</a:t>
            </a:r>
            <a:endParaRPr lang="en-US" sz="1000" dirty="0"/>
          </a:p>
        </p:txBody>
      </p:sp>
      <p:sp>
        <p:nvSpPr>
          <p:cNvPr id="14" name="Shape 11"/>
          <p:cNvSpPr/>
          <p:nvPr/>
        </p:nvSpPr>
        <p:spPr>
          <a:xfrm>
            <a:off x="548640" y="3154680"/>
            <a:ext cx="5440680" cy="960120"/>
          </a:xfrm>
          <a:prstGeom prst="roundRect">
            <a:avLst>
              <a:gd name="adj" fmla="val 11429"/>
            </a:avLst>
          </a:prstGeom>
          <a:solidFill>
            <a:srgbClr val="FFFFFF"/>
          </a:solidFill>
          <a:ln w="15875">
            <a:solidFill>
              <a:srgbClr val="C8431F"/>
            </a:solidFill>
            <a:prstDash val="solid"/>
          </a:ln>
        </p:spPr>
      </p:sp>
      <p:sp>
        <p:nvSpPr>
          <p:cNvPr id="15" name="Text 12"/>
          <p:cNvSpPr txBox="1"/>
          <p:nvPr/>
        </p:nvSpPr>
        <p:spPr>
          <a:xfrm>
            <a:off x="685800" y="3209544"/>
            <a:ext cx="5166360" cy="274320"/>
          </a:xfrm>
          <a:prstGeom prst="rect">
            <a:avLst/>
          </a:prstGeom>
          <a:noFill/>
          <a:ln/>
        </p:spPr>
        <p:txBody>
          <a:bodyPr wrap="square" lIns="0" tIns="0" rIns="0" bIns="0" rtlCol="0" anchor="t"/>
          <a:lstStyle/>
          <a:p>
            <a:pPr rtl="1" algn="r" indent="0" marL="0">
              <a:lnSpc>
                <a:spcPct val="105000"/>
              </a:lnSpc>
              <a:buNone/>
            </a:pPr>
            <a:r>
              <a:rPr lang="fa-IR" altLang="en-US" sz="1250" b="1" dirty="0">
                <a:solidFill>
                  <a:srgbClr val="C8431F"/>
                </a:solidFill>
                <a:latin typeface="Vazirmatn" pitchFamily="34" charset="0"/>
                <a:ea typeface="Vazirmatn" pitchFamily="34" charset="-122"/>
                <a:cs typeface="Vazirmatn" pitchFamily="34" charset="-120"/>
              </a:rPr>
              <a:t>کف و سقف مطلق</a:t>
            </a:r>
            <a:endParaRPr lang="en-US" sz="1250" dirty="0"/>
          </a:p>
        </p:txBody>
      </p:sp>
      <p:sp>
        <p:nvSpPr>
          <p:cNvPr id="16" name="Text 13"/>
          <p:cNvSpPr txBox="1"/>
          <p:nvPr/>
        </p:nvSpPr>
        <p:spPr>
          <a:xfrm>
            <a:off x="685800" y="3502152"/>
            <a:ext cx="5166360" cy="59436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1B1B2F"/>
                </a:solidFill>
                <a:latin typeface="Vazirmatn" pitchFamily="34" charset="0"/>
                <a:ea typeface="Vazirmatn" pitchFamily="34" charset="-122"/>
                <a:cs typeface="Vazirmatn" pitchFamily="34" charset="-120"/>
              </a:rPr>
              <a:t>کف ۹۰ و سقف ۱۵۰ تومان. با ۰٫۵٪ در روز از ۱۱۶، در ۴۴ تغییر پیاپی حداکثر به حدود ۱۴۴٫۴ یا حداقل حدود ۹۳٫۱ می‌رسد؛ پس در عمل این کف و سقف در این ۴۵ روز فعال نمی‌شوند (محاسبه از فرمول).</a:t>
            </a:r>
            <a:endParaRPr lang="en-US" sz="1000" dirty="0"/>
          </a:p>
        </p:txBody>
      </p:sp>
      <p:sp>
        <p:nvSpPr>
          <p:cNvPr id="17" name="Shape 14"/>
          <p:cNvSpPr/>
          <p:nvPr/>
        </p:nvSpPr>
        <p:spPr>
          <a:xfrm>
            <a:off x="548640" y="4206240"/>
            <a:ext cx="5440680" cy="960120"/>
          </a:xfrm>
          <a:prstGeom prst="roundRect">
            <a:avLst>
              <a:gd name="adj" fmla="val 11429"/>
            </a:avLst>
          </a:prstGeom>
          <a:solidFill>
            <a:srgbClr val="FFFFFF"/>
          </a:solidFill>
          <a:ln w="15875">
            <a:solidFill>
              <a:srgbClr val="3D46A8"/>
            </a:solidFill>
            <a:prstDash val="solid"/>
          </a:ln>
        </p:spPr>
      </p:sp>
      <p:sp>
        <p:nvSpPr>
          <p:cNvPr id="18" name="Text 15"/>
          <p:cNvSpPr txBox="1"/>
          <p:nvPr/>
        </p:nvSpPr>
        <p:spPr>
          <a:xfrm>
            <a:off x="685800" y="4261104"/>
            <a:ext cx="5166360" cy="274320"/>
          </a:xfrm>
          <a:prstGeom prst="rect">
            <a:avLst/>
          </a:prstGeom>
          <a:noFill/>
          <a:ln/>
        </p:spPr>
        <p:txBody>
          <a:bodyPr wrap="square" lIns="0" tIns="0" rIns="0" bIns="0" rtlCol="0" anchor="t"/>
          <a:lstStyle/>
          <a:p>
            <a:pPr rtl="1" algn="r" indent="0" marL="0">
              <a:lnSpc>
                <a:spcPct val="105000"/>
              </a:lnSpc>
              <a:buNone/>
            </a:pPr>
            <a:r>
              <a:rPr lang="fa-IR" altLang="en-US" sz="1250" b="1" dirty="0">
                <a:solidFill>
                  <a:srgbClr val="3D46A8"/>
                </a:solidFill>
                <a:latin typeface="Vazirmatn" pitchFamily="34" charset="0"/>
                <a:ea typeface="Vazirmatn" pitchFamily="34" charset="-122"/>
                <a:cs typeface="Vazirmatn" pitchFamily="34" charset="-120"/>
              </a:rPr>
              <a:t>اجرا</a:t>
            </a:r>
            <a:endParaRPr lang="en-US" sz="1250" dirty="0"/>
          </a:p>
        </p:txBody>
      </p:sp>
      <p:sp>
        <p:nvSpPr>
          <p:cNvPr id="19" name="Text 16"/>
          <p:cNvSpPr txBox="1"/>
          <p:nvPr/>
        </p:nvSpPr>
        <p:spPr>
          <a:xfrm>
            <a:off x="685800" y="4553712"/>
            <a:ext cx="5166360" cy="59436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1B1B2F"/>
                </a:solidFill>
                <a:latin typeface="Vazirmatn" pitchFamily="34" charset="0"/>
                <a:ea typeface="Vazirmatn" pitchFamily="34" charset="-122"/>
                <a:cs typeface="Vazirmatn" pitchFamily="34" charset="-120"/>
              </a:rPr>
              <a:t>تابع advanceTransitionPrice بدون مجوز است؛ هر پرداخت قبل از قیمت‌گذاری خودش آن را برای روزهای کامل‌شده صدا می‌زند. پس نیازی به ربات روزانه نیست.</a:t>
            </a:r>
            <a:endParaRPr lang="en-US" sz="1000" dirty="0"/>
          </a:p>
        </p:txBody>
      </p:sp>
      <p:sp>
        <p:nvSpPr>
          <p:cNvPr id="20" name="Shape 17"/>
          <p:cNvSpPr/>
          <p:nvPr/>
        </p:nvSpPr>
        <p:spPr>
          <a:xfrm>
            <a:off x="548640" y="5257800"/>
            <a:ext cx="5440680" cy="960120"/>
          </a:xfrm>
          <a:prstGeom prst="roundRect">
            <a:avLst>
              <a:gd name="adj" fmla="val 11429"/>
            </a:avLst>
          </a:prstGeom>
          <a:solidFill>
            <a:srgbClr val="FFFFFF"/>
          </a:solidFill>
          <a:ln w="15875">
            <a:solidFill>
              <a:srgbClr val="5F6472"/>
            </a:solidFill>
            <a:prstDash val="solid"/>
          </a:ln>
        </p:spPr>
      </p:sp>
      <p:sp>
        <p:nvSpPr>
          <p:cNvPr id="21" name="Text 18"/>
          <p:cNvSpPr txBox="1"/>
          <p:nvPr/>
        </p:nvSpPr>
        <p:spPr>
          <a:xfrm>
            <a:off x="685800" y="5312664"/>
            <a:ext cx="5166360" cy="274320"/>
          </a:xfrm>
          <a:prstGeom prst="rect">
            <a:avLst/>
          </a:prstGeom>
          <a:noFill/>
          <a:ln/>
        </p:spPr>
        <p:txBody>
          <a:bodyPr wrap="square" lIns="0" tIns="0" rIns="0" bIns="0" rtlCol="0" anchor="t"/>
          <a:lstStyle/>
          <a:p>
            <a:pPr rtl="1" algn="r" indent="0" marL="0">
              <a:lnSpc>
                <a:spcPct val="105000"/>
              </a:lnSpc>
              <a:buNone/>
            </a:pPr>
            <a:r>
              <a:rPr lang="fa-IR" altLang="en-US" sz="1250" b="1" dirty="0">
                <a:solidFill>
                  <a:srgbClr val="5F6472"/>
                </a:solidFill>
                <a:latin typeface="Vazirmatn" pitchFamily="34" charset="0"/>
                <a:ea typeface="Vazirmatn" pitchFamily="34" charset="-122"/>
                <a:cs typeface="Vazirmatn" pitchFamily="34" charset="-120"/>
              </a:rPr>
              <a:t>پایان</a:t>
            </a:r>
            <a:endParaRPr lang="en-US" sz="1250" dirty="0"/>
          </a:p>
        </p:txBody>
      </p:sp>
      <p:sp>
        <p:nvSpPr>
          <p:cNvPr id="22" name="Text 19"/>
          <p:cNvSpPr txBox="1"/>
          <p:nvPr/>
        </p:nvSpPr>
        <p:spPr>
          <a:xfrm>
            <a:off x="685800" y="5605272"/>
            <a:ext cx="5166360" cy="59436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1B1B2F"/>
                </a:solidFill>
                <a:latin typeface="Vazirmatn" pitchFamily="34" charset="0"/>
                <a:ea typeface="Vazirmatn" pitchFamily="34" charset="-122"/>
                <a:cs typeface="Vazirmatn" pitchFamily="34" charset="-120"/>
              </a:rPr>
              <a:t>پایان روز ۴۵ یا تمام‌شدن موجودی. پس از آن SurenSale پرداخت نمی‌پذیرد و بنیاد باقی‌مانده را برمی‌دارد. هنوز بازار آزاد واقعی نیست، چون تنها فروشنده بنیاد است.</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فروش سورن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نحوه‌ی خرید: از پرداخت تومانی تا دریافت سورن</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34</a:t>
            </a:r>
            <a:endParaRPr lang="en-US" sz="1000" dirty="0"/>
          </a:p>
        </p:txBody>
      </p:sp>
      <p:sp>
        <p:nvSpPr>
          <p:cNvPr id="6" name="Shape 4"/>
          <p:cNvSpPr/>
          <p:nvPr/>
        </p:nvSpPr>
        <p:spPr>
          <a:xfrm>
            <a:off x="4967935" y="1371600"/>
            <a:ext cx="6675120" cy="566928"/>
          </a:xfrm>
          <a:prstGeom prst="roundRect">
            <a:avLst>
              <a:gd name="adj" fmla="val 19355"/>
            </a:avLst>
          </a:prstGeom>
          <a:solidFill>
            <a:srgbClr val="F7F9FC"/>
          </a:solidFill>
          <a:ln w="9525">
            <a:solidFill>
              <a:srgbClr val="DDE1EE"/>
            </a:solidFill>
            <a:prstDash val="solid"/>
          </a:ln>
        </p:spPr>
      </p:sp>
      <p:sp>
        <p:nvSpPr>
          <p:cNvPr id="7" name="Shape 5"/>
          <p:cNvSpPr/>
          <p:nvPr/>
        </p:nvSpPr>
        <p:spPr>
          <a:xfrm>
            <a:off x="11185855" y="1472184"/>
            <a:ext cx="365760" cy="365760"/>
          </a:xfrm>
          <a:prstGeom prst="ellipse">
            <a:avLst/>
          </a:prstGeom>
          <a:solidFill>
            <a:srgbClr val="2F3690"/>
          </a:solidFill>
          <a:ln w="12700">
            <a:solidFill>
              <a:srgbClr val="2F3690"/>
            </a:solidFill>
            <a:prstDash val="solid"/>
          </a:ln>
        </p:spPr>
      </p:sp>
      <p:sp>
        <p:nvSpPr>
          <p:cNvPr id="8" name="Text 6"/>
          <p:cNvSpPr txBox="1"/>
          <p:nvPr/>
        </p:nvSpPr>
        <p:spPr>
          <a:xfrm>
            <a:off x="11185855" y="147218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۱</a:t>
            </a:r>
            <a:endParaRPr lang="en-US" sz="1250" dirty="0"/>
          </a:p>
        </p:txBody>
      </p:sp>
      <p:sp>
        <p:nvSpPr>
          <p:cNvPr id="9" name="Text 7"/>
          <p:cNvSpPr txBox="1"/>
          <p:nvPr/>
        </p:nvSpPr>
        <p:spPr>
          <a:xfrm>
            <a:off x="9631375" y="137160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ورود مشخصات</a:t>
            </a:r>
            <a:endParaRPr lang="en-US" sz="1200" dirty="0"/>
          </a:p>
        </p:txBody>
      </p:sp>
      <p:sp>
        <p:nvSpPr>
          <p:cNvPr id="10" name="Text 8"/>
          <p:cNvSpPr txBox="1"/>
          <p:nvPr/>
        </p:nvSpPr>
        <p:spPr>
          <a:xfrm>
            <a:off x="5105095" y="137160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خریدار آدرس کیف‌پول و مبلغ تومانی را در پرتال فروش وارد می‌کند.</a:t>
            </a:r>
            <a:endParaRPr lang="en-US" sz="980" dirty="0"/>
          </a:p>
        </p:txBody>
      </p:sp>
      <p:sp>
        <p:nvSpPr>
          <p:cNvPr id="11" name="Shape 9"/>
          <p:cNvSpPr/>
          <p:nvPr/>
        </p:nvSpPr>
        <p:spPr>
          <a:xfrm>
            <a:off x="4967935" y="2011680"/>
            <a:ext cx="6675120" cy="566928"/>
          </a:xfrm>
          <a:prstGeom prst="roundRect">
            <a:avLst>
              <a:gd name="adj" fmla="val 19355"/>
            </a:avLst>
          </a:prstGeom>
          <a:solidFill>
            <a:srgbClr val="FFFFFF"/>
          </a:solidFill>
          <a:ln w="9525">
            <a:solidFill>
              <a:srgbClr val="DDE1EE"/>
            </a:solidFill>
            <a:prstDash val="solid"/>
          </a:ln>
        </p:spPr>
      </p:sp>
      <p:sp>
        <p:nvSpPr>
          <p:cNvPr id="12" name="Shape 10"/>
          <p:cNvSpPr/>
          <p:nvPr/>
        </p:nvSpPr>
        <p:spPr>
          <a:xfrm>
            <a:off x="11185855" y="2112264"/>
            <a:ext cx="365760" cy="365760"/>
          </a:xfrm>
          <a:prstGeom prst="ellipse">
            <a:avLst/>
          </a:prstGeom>
          <a:solidFill>
            <a:srgbClr val="2F3690"/>
          </a:solidFill>
          <a:ln w="12700">
            <a:solidFill>
              <a:srgbClr val="2F3690"/>
            </a:solidFill>
            <a:prstDash val="solid"/>
          </a:ln>
        </p:spPr>
      </p:sp>
      <p:sp>
        <p:nvSpPr>
          <p:cNvPr id="13" name="Text 11"/>
          <p:cNvSpPr txBox="1"/>
          <p:nvPr/>
        </p:nvSpPr>
        <p:spPr>
          <a:xfrm>
            <a:off x="11185855" y="211226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۲</a:t>
            </a:r>
            <a:endParaRPr lang="en-US" sz="1250" dirty="0"/>
          </a:p>
        </p:txBody>
      </p:sp>
      <p:sp>
        <p:nvSpPr>
          <p:cNvPr id="14" name="Text 12"/>
          <p:cNvSpPr txBox="1"/>
          <p:nvPr/>
        </p:nvSpPr>
        <p:spPr>
          <a:xfrm>
            <a:off x="9631375" y="201168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رزرو موجودی</a:t>
            </a:r>
            <a:endParaRPr lang="en-US" sz="1200" dirty="0"/>
          </a:p>
        </p:txBody>
      </p:sp>
      <p:sp>
        <p:nvSpPr>
          <p:cNvPr id="15" name="Text 13"/>
          <p:cNvSpPr txBox="1"/>
          <p:nvPr/>
        </p:nvSpPr>
        <p:spPr>
          <a:xfrm>
            <a:off x="5105095" y="201168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سورن معادل با قیمت همان لحظه محاسبه می‌شود؛ اگر از موجودی آزاد (موجودی قرارداد منهای رزروهای فعال) کمتر باشد، ۱۵ دقیقه رزرو ثبت می‌شود، وگرنه همان‌جا «موجودی کافی نیست».</a:t>
            </a:r>
            <a:endParaRPr lang="en-US" sz="980" dirty="0"/>
          </a:p>
        </p:txBody>
      </p:sp>
      <p:sp>
        <p:nvSpPr>
          <p:cNvPr id="16" name="Shape 14"/>
          <p:cNvSpPr/>
          <p:nvPr/>
        </p:nvSpPr>
        <p:spPr>
          <a:xfrm>
            <a:off x="4967935" y="2651760"/>
            <a:ext cx="6675120" cy="566928"/>
          </a:xfrm>
          <a:prstGeom prst="roundRect">
            <a:avLst>
              <a:gd name="adj" fmla="val 19355"/>
            </a:avLst>
          </a:prstGeom>
          <a:solidFill>
            <a:srgbClr val="F7F9FC"/>
          </a:solidFill>
          <a:ln w="9525">
            <a:solidFill>
              <a:srgbClr val="DDE1EE"/>
            </a:solidFill>
            <a:prstDash val="solid"/>
          </a:ln>
        </p:spPr>
      </p:sp>
      <p:sp>
        <p:nvSpPr>
          <p:cNvPr id="17" name="Shape 15"/>
          <p:cNvSpPr/>
          <p:nvPr/>
        </p:nvSpPr>
        <p:spPr>
          <a:xfrm>
            <a:off x="11185855" y="2752344"/>
            <a:ext cx="365760" cy="365760"/>
          </a:xfrm>
          <a:prstGeom prst="ellipse">
            <a:avLst/>
          </a:prstGeom>
          <a:solidFill>
            <a:srgbClr val="2F3690"/>
          </a:solidFill>
          <a:ln w="12700">
            <a:solidFill>
              <a:srgbClr val="2F3690"/>
            </a:solidFill>
            <a:prstDash val="solid"/>
          </a:ln>
        </p:spPr>
      </p:sp>
      <p:sp>
        <p:nvSpPr>
          <p:cNvPr id="18" name="Text 16"/>
          <p:cNvSpPr txBox="1"/>
          <p:nvPr/>
        </p:nvSpPr>
        <p:spPr>
          <a:xfrm>
            <a:off x="11185855" y="275234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۳</a:t>
            </a:r>
            <a:endParaRPr lang="en-US" sz="1250" dirty="0"/>
          </a:p>
        </p:txBody>
      </p:sp>
      <p:sp>
        <p:nvSpPr>
          <p:cNvPr id="19" name="Text 17"/>
          <p:cNvSpPr txBox="1"/>
          <p:nvPr/>
        </p:nvSpPr>
        <p:spPr>
          <a:xfrm>
            <a:off x="9631375" y="265176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پرداخت</a:t>
            </a:r>
            <a:endParaRPr lang="en-US" sz="1200" dirty="0"/>
          </a:p>
        </p:txBody>
      </p:sp>
      <p:sp>
        <p:nvSpPr>
          <p:cNvPr id="20" name="Text 18"/>
          <p:cNvSpPr txBox="1"/>
          <p:nvPr/>
        </p:nvSpPr>
        <p:spPr>
          <a:xfrm>
            <a:off x="5105095" y="265176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خریدار به درگاه پرداخت هدایت می‌شود و تومان می‌پردازد.</a:t>
            </a:r>
            <a:endParaRPr lang="en-US" sz="980" dirty="0"/>
          </a:p>
        </p:txBody>
      </p:sp>
      <p:sp>
        <p:nvSpPr>
          <p:cNvPr id="21" name="Shape 19"/>
          <p:cNvSpPr/>
          <p:nvPr/>
        </p:nvSpPr>
        <p:spPr>
          <a:xfrm>
            <a:off x="4967935" y="3291840"/>
            <a:ext cx="6675120" cy="566928"/>
          </a:xfrm>
          <a:prstGeom prst="roundRect">
            <a:avLst>
              <a:gd name="adj" fmla="val 19355"/>
            </a:avLst>
          </a:prstGeom>
          <a:solidFill>
            <a:srgbClr val="FFFFFF"/>
          </a:solidFill>
          <a:ln w="9525">
            <a:solidFill>
              <a:srgbClr val="DDE1EE"/>
            </a:solidFill>
            <a:prstDash val="solid"/>
          </a:ln>
        </p:spPr>
      </p:sp>
      <p:sp>
        <p:nvSpPr>
          <p:cNvPr id="22" name="Shape 20"/>
          <p:cNvSpPr/>
          <p:nvPr/>
        </p:nvSpPr>
        <p:spPr>
          <a:xfrm>
            <a:off x="11185855" y="3392424"/>
            <a:ext cx="365760" cy="365760"/>
          </a:xfrm>
          <a:prstGeom prst="ellipse">
            <a:avLst/>
          </a:prstGeom>
          <a:solidFill>
            <a:srgbClr val="2F3690"/>
          </a:solidFill>
          <a:ln w="12700">
            <a:solidFill>
              <a:srgbClr val="2F3690"/>
            </a:solidFill>
            <a:prstDash val="solid"/>
          </a:ln>
        </p:spPr>
      </p:sp>
      <p:sp>
        <p:nvSpPr>
          <p:cNvPr id="23" name="Text 21"/>
          <p:cNvSpPr txBox="1"/>
          <p:nvPr/>
        </p:nvSpPr>
        <p:spPr>
          <a:xfrm>
            <a:off x="11185855" y="339242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۴</a:t>
            </a:r>
            <a:endParaRPr lang="en-US" sz="1250" dirty="0"/>
          </a:p>
        </p:txBody>
      </p:sp>
      <p:sp>
        <p:nvSpPr>
          <p:cNvPr id="24" name="Text 22"/>
          <p:cNvSpPr txBox="1"/>
          <p:nvPr/>
        </p:nvSpPr>
        <p:spPr>
          <a:xfrm>
            <a:off x="9631375" y="329184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راستی‌آزمایی</a:t>
            </a:r>
            <a:endParaRPr lang="en-US" sz="1200" dirty="0"/>
          </a:p>
        </p:txBody>
      </p:sp>
      <p:sp>
        <p:nvSpPr>
          <p:cNvPr id="25" name="Text 23"/>
          <p:cNvSpPr txBox="1"/>
          <p:nvPr/>
        </p:nvSpPr>
        <p:spPr>
          <a:xfrm>
            <a:off x="5105095" y="329184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سرویس PaymentReporter webhook درگاه را می‌گیرد و پرداخت را مستقل از خود API درگاه دوباره تأیید می‌کند.</a:t>
            </a:r>
            <a:endParaRPr lang="en-US" sz="980" dirty="0"/>
          </a:p>
        </p:txBody>
      </p:sp>
      <p:sp>
        <p:nvSpPr>
          <p:cNvPr id="26" name="Shape 24"/>
          <p:cNvSpPr/>
          <p:nvPr/>
        </p:nvSpPr>
        <p:spPr>
          <a:xfrm>
            <a:off x="4967935" y="3931920"/>
            <a:ext cx="6675120" cy="566928"/>
          </a:xfrm>
          <a:prstGeom prst="roundRect">
            <a:avLst>
              <a:gd name="adj" fmla="val 19355"/>
            </a:avLst>
          </a:prstGeom>
          <a:solidFill>
            <a:srgbClr val="F7F9FC"/>
          </a:solidFill>
          <a:ln w="9525">
            <a:solidFill>
              <a:srgbClr val="DDE1EE"/>
            </a:solidFill>
            <a:prstDash val="solid"/>
          </a:ln>
        </p:spPr>
      </p:sp>
      <p:sp>
        <p:nvSpPr>
          <p:cNvPr id="27" name="Shape 25"/>
          <p:cNvSpPr/>
          <p:nvPr/>
        </p:nvSpPr>
        <p:spPr>
          <a:xfrm>
            <a:off x="11185855" y="4032504"/>
            <a:ext cx="365760" cy="365760"/>
          </a:xfrm>
          <a:prstGeom prst="ellipse">
            <a:avLst/>
          </a:prstGeom>
          <a:solidFill>
            <a:srgbClr val="2F3690"/>
          </a:solidFill>
          <a:ln w="12700">
            <a:solidFill>
              <a:srgbClr val="2F3690"/>
            </a:solidFill>
            <a:prstDash val="solid"/>
          </a:ln>
        </p:spPr>
      </p:sp>
      <p:sp>
        <p:nvSpPr>
          <p:cNvPr id="28" name="Text 26"/>
          <p:cNvSpPr txBox="1"/>
          <p:nvPr/>
        </p:nvSpPr>
        <p:spPr>
          <a:xfrm>
            <a:off x="11185855" y="403250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۵</a:t>
            </a:r>
            <a:endParaRPr lang="en-US" sz="1250" dirty="0"/>
          </a:p>
        </p:txBody>
      </p:sp>
      <p:sp>
        <p:nvSpPr>
          <p:cNvPr id="29" name="Text 27"/>
          <p:cNvSpPr txBox="1"/>
          <p:nvPr/>
        </p:nvSpPr>
        <p:spPr>
          <a:xfrm>
            <a:off x="9631375" y="393192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ثبت و انتقال</a:t>
            </a:r>
            <a:endParaRPr lang="en-US" sz="1200" dirty="0"/>
          </a:p>
        </p:txBody>
      </p:sp>
      <p:sp>
        <p:nvSpPr>
          <p:cNvPr id="30" name="Text 28"/>
          <p:cNvSpPr txBox="1"/>
          <p:nvPr/>
        </p:nvSpPr>
        <p:spPr>
          <a:xfrm>
            <a:off x="5105095" y="393192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سرویس reportPayment را با کلید paymentOracle می‌فرستد؛ قرارداد قیمت را خودش حساب می‌کند و در همان تراکنش سورن را به خریدار می‌فرستد.</a:t>
            </a:r>
            <a:endParaRPr lang="en-US" sz="980" dirty="0"/>
          </a:p>
        </p:txBody>
      </p:sp>
      <p:sp>
        <p:nvSpPr>
          <p:cNvPr id="31" name="Shape 29"/>
          <p:cNvSpPr/>
          <p:nvPr/>
        </p:nvSpPr>
        <p:spPr>
          <a:xfrm>
            <a:off x="4967935" y="4572000"/>
            <a:ext cx="6675120" cy="566928"/>
          </a:xfrm>
          <a:prstGeom prst="roundRect">
            <a:avLst>
              <a:gd name="adj" fmla="val 19355"/>
            </a:avLst>
          </a:prstGeom>
          <a:solidFill>
            <a:srgbClr val="FFFFFF"/>
          </a:solidFill>
          <a:ln w="9525">
            <a:solidFill>
              <a:srgbClr val="DDE1EE"/>
            </a:solidFill>
            <a:prstDash val="solid"/>
          </a:ln>
        </p:spPr>
      </p:sp>
      <p:sp>
        <p:nvSpPr>
          <p:cNvPr id="32" name="Shape 30"/>
          <p:cNvSpPr/>
          <p:nvPr/>
        </p:nvSpPr>
        <p:spPr>
          <a:xfrm>
            <a:off x="11185855" y="4672584"/>
            <a:ext cx="365760" cy="365760"/>
          </a:xfrm>
          <a:prstGeom prst="ellipse">
            <a:avLst/>
          </a:prstGeom>
          <a:solidFill>
            <a:srgbClr val="2F3690"/>
          </a:solidFill>
          <a:ln w="12700">
            <a:solidFill>
              <a:srgbClr val="2F3690"/>
            </a:solidFill>
            <a:prstDash val="solid"/>
          </a:ln>
        </p:spPr>
      </p:sp>
      <p:sp>
        <p:nvSpPr>
          <p:cNvPr id="33" name="Text 31"/>
          <p:cNvSpPr txBox="1"/>
          <p:nvPr/>
        </p:nvSpPr>
        <p:spPr>
          <a:xfrm>
            <a:off x="11185855" y="4672584"/>
            <a:ext cx="365760" cy="365760"/>
          </a:xfrm>
          <a:prstGeom prst="rect">
            <a:avLst/>
          </a:prstGeom>
          <a:noFill/>
          <a:ln/>
        </p:spPr>
        <p:txBody>
          <a:bodyPr wrap="square" lIns="0" tIns="0" rIns="0" bIns="0" rtlCol="0" anchor="ctr"/>
          <a:lstStyle/>
          <a:p>
            <a:pPr rtl="1" algn="ctr" indent="0" marL="0">
              <a:lnSpc>
                <a:spcPct val="105000"/>
              </a:lnSpc>
              <a:buNone/>
            </a:pPr>
            <a:r>
              <a:rPr lang="fa-IR" altLang="en-US" sz="1250" b="1" dirty="0">
                <a:solidFill>
                  <a:srgbClr val="FFFFFF"/>
                </a:solidFill>
                <a:latin typeface="Vazirmatn" pitchFamily="34" charset="0"/>
                <a:ea typeface="Vazirmatn" pitchFamily="34" charset="-122"/>
                <a:cs typeface="Vazirmatn" pitchFamily="34" charset="-120"/>
              </a:rPr>
              <a:t>۶</a:t>
            </a:r>
            <a:endParaRPr lang="en-US" sz="1250" dirty="0"/>
          </a:p>
        </p:txBody>
      </p:sp>
      <p:sp>
        <p:nvSpPr>
          <p:cNvPr id="34" name="Text 32"/>
          <p:cNvSpPr txBox="1"/>
          <p:nvPr/>
        </p:nvSpPr>
        <p:spPr>
          <a:xfrm>
            <a:off x="9631375" y="4572000"/>
            <a:ext cx="1417320" cy="566928"/>
          </a:xfrm>
          <a:prstGeom prst="rect">
            <a:avLst/>
          </a:prstGeom>
          <a:noFill/>
          <a:ln/>
        </p:spPr>
        <p:txBody>
          <a:bodyPr wrap="square" lIns="0" tIns="0" rIns="0" bIns="0" rtlCol="0" anchor="ctr"/>
          <a:lstStyle/>
          <a:p>
            <a:pPr rtl="1" algn="r" indent="0" marL="0">
              <a:lnSpc>
                <a:spcPct val="105000"/>
              </a:lnSpc>
              <a:buNone/>
            </a:pPr>
            <a:r>
              <a:rPr lang="fa-IR" altLang="en-US" sz="1200" b="1" dirty="0">
                <a:solidFill>
                  <a:srgbClr val="1B1B2F"/>
                </a:solidFill>
                <a:latin typeface="Vazirmatn" pitchFamily="34" charset="0"/>
                <a:ea typeface="Vazirmatn" pitchFamily="34" charset="-122"/>
                <a:cs typeface="Vazirmatn" pitchFamily="34" charset="-120"/>
              </a:rPr>
              <a:t>پیگیری</a:t>
            </a:r>
            <a:endParaRPr lang="en-US" sz="1200" dirty="0"/>
          </a:p>
        </p:txBody>
      </p:sp>
      <p:sp>
        <p:nvSpPr>
          <p:cNvPr id="35" name="Text 33"/>
          <p:cNvSpPr txBox="1"/>
          <p:nvPr/>
        </p:nvSpPr>
        <p:spPr>
          <a:xfrm>
            <a:off x="5105095" y="4572000"/>
            <a:ext cx="4526280" cy="566928"/>
          </a:xfrm>
          <a:prstGeom prst="rect">
            <a:avLst/>
          </a:prstGeom>
          <a:noFill/>
          <a:ln/>
        </p:spPr>
        <p:txBody>
          <a:bodyPr wrap="square" lIns="0" tIns="0" rIns="0" bIns="0" rtlCol="0" anchor="ctr"/>
          <a:lstStyle/>
          <a:p>
            <a:pPr rtl="1" algn="r" indent="0" marL="0">
              <a:lnSpc>
                <a:spcPct val="105000"/>
              </a:lnSpc>
              <a:buNone/>
            </a:pPr>
            <a:r>
              <a:rPr lang="fa-IR" altLang="en-US" sz="980" dirty="0">
                <a:solidFill>
                  <a:srgbClr val="1B1B2F"/>
                </a:solidFill>
                <a:latin typeface="Vazirmatn" pitchFamily="34" charset="0"/>
                <a:ea typeface="Vazirmatn" pitchFamily="34" charset="-122"/>
                <a:cs typeface="Vazirmatn" pitchFamily="34" charset="-120"/>
              </a:rPr>
              <a:t>پرتال هر ۳ تا ۵ ثانیه وضعیت را می‌پرسد تا نتیجه (در انتظار، ثبت‌شده، ناموفق) و هش تراکنش را نشان دهد.</a:t>
            </a:r>
            <a:endParaRPr lang="en-US" sz="980" dirty="0"/>
          </a:p>
        </p:txBody>
      </p:sp>
      <p:sp>
        <p:nvSpPr>
          <p:cNvPr id="36" name="Shape 34"/>
          <p:cNvSpPr/>
          <p:nvPr/>
        </p:nvSpPr>
        <p:spPr>
          <a:xfrm>
            <a:off x="548640" y="1371600"/>
            <a:ext cx="4206240" cy="2103120"/>
          </a:xfrm>
          <a:prstGeom prst="roundRect">
            <a:avLst>
              <a:gd name="adj" fmla="val 5217"/>
            </a:avLst>
          </a:prstGeom>
          <a:solidFill>
            <a:srgbClr val="EEF0FB"/>
          </a:solidFill>
          <a:ln w="9525">
            <a:solidFill>
              <a:srgbClr val="EEF0FB"/>
            </a:solidFill>
            <a:prstDash val="solid"/>
          </a:ln>
        </p:spPr>
      </p:sp>
      <p:sp>
        <p:nvSpPr>
          <p:cNvPr id="37" name="Text 35"/>
          <p:cNvSpPr txBox="1"/>
          <p:nvPr/>
        </p:nvSpPr>
        <p:spPr>
          <a:xfrm>
            <a:off x="685800" y="1444752"/>
            <a:ext cx="3931920" cy="32004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2F3690"/>
                </a:solidFill>
                <a:latin typeface="Vazirmatn" pitchFamily="34" charset="0"/>
                <a:ea typeface="Vazirmatn" pitchFamily="34" charset="-122"/>
                <a:cs typeface="Vazirmatn" pitchFamily="34" charset="-120"/>
              </a:rPr>
              <a:t>محاسبه‌ی مقدار سورن</a:t>
            </a:r>
            <a:endParaRPr lang="en-US" sz="1350" dirty="0"/>
          </a:p>
        </p:txBody>
      </p:sp>
      <p:sp>
        <p:nvSpPr>
          <p:cNvPr id="38" name="Text 36"/>
          <p:cNvSpPr txBox="1"/>
          <p:nvPr/>
        </p:nvSpPr>
        <p:spPr>
          <a:xfrm>
            <a:off x="685800" y="1828800"/>
            <a:ext cx="3931920" cy="1600200"/>
          </a:xfrm>
          <a:prstGeom prst="rect">
            <a:avLst/>
          </a:prstGeom>
          <a:noFill/>
          <a:ln/>
        </p:spPr>
        <p:txBody>
          <a:bodyPr wrap="square" lIns="0" tIns="0" rIns="0" bIns="0" rtlCol="0" anchor="t"/>
          <a:lstStyle/>
          <a:p>
            <a:pPr rtl="1" algn="r" indent="0" marL="0">
              <a:lnSpc>
                <a:spcPct val="105000"/>
              </a:lnSpc>
              <a:spcAft>
                <a:spcPts val="500"/>
              </a:spcAft>
              <a:buNone/>
            </a:pPr>
            <a:r>
              <a:rPr lang="fa-IR" altLang="en-US" sz="1100" dirty="0">
                <a:solidFill>
                  <a:srgbClr val="1B1B2F"/>
                </a:solidFill>
                <a:latin typeface="Vazirmatn" pitchFamily="34" charset="0"/>
                <a:ea typeface="Vazirmatn" pitchFamily="34" charset="-122"/>
                <a:cs typeface="Vazirmatn" pitchFamily="34" charset="-120"/>
              </a:rPr>
              <a:t>سورن = مبلغ تومان × ۱۰¹⁸ ÷ قیمت همان لحظه</a:t>
            </a:r>
            <a:endParaRPr lang="en-US" sz="1100" dirty="0"/>
          </a:p>
          <a:p>
            <a:pPr rtl="1" algn="r" indent="0" marL="0">
              <a:lnSpc>
                <a:spcPct val="105000"/>
              </a:lnSpc>
              <a:spcAft>
                <a:spcPts val="500"/>
              </a:spcAft>
              <a:buNone/>
            </a:pPr>
            <a:r>
              <a:rPr lang="fa-IR" altLang="en-US" sz="1100" dirty="0">
                <a:solidFill>
                  <a:srgbClr val="1B1B2F"/>
                </a:solidFill>
                <a:latin typeface="Vazirmatn" pitchFamily="34" charset="0"/>
                <a:ea typeface="Vazirmatn" pitchFamily="34" charset="-122"/>
                <a:cs typeface="Vazirmatn" pitchFamily="34" charset="-120"/>
              </a:rPr>
              <a:t>مثال: ۱ میلیون تومان در ماه اول ۱۰٬۰۰۰ و در ماه ششم ۸٬۶۲۱ سورن می‌دهد.</a:t>
            </a:r>
            <a:endParaRPr lang="en-US" sz="1100" dirty="0"/>
          </a:p>
          <a:p>
            <a:pPr rtl="1" algn="r" indent="0" marL="0">
              <a:lnSpc>
                <a:spcPct val="105000"/>
              </a:lnSpc>
              <a:spcAft>
                <a:spcPts val="500"/>
              </a:spcAft>
              <a:buNone/>
            </a:pPr>
            <a:r>
              <a:rPr lang="fa-IR" altLang="en-US" sz="1100" dirty="0">
                <a:solidFill>
                  <a:srgbClr val="1B1B2F"/>
                </a:solidFill>
                <a:latin typeface="Vazirmatn" pitchFamily="34" charset="0"/>
                <a:ea typeface="Vazirmatn" pitchFamily="34" charset="-122"/>
                <a:cs typeface="Vazirmatn" pitchFamily="34" charset="-120"/>
              </a:rPr>
              <a:t>هر پرداخت با کد پیگیری یکتا فقط یک‌بار پذیرفته می‌شود.</a:t>
            </a:r>
            <a:endParaRPr lang="en-US" sz="1100" dirty="0"/>
          </a:p>
        </p:txBody>
      </p:sp>
      <p:sp>
        <p:nvSpPr>
          <p:cNvPr id="39" name="Shape 37"/>
          <p:cNvSpPr/>
          <p:nvPr/>
        </p:nvSpPr>
        <p:spPr>
          <a:xfrm>
            <a:off x="548640" y="3657600"/>
            <a:ext cx="4206240" cy="2651760"/>
          </a:xfrm>
          <a:prstGeom prst="roundRect">
            <a:avLst>
              <a:gd name="adj" fmla="val 4138"/>
            </a:avLst>
          </a:prstGeom>
          <a:solidFill>
            <a:srgbClr val="FCEAE4"/>
          </a:solidFill>
          <a:ln w="9525">
            <a:solidFill>
              <a:srgbClr val="FCEAE4"/>
            </a:solidFill>
            <a:prstDash val="solid"/>
          </a:ln>
        </p:spPr>
      </p:sp>
      <p:sp>
        <p:nvSpPr>
          <p:cNvPr id="40" name="Text 38"/>
          <p:cNvSpPr txBox="1"/>
          <p:nvPr/>
        </p:nvSpPr>
        <p:spPr>
          <a:xfrm>
            <a:off x="685800" y="3730752"/>
            <a:ext cx="3931920" cy="320040"/>
          </a:xfrm>
          <a:prstGeom prst="rect">
            <a:avLst/>
          </a:prstGeom>
          <a:noFill/>
          <a:ln/>
        </p:spPr>
        <p:txBody>
          <a:bodyPr wrap="square" lIns="0" tIns="0" rIns="0" bIns="0" rtlCol="0" anchor="t"/>
          <a:lstStyle/>
          <a:p>
            <a:pPr rtl="1" algn="r" indent="0" marL="0">
              <a:lnSpc>
                <a:spcPct val="105000"/>
              </a:lnSpc>
              <a:buNone/>
            </a:pPr>
            <a:r>
              <a:rPr lang="fa-IR" altLang="en-US" sz="1350" b="1" dirty="0">
                <a:solidFill>
                  <a:srgbClr val="C8431F"/>
                </a:solidFill>
                <a:latin typeface="Vazirmatn" pitchFamily="34" charset="0"/>
                <a:ea typeface="Vazirmatn" pitchFamily="34" charset="-122"/>
                <a:cs typeface="Vazirmatn" pitchFamily="34" charset="-120"/>
              </a:rPr>
              <a:t>امنیت و خطر</a:t>
            </a:r>
            <a:endParaRPr lang="en-US" sz="1350" dirty="0"/>
          </a:p>
        </p:txBody>
      </p:sp>
      <p:sp>
        <p:nvSpPr>
          <p:cNvPr id="41" name="Text 39"/>
          <p:cNvSpPr txBox="1"/>
          <p:nvPr/>
        </p:nvSpPr>
        <p:spPr>
          <a:xfrm>
            <a:off x="685800" y="4114800"/>
            <a:ext cx="3931920" cy="2148840"/>
          </a:xfrm>
          <a:prstGeom prst="rect">
            <a:avLst/>
          </a:prstGeom>
          <a:noFill/>
          <a:ln/>
        </p:spPr>
        <p:txBody>
          <a:bodyPr wrap="square" lIns="0" tIns="0" rIns="0" bIns="0" rtlCol="0" anchor="t"/>
          <a:lstStyle/>
          <a:p>
            <a:pPr rtl="1" algn="r" indent="0" marL="0">
              <a:lnSpc>
                <a:spcPct val="105000"/>
              </a:lnSpc>
              <a:spcAft>
                <a:spcPts val="500"/>
              </a:spcAft>
              <a:buNone/>
            </a:pPr>
            <a:r>
              <a:rPr lang="fa-IR" altLang="en-US" sz="1000" dirty="0">
                <a:solidFill>
                  <a:srgbClr val="1B1B2F"/>
                </a:solidFill>
                <a:latin typeface="Vazirmatn" pitchFamily="34" charset="0"/>
                <a:ea typeface="Vazirmatn" pitchFamily="34" charset="-122"/>
                <a:cs typeface="Vazirmatn" pitchFamily="34" charset="-120"/>
              </a:rPr>
              <a:t>کلید paymentOracle نمی‌تواند قیمت را عوض کند؛ فقط می‌تواند پرداخت ساختگی گزارش دهد، آن هم تا سقف موجودی همان لحظه‌ی قرارداد (به همین دلیل موجودی دوره‌ای تأمین می‌شود).</a:t>
            </a:r>
            <a:endParaRPr lang="en-US" sz="1000" dirty="0"/>
          </a:p>
          <a:p>
            <a:pPr rtl="1" algn="r" indent="0" marL="0">
              <a:lnSpc>
                <a:spcPct val="105000"/>
              </a:lnSpc>
              <a:spcAft>
                <a:spcPts val="500"/>
              </a:spcAft>
              <a:buNone/>
            </a:pPr>
            <a:r>
              <a:rPr lang="fa-IR" altLang="en-US" sz="1000" dirty="0">
                <a:solidFill>
                  <a:srgbClr val="1B1B2F"/>
                </a:solidFill>
                <a:latin typeface="Vazirmatn" pitchFamily="34" charset="0"/>
                <a:ea typeface="Vazirmatn" pitchFamily="34" charset="-122"/>
                <a:cs typeface="Vazirmatn" pitchFamily="34" charset="-120"/>
              </a:rPr>
              <a:t>اگر کاربر پول بدهد ولی گزارش روی زنجیره شکست بخورد (موجودی کافی نبوده)، هشدار فوری ارسال می‌شود. روش جبران (بازگشت وجه یا تأمین فوری و انتقال دستی) و انتخاب درگاه هنوز تعیین نشده است.</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فروش و زیرساخت‌ها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هویت مشترک و زیرساخت‌های مشترک اکوسیستم</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35</a:t>
            </a:r>
            <a:endParaRPr lang="en-US" sz="1000" dirty="0"/>
          </a:p>
        </p:txBody>
      </p:sp>
      <p:sp>
        <p:nvSpPr>
          <p:cNvPr id="6" name="Shape 4"/>
          <p:cNvSpPr/>
          <p:nvPr/>
        </p:nvSpPr>
        <p:spPr>
          <a:xfrm>
            <a:off x="6202375" y="1417320"/>
            <a:ext cx="5440680" cy="4754880"/>
          </a:xfrm>
          <a:prstGeom prst="roundRect">
            <a:avLst>
              <a:gd name="adj" fmla="val 2308"/>
            </a:avLst>
          </a:prstGeom>
          <a:solidFill>
            <a:srgbClr val="EEF0FB"/>
          </a:solidFill>
          <a:ln w="9525">
            <a:solidFill>
              <a:srgbClr val="EEF0FB"/>
            </a:solidFill>
            <a:prstDash val="solid"/>
          </a:ln>
        </p:spPr>
      </p:sp>
      <p:sp>
        <p:nvSpPr>
          <p:cNvPr id="7" name="Shape 5"/>
          <p:cNvSpPr/>
          <p:nvPr/>
        </p:nvSpPr>
        <p:spPr>
          <a:xfrm>
            <a:off x="10957255" y="1600200"/>
            <a:ext cx="502920" cy="50292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093044" y="1735988"/>
            <a:ext cx="231343" cy="231343"/>
          </a:xfrm>
          <a:prstGeom prst="rect">
            <a:avLst/>
          </a:prstGeom>
        </p:spPr>
      </p:pic>
      <p:sp>
        <p:nvSpPr>
          <p:cNvPr id="9" name="Text 6"/>
          <p:cNvSpPr txBox="1"/>
          <p:nvPr/>
        </p:nvSpPr>
        <p:spPr>
          <a:xfrm>
            <a:off x="6339535" y="1627632"/>
            <a:ext cx="4480560" cy="457200"/>
          </a:xfrm>
          <a:prstGeom prst="rect">
            <a:avLst/>
          </a:prstGeom>
          <a:noFill/>
          <a:ln/>
        </p:spPr>
        <p:txBody>
          <a:bodyPr wrap="square" lIns="0" tIns="0" rIns="0" bIns="0" rtlCol="0" anchor="ctr"/>
          <a:lstStyle/>
          <a:p>
            <a:pPr rtl="1" algn="r" indent="0" marL="0">
              <a:lnSpc>
                <a:spcPct val="105000"/>
              </a:lnSpc>
              <a:buNone/>
            </a:pPr>
            <a:r>
              <a:rPr lang="fa-IR" altLang="en-US" sz="1600" b="1" dirty="0">
                <a:solidFill>
                  <a:srgbClr val="2F3690"/>
                </a:solidFill>
                <a:latin typeface="Vazirmatn" pitchFamily="34" charset="0"/>
                <a:ea typeface="Vazirmatn" pitchFamily="34" charset="-122"/>
                <a:cs typeface="Vazirmatn" pitchFamily="34" charset="-120"/>
              </a:rPr>
              <a:t>IdentityRegistry (0x6666…6666)</a:t>
            </a:r>
            <a:endParaRPr lang="en-US" sz="1600" dirty="0"/>
          </a:p>
        </p:txBody>
      </p:sp>
      <p:sp>
        <p:nvSpPr>
          <p:cNvPr id="10" name="Text 7"/>
          <p:cNvSpPr txBox="1"/>
          <p:nvPr/>
        </p:nvSpPr>
        <p:spPr>
          <a:xfrm>
            <a:off x="6430975" y="2286000"/>
            <a:ext cx="4983480" cy="3749040"/>
          </a:xfrm>
          <a:prstGeom prst="rect">
            <a:avLst/>
          </a:prstGeom>
          <a:noFill/>
          <a:ln/>
        </p:spPr>
        <p:txBody>
          <a:bodyPr wrap="square" lIns="0" tIns="0" rIns="0" bIns="0" rtlCol="0" anchor="t"/>
          <a:lstStyle/>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مرجع هویت برای همه‌ی کاربران شبکه، نه فقط ولیدیتورها.</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خوداظهاری (نام و نوع شخصیت) بدون وریفای؛ پیش‌نیاز رأی‌دادن در هیأت.</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وریفای موبایل و تلگرام و لایه‌ی اختیاری KYC فقط به‌صورت فلگ و commitment هش‌شده؛ داده‌ی خام هرگز روی زنجیره نمی‌آید.</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کلید identityOracle را FoundationDAO می‌چرخاند؛ کلید verifier ولیدیتورها مسیر چرخش جدا دارد.</a:t>
            </a:r>
            <a:endParaRPr lang="en-US" sz="1250" dirty="0"/>
          </a:p>
          <a:p>
            <a:pPr rtl="1" algn="r" indent="0" marL="0">
              <a:lnSpc>
                <a:spcPct val="105000"/>
              </a:lnSpc>
              <a:spcAft>
                <a:spcPts val="800"/>
              </a:spcAft>
              <a:buNone/>
            </a:pPr>
            <a:r>
              <a:rPr lang="fa-IR" altLang="en-US" sz="1250" dirty="0">
                <a:solidFill>
                  <a:srgbClr val="1B1B2F"/>
                </a:solidFill>
                <a:latin typeface="Vazirmatn" pitchFamily="34" charset="0"/>
                <a:ea typeface="Vazirmatn" pitchFamily="34" charset="-122"/>
                <a:cs typeface="Vazirmatn" pitchFamily="34" charset="-120"/>
              </a:rPr>
              <a:t>کوئری «تطبیق» تابع on-chain نیست، چون ورودی تراکنش همیشه عمومی است.</a:t>
            </a:r>
            <a:endParaRPr lang="en-US" sz="1250" dirty="0"/>
          </a:p>
        </p:txBody>
      </p:sp>
      <p:sp>
        <p:nvSpPr>
          <p:cNvPr id="11" name="Shape 8"/>
          <p:cNvSpPr/>
          <p:nvPr/>
        </p:nvSpPr>
        <p:spPr>
          <a:xfrm>
            <a:off x="548640" y="1417320"/>
            <a:ext cx="5440680" cy="1371600"/>
          </a:xfrm>
          <a:prstGeom prst="roundRect">
            <a:avLst>
              <a:gd name="adj" fmla="val 8000"/>
            </a:avLst>
          </a:prstGeom>
          <a:solidFill>
            <a:srgbClr val="F7F9FC"/>
          </a:solidFill>
          <a:ln w="9525">
            <a:solidFill>
              <a:srgbClr val="DDE1EE"/>
            </a:solidFill>
            <a:prstDash val="solid"/>
          </a:ln>
        </p:spPr>
      </p:sp>
      <p:sp>
        <p:nvSpPr>
          <p:cNvPr id="12" name="Shape 9"/>
          <p:cNvSpPr/>
          <p:nvPr/>
        </p:nvSpPr>
        <p:spPr>
          <a:xfrm>
            <a:off x="4434840" y="1554480"/>
            <a:ext cx="1371600" cy="347472"/>
          </a:xfrm>
          <a:prstGeom prst="roundRect">
            <a:avLst>
              <a:gd name="adj" fmla="val 50000"/>
            </a:avLst>
          </a:prstGeom>
          <a:solidFill>
            <a:srgbClr val="E3F4EC"/>
          </a:solidFill>
          <a:ln w="9525">
            <a:solidFill>
              <a:srgbClr val="E3F4EC"/>
            </a:solidFill>
            <a:prstDash val="solid"/>
          </a:ln>
        </p:spPr>
      </p:sp>
      <p:sp>
        <p:nvSpPr>
          <p:cNvPr id="13" name="Text 10"/>
          <p:cNvSpPr txBox="1"/>
          <p:nvPr/>
        </p:nvSpPr>
        <p:spPr>
          <a:xfrm>
            <a:off x="4434840" y="1554480"/>
            <a:ext cx="1371600" cy="347472"/>
          </a:xfrm>
          <a:prstGeom prst="rect">
            <a:avLst/>
          </a:prstGeom>
          <a:noFill/>
          <a:ln/>
        </p:spPr>
        <p:txBody>
          <a:bodyPr wrap="square" lIns="0" tIns="0" rIns="0" bIns="0" rtlCol="0" anchor="ctr"/>
          <a:lstStyle/>
          <a:p>
            <a:pPr rtl="1" algn="ctr" indent="0" marL="0">
              <a:lnSpc>
                <a:spcPct val="105000"/>
              </a:lnSpc>
              <a:buNone/>
            </a:pPr>
            <a:r>
              <a:rPr lang="fa-IR" altLang="en-US" sz="1150" b="1" dirty="0">
                <a:solidFill>
                  <a:srgbClr val="1F7A55"/>
                </a:solidFill>
                <a:latin typeface="Vazirmatn" pitchFamily="34" charset="0"/>
                <a:ea typeface="Vazirmatn" pitchFamily="34" charset="-122"/>
                <a:cs typeface="Vazirmatn" pitchFamily="34" charset="-120"/>
              </a:rPr>
              <a:t>پیاده‌سازی‌شده</a:t>
            </a:r>
            <a:endParaRPr lang="en-US" sz="1150" dirty="0"/>
          </a:p>
        </p:txBody>
      </p:sp>
      <p:sp>
        <p:nvSpPr>
          <p:cNvPr id="14" name="Text 11"/>
          <p:cNvSpPr txBox="1"/>
          <p:nvPr/>
        </p:nvSpPr>
        <p:spPr>
          <a:xfrm>
            <a:off x="731520" y="1984248"/>
            <a:ext cx="5074920" cy="73152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رجیستری هویت مشترک (IdentityRegistry)</a:t>
            </a:r>
            <a:endParaRPr lang="en-US" sz="1250" dirty="0"/>
          </a:p>
        </p:txBody>
      </p:sp>
      <p:sp>
        <p:nvSpPr>
          <p:cNvPr id="15" name="Shape 12"/>
          <p:cNvSpPr/>
          <p:nvPr/>
        </p:nvSpPr>
        <p:spPr>
          <a:xfrm>
            <a:off x="548640" y="2926080"/>
            <a:ext cx="5440680" cy="1371600"/>
          </a:xfrm>
          <a:prstGeom prst="roundRect">
            <a:avLst>
              <a:gd name="adj" fmla="val 8000"/>
            </a:avLst>
          </a:prstGeom>
          <a:solidFill>
            <a:srgbClr val="F7F9FC"/>
          </a:solidFill>
          <a:ln w="9525">
            <a:solidFill>
              <a:srgbClr val="DDE1EE"/>
            </a:solidFill>
            <a:prstDash val="solid"/>
          </a:ln>
        </p:spPr>
      </p:sp>
      <p:sp>
        <p:nvSpPr>
          <p:cNvPr id="16" name="Shape 13"/>
          <p:cNvSpPr/>
          <p:nvPr/>
        </p:nvSpPr>
        <p:spPr>
          <a:xfrm>
            <a:off x="4434840" y="3063240"/>
            <a:ext cx="1371600" cy="347472"/>
          </a:xfrm>
          <a:prstGeom prst="roundRect">
            <a:avLst>
              <a:gd name="adj" fmla="val 50000"/>
            </a:avLst>
          </a:prstGeom>
          <a:solidFill>
            <a:srgbClr val="EEF0FB"/>
          </a:solidFill>
          <a:ln w="9525">
            <a:solidFill>
              <a:srgbClr val="EEF0FB"/>
            </a:solidFill>
            <a:prstDash val="solid"/>
          </a:ln>
        </p:spPr>
      </p:sp>
      <p:sp>
        <p:nvSpPr>
          <p:cNvPr id="17" name="Text 14"/>
          <p:cNvSpPr txBox="1"/>
          <p:nvPr/>
        </p:nvSpPr>
        <p:spPr>
          <a:xfrm>
            <a:off x="4434840" y="3063240"/>
            <a:ext cx="1371600" cy="347472"/>
          </a:xfrm>
          <a:prstGeom prst="rect">
            <a:avLst/>
          </a:prstGeom>
          <a:noFill/>
          <a:ln/>
        </p:spPr>
        <p:txBody>
          <a:bodyPr wrap="square" lIns="0" tIns="0" rIns="0" bIns="0" rtlCol="0" anchor="ctr"/>
          <a:lstStyle/>
          <a:p>
            <a:pPr rtl="1" algn="ctr" indent="0" marL="0">
              <a:lnSpc>
                <a:spcPct val="105000"/>
              </a:lnSpc>
              <a:buNone/>
            </a:pPr>
            <a:r>
              <a:rPr lang="fa-IR" altLang="en-US" sz="1150" b="1" dirty="0">
                <a:solidFill>
                  <a:srgbClr val="2F3690"/>
                </a:solidFill>
                <a:latin typeface="Vazirmatn" pitchFamily="34" charset="0"/>
                <a:ea typeface="Vazirmatn" pitchFamily="34" charset="-122"/>
                <a:cs typeface="Vazirmatn" pitchFamily="34" charset="-120"/>
              </a:rPr>
              <a:t>آماده‌ی شروع</a:t>
            </a:r>
            <a:endParaRPr lang="en-US" sz="1150" dirty="0"/>
          </a:p>
        </p:txBody>
      </p:sp>
      <p:sp>
        <p:nvSpPr>
          <p:cNvPr id="18" name="Text 15"/>
          <p:cNvSpPr txBox="1"/>
          <p:nvPr/>
        </p:nvSpPr>
        <p:spPr>
          <a:xfrm>
            <a:off x="731520" y="3493008"/>
            <a:ext cx="5074920" cy="73152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ثبت‌زمان اسناد؛ نام‌گذاری (مشابه ENS)؛ قالب «DAO آماده»؛ صدور و اعتبارسنجی مدرک</a:t>
            </a:r>
            <a:endParaRPr lang="en-US" sz="1250" dirty="0"/>
          </a:p>
        </p:txBody>
      </p:sp>
      <p:sp>
        <p:nvSpPr>
          <p:cNvPr id="19" name="Shape 16"/>
          <p:cNvSpPr/>
          <p:nvPr/>
        </p:nvSpPr>
        <p:spPr>
          <a:xfrm>
            <a:off x="548640" y="4434840"/>
            <a:ext cx="5440680" cy="1371600"/>
          </a:xfrm>
          <a:prstGeom prst="roundRect">
            <a:avLst>
              <a:gd name="adj" fmla="val 8000"/>
            </a:avLst>
          </a:prstGeom>
          <a:solidFill>
            <a:srgbClr val="F7F9FC"/>
          </a:solidFill>
          <a:ln w="9525">
            <a:solidFill>
              <a:srgbClr val="DDE1EE"/>
            </a:solidFill>
            <a:prstDash val="solid"/>
          </a:ln>
        </p:spPr>
      </p:sp>
      <p:sp>
        <p:nvSpPr>
          <p:cNvPr id="20" name="Shape 17"/>
          <p:cNvSpPr/>
          <p:nvPr/>
        </p:nvSpPr>
        <p:spPr>
          <a:xfrm>
            <a:off x="4434840" y="4572000"/>
            <a:ext cx="1371600" cy="347472"/>
          </a:xfrm>
          <a:prstGeom prst="roundRect">
            <a:avLst>
              <a:gd name="adj" fmla="val 50000"/>
            </a:avLst>
          </a:prstGeom>
          <a:solidFill>
            <a:srgbClr val="FCEAE4"/>
          </a:solidFill>
          <a:ln w="9525">
            <a:solidFill>
              <a:srgbClr val="FCEAE4"/>
            </a:solidFill>
            <a:prstDash val="solid"/>
          </a:ln>
        </p:spPr>
      </p:sp>
      <p:sp>
        <p:nvSpPr>
          <p:cNvPr id="21" name="Text 18"/>
          <p:cNvSpPr txBox="1"/>
          <p:nvPr/>
        </p:nvSpPr>
        <p:spPr>
          <a:xfrm>
            <a:off x="4434840" y="4572000"/>
            <a:ext cx="1371600" cy="347472"/>
          </a:xfrm>
          <a:prstGeom prst="rect">
            <a:avLst/>
          </a:prstGeom>
          <a:noFill/>
          <a:ln/>
        </p:spPr>
        <p:txBody>
          <a:bodyPr wrap="square" lIns="0" tIns="0" rIns="0" bIns="0" rtlCol="0" anchor="ctr"/>
          <a:lstStyle/>
          <a:p>
            <a:pPr rtl="1" algn="ctr" indent="0" marL="0">
              <a:lnSpc>
                <a:spcPct val="105000"/>
              </a:lnSpc>
              <a:buNone/>
            </a:pPr>
            <a:r>
              <a:rPr lang="fa-IR" altLang="en-US" sz="1150" b="1" dirty="0">
                <a:solidFill>
                  <a:srgbClr val="C8431F"/>
                </a:solidFill>
                <a:latin typeface="Vazirmatn" pitchFamily="34" charset="0"/>
                <a:ea typeface="Vazirmatn" pitchFamily="34" charset="-122"/>
                <a:cs typeface="Vazirmatn" pitchFamily="34" charset="-120"/>
              </a:rPr>
              <a:t>پیشنهادی</a:t>
            </a:r>
            <a:endParaRPr lang="en-US" sz="1150" dirty="0"/>
          </a:p>
        </p:txBody>
      </p:sp>
      <p:sp>
        <p:nvSpPr>
          <p:cNvPr id="22" name="Text 19"/>
          <p:cNvSpPr txBox="1"/>
          <p:nvPr/>
        </p:nvSpPr>
        <p:spPr>
          <a:xfrm>
            <a:off x="731520" y="5001768"/>
            <a:ext cx="5074920" cy="731520"/>
          </a:xfrm>
          <a:prstGeom prst="rect">
            <a:avLst/>
          </a:prstGeom>
          <a:noFill/>
          <a:ln/>
        </p:spPr>
        <p:txBody>
          <a:bodyPr wrap="square" lIns="0" tIns="0" rIns="0" bIns="0" rtlCol="0" anchor="t"/>
          <a:lstStyle/>
          <a:p>
            <a:pPr rtl="1" algn="r" indent="0" marL="0">
              <a:lnSpc>
                <a:spcPct val="105000"/>
              </a:lnSpc>
              <a:buNone/>
            </a:pPr>
            <a:r>
              <a:rPr lang="fa-IR" altLang="en-US" sz="1250" dirty="0">
                <a:solidFill>
                  <a:srgbClr val="1B1B2F"/>
                </a:solidFill>
                <a:latin typeface="Vazirmatn" pitchFamily="34" charset="0"/>
                <a:ea typeface="Vazirmatn" pitchFamily="34" charset="-122"/>
                <a:cs typeface="Vazirmatn" pitchFamily="34" charset="-120"/>
              </a:rPr>
              <a:t>ServiceStaking (قفل سورن برای دسترسی به سرویس‌ها)؛ Zether (محرمانگی مبلغ در سطح قرارداد)</a:t>
            </a:r>
            <a:endParaRPr lang="en-US" sz="1250" dirty="0"/>
          </a:p>
        </p:txBody>
      </p:sp>
      <p:sp>
        <p:nvSpPr>
          <p:cNvPr id="23" name="Text 20"/>
          <p:cNvSpPr txBox="1"/>
          <p:nvPr/>
        </p:nvSpPr>
        <p:spPr>
          <a:xfrm>
            <a:off x="548640" y="5943600"/>
            <a:ext cx="5440680" cy="45720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سور محرمانگی در سطح پروتکل نمی‌سازد: قابلیت Tessera خود Besu منسوخ اعلام شده است.</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اجزای آف‌چین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نرم‌افزارهای آف‌چین طرح و وضعیت مستندات آن‌ها</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36</a:t>
            </a:r>
            <a:endParaRPr lang="en-US" sz="1000" dirty="0"/>
          </a:p>
        </p:txBody>
      </p:sp>
      <p:sp>
        <p:nvSpPr>
          <p:cNvPr id="6" name="Shape 4"/>
          <p:cNvSpPr/>
          <p:nvPr/>
        </p:nvSpPr>
        <p:spPr>
          <a:xfrm>
            <a:off x="9006840" y="1371600"/>
            <a:ext cx="2636444" cy="1371600"/>
          </a:xfrm>
          <a:prstGeom prst="roundRect">
            <a:avLst>
              <a:gd name="adj" fmla="val 8000"/>
            </a:avLst>
          </a:prstGeom>
          <a:solidFill>
            <a:srgbClr val="EEF0FB"/>
          </a:solidFill>
          <a:ln w="9525">
            <a:solidFill>
              <a:srgbClr val="EEF0FB"/>
            </a:solidFill>
            <a:prstDash val="solid"/>
          </a:ln>
        </p:spPr>
      </p:sp>
      <p:sp>
        <p:nvSpPr>
          <p:cNvPr id="7" name="Text 5"/>
          <p:cNvSpPr txBox="1"/>
          <p:nvPr/>
        </p:nvSpPr>
        <p:spPr>
          <a:xfrm>
            <a:off x="9116568" y="1463040"/>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RewardRouter</a:t>
            </a:r>
            <a:endParaRPr lang="en-US" sz="1300" dirty="0"/>
          </a:p>
        </p:txBody>
      </p:sp>
      <p:sp>
        <p:nvSpPr>
          <p:cNvPr id="8" name="Text 6"/>
          <p:cNvSpPr txBox="1"/>
          <p:nvPr/>
        </p:nvSpPr>
        <p:spPr>
          <a:xfrm>
            <a:off x="9116568" y="1783080"/>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محاسبه و ارسال توزیع پاداش هر ۲۳ ساعت</a:t>
            </a:r>
            <a:endParaRPr lang="en-US" sz="1100" dirty="0"/>
          </a:p>
        </p:txBody>
      </p:sp>
      <p:sp>
        <p:nvSpPr>
          <p:cNvPr id="9" name="Text 7"/>
          <p:cNvSpPr txBox="1"/>
          <p:nvPr/>
        </p:nvSpPr>
        <p:spPr>
          <a:xfrm>
            <a:off x="9116568" y="2267712"/>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کلید distributionOracle</a:t>
            </a:r>
            <a:endParaRPr lang="en-US" sz="1000" dirty="0"/>
          </a:p>
        </p:txBody>
      </p:sp>
      <p:sp>
        <p:nvSpPr>
          <p:cNvPr id="10" name="Text 8"/>
          <p:cNvSpPr txBox="1"/>
          <p:nvPr/>
        </p:nvSpPr>
        <p:spPr>
          <a:xfrm>
            <a:off x="9116568" y="2468880"/>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C8431F"/>
                </a:solidFill>
                <a:latin typeface="Vazirmatn" pitchFamily="34" charset="0"/>
                <a:ea typeface="Vazirmatn" pitchFamily="34" charset="-122"/>
                <a:cs typeface="Vazirmatn" pitchFamily="34" charset="-120"/>
              </a:rPr>
              <a:t>مشخصات کامل؛ پیاده‌سازی باز</a:t>
            </a:r>
            <a:endParaRPr lang="en-US" sz="1000" dirty="0"/>
          </a:p>
        </p:txBody>
      </p:sp>
      <p:sp>
        <p:nvSpPr>
          <p:cNvPr id="11" name="Shape 9"/>
          <p:cNvSpPr/>
          <p:nvPr/>
        </p:nvSpPr>
        <p:spPr>
          <a:xfrm>
            <a:off x="6186830" y="1371600"/>
            <a:ext cx="2636444" cy="1371600"/>
          </a:xfrm>
          <a:prstGeom prst="roundRect">
            <a:avLst>
              <a:gd name="adj" fmla="val 8000"/>
            </a:avLst>
          </a:prstGeom>
          <a:solidFill>
            <a:srgbClr val="EEF0FB"/>
          </a:solidFill>
          <a:ln w="9525">
            <a:solidFill>
              <a:srgbClr val="EEF0FB"/>
            </a:solidFill>
            <a:prstDash val="solid"/>
          </a:ln>
        </p:spPr>
      </p:sp>
      <p:sp>
        <p:nvSpPr>
          <p:cNvPr id="12" name="Text 10"/>
          <p:cNvSpPr txBox="1"/>
          <p:nvPr/>
        </p:nvSpPr>
        <p:spPr>
          <a:xfrm>
            <a:off x="6296558" y="1463040"/>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Verifier</a:t>
            </a:r>
            <a:endParaRPr lang="en-US" sz="1300" dirty="0"/>
          </a:p>
        </p:txBody>
      </p:sp>
      <p:sp>
        <p:nvSpPr>
          <p:cNvPr id="13" name="Text 11"/>
          <p:cNvSpPr txBox="1"/>
          <p:nvPr/>
        </p:nvSpPr>
        <p:spPr>
          <a:xfrm>
            <a:off x="6296558" y="1783080"/>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پایش ساعتی و ثبت تصمیم‌های وضعیت ولیدیتور</a:t>
            </a:r>
            <a:endParaRPr lang="en-US" sz="1100" dirty="0"/>
          </a:p>
        </p:txBody>
      </p:sp>
      <p:sp>
        <p:nvSpPr>
          <p:cNvPr id="14" name="Text 12"/>
          <p:cNvSpPr txBox="1"/>
          <p:nvPr/>
        </p:nvSpPr>
        <p:spPr>
          <a:xfrm>
            <a:off x="6296558" y="2267712"/>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کلید verifier</a:t>
            </a:r>
            <a:endParaRPr lang="en-US" sz="1000" dirty="0"/>
          </a:p>
        </p:txBody>
      </p:sp>
      <p:sp>
        <p:nvSpPr>
          <p:cNvPr id="15" name="Text 13"/>
          <p:cNvSpPr txBox="1"/>
          <p:nvPr/>
        </p:nvSpPr>
        <p:spPr>
          <a:xfrm>
            <a:off x="6296558" y="2468880"/>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مشخصات کامل</a:t>
            </a:r>
            <a:endParaRPr lang="en-US" sz="1000" dirty="0"/>
          </a:p>
        </p:txBody>
      </p:sp>
      <p:sp>
        <p:nvSpPr>
          <p:cNvPr id="16" name="Shape 14"/>
          <p:cNvSpPr/>
          <p:nvPr/>
        </p:nvSpPr>
        <p:spPr>
          <a:xfrm>
            <a:off x="3367735" y="1371600"/>
            <a:ext cx="2636444" cy="1371600"/>
          </a:xfrm>
          <a:prstGeom prst="roundRect">
            <a:avLst>
              <a:gd name="adj" fmla="val 8000"/>
            </a:avLst>
          </a:prstGeom>
          <a:solidFill>
            <a:srgbClr val="EEF0FB"/>
          </a:solidFill>
          <a:ln w="9525">
            <a:solidFill>
              <a:srgbClr val="EEF0FB"/>
            </a:solidFill>
            <a:prstDash val="solid"/>
          </a:ln>
        </p:spPr>
      </p:sp>
      <p:sp>
        <p:nvSpPr>
          <p:cNvPr id="17" name="Text 15"/>
          <p:cNvSpPr txBox="1"/>
          <p:nvPr/>
        </p:nvSpPr>
        <p:spPr>
          <a:xfrm>
            <a:off x="3477463" y="1463040"/>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Identity Service</a:t>
            </a:r>
            <a:endParaRPr lang="en-US" sz="1300" dirty="0"/>
          </a:p>
        </p:txBody>
      </p:sp>
      <p:sp>
        <p:nvSpPr>
          <p:cNvPr id="18" name="Text 16"/>
          <p:cNvSpPr txBox="1"/>
          <p:nvPr/>
        </p:nvSpPr>
        <p:spPr>
          <a:xfrm>
            <a:off x="3477463" y="1783080"/>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وریفای موبایل و تلگرام و KYC اختیاری</a:t>
            </a:r>
            <a:endParaRPr lang="en-US" sz="1100" dirty="0"/>
          </a:p>
        </p:txBody>
      </p:sp>
      <p:sp>
        <p:nvSpPr>
          <p:cNvPr id="19" name="Text 17"/>
          <p:cNvSpPr txBox="1"/>
          <p:nvPr/>
        </p:nvSpPr>
        <p:spPr>
          <a:xfrm>
            <a:off x="3477463" y="2267712"/>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کلید identityOracle</a:t>
            </a:r>
            <a:endParaRPr lang="en-US" sz="1000" dirty="0"/>
          </a:p>
        </p:txBody>
      </p:sp>
      <p:sp>
        <p:nvSpPr>
          <p:cNvPr id="20" name="Text 18"/>
          <p:cNvSpPr txBox="1"/>
          <p:nvPr/>
        </p:nvSpPr>
        <p:spPr>
          <a:xfrm>
            <a:off x="3477463" y="2468880"/>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مشخصات کامل</a:t>
            </a:r>
            <a:endParaRPr lang="en-US" sz="1000" dirty="0"/>
          </a:p>
        </p:txBody>
      </p:sp>
      <p:sp>
        <p:nvSpPr>
          <p:cNvPr id="21" name="Shape 19"/>
          <p:cNvSpPr/>
          <p:nvPr/>
        </p:nvSpPr>
        <p:spPr>
          <a:xfrm>
            <a:off x="548640" y="1371600"/>
            <a:ext cx="2636444" cy="1371600"/>
          </a:xfrm>
          <a:prstGeom prst="roundRect">
            <a:avLst>
              <a:gd name="adj" fmla="val 8000"/>
            </a:avLst>
          </a:prstGeom>
          <a:solidFill>
            <a:srgbClr val="EEF0FB"/>
          </a:solidFill>
          <a:ln w="9525">
            <a:solidFill>
              <a:srgbClr val="EEF0FB"/>
            </a:solidFill>
            <a:prstDash val="solid"/>
          </a:ln>
        </p:spPr>
      </p:sp>
      <p:sp>
        <p:nvSpPr>
          <p:cNvPr id="22" name="Text 20"/>
          <p:cNvSpPr txBox="1"/>
          <p:nvPr/>
        </p:nvSpPr>
        <p:spPr>
          <a:xfrm>
            <a:off x="658368" y="1463040"/>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PaymentReporter</a:t>
            </a:r>
            <a:endParaRPr lang="en-US" sz="1300" dirty="0"/>
          </a:p>
        </p:txBody>
      </p:sp>
      <p:sp>
        <p:nvSpPr>
          <p:cNvPr id="23" name="Text 21"/>
          <p:cNvSpPr txBox="1"/>
          <p:nvPr/>
        </p:nvSpPr>
        <p:spPr>
          <a:xfrm>
            <a:off x="658368" y="1783080"/>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گزارش پرداخت تومانی به SurenSale</a:t>
            </a:r>
            <a:endParaRPr lang="en-US" sz="1100" dirty="0"/>
          </a:p>
        </p:txBody>
      </p:sp>
      <p:sp>
        <p:nvSpPr>
          <p:cNvPr id="24" name="Text 22"/>
          <p:cNvSpPr txBox="1"/>
          <p:nvPr/>
        </p:nvSpPr>
        <p:spPr>
          <a:xfrm>
            <a:off x="658368" y="2267712"/>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کلید paymentOracle</a:t>
            </a:r>
            <a:endParaRPr lang="en-US" sz="1000" dirty="0"/>
          </a:p>
        </p:txBody>
      </p:sp>
      <p:sp>
        <p:nvSpPr>
          <p:cNvPr id="25" name="Text 23"/>
          <p:cNvSpPr txBox="1"/>
          <p:nvPr/>
        </p:nvSpPr>
        <p:spPr>
          <a:xfrm>
            <a:off x="658368" y="2468880"/>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مشخصات کامل</a:t>
            </a:r>
            <a:endParaRPr lang="en-US" sz="1000" dirty="0"/>
          </a:p>
        </p:txBody>
      </p:sp>
      <p:sp>
        <p:nvSpPr>
          <p:cNvPr id="26" name="Shape 24"/>
          <p:cNvSpPr/>
          <p:nvPr/>
        </p:nvSpPr>
        <p:spPr>
          <a:xfrm>
            <a:off x="9006840" y="2889504"/>
            <a:ext cx="2636444" cy="1371600"/>
          </a:xfrm>
          <a:prstGeom prst="roundRect">
            <a:avLst>
              <a:gd name="adj" fmla="val 8000"/>
            </a:avLst>
          </a:prstGeom>
          <a:solidFill>
            <a:srgbClr val="F7F9FC"/>
          </a:solidFill>
          <a:ln w="9525">
            <a:solidFill>
              <a:srgbClr val="DDE1EE"/>
            </a:solidFill>
            <a:prstDash val="solid"/>
          </a:ln>
        </p:spPr>
      </p:sp>
      <p:sp>
        <p:nvSpPr>
          <p:cNvPr id="27" name="Text 25"/>
          <p:cNvSpPr txBox="1"/>
          <p:nvPr/>
        </p:nvSpPr>
        <p:spPr>
          <a:xfrm>
            <a:off x="9116568" y="2980944"/>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ابزار ساخت genesis</a:t>
            </a:r>
            <a:endParaRPr lang="en-US" sz="1300" dirty="0"/>
          </a:p>
        </p:txBody>
      </p:sp>
      <p:sp>
        <p:nvSpPr>
          <p:cNvPr id="28" name="Text 26"/>
          <p:cNvSpPr txBox="1"/>
          <p:nvPr/>
        </p:nvSpPr>
        <p:spPr>
          <a:xfrm>
            <a:off x="9116568" y="3300984"/>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استخراج کد و storage شش قرارداد و ساخت genesis.json</a:t>
            </a:r>
            <a:endParaRPr lang="en-US" sz="1100" dirty="0"/>
          </a:p>
        </p:txBody>
      </p:sp>
      <p:sp>
        <p:nvSpPr>
          <p:cNvPr id="29" name="Text 27"/>
          <p:cNvSpPr txBox="1"/>
          <p:nvPr/>
        </p:nvSpPr>
        <p:spPr>
          <a:xfrm>
            <a:off x="9116568" y="3785616"/>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بدون کلید</a:t>
            </a:r>
            <a:endParaRPr lang="en-US" sz="1000" dirty="0"/>
          </a:p>
        </p:txBody>
      </p:sp>
      <p:sp>
        <p:nvSpPr>
          <p:cNvPr id="30" name="Text 28"/>
          <p:cNvSpPr txBox="1"/>
          <p:nvPr/>
        </p:nvSpPr>
        <p:spPr>
          <a:xfrm>
            <a:off x="9116568" y="3986784"/>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C8431F"/>
                </a:solidFill>
                <a:latin typeface="Vazirmatn" pitchFamily="34" charset="0"/>
                <a:ea typeface="Vazirmatn" pitchFamily="34" charset="-122"/>
                <a:cs typeface="Vazirmatn" pitchFamily="34" charset="-120"/>
              </a:rPr>
              <a:t>مشخصات کامل؛ پیاده‌سازی باز</a:t>
            </a:r>
            <a:endParaRPr lang="en-US" sz="1000" dirty="0"/>
          </a:p>
        </p:txBody>
      </p:sp>
      <p:sp>
        <p:nvSpPr>
          <p:cNvPr id="31" name="Shape 29"/>
          <p:cNvSpPr/>
          <p:nvPr/>
        </p:nvSpPr>
        <p:spPr>
          <a:xfrm>
            <a:off x="6186830" y="2889504"/>
            <a:ext cx="2636444" cy="1371600"/>
          </a:xfrm>
          <a:prstGeom prst="roundRect">
            <a:avLst>
              <a:gd name="adj" fmla="val 8000"/>
            </a:avLst>
          </a:prstGeom>
          <a:solidFill>
            <a:srgbClr val="F7F9FC"/>
          </a:solidFill>
          <a:ln w="9525">
            <a:solidFill>
              <a:srgbClr val="DDE1EE"/>
            </a:solidFill>
            <a:prstDash val="solid"/>
          </a:ln>
        </p:spPr>
      </p:sp>
      <p:sp>
        <p:nvSpPr>
          <p:cNvPr id="32" name="Text 30"/>
          <p:cNvSpPr txBox="1"/>
          <p:nvPr/>
        </p:nvSpPr>
        <p:spPr>
          <a:xfrm>
            <a:off x="6296558" y="2980944"/>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اپ ولیدیتور</a:t>
            </a:r>
            <a:endParaRPr lang="en-US" sz="1300" dirty="0"/>
          </a:p>
        </p:txBody>
      </p:sp>
      <p:sp>
        <p:nvSpPr>
          <p:cNvPr id="33" name="Text 31"/>
          <p:cNvSpPr txBox="1"/>
          <p:nvPr/>
        </p:nvSpPr>
        <p:spPr>
          <a:xfrm>
            <a:off x="6296558" y="3300984"/>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عضویت، خروج و برداشت وثیقه</a:t>
            </a:r>
            <a:endParaRPr lang="en-US" sz="1100" dirty="0"/>
          </a:p>
        </p:txBody>
      </p:sp>
      <p:sp>
        <p:nvSpPr>
          <p:cNvPr id="34" name="Text 32"/>
          <p:cNvSpPr txBox="1"/>
          <p:nvPr/>
        </p:nvSpPr>
        <p:spPr>
          <a:xfrm>
            <a:off x="6296558" y="3785616"/>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کیف‌پول کاربر</a:t>
            </a:r>
            <a:endParaRPr lang="en-US" sz="1000" dirty="0"/>
          </a:p>
        </p:txBody>
      </p:sp>
      <p:sp>
        <p:nvSpPr>
          <p:cNvPr id="35" name="Text 33"/>
          <p:cNvSpPr txBox="1"/>
          <p:nvPr/>
        </p:nvSpPr>
        <p:spPr>
          <a:xfrm>
            <a:off x="6296558" y="3986784"/>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مشخصات کامل</a:t>
            </a:r>
            <a:endParaRPr lang="en-US" sz="1000" dirty="0"/>
          </a:p>
        </p:txBody>
      </p:sp>
      <p:sp>
        <p:nvSpPr>
          <p:cNvPr id="36" name="Shape 34"/>
          <p:cNvSpPr/>
          <p:nvPr/>
        </p:nvSpPr>
        <p:spPr>
          <a:xfrm>
            <a:off x="3367735" y="2889504"/>
            <a:ext cx="2636444" cy="1371600"/>
          </a:xfrm>
          <a:prstGeom prst="roundRect">
            <a:avLst>
              <a:gd name="adj" fmla="val 8000"/>
            </a:avLst>
          </a:prstGeom>
          <a:solidFill>
            <a:srgbClr val="F7F9FC"/>
          </a:solidFill>
          <a:ln w="9525">
            <a:solidFill>
              <a:srgbClr val="DDE1EE"/>
            </a:solidFill>
            <a:prstDash val="solid"/>
          </a:ln>
        </p:spPr>
      </p:sp>
      <p:sp>
        <p:nvSpPr>
          <p:cNvPr id="37" name="Text 35"/>
          <p:cNvSpPr txBox="1"/>
          <p:nvPr/>
        </p:nvSpPr>
        <p:spPr>
          <a:xfrm>
            <a:off x="3477463" y="2980944"/>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داشبورد حکمرانی</a:t>
            </a:r>
            <a:endParaRPr lang="en-US" sz="1300" dirty="0"/>
          </a:p>
        </p:txBody>
      </p:sp>
      <p:sp>
        <p:nvSpPr>
          <p:cNvPr id="38" name="Text 36"/>
          <p:cNvSpPr txBox="1"/>
          <p:nvPr/>
        </p:nvSpPr>
        <p:spPr>
          <a:xfrm>
            <a:off x="3477463" y="3300984"/>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رأی‌گیری بنیاد، هیأت، خزانه و پارامترها</a:t>
            </a:r>
            <a:endParaRPr lang="en-US" sz="1100" dirty="0"/>
          </a:p>
        </p:txBody>
      </p:sp>
      <p:sp>
        <p:nvSpPr>
          <p:cNvPr id="39" name="Text 37"/>
          <p:cNvSpPr txBox="1"/>
          <p:nvPr/>
        </p:nvSpPr>
        <p:spPr>
          <a:xfrm>
            <a:off x="3477463" y="3785616"/>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کیف‌پول کاربر</a:t>
            </a:r>
            <a:endParaRPr lang="en-US" sz="1000" dirty="0"/>
          </a:p>
        </p:txBody>
      </p:sp>
      <p:sp>
        <p:nvSpPr>
          <p:cNvPr id="40" name="Text 38"/>
          <p:cNvSpPr txBox="1"/>
          <p:nvPr/>
        </p:nvSpPr>
        <p:spPr>
          <a:xfrm>
            <a:off x="3477463" y="3986784"/>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C8431F"/>
                </a:solidFill>
                <a:latin typeface="Vazirmatn" pitchFamily="34" charset="0"/>
                <a:ea typeface="Vazirmatn" pitchFamily="34" charset="-122"/>
                <a:cs typeface="Vazirmatn" pitchFamily="34" charset="-120"/>
              </a:rPr>
              <a:t>مشخصات کامل؛ صفحه‌ی نرخ باز</a:t>
            </a:r>
            <a:endParaRPr lang="en-US" sz="1000" dirty="0"/>
          </a:p>
        </p:txBody>
      </p:sp>
      <p:sp>
        <p:nvSpPr>
          <p:cNvPr id="41" name="Shape 39"/>
          <p:cNvSpPr/>
          <p:nvPr/>
        </p:nvSpPr>
        <p:spPr>
          <a:xfrm>
            <a:off x="548640" y="2889504"/>
            <a:ext cx="2636444" cy="1371600"/>
          </a:xfrm>
          <a:prstGeom prst="roundRect">
            <a:avLst>
              <a:gd name="adj" fmla="val 8000"/>
            </a:avLst>
          </a:prstGeom>
          <a:solidFill>
            <a:srgbClr val="F7F9FC"/>
          </a:solidFill>
          <a:ln w="9525">
            <a:solidFill>
              <a:srgbClr val="DDE1EE"/>
            </a:solidFill>
            <a:prstDash val="solid"/>
          </a:ln>
        </p:spPr>
      </p:sp>
      <p:sp>
        <p:nvSpPr>
          <p:cNvPr id="42" name="Text 40"/>
          <p:cNvSpPr txBox="1"/>
          <p:nvPr/>
        </p:nvSpPr>
        <p:spPr>
          <a:xfrm>
            <a:off x="658368" y="2980944"/>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پرتال فروش</a:t>
            </a:r>
            <a:endParaRPr lang="en-US" sz="1300" dirty="0"/>
          </a:p>
        </p:txBody>
      </p:sp>
      <p:sp>
        <p:nvSpPr>
          <p:cNvPr id="43" name="Text 41"/>
          <p:cNvSpPr txBox="1"/>
          <p:nvPr/>
        </p:nvSpPr>
        <p:spPr>
          <a:xfrm>
            <a:off x="658368" y="3300984"/>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آمار زنده و خرید سورن</a:t>
            </a:r>
            <a:endParaRPr lang="en-US" sz="1100" dirty="0"/>
          </a:p>
        </p:txBody>
      </p:sp>
      <p:sp>
        <p:nvSpPr>
          <p:cNvPr id="44" name="Text 42"/>
          <p:cNvSpPr txBox="1"/>
          <p:nvPr/>
        </p:nvSpPr>
        <p:spPr>
          <a:xfrm>
            <a:off x="658368" y="3785616"/>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بدون کلید</a:t>
            </a:r>
            <a:endParaRPr lang="en-US" sz="1000" dirty="0"/>
          </a:p>
        </p:txBody>
      </p:sp>
      <p:sp>
        <p:nvSpPr>
          <p:cNvPr id="45" name="Text 43"/>
          <p:cNvSpPr txBox="1"/>
          <p:nvPr/>
        </p:nvSpPr>
        <p:spPr>
          <a:xfrm>
            <a:off x="658368" y="3986784"/>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مشخصات کامل</a:t>
            </a:r>
            <a:endParaRPr lang="en-US" sz="1000" dirty="0"/>
          </a:p>
        </p:txBody>
      </p:sp>
      <p:sp>
        <p:nvSpPr>
          <p:cNvPr id="46" name="Shape 44"/>
          <p:cNvSpPr/>
          <p:nvPr/>
        </p:nvSpPr>
        <p:spPr>
          <a:xfrm>
            <a:off x="9006840" y="4407408"/>
            <a:ext cx="2636444" cy="1371600"/>
          </a:xfrm>
          <a:prstGeom prst="roundRect">
            <a:avLst>
              <a:gd name="adj" fmla="val 8000"/>
            </a:avLst>
          </a:prstGeom>
          <a:solidFill>
            <a:srgbClr val="F7F9FC"/>
          </a:solidFill>
          <a:ln w="9525">
            <a:solidFill>
              <a:srgbClr val="DDE1EE"/>
            </a:solidFill>
            <a:prstDash val="solid"/>
          </a:ln>
        </p:spPr>
      </p:sp>
      <p:sp>
        <p:nvSpPr>
          <p:cNvPr id="47" name="Text 45"/>
          <p:cNvSpPr txBox="1"/>
          <p:nvPr/>
        </p:nvSpPr>
        <p:spPr>
          <a:xfrm>
            <a:off x="9116568" y="4498848"/>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Blockscout</a:t>
            </a:r>
            <a:endParaRPr lang="en-US" sz="1300" dirty="0"/>
          </a:p>
        </p:txBody>
      </p:sp>
      <p:sp>
        <p:nvSpPr>
          <p:cNvPr id="48" name="Text 46"/>
          <p:cNvSpPr txBox="1"/>
          <p:nvPr/>
        </p:nvSpPr>
        <p:spPr>
          <a:xfrm>
            <a:off x="9116568" y="4818888"/>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مرورگر بلاک عمومی</a:t>
            </a:r>
            <a:endParaRPr lang="en-US" sz="1100" dirty="0"/>
          </a:p>
        </p:txBody>
      </p:sp>
      <p:sp>
        <p:nvSpPr>
          <p:cNvPr id="49" name="Text 47"/>
          <p:cNvSpPr txBox="1"/>
          <p:nvPr/>
        </p:nvSpPr>
        <p:spPr>
          <a:xfrm>
            <a:off x="9116568" y="5303520"/>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بدون کلید</a:t>
            </a:r>
            <a:endParaRPr lang="en-US" sz="1000" dirty="0"/>
          </a:p>
        </p:txBody>
      </p:sp>
      <p:sp>
        <p:nvSpPr>
          <p:cNvPr id="50" name="Text 48"/>
          <p:cNvSpPr txBox="1"/>
          <p:nvPr/>
        </p:nvSpPr>
        <p:spPr>
          <a:xfrm>
            <a:off x="9116568" y="5504688"/>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پیکربندی، نه توسعه</a:t>
            </a:r>
            <a:endParaRPr lang="en-US" sz="1000" dirty="0"/>
          </a:p>
        </p:txBody>
      </p:sp>
      <p:sp>
        <p:nvSpPr>
          <p:cNvPr id="51" name="Shape 49"/>
          <p:cNvSpPr/>
          <p:nvPr/>
        </p:nvSpPr>
        <p:spPr>
          <a:xfrm>
            <a:off x="6186830" y="4407408"/>
            <a:ext cx="2636444" cy="1371600"/>
          </a:xfrm>
          <a:prstGeom prst="roundRect">
            <a:avLst>
              <a:gd name="adj" fmla="val 8000"/>
            </a:avLst>
          </a:prstGeom>
          <a:solidFill>
            <a:srgbClr val="F7F9FC"/>
          </a:solidFill>
          <a:ln w="9525">
            <a:solidFill>
              <a:srgbClr val="DDE1EE"/>
            </a:solidFill>
            <a:prstDash val="solid"/>
          </a:ln>
        </p:spPr>
      </p:sp>
      <p:sp>
        <p:nvSpPr>
          <p:cNvPr id="52" name="Text 50"/>
          <p:cNvSpPr txBox="1"/>
          <p:nvPr/>
        </p:nvSpPr>
        <p:spPr>
          <a:xfrm>
            <a:off x="6296558" y="4498848"/>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ابزار بازیابی اضطراری</a:t>
            </a:r>
            <a:endParaRPr lang="en-US" sz="1300" dirty="0"/>
          </a:p>
        </p:txBody>
      </p:sp>
      <p:sp>
        <p:nvSpPr>
          <p:cNvPr id="53" name="Text 51"/>
          <p:cNvSpPr txBox="1"/>
          <p:nvPr/>
        </p:nvSpPr>
        <p:spPr>
          <a:xfrm>
            <a:off x="6296558" y="4818888"/>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ساخت و امضای برنامه‌ی بازیابی اجماع</a:t>
            </a:r>
            <a:endParaRPr lang="en-US" sz="1100" dirty="0"/>
          </a:p>
        </p:txBody>
      </p:sp>
      <p:sp>
        <p:nvSpPr>
          <p:cNvPr id="54" name="Text 52"/>
          <p:cNvSpPr txBox="1"/>
          <p:nvPr/>
        </p:nvSpPr>
        <p:spPr>
          <a:xfrm>
            <a:off x="6296558" y="5303520"/>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امضای ۵ از ۷</a:t>
            </a:r>
            <a:endParaRPr lang="en-US" sz="1000" dirty="0"/>
          </a:p>
        </p:txBody>
      </p:sp>
      <p:sp>
        <p:nvSpPr>
          <p:cNvPr id="55" name="Text 53"/>
          <p:cNvSpPr txBox="1"/>
          <p:nvPr/>
        </p:nvSpPr>
        <p:spPr>
          <a:xfrm>
            <a:off x="6296558" y="5504688"/>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C8431F"/>
                </a:solidFill>
                <a:latin typeface="Vazirmatn" pitchFamily="34" charset="0"/>
                <a:ea typeface="Vazirmatn" pitchFamily="34" charset="-122"/>
                <a:cs typeface="Vazirmatn" pitchFamily="34" charset="-120"/>
              </a:rPr>
              <a:t>کد نوشته نشده</a:t>
            </a:r>
            <a:endParaRPr lang="en-US" sz="1000" dirty="0"/>
          </a:p>
        </p:txBody>
      </p:sp>
      <p:sp>
        <p:nvSpPr>
          <p:cNvPr id="56" name="Shape 54"/>
          <p:cNvSpPr/>
          <p:nvPr/>
        </p:nvSpPr>
        <p:spPr>
          <a:xfrm>
            <a:off x="3367735" y="4407408"/>
            <a:ext cx="2636444" cy="1371600"/>
          </a:xfrm>
          <a:prstGeom prst="roundRect">
            <a:avLst>
              <a:gd name="adj" fmla="val 8000"/>
            </a:avLst>
          </a:prstGeom>
          <a:solidFill>
            <a:srgbClr val="F7F9FC"/>
          </a:solidFill>
          <a:ln w="9525">
            <a:solidFill>
              <a:srgbClr val="DDE1EE"/>
            </a:solidFill>
            <a:prstDash val="solid"/>
          </a:ln>
        </p:spPr>
      </p:sp>
      <p:sp>
        <p:nvSpPr>
          <p:cNvPr id="57" name="Text 55"/>
          <p:cNvSpPr txBox="1"/>
          <p:nvPr/>
        </p:nvSpPr>
        <p:spPr>
          <a:xfrm>
            <a:off x="3477463" y="4498848"/>
            <a:ext cx="2416988" cy="27432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2F3690"/>
                </a:solidFill>
                <a:latin typeface="Vazirmatn" pitchFamily="34" charset="0"/>
                <a:ea typeface="Vazirmatn" pitchFamily="34" charset="-122"/>
                <a:cs typeface="Vazirmatn" pitchFamily="34" charset="-120"/>
              </a:rPr>
              <a:t>سرویس همراه نود</a:t>
            </a:r>
            <a:endParaRPr lang="en-US" sz="1300" dirty="0"/>
          </a:p>
        </p:txBody>
      </p:sp>
      <p:sp>
        <p:nvSpPr>
          <p:cNvPr id="58" name="Text 56"/>
          <p:cNvSpPr txBox="1"/>
          <p:nvPr/>
        </p:nvSpPr>
        <p:spPr>
          <a:xfrm>
            <a:off x="3477463" y="4818888"/>
            <a:ext cx="2416988" cy="548640"/>
          </a:xfrm>
          <a:prstGeom prst="rect">
            <a:avLst/>
          </a:prstGeom>
          <a:noFill/>
          <a:ln/>
        </p:spPr>
        <p:txBody>
          <a:bodyPr wrap="square" lIns="0" tIns="0" rIns="0" bIns="0" rtlCol="0" anchor="t"/>
          <a:lstStyle/>
          <a:p>
            <a:pPr rtl="1" algn="r" indent="0" marL="0">
              <a:lnSpc>
                <a:spcPct val="105000"/>
              </a:lnSpc>
              <a:buNone/>
            </a:pPr>
            <a:r>
              <a:rPr lang="fa-IR" altLang="en-US" sz="1100" dirty="0">
                <a:solidFill>
                  <a:srgbClr val="1B1B2F"/>
                </a:solidFill>
                <a:latin typeface="Vazirmatn" pitchFamily="34" charset="0"/>
                <a:ea typeface="Vazirmatn" pitchFamily="34" charset="-122"/>
                <a:cs typeface="Vazirmatn" pitchFamily="34" charset="-120"/>
              </a:rPr>
              <a:t>بررسی دوره‌ی آزمایشی نود جدید (SUR_NODE_CHECK_V1)</a:t>
            </a:r>
            <a:endParaRPr lang="en-US" sz="1100" dirty="0"/>
          </a:p>
        </p:txBody>
      </p:sp>
      <p:sp>
        <p:nvSpPr>
          <p:cNvPr id="59" name="Text 57"/>
          <p:cNvSpPr txBox="1"/>
          <p:nvPr/>
        </p:nvSpPr>
        <p:spPr>
          <a:xfrm>
            <a:off x="3477463" y="5303520"/>
            <a:ext cx="2416988" cy="201168"/>
          </a:xfrm>
          <a:prstGeom prst="rect">
            <a:avLst/>
          </a:prstGeom>
          <a:noFill/>
          <a:ln/>
        </p:spPr>
        <p:txBody>
          <a:bodyPr wrap="square" lIns="0" tIns="0" rIns="0" bIns="0" rtlCol="0" anchor="t"/>
          <a:lstStyle/>
          <a:p>
            <a:pPr rtl="1" algn="r" indent="0" marL="0">
              <a:lnSpc>
                <a:spcPct val="105000"/>
              </a:lnSpc>
              <a:buNone/>
            </a:pPr>
            <a:r>
              <a:rPr lang="fa-IR" altLang="en-US" sz="1000" b="1" dirty="0">
                <a:solidFill>
                  <a:srgbClr val="565D7A"/>
                </a:solidFill>
                <a:latin typeface="Vazirmatn" pitchFamily="34" charset="0"/>
                <a:ea typeface="Vazirmatn" pitchFamily="34" charset="-122"/>
                <a:cs typeface="Vazirmatn" pitchFamily="34" charset="-120"/>
              </a:rPr>
              <a:t>کلید پایش جدا</a:t>
            </a:r>
            <a:endParaRPr lang="en-US" sz="1000" dirty="0"/>
          </a:p>
        </p:txBody>
      </p:sp>
      <p:sp>
        <p:nvSpPr>
          <p:cNvPr id="60" name="Text 58"/>
          <p:cNvSpPr txBox="1"/>
          <p:nvPr/>
        </p:nvSpPr>
        <p:spPr>
          <a:xfrm>
            <a:off x="3477463" y="5504688"/>
            <a:ext cx="2416988" cy="256032"/>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C8431F"/>
                </a:solidFill>
                <a:latin typeface="Vazirmatn" pitchFamily="34" charset="0"/>
                <a:ea typeface="Vazirmatn" pitchFamily="34" charset="-122"/>
                <a:cs typeface="Vazirmatn" pitchFamily="34" charset="-120"/>
              </a:rPr>
              <a:t>کد نوشته نشده</a:t>
            </a:r>
            <a:endParaRPr lang="en-US" sz="1000" dirty="0"/>
          </a:p>
        </p:txBody>
      </p:sp>
      <p:sp>
        <p:nvSpPr>
          <p:cNvPr id="61" name="Text 59"/>
          <p:cNvSpPr txBox="1"/>
          <p:nvPr/>
        </p:nvSpPr>
        <p:spPr>
          <a:xfrm>
            <a:off x="548640" y="5989320"/>
            <a:ext cx="11094415" cy="365760"/>
          </a:xfrm>
          <a:prstGeom prst="rect">
            <a:avLst/>
          </a:prstGeom>
          <a:noFill/>
          <a:ln/>
        </p:spPr>
        <p:txBody>
          <a:bodyPr wrap="square" lIns="0" tIns="0" rIns="0" bIns="0" rtlCol="0" anchor="t"/>
          <a:lstStyle/>
          <a:p>
            <a:pPr rtl="1" algn="r" indent="0" marL="0">
              <a:lnSpc>
                <a:spcPct val="105000"/>
              </a:lnSpc>
              <a:buNone/>
            </a:pPr>
            <a:r>
              <a:rPr lang="fa-IR" altLang="en-US" sz="1150" dirty="0">
                <a:solidFill>
                  <a:srgbClr val="565D7A"/>
                </a:solidFill>
                <a:latin typeface="Vazirmatn" pitchFamily="34" charset="0"/>
                <a:ea typeface="Vazirmatn" pitchFamily="34" charset="-122"/>
                <a:cs typeface="Vazirmatn" pitchFamily="34" charset="-120"/>
              </a:rPr>
              <a:t>چهار سرویس دارای کلید (پس‌زمینه‌ی رنگی)، هرکدام با کلید جدا در گاوصندوق کلید (HashiCorp Vault). «مشخصات کامل» یعنی طراحی تفصیلی نوشته شده است؛ وضعیت کد این سرویس‌ها در این ارائه ادعا نمی‌شود.</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اجزای آف‌چین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بازیابی اضطراری اجماع: فقط وقتی احیای مجموعه ممکن نیست</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37</a:t>
            </a:r>
            <a:endParaRPr lang="en-US" sz="1000" dirty="0"/>
          </a:p>
        </p:txBody>
      </p:sp>
      <p:sp>
        <p:nvSpPr>
          <p:cNvPr id="6" name="Shape 4"/>
          <p:cNvSpPr/>
          <p:nvPr/>
        </p:nvSpPr>
        <p:spPr>
          <a:xfrm>
            <a:off x="8078724" y="1417320"/>
            <a:ext cx="3564026" cy="3246120"/>
          </a:xfrm>
          <a:prstGeom prst="roundRect">
            <a:avLst>
              <a:gd name="adj" fmla="val 3380"/>
            </a:avLst>
          </a:prstGeom>
          <a:solidFill>
            <a:srgbClr val="F7F9FC"/>
          </a:solidFill>
          <a:ln w="9525">
            <a:solidFill>
              <a:srgbClr val="DDE1EE"/>
            </a:solidFill>
            <a:prstDash val="solid"/>
          </a:ln>
        </p:spPr>
      </p:sp>
      <p:sp>
        <p:nvSpPr>
          <p:cNvPr id="7" name="Shape 5"/>
          <p:cNvSpPr/>
          <p:nvPr/>
        </p:nvSpPr>
        <p:spPr>
          <a:xfrm>
            <a:off x="10956950" y="1600200"/>
            <a:ext cx="502920" cy="502920"/>
          </a:xfrm>
          <a:prstGeom prst="ellipse">
            <a:avLst/>
          </a:prstGeom>
          <a:solidFill>
            <a:srgbClr val="2F3690"/>
          </a:solidFill>
          <a:ln w="12700">
            <a:solidFill>
              <a:srgbClr val="2F3690"/>
            </a:solidFill>
            <a:prstDash val="solid"/>
          </a:ln>
        </p:spPr>
      </p:sp>
      <p:pic>
        <p:nvPicPr>
          <p:cNvPr id="8" name="Image 0" descr="preencoded.png">    </p:cNvPr>
          <p:cNvPicPr>
            <a:picLocks noChangeAspect="1"/>
          </p:cNvPicPr>
          <p:nvPr/>
        </p:nvPicPr>
        <p:blipFill>
          <a:blip r:embed="rId1"/>
          <a:stretch>
            <a:fillRect/>
          </a:stretch>
        </p:blipFill>
        <p:spPr>
          <a:xfrm>
            <a:off x="11092739" y="1735988"/>
            <a:ext cx="231343" cy="231343"/>
          </a:xfrm>
          <a:prstGeom prst="rect">
            <a:avLst/>
          </a:prstGeom>
        </p:spPr>
      </p:pic>
      <p:sp>
        <p:nvSpPr>
          <p:cNvPr id="9" name="Text 6"/>
          <p:cNvSpPr txBox="1"/>
          <p:nvPr/>
        </p:nvSpPr>
        <p:spPr>
          <a:xfrm>
            <a:off x="8261604" y="2240280"/>
            <a:ext cx="3198266" cy="5943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مرحله‌ی ۱: احیای مجموعه‌ی موجود</a:t>
            </a:r>
            <a:endParaRPr lang="en-US" sz="1450" dirty="0"/>
          </a:p>
        </p:txBody>
      </p:sp>
      <p:sp>
        <p:nvSpPr>
          <p:cNvPr id="10" name="Text 7"/>
          <p:cNvSpPr txBox="1"/>
          <p:nvPr/>
        </p:nvSpPr>
        <p:spPr>
          <a:xfrm>
            <a:off x="8261604" y="2880360"/>
            <a:ext cx="3198266" cy="173736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تشخیص علت و راه‌اندازی هم‌زمان همه‌ی ولیدیتورها. عبور به مرحله‌ی بعد فقط با رکورد منتشرشده‌ی «احیا ممکن نیست» شامل خط زمانی، تلاش‌ها، وضعیت هر ولیدیتور مفقود و محاسبه‌ی نصاب.</a:t>
            </a:r>
            <a:endParaRPr lang="en-US" sz="1300" dirty="0"/>
          </a:p>
        </p:txBody>
      </p:sp>
      <p:sp>
        <p:nvSpPr>
          <p:cNvPr id="11" name="Shape 8"/>
          <p:cNvSpPr/>
          <p:nvPr/>
        </p:nvSpPr>
        <p:spPr>
          <a:xfrm flipH="1">
            <a:off x="7895844" y="3200400"/>
            <a:ext cx="164592" cy="0"/>
          </a:xfrm>
          <a:prstGeom prst="line">
            <a:avLst/>
          </a:prstGeom>
          <a:noFill/>
          <a:ln w="25400">
            <a:solidFill>
              <a:srgbClr val="2F3690"/>
            </a:solidFill>
            <a:prstDash val="solid"/>
            <a:tailEnd type="triangle"/>
          </a:ln>
        </p:spPr>
      </p:sp>
      <p:sp>
        <p:nvSpPr>
          <p:cNvPr id="12" name="Shape 9"/>
          <p:cNvSpPr/>
          <p:nvPr/>
        </p:nvSpPr>
        <p:spPr>
          <a:xfrm>
            <a:off x="4314139" y="1417320"/>
            <a:ext cx="3564026" cy="3246120"/>
          </a:xfrm>
          <a:prstGeom prst="roundRect">
            <a:avLst>
              <a:gd name="adj" fmla="val 3380"/>
            </a:avLst>
          </a:prstGeom>
          <a:solidFill>
            <a:srgbClr val="F7F9FC"/>
          </a:solidFill>
          <a:ln w="9525">
            <a:solidFill>
              <a:srgbClr val="DDE1EE"/>
            </a:solidFill>
            <a:prstDash val="solid"/>
          </a:ln>
        </p:spPr>
      </p:sp>
      <p:sp>
        <p:nvSpPr>
          <p:cNvPr id="13" name="Shape 10"/>
          <p:cNvSpPr/>
          <p:nvPr/>
        </p:nvSpPr>
        <p:spPr>
          <a:xfrm>
            <a:off x="7192366" y="1600200"/>
            <a:ext cx="502920" cy="502920"/>
          </a:xfrm>
          <a:prstGeom prst="ellipse">
            <a:avLst/>
          </a:prstGeom>
          <a:solidFill>
            <a:srgbClr val="2F3690"/>
          </a:solidFill>
          <a:ln w="12700">
            <a:solidFill>
              <a:srgbClr val="2F3690"/>
            </a:solidFill>
            <a:prstDash val="solid"/>
          </a:ln>
        </p:spPr>
      </p:sp>
      <p:pic>
        <p:nvPicPr>
          <p:cNvPr id="14" name="Image 1" descr="preencoded.png">    </p:cNvPr>
          <p:cNvPicPr>
            <a:picLocks noChangeAspect="1"/>
          </p:cNvPicPr>
          <p:nvPr/>
        </p:nvPicPr>
        <p:blipFill>
          <a:blip r:embed="rId2"/>
          <a:stretch>
            <a:fillRect/>
          </a:stretch>
        </p:blipFill>
        <p:spPr>
          <a:xfrm>
            <a:off x="7328154" y="1735988"/>
            <a:ext cx="231343" cy="231343"/>
          </a:xfrm>
          <a:prstGeom prst="rect">
            <a:avLst/>
          </a:prstGeom>
        </p:spPr>
      </p:pic>
      <p:sp>
        <p:nvSpPr>
          <p:cNvPr id="15" name="Text 11"/>
          <p:cNvSpPr txBox="1"/>
          <p:nvPr/>
        </p:nvSpPr>
        <p:spPr>
          <a:xfrm>
            <a:off x="4497019" y="2240280"/>
            <a:ext cx="3198266" cy="5943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مرحله‌ی ۲: تأیید ۵ از ۷ مسئول مستقل</a:t>
            </a:r>
            <a:endParaRPr lang="en-US" sz="1450" dirty="0"/>
          </a:p>
        </p:txBody>
      </p:sp>
      <p:sp>
        <p:nvSpPr>
          <p:cNvPr id="16" name="Text 12"/>
          <p:cNvSpPr txBox="1"/>
          <p:nvPr/>
        </p:nvSpPr>
        <p:spPr>
          <a:xfrm>
            <a:off x="4497019" y="2880360"/>
            <a:ext cx="3198266" cy="173736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هفت مسئول از پیش معرفی‌شده؛ هیچ شخص یا سازمانی اکثریت کلیدها را ندارد. برنامه فقط چند فیلد مجاز دارد و اختیارش فقط بازیابی اجماع است، نه جابه‌جایی دارایی یا بخشش جریمه.</a:t>
            </a:r>
            <a:endParaRPr lang="en-US" sz="1300" dirty="0"/>
          </a:p>
        </p:txBody>
      </p:sp>
      <p:sp>
        <p:nvSpPr>
          <p:cNvPr id="17" name="Shape 13"/>
          <p:cNvSpPr/>
          <p:nvPr/>
        </p:nvSpPr>
        <p:spPr>
          <a:xfrm flipH="1">
            <a:off x="4131259" y="3200400"/>
            <a:ext cx="164592" cy="0"/>
          </a:xfrm>
          <a:prstGeom prst="line">
            <a:avLst/>
          </a:prstGeom>
          <a:noFill/>
          <a:ln w="25400">
            <a:solidFill>
              <a:srgbClr val="2F3690"/>
            </a:solidFill>
            <a:prstDash val="solid"/>
            <a:tailEnd type="triangle"/>
          </a:ln>
        </p:spPr>
      </p:sp>
      <p:sp>
        <p:nvSpPr>
          <p:cNvPr id="18" name="Shape 14"/>
          <p:cNvSpPr/>
          <p:nvPr/>
        </p:nvSpPr>
        <p:spPr>
          <a:xfrm>
            <a:off x="548640" y="1417320"/>
            <a:ext cx="3564026" cy="3246120"/>
          </a:xfrm>
          <a:prstGeom prst="roundRect">
            <a:avLst>
              <a:gd name="adj" fmla="val 3380"/>
            </a:avLst>
          </a:prstGeom>
          <a:solidFill>
            <a:srgbClr val="F7F9FC"/>
          </a:solidFill>
          <a:ln w="9525">
            <a:solidFill>
              <a:srgbClr val="DDE1EE"/>
            </a:solidFill>
            <a:prstDash val="solid"/>
          </a:ln>
        </p:spPr>
      </p:sp>
      <p:sp>
        <p:nvSpPr>
          <p:cNvPr id="19" name="Shape 15"/>
          <p:cNvSpPr/>
          <p:nvPr/>
        </p:nvSpPr>
        <p:spPr>
          <a:xfrm>
            <a:off x="3426866" y="1600200"/>
            <a:ext cx="502920" cy="502920"/>
          </a:xfrm>
          <a:prstGeom prst="ellipse">
            <a:avLst/>
          </a:prstGeom>
          <a:solidFill>
            <a:srgbClr val="2F3690"/>
          </a:solidFill>
          <a:ln w="12700">
            <a:solidFill>
              <a:srgbClr val="2F3690"/>
            </a:solidFill>
            <a:prstDash val="solid"/>
          </a:ln>
        </p:spPr>
      </p:sp>
      <p:pic>
        <p:nvPicPr>
          <p:cNvPr id="20" name="Image 2" descr="preencoded.png">    </p:cNvPr>
          <p:cNvPicPr>
            <a:picLocks noChangeAspect="1"/>
          </p:cNvPicPr>
          <p:nvPr/>
        </p:nvPicPr>
        <p:blipFill>
          <a:blip r:embed="rId3"/>
          <a:stretch>
            <a:fillRect/>
          </a:stretch>
        </p:blipFill>
        <p:spPr>
          <a:xfrm>
            <a:off x="3562655" y="1735988"/>
            <a:ext cx="231343" cy="231343"/>
          </a:xfrm>
          <a:prstGeom prst="rect">
            <a:avLst/>
          </a:prstGeom>
        </p:spPr>
      </p:pic>
      <p:sp>
        <p:nvSpPr>
          <p:cNvPr id="21" name="Text 16"/>
          <p:cNvSpPr txBox="1"/>
          <p:nvPr/>
        </p:nvSpPr>
        <p:spPr>
          <a:xfrm>
            <a:off x="731520" y="2240280"/>
            <a:ext cx="3198266" cy="594360"/>
          </a:xfrm>
          <a:prstGeom prst="rect">
            <a:avLst/>
          </a:prstGeom>
          <a:noFill/>
          <a:ln/>
        </p:spPr>
        <p:txBody>
          <a:bodyPr wrap="square" lIns="0" tIns="0" rIns="0" bIns="0" rtlCol="0" anchor="t"/>
          <a:lstStyle/>
          <a:p>
            <a:pPr rtl="1" algn="r" indent="0" marL="0">
              <a:lnSpc>
                <a:spcPct val="105000"/>
              </a:lnSpc>
              <a:buNone/>
            </a:pPr>
            <a:r>
              <a:rPr lang="fa-IR" altLang="en-US" sz="1450" b="1" dirty="0">
                <a:solidFill>
                  <a:srgbClr val="1B1B2F"/>
                </a:solidFill>
                <a:latin typeface="Vazirmatn" pitchFamily="34" charset="0"/>
                <a:ea typeface="Vazirmatn" pitchFamily="34" charset="-122"/>
                <a:cs typeface="Vazirmatn" pitchFamily="34" charset="-120"/>
              </a:rPr>
              <a:t>مرحله‌ی ۳: انتشار و اعمال هماهنگ</a:t>
            </a:r>
            <a:endParaRPr lang="en-US" sz="1450" dirty="0"/>
          </a:p>
        </p:txBody>
      </p:sp>
      <p:sp>
        <p:nvSpPr>
          <p:cNvPr id="22" name="Text 17"/>
          <p:cNvSpPr txBox="1"/>
          <p:nvPr/>
        </p:nvSpPr>
        <p:spPr>
          <a:xfrm>
            <a:off x="731520" y="2880360"/>
            <a:ext cx="3198266" cy="1737360"/>
          </a:xfrm>
          <a:prstGeom prst="rect">
            <a:avLst/>
          </a:prstGeom>
          <a:noFill/>
          <a:ln/>
        </p:spPr>
        <p:txBody>
          <a:bodyPr wrap="square" lIns="0" tIns="0" rIns="0" bIns="0" rtlCol="0" anchor="t"/>
          <a:lstStyle/>
          <a:p>
            <a:pPr rtl="1" algn="r" indent="0" marL="0">
              <a:lnSpc>
                <a:spcPct val="105000"/>
              </a:lnSpc>
              <a:buNone/>
            </a:pPr>
            <a:r>
              <a:rPr lang="fa-IR" altLang="en-US" sz="1300" dirty="0">
                <a:solidFill>
                  <a:srgbClr val="565D7A"/>
                </a:solidFill>
                <a:latin typeface="Vazirmatn" pitchFamily="34" charset="0"/>
                <a:ea typeface="Vazirmatn" pitchFamily="34" charset="-122"/>
                <a:cs typeface="Vazirmatn" pitchFamily="34" charset="-120"/>
              </a:rPr>
              <a:t>در یک بلاک آینده، پیکربندی Besu (transitions.qbft) فهرست ولیدیتورها را موقتاً از قرارداد به یک فهرست صریح در سرتیتر بلاک (blockheader) می‌برد و سپس دوباره به قرارداد ValidatorsRegistry برمی‌گرداند؛ همه‌ی نودها پیش از بلاک گذار بالا هستند.</a:t>
            </a:r>
            <a:endParaRPr lang="en-US" sz="1300" dirty="0"/>
          </a:p>
        </p:txBody>
      </p:sp>
      <p:sp>
        <p:nvSpPr>
          <p:cNvPr id="23" name="Shape 18"/>
          <p:cNvSpPr/>
          <p:nvPr/>
        </p:nvSpPr>
        <p:spPr>
          <a:xfrm>
            <a:off x="548640" y="4937760"/>
            <a:ext cx="11094415" cy="1188720"/>
          </a:xfrm>
          <a:prstGeom prst="roundRect">
            <a:avLst>
              <a:gd name="adj" fmla="val 9231"/>
            </a:avLst>
          </a:prstGeom>
          <a:solidFill>
            <a:srgbClr val="EEF0FB"/>
          </a:solidFill>
          <a:ln w="9525">
            <a:solidFill>
              <a:srgbClr val="EEF0FB"/>
            </a:solidFill>
            <a:prstDash val="solid"/>
          </a:ln>
        </p:spPr>
      </p:sp>
      <p:sp>
        <p:nvSpPr>
          <p:cNvPr id="24" name="Text 19"/>
          <p:cNvSpPr txBox="1"/>
          <p:nvPr/>
        </p:nvSpPr>
        <p:spPr>
          <a:xfrm>
            <a:off x="822960" y="4937760"/>
            <a:ext cx="10545775" cy="1188720"/>
          </a:xfrm>
          <a:prstGeom prst="rect">
            <a:avLst/>
          </a:prstGeom>
          <a:noFill/>
          <a:ln/>
        </p:spPr>
        <p:txBody>
          <a:bodyPr wrap="square" lIns="0" tIns="0" rIns="0" bIns="0" rtlCol="0" anchor="ctr"/>
          <a:lstStyle/>
          <a:p>
            <a:pPr rtl="1" algn="r" indent="0" marL="0">
              <a:lnSpc>
                <a:spcPct val="105000"/>
              </a:lnSpc>
              <a:buNone/>
            </a:pPr>
            <a:r>
              <a:rPr lang="fa-IR" altLang="en-US" sz="1400" b="1" dirty="0">
                <a:solidFill>
                  <a:srgbClr val="1B1B2F"/>
                </a:solidFill>
                <a:latin typeface="Vazirmatn" pitchFamily="34" charset="0"/>
                <a:ea typeface="Vazirmatn" pitchFamily="34" charset="-122"/>
                <a:cs typeface="Vazirmatn" pitchFamily="34" charset="-120"/>
              </a:rPr>
              <a:t>وضعیت اجرا: </a:t>
            </a:r>
            <a:pPr rtl="1" algn="r" indent="0" marL="0">
              <a:lnSpc>
                <a:spcPct val="105000"/>
              </a:lnSpc>
              <a:buNone/>
            </a:pPr>
            <a:r>
              <a:rPr lang="fa-IR" altLang="en-US" sz="1400" dirty="0">
                <a:solidFill>
                  <a:srgbClr val="1B1B2F"/>
                </a:solidFill>
                <a:latin typeface="Vazirmatn" pitchFamily="34" charset="0"/>
                <a:ea typeface="Vazirmatn" pitchFamily="34" charset="-122"/>
                <a:cs typeface="Vazirmatn" pitchFamily="34" charset="-120"/>
              </a:rPr>
              <a:t>روش فنی احیای نودها و گذار به blockheader و بازگشت از آن تأیید شده است. فرایند سازمانی ۵ از ۷ امضای مسئولان هنوز تعریف عملیاتی نشده و ابزار کمکی آف‌چین هنوز ساخته نشده است.</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امنیت و مرزها</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500" b="1" dirty="0">
                <a:solidFill>
                  <a:srgbClr val="1B1B2F"/>
                </a:solidFill>
                <a:latin typeface="Vazirmatn" pitchFamily="34" charset="0"/>
                <a:ea typeface="Vazirmatn" pitchFamily="34" charset="-122"/>
                <a:cs typeface="Vazirmatn" pitchFamily="34" charset="-120"/>
              </a:rPr>
              <a:t>مدل اعتماد: آنچه قرارداد تضمین می‌کند و آنچه تضمین نمی‌کند</a:t>
            </a:r>
            <a:endParaRPr lang="en-US" sz="25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38</a:t>
            </a:r>
            <a:endParaRPr lang="en-US" sz="1000" dirty="0"/>
          </a:p>
        </p:txBody>
      </p:sp>
      <p:sp>
        <p:nvSpPr>
          <p:cNvPr id="6" name="Shape 4"/>
          <p:cNvSpPr/>
          <p:nvPr/>
        </p:nvSpPr>
        <p:spPr>
          <a:xfrm>
            <a:off x="6202375" y="1417320"/>
            <a:ext cx="5440680" cy="4846320"/>
          </a:xfrm>
          <a:prstGeom prst="roundRect">
            <a:avLst>
              <a:gd name="adj" fmla="val 2264"/>
            </a:avLst>
          </a:prstGeom>
          <a:solidFill>
            <a:srgbClr val="E3F4EC"/>
          </a:solidFill>
          <a:ln w="9525">
            <a:solidFill>
              <a:srgbClr val="E3F4EC"/>
            </a:solidFill>
            <a:prstDash val="solid"/>
          </a:ln>
        </p:spPr>
      </p:sp>
      <p:sp>
        <p:nvSpPr>
          <p:cNvPr id="7" name="Text 5"/>
          <p:cNvSpPr txBox="1"/>
          <p:nvPr/>
        </p:nvSpPr>
        <p:spPr>
          <a:xfrm>
            <a:off x="6385255" y="1554480"/>
            <a:ext cx="5074920"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1F7A55"/>
                </a:solidFill>
                <a:latin typeface="Vazirmatn" pitchFamily="34" charset="0"/>
                <a:ea typeface="Vazirmatn" pitchFamily="34" charset="-122"/>
                <a:cs typeface="Vazirmatn" pitchFamily="34" charset="-120"/>
              </a:rPr>
              <a:t>قرارداد تضمین می‌کند</a:t>
            </a:r>
            <a:endParaRPr lang="en-US" sz="1600" dirty="0"/>
          </a:p>
        </p:txBody>
      </p:sp>
      <p:sp>
        <p:nvSpPr>
          <p:cNvPr id="8" name="Text 6"/>
          <p:cNvSpPr txBox="1"/>
          <p:nvPr/>
        </p:nvSpPr>
        <p:spPr>
          <a:xfrm>
            <a:off x="6385255" y="2057400"/>
            <a:ext cx="5074920" cy="4114800"/>
          </a:xfrm>
          <a:prstGeom prst="rect">
            <a:avLst/>
          </a:prstGeom>
          <a:noFill/>
          <a:ln/>
        </p:spPr>
        <p:txBody>
          <a:bodyPr wrap="square" lIns="0" tIns="0" rIns="0" bIns="0" rtlCol="0" anchor="t"/>
          <a:lstStyle/>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پس از راه‌اندازی هیچ ادمین یا کلید مرکزی روی قراردادهای ولیدیتوری وجود ندارد.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بنیاد هیچ مسیر کدی به Registry، Board و Treasury ندارد.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سقف پاداش هر توزیع را قرارداد اعمال می‌کند؛ مسیر دورزدن اضطراری ندارد.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واجدان رأی هنگام ساخت پیشنهاد ثابت می‌شوند و نسخه‌ی ترکیب هیأت در رأی و اجرا بررسی می‌شود.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خرج خزانه زیر دو سقف و تغییر سقف با تأخیر ۷ روزه است.</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استحقاق پاداش تاریخی است و تکرار یا ترتیب نادرست آدرس‌ها رد می‌شود.</a:t>
            </a:r>
            <a:endParaRPr lang="en-US" sz="1300" dirty="0"/>
          </a:p>
        </p:txBody>
      </p:sp>
      <p:sp>
        <p:nvSpPr>
          <p:cNvPr id="9" name="Shape 7"/>
          <p:cNvSpPr/>
          <p:nvPr/>
        </p:nvSpPr>
        <p:spPr>
          <a:xfrm>
            <a:off x="548640" y="1417320"/>
            <a:ext cx="5440680" cy="4846320"/>
          </a:xfrm>
          <a:prstGeom prst="roundRect">
            <a:avLst>
              <a:gd name="adj" fmla="val 2264"/>
            </a:avLst>
          </a:prstGeom>
          <a:solidFill>
            <a:srgbClr val="FCEAE4"/>
          </a:solidFill>
          <a:ln w="9525">
            <a:solidFill>
              <a:srgbClr val="FCEAE4"/>
            </a:solidFill>
            <a:prstDash val="solid"/>
          </a:ln>
        </p:spPr>
      </p:sp>
      <p:sp>
        <p:nvSpPr>
          <p:cNvPr id="10" name="Text 8"/>
          <p:cNvSpPr txBox="1"/>
          <p:nvPr/>
        </p:nvSpPr>
        <p:spPr>
          <a:xfrm>
            <a:off x="731520" y="1554480"/>
            <a:ext cx="5074920" cy="365760"/>
          </a:xfrm>
          <a:prstGeom prst="rect">
            <a:avLst/>
          </a:prstGeom>
          <a:noFill/>
          <a:ln/>
        </p:spPr>
        <p:txBody>
          <a:bodyPr wrap="square" lIns="0" tIns="0" rIns="0" bIns="0" rtlCol="0" anchor="t"/>
          <a:lstStyle/>
          <a:p>
            <a:pPr rtl="1" algn="r" indent="0" marL="0">
              <a:lnSpc>
                <a:spcPct val="105000"/>
              </a:lnSpc>
              <a:buNone/>
            </a:pPr>
            <a:r>
              <a:rPr lang="fa-IR" altLang="en-US" sz="1600" b="1" dirty="0">
                <a:solidFill>
                  <a:srgbClr val="C8431F"/>
                </a:solidFill>
                <a:latin typeface="Vazirmatn" pitchFamily="34" charset="0"/>
                <a:ea typeface="Vazirmatn" pitchFamily="34" charset="-122"/>
                <a:cs typeface="Vazirmatn" pitchFamily="34" charset="-120"/>
              </a:rPr>
              <a:t>تضمین نمی‌کند یا ریسک پذیرفته‌شده است</a:t>
            </a:r>
            <a:endParaRPr lang="en-US" sz="1600" dirty="0"/>
          </a:p>
        </p:txBody>
      </p:sp>
      <p:sp>
        <p:nvSpPr>
          <p:cNvPr id="11" name="Text 9"/>
          <p:cNvSpPr txBox="1"/>
          <p:nvPr/>
        </p:nvSpPr>
        <p:spPr>
          <a:xfrm>
            <a:off x="731520" y="2057400"/>
            <a:ext cx="5074920" cy="4114800"/>
          </a:xfrm>
          <a:prstGeom prst="rect">
            <a:avLst/>
          </a:prstGeom>
          <a:noFill/>
          <a:ln/>
        </p:spPr>
        <p:txBody>
          <a:bodyPr wrap="square" lIns="0" tIns="0" rIns="0" bIns="0" rtlCol="0" anchor="t"/>
          <a:lstStyle/>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Verifier یکی است؛ خطای آن روی مجموعه‌ی اجماع اثر دارد. معافیت جمعی فقط جریمه‌ی مالی را متوقف می‌کند و مسیر اعتراض وجود دارد.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انتساب بلاک به ولیدیتور و صحت کارمزد به RewardRouter متکی است؛ قرارداد آن‌ها را اثبات نمی‌کند.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برابری نرخ ثبت‌شده با نرخ واقعی Besu به هماهنگی اپراتورها وابسته است.</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احراز محل نود با IP-geolocation با VPN قابل‌دورزدن است.</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Validator Agreement فعلاً بند صلاحیت قضایی ندارد؛ خاموشی هماهنگ بیش از یک‌سوم فقط با ابزار حقوقی و اقتصادی بازدارندگی می‌شود.</a:t>
            </a:r>
            <a:endParaRPr lang="en-US" sz="1300" dirty="0"/>
          </a:p>
          <a:p>
            <a:pPr rtl="1" algn="r" indent="0" marL="0">
              <a:lnSpc>
                <a:spcPct val="105000"/>
              </a:lnSpc>
              <a:spcAft>
                <a:spcPts val="1100"/>
              </a:spcAft>
              <a:buNone/>
            </a:pPr>
            <a:r>
              <a:rPr lang="fa-IR" altLang="en-US" sz="1300" dirty="0">
                <a:solidFill>
                  <a:srgbClr val="1B1B2F"/>
                </a:solidFill>
                <a:latin typeface="Vazirmatn" pitchFamily="34" charset="0"/>
                <a:ea typeface="Vazirmatn" pitchFamily="34" charset="-122"/>
                <a:cs typeface="Vazirmatn" pitchFamily="34" charset="-120"/>
              </a:rPr>
              <a:t>اعضای بنیاد می‌توانند هم‌زمان ولیدیتور یا عضو هیأت ولیدیتورها باشند.</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وضعیت</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وضعیت پیاده‌سازی در تاریخ این ارائه</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39</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7528255"/>
                <a:gridCol w="3566160"/>
              </a:tblGrid>
              <a:tr h="384048">
                <a:tc>
                  <a:txBody>
                    <a:bodyPr/>
                    <a:lstStyle/>
                    <a:p>
                      <a:pPr rtl="1" algn="r" indent="0" marL="0">
                        <a:buNone/>
                      </a:pPr>
                      <a:r>
                        <a:rPr lang="fa-IR" altLang="en-US" sz="1250" b="1" dirty="0">
                          <a:solidFill>
                            <a:srgbClr val="FFFFFF"/>
                          </a:solidFill>
                          <a:latin typeface="Vazirmatn" pitchFamily="34" charset="0"/>
                          <a:ea typeface="Vazirmatn" pitchFamily="34" charset="-122"/>
                          <a:cs typeface="Vazirmatn" pitchFamily="34" charset="-120"/>
                        </a:rPr>
                        <a:t>وضعیت</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50" b="1" dirty="0">
                          <a:solidFill>
                            <a:srgbClr val="FFFFFF"/>
                          </a:solidFill>
                          <a:latin typeface="Vazirmatn" pitchFamily="34" charset="0"/>
                          <a:ea typeface="Vazirmatn" pitchFamily="34" charset="-122"/>
                          <a:cs typeface="Vazirmatn" pitchFamily="34" charset="-120"/>
                        </a:rPr>
                        <a:t>جزء</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نوشته‌شده و کامپایل‌شده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قراردادهای ساختاری و SurenSale</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91440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رفتار قراردادها با آزمون خودکار و آزمون روی شبکه‌ی واقعی Besu روی نسخه‌ی فعلی کد تأیید شده است (۲۴ مورد از ۲۸ مورد؛ ۴ مورد اجرا نشده). مرز ماه فقط روی نسخه‌ی آزمایشی با ماه کوتاه آزموده شد و اعمال تغییر نرخ پاداش در زمان واقعی هم هنوز آزموده نشده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تأیید با آزمون</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اثبات on-chain و پیاده‌سازی آن باز است</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صحت کارمزد روی زنجیره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مشخصات کامل؛ پیاده‌سازی باز</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RewardRouter و ابزار genesis تولیدی</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مقدار تولیدی تعیین نشده؛ هزینه‌ی توزیع باید با آن تطبیق داده شود</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بررسی gasLimit عملیاتی (سقف گاز هر بلاک)</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تعریف نشده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b="1" dirty="0">
                          <a:solidFill>
                            <a:srgbClr val="1B1B2F"/>
                          </a:solidFill>
                          <a:latin typeface="Vazirmatn" pitchFamily="34" charset="0"/>
                          <a:ea typeface="Vazirmatn" pitchFamily="34" charset="-122"/>
                          <a:cs typeface="Vazirmatn" pitchFamily="34" charset="-120"/>
                        </a:rPr>
                        <a:t>صفحه‌ی حکمرانی نرخ در داشبورد</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
        <p:nvSpPr>
          <p:cNvPr id="7" name="Text 4"/>
          <p:cNvSpPr txBox="1"/>
          <p:nvPr/>
        </p:nvSpPr>
        <p:spPr>
          <a:xfrm>
            <a:off x="548640" y="5989320"/>
            <a:ext cx="11094415" cy="320040"/>
          </a:xfrm>
          <a:prstGeom prst="rect">
            <a:avLst/>
          </a:prstGeom>
          <a:noFill/>
          <a:ln/>
        </p:spPr>
        <p:txBody>
          <a:bodyPr wrap="square" lIns="0" tIns="0" rIns="0" bIns="0" rtlCol="0" anchor="t"/>
          <a:lstStyle/>
          <a:p>
            <a:pPr rtl="1" algn="r" indent="0" marL="0">
              <a:lnSpc>
                <a:spcPct val="105000"/>
              </a:lnSpc>
              <a:buNone/>
            </a:pPr>
            <a:r>
              <a:rPr lang="fa-IR" altLang="en-US" sz="1250" b="1" dirty="0">
                <a:solidFill>
                  <a:srgbClr val="C8431F"/>
                </a:solidFill>
                <a:latin typeface="Vazirmatn" pitchFamily="34" charset="0"/>
                <a:ea typeface="Vazirmatn" pitchFamily="34" charset="-122"/>
                <a:cs typeface="Vazirmatn" pitchFamily="34" charset="-120"/>
              </a:rPr>
              <a:t>تأیید با آزمون به‌معنای آمادگی نهایی برای production نیست.</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وضعیت</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مواردی که طرح هنوز تعیین نکرده است</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40</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236415"/>
                <a:gridCol w="6858000"/>
              </a:tblGrid>
              <a:tr h="384048">
                <a:tc>
                  <a:txBody>
                    <a:bodyPr/>
                    <a:lstStyle/>
                    <a:p>
                      <a:pPr rtl="1" algn="r" indent="0" marL="0">
                        <a:buNone/>
                      </a:pPr>
                      <a:r>
                        <a:rPr lang="fa-IR" altLang="en-US" sz="1250" b="1" dirty="0">
                          <a:solidFill>
                            <a:srgbClr val="FFFFFF"/>
                          </a:solidFill>
                          <a:latin typeface="Vazirmatn" pitchFamily="34" charset="0"/>
                          <a:ea typeface="Vazirmatn" pitchFamily="34" charset="-122"/>
                          <a:cs typeface="Vazirmatn" pitchFamily="34" charset="-120"/>
                        </a:rPr>
                        <a:t>وضعیت</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c>
                  <a:txBody>
                    <a:bodyPr/>
                    <a:lstStyle/>
                    <a:p>
                      <a:pPr rtl="1" algn="r" indent="0" marL="0">
                        <a:buNone/>
                      </a:pPr>
                      <a:r>
                        <a:rPr lang="fa-IR" altLang="en-US" sz="1250" b="1" dirty="0">
                          <a:solidFill>
                            <a:srgbClr val="FFFFFF"/>
                          </a:solidFill>
                          <a:latin typeface="Vazirmatn" pitchFamily="34" charset="0"/>
                          <a:ea typeface="Vazirmatn" pitchFamily="34" charset="-122"/>
                          <a:cs typeface="Vazirmatn" pitchFamily="34" charset="-120"/>
                        </a:rPr>
                        <a:t>موضوع</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2F3690"/>
                    </a:solidFill>
                  </a:tcPr>
                </a:tc>
              </a:tr>
              <a:tr h="566928">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مبالغ نهایی؛ آدرس‌ها جمع‌آوری نشده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آدرس‌های گیرندگان ردیف ۲ و ۳ genesis (مبالغ نهایی شده‌اند: ۱۱٬۹۸۴٬۰۰۰ و ۲۱٬۳۲۷٬۰۰۰ سورن)</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شاهد مستقل لازم است</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ارزیابی مستقل اصل مبالغ مطالبات ردیف ۲ و ۳</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45720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تعیین نشده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gasLimit تولیدی شبکه (سقف گاز هر بلاک)</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تعریف نشده؛ مسیر دورزدن اضطراری وجود ندارد</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مسیر رفع «پاداش واقعی بیش از سقف» برای بازه‌ی گذشته</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64008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بدون مسیر رسمی روی زنجیره؛ هماهنگی خارج از قرارداد</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بودجه‌ی کمپین بنیاد؛ نیاز برآوردی ۳۹ تا ۶۵ میلیون سورن در برابر ۲۰ میلیون</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02920">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مقدار آزمایشی</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آستانه‌ی معافیت جمعی (۲۰٪) و مهلت اختلاف تحویل (۷ روز)</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r h="566928">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طراحی یا پیاده‌سازی باز</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قرارداد ServiceStaking (فقط پیش‌نویس اولیه) و اجرای Zether</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FFFFF"/>
                    </a:solidFill>
                  </a:tcPr>
                </a:tc>
              </a:tr>
              <a:tr h="566928">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باز</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c>
                  <a:txBody>
                    <a:bodyPr/>
                    <a:lstStyle/>
                    <a:p>
                      <a:pPr rtl="1" algn="r" indent="0" marL="0">
                        <a:buNone/>
                      </a:pPr>
                      <a:r>
                        <a:rPr lang="fa-IR" altLang="en-US" sz="1250" dirty="0">
                          <a:solidFill>
                            <a:srgbClr val="1B1B2F"/>
                          </a:solidFill>
                          <a:latin typeface="Vazirmatn" pitchFamily="34" charset="0"/>
                          <a:ea typeface="Vazirmatn" pitchFamily="34" charset="-122"/>
                          <a:cs typeface="Vazirmatn" pitchFamily="34" charset="-120"/>
                        </a:rPr>
                        <a:t>تفکیک وظایف کمیته‌ی مالی و حسابرسی از خزانه‌دار و بازرس</a:t>
                      </a:r>
                      <a:endParaRPr lang="fa-IR" sz="1250" dirty="0">
                        <a:latin typeface="Vazirmatn" charset="0"/>
                        <a:ea typeface="Vazirmatn" charset="0"/>
                        <a:cs typeface="Vazirmatn" charset="0"/>
                      </a:endParaRPr>
                    </a:p>
                  </a:txBody>
                  <a:tcPr marL="101600" marR="101600" marT="50800" marB="5080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F3690"/>
        </a:solidFill>
      </p:bgPr>
    </p:bg>
    <p:spTree>
      <p:nvGrpSpPr>
        <p:cNvPr id="1" name=""/>
        <p:cNvGrpSpPr/>
        <p:nvPr/>
      </p:nvGrpSpPr>
      <p:grpSpPr>
        <a:xfrm>
          <a:off x="0" y="0"/>
          <a:ext cx="0" cy="0"/>
          <a:chOff x="0" y="0"/>
          <a:chExt cx="0" cy="0"/>
        </a:xfrm>
      </p:grpSpPr>
      <p:sp>
        <p:nvSpPr>
          <p:cNvPr id="2" name="Shape 0"/>
          <p:cNvSpPr/>
          <p:nvPr/>
        </p:nvSpPr>
        <p:spPr>
          <a:xfrm>
            <a:off x="-1645920" y="4023360"/>
            <a:ext cx="4937760" cy="4937760"/>
          </a:xfrm>
          <a:prstGeom prst="ellipse">
            <a:avLst/>
          </a:prstGeom>
          <a:solidFill>
            <a:srgbClr val="3D46A8">
              <a:alpha val="45000"/>
            </a:srgbClr>
          </a:solidFill>
          <a:ln w="12700">
            <a:solidFill>
              <a:srgbClr val="3D46A8"/>
            </a:solidFill>
            <a:prstDash val="solid"/>
          </a:ln>
        </p:spPr>
      </p:sp>
      <p:sp>
        <p:nvSpPr>
          <p:cNvPr id="3" name="Text 1"/>
          <p:cNvSpPr txBox="1"/>
          <p:nvPr/>
        </p:nvSpPr>
        <p:spPr>
          <a:xfrm>
            <a:off x="5882335" y="822960"/>
            <a:ext cx="5486400" cy="731520"/>
          </a:xfrm>
          <a:prstGeom prst="rect">
            <a:avLst/>
          </a:prstGeom>
          <a:noFill/>
          <a:ln/>
        </p:spPr>
        <p:txBody>
          <a:bodyPr wrap="square" lIns="0" tIns="0" rIns="0" bIns="0" rtlCol="0" anchor="t"/>
          <a:lstStyle/>
          <a:p>
            <a:pPr rtl="1" algn="r" indent="0" marL="0">
              <a:lnSpc>
                <a:spcPct val="105000"/>
              </a:lnSpc>
              <a:buNone/>
            </a:pPr>
            <a:r>
              <a:rPr lang="fa-IR" altLang="en-US" sz="3800" b="1" dirty="0">
                <a:solidFill>
                  <a:srgbClr val="FFFFFF"/>
                </a:solidFill>
                <a:latin typeface="Vazirmatn" pitchFamily="34" charset="0"/>
                <a:ea typeface="Vazirmatn" pitchFamily="34" charset="-122"/>
                <a:cs typeface="Vazirmatn" pitchFamily="34" charset="-120"/>
              </a:rPr>
              <a:t>جمع‌بندی</a:t>
            </a:r>
            <a:endParaRPr lang="en-US" sz="3800" dirty="0"/>
          </a:p>
        </p:txBody>
      </p:sp>
      <p:sp>
        <p:nvSpPr>
          <p:cNvPr id="4" name="Text 2"/>
          <p:cNvSpPr txBox="1"/>
          <p:nvPr/>
        </p:nvSpPr>
        <p:spPr>
          <a:xfrm>
            <a:off x="1127455" y="1828800"/>
            <a:ext cx="10241280" cy="4023360"/>
          </a:xfrm>
          <a:prstGeom prst="rect">
            <a:avLst/>
          </a:prstGeom>
          <a:noFill/>
          <a:ln/>
        </p:spPr>
        <p:txBody>
          <a:bodyPr wrap="square" lIns="0" tIns="0" rIns="0" bIns="0" rtlCol="0" anchor="t"/>
          <a:lstStyle/>
          <a:p>
            <a:pPr rtl="1" algn="r" indent="0" marL="0">
              <a:lnSpc>
                <a:spcPct val="105000"/>
              </a:lnSpc>
              <a:spcAft>
                <a:spcPts val="1400"/>
              </a:spcAft>
              <a:buNone/>
            </a:pPr>
            <a:r>
              <a:rPr lang="fa-IR" altLang="en-US" sz="1800" dirty="0">
                <a:solidFill>
                  <a:srgbClr val="E5E8FF"/>
                </a:solidFill>
                <a:latin typeface="Vazirmatn" pitchFamily="34" charset="0"/>
                <a:ea typeface="Vazirmatn" pitchFamily="34" charset="-122"/>
                <a:cs typeface="Vazirmatn" pitchFamily="34" charset="-120"/>
              </a:rPr>
              <a:t>سور یک شبکه‌ی QBFT عمومی روی Besu رسمی است؛ تقسیم پاداش و کارمزد در قرارداد انجام می‌شود، نه در نرم‌افزار زنجیره.</a:t>
            </a:r>
            <a:endParaRPr lang="en-US" sz="1800" dirty="0"/>
          </a:p>
          <a:p>
            <a:pPr rtl="1" algn="r" indent="0" marL="0">
              <a:lnSpc>
                <a:spcPct val="105000"/>
              </a:lnSpc>
              <a:spcAft>
                <a:spcPts val="1400"/>
              </a:spcAft>
              <a:buNone/>
            </a:pPr>
            <a:r>
              <a:rPr lang="fa-IR" altLang="en-US" sz="1800" dirty="0">
                <a:solidFill>
                  <a:srgbClr val="E5E8FF"/>
                </a:solidFill>
                <a:latin typeface="Vazirmatn" pitchFamily="34" charset="0"/>
                <a:ea typeface="Vazirmatn" pitchFamily="34" charset="-122"/>
                <a:cs typeface="Vazirmatn" pitchFamily="34" charset="-120"/>
              </a:rPr>
              <a:t>حکمرانی میان بنیاد (توسعه و اکوسیستم) و مجمع ولیدیتورها (خود شبکه) جدا شده و این جدایی در کد اجرا می‌شود.</a:t>
            </a:r>
            <a:endParaRPr lang="en-US" sz="1800" dirty="0"/>
          </a:p>
          <a:p>
            <a:pPr rtl="1" algn="r" indent="0" marL="0">
              <a:lnSpc>
                <a:spcPct val="105000"/>
              </a:lnSpc>
              <a:spcAft>
                <a:spcPts val="1400"/>
              </a:spcAft>
              <a:buNone/>
            </a:pPr>
            <a:r>
              <a:rPr lang="fa-IR" altLang="en-US" sz="1800" dirty="0">
                <a:solidFill>
                  <a:srgbClr val="E5E8FF"/>
                </a:solidFill>
                <a:latin typeface="Vazirmatn" pitchFamily="34" charset="0"/>
                <a:ea typeface="Vazirmatn" pitchFamily="34" charset="-122"/>
                <a:cs typeface="Vazirmatn" pitchFamily="34" charset="-120"/>
              </a:rPr>
              <a:t>اقتصاد: ۲ سورن ثابت در هر بلاک، ۱۵٪ برای بنیاد، سهم ولیدیتورها و خزانه با رأی دومجلسی، و سوزاندن ۳۰٪ کارمزد.</a:t>
            </a:r>
            <a:endParaRPr lang="en-US" sz="1800" dirty="0"/>
          </a:p>
          <a:p>
            <a:pPr rtl="1" algn="r" indent="0" marL="0">
              <a:lnSpc>
                <a:spcPct val="105000"/>
              </a:lnSpc>
              <a:spcAft>
                <a:spcPts val="1400"/>
              </a:spcAft>
              <a:buNone/>
            </a:pPr>
            <a:r>
              <a:rPr lang="fa-IR" altLang="en-US" sz="1800" dirty="0">
                <a:solidFill>
                  <a:srgbClr val="E5E8FF"/>
                </a:solidFill>
                <a:latin typeface="Vazirmatn" pitchFamily="34" charset="0"/>
                <a:ea typeface="Vazirmatn" pitchFamily="34" charset="-122"/>
                <a:cs typeface="Vazirmatn" pitchFamily="34" charset="-120"/>
              </a:rPr>
              <a:t>ورود ولیدیتور با وثیقه‌ی نمایی و تأیید آف‌چین است، نه رأی ولیدیتورهای موجود؛ تعلیق و جریمه مسیر اعتراض و رأی دارد.</a:t>
            </a:r>
            <a:endParaRPr lang="en-US" sz="1800" dirty="0"/>
          </a:p>
          <a:p>
            <a:pPr rtl="1" algn="r" indent="0" marL="0">
              <a:lnSpc>
                <a:spcPct val="105000"/>
              </a:lnSpc>
              <a:spcAft>
                <a:spcPts val="1400"/>
              </a:spcAft>
              <a:buNone/>
            </a:pPr>
            <a:r>
              <a:rPr lang="fa-IR" altLang="en-US" sz="1800" dirty="0">
                <a:solidFill>
                  <a:srgbClr val="E5E8FF"/>
                </a:solidFill>
                <a:latin typeface="Vazirmatn" pitchFamily="34" charset="0"/>
                <a:ea typeface="Vazirmatn" pitchFamily="34" charset="-122"/>
                <a:cs typeface="Vazirmatn" pitchFamily="34" charset="-120"/>
              </a:rPr>
              <a:t>کارهای باز: آزمون Besu برای کد فعلی، RewardRouter و ابزار genesis تولیدی، سقف گاز بلاک (gasLimit) و مسیر رفع پاداش بیش از سقف.</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27855" y="310896"/>
            <a:ext cx="7315200" cy="274320"/>
          </a:xfrm>
          <a:prstGeom prst="rect">
            <a:avLst/>
          </a:prstGeom>
          <a:noFill/>
          <a:ln/>
        </p:spPr>
        <p:txBody>
          <a:bodyPr wrap="square" lIns="0" tIns="0" rIns="0" bIns="0" rtlCol="0" anchor="t"/>
          <a:lstStyle/>
          <a:p>
            <a:pPr rtl="1" algn="r" indent="0" marL="0">
              <a:lnSpc>
                <a:spcPct val="105000"/>
              </a:lnSpc>
              <a:buNone/>
            </a:pPr>
            <a:r>
              <a:rPr lang="fa-IR" altLang="en-US" sz="1200" b="1" dirty="0">
                <a:solidFill>
                  <a:srgbClr val="2F3690"/>
                </a:solidFill>
                <a:latin typeface="Vazirmatn" pitchFamily="34" charset="0"/>
                <a:ea typeface="Vazirmatn" pitchFamily="34" charset="-122"/>
                <a:cs typeface="Vazirmatn" pitchFamily="34" charset="-120"/>
              </a:rPr>
              <a:t>عرضه و اقتصاد توکن</a:t>
            </a:r>
            <a:endParaRPr lang="en-US" sz="1200" dirty="0"/>
          </a:p>
        </p:txBody>
      </p:sp>
      <p:sp>
        <p:nvSpPr>
          <p:cNvPr id="3" name="Text 1"/>
          <p:cNvSpPr txBox="1"/>
          <p:nvPr/>
        </p:nvSpPr>
        <p:spPr>
          <a:xfrm>
            <a:off x="548640" y="585216"/>
            <a:ext cx="11094415" cy="685800"/>
          </a:xfrm>
          <a:prstGeom prst="rect">
            <a:avLst/>
          </a:prstGeom>
          <a:noFill/>
          <a:ln/>
        </p:spPr>
        <p:txBody>
          <a:bodyPr wrap="square" lIns="0" tIns="0" rIns="0" bIns="0" rtlCol="0" anchor="t"/>
          <a:lstStyle/>
          <a:p>
            <a:pPr rtl="1" algn="r" indent="0" marL="0">
              <a:lnSpc>
                <a:spcPct val="105000"/>
              </a:lnSpc>
              <a:buNone/>
            </a:pPr>
            <a:r>
              <a:rPr lang="fa-IR" altLang="en-US" sz="2800" b="1" dirty="0">
                <a:solidFill>
                  <a:srgbClr val="1B1B2F"/>
                </a:solidFill>
                <a:latin typeface="Vazirmatn" pitchFamily="34" charset="0"/>
                <a:ea typeface="Vazirmatn" pitchFamily="34" charset="-122"/>
                <a:cs typeface="Vazirmatn" pitchFamily="34" charset="-120"/>
              </a:rPr>
              <a:t>جزئیات ردیف ۲ و ۳ genesis: مطالبات به‌تفکیک</a:t>
            </a:r>
            <a:endParaRPr lang="en-US" sz="2800" dirty="0"/>
          </a:p>
        </p:txBody>
      </p:sp>
      <p:sp>
        <p:nvSpPr>
          <p:cNvPr id="4" name="Text 2"/>
          <p:cNvSpPr txBox="1"/>
          <p:nvPr/>
        </p:nvSpPr>
        <p:spPr>
          <a:xfrm>
            <a:off x="6156655" y="6473952"/>
            <a:ext cx="5486400" cy="228600"/>
          </a:xfrm>
          <a:prstGeom prst="rect">
            <a:avLst/>
          </a:prstGeom>
          <a:noFill/>
          <a:ln/>
        </p:spPr>
        <p:txBody>
          <a:bodyPr wrap="square" lIns="0" tIns="0" rIns="0" bIns="0" rtlCol="0" anchor="t"/>
          <a:lstStyle/>
          <a:p>
            <a:pPr rtl="1" algn="r"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بلاک‌چین سور — ارائه به هیأت‌مدیره‌ی بنیاد</a:t>
            </a:r>
            <a:endParaRPr lang="en-US" sz="1000" dirty="0"/>
          </a:p>
        </p:txBody>
      </p:sp>
      <p:sp>
        <p:nvSpPr>
          <p:cNvPr id="5" name="Text 3"/>
          <p:cNvSpPr txBox="1"/>
          <p:nvPr/>
        </p:nvSpPr>
        <p:spPr>
          <a:xfrm>
            <a:off x="548640" y="6473952"/>
            <a:ext cx="914400" cy="228600"/>
          </a:xfrm>
          <a:prstGeom prst="rect">
            <a:avLst/>
          </a:prstGeom>
          <a:noFill/>
          <a:ln/>
        </p:spPr>
        <p:txBody>
          <a:bodyPr wrap="square" lIns="0" tIns="0" rIns="0" bIns="0" rtlCol="0" anchor="t"/>
          <a:lstStyle/>
          <a:p>
            <a:pPr rtl="1" algn="l" indent="0" marL="0">
              <a:lnSpc>
                <a:spcPct val="105000"/>
              </a:lnSpc>
              <a:buNone/>
            </a:pPr>
            <a:r>
              <a:rPr lang="fa-IR" altLang="en-US" sz="1000" dirty="0">
                <a:solidFill>
                  <a:srgbClr val="565D7A"/>
                </a:solidFill>
                <a:latin typeface="Vazirmatn" pitchFamily="34" charset="0"/>
                <a:ea typeface="Vazirmatn" pitchFamily="34" charset="-122"/>
                <a:cs typeface="Vazirmatn" pitchFamily="34" charset="-120"/>
              </a:rPr>
              <a:t>15</a:t>
            </a:r>
            <a:endParaRPr lang="en-US" sz="1000" dirty="0"/>
          </a:p>
        </p:txBody>
      </p:sp>
      <p:sp>
        <p:nvSpPr>
          <p:cNvPr id="20" name="Text 21"/>
          <p:cNvSpPr txBox="1"/>
          <p:nvPr/>
        </p:nvSpPr>
        <p:spPr>
          <a:xfrm>
            <a:off x="5705856" y="1261872"/>
            <a:ext cx="5943600" cy="310896"/>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2F3690"/>
                </a:solidFill>
                <a:latin typeface="Vazirmatn" pitchFamily="34" charset="0"/>
                <a:ea typeface="Vazirmatn" pitchFamily="34" charset="-122"/>
                <a:cs typeface="Vazirmatn" pitchFamily="34" charset="-120"/>
              </a:rPr>
              <a:t>مطالبات اعضای بنیاد (ردیف ۳) — ۲۱٬۳۲۷٬۰۰۰ سورن</a:t>
            </a:r>
          </a:p>
        </p:txBody>
      </p:sp>
      <p:graphicFrame>
        <p:nvGraphicFramePr>
          <p:cNvPr id="21" name="Table 22"/>
          <p:cNvGraphicFramePr>
            <a:graphicFrameLocks noGrp="1"/>
          </p:cNvGraphicFramePr>
          <p:nvPr/>
        </p:nvGraphicFramePr>
        <p:xfrm>
          <a:off x="5705856" y="1627632"/>
          <a:ext cx="5943600" cy="4507992"/>
        </p:xfrm>
        <a:graphic>
          <a:graphicData uri="http://schemas.openxmlformats.org/drawingml/2006/table">
            <a:tbl>
              <a:tblPr rtl="1" firstRow="1"/>
              <a:tblGrid>
                <a:gridCol w="548640"/>
                <a:gridCol w="822960"/>
                <a:gridCol w="2834640"/>
                <a:gridCol w="1737360"/>
              </a:tblGrid>
              <a:tr h="265176">
                <a:tc>
                  <a:txBody>
                    <a:bodyPr/>
                    <a:lstStyle/>
                    <a:p>
                      <a:pPr rtl="1" algn="ctr"/>
                      <a:r>
                        <a:rPr lang="fa-IR" altLang="en-US" sz="1100" b="1" dirty="0">
                          <a:solidFill>
                            <a:srgbClr val="FFFFFF"/>
                          </a:solidFill>
                          <a:latin typeface="Vazirmatn" pitchFamily="34" charset="0"/>
                          <a:ea typeface="Vazirmatn" pitchFamily="34" charset="-122"/>
                          <a:cs typeface="Vazirmatn" pitchFamily="34" charset="-120"/>
                        </a:rPr>
                        <a:t>ردیف</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c>
                  <a:txBody>
                    <a:bodyPr/>
                    <a:lstStyle/>
                    <a:p>
                      <a:pPr rtl="1" algn="r"/>
                      <a:r>
                        <a:rPr lang="fa-IR" altLang="en-US" sz="1100" b="1" dirty="0">
                          <a:solidFill>
                            <a:srgbClr val="FFFFFF"/>
                          </a:solidFill>
                          <a:latin typeface="Vazirmatn" pitchFamily="34" charset="0"/>
                          <a:ea typeface="Vazirmatn" pitchFamily="34" charset="-122"/>
                          <a:cs typeface="Vazirmatn" pitchFamily="34" charset="-120"/>
                        </a:rPr>
                        <a:t>عنوان</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c>
                  <a:txBody>
                    <a:bodyPr/>
                    <a:lstStyle/>
                    <a:p>
                      <a:pPr rtl="1" algn="r"/>
                      <a:r>
                        <a:rPr lang="fa-IR" altLang="en-US" sz="1100" b="1" dirty="0">
                          <a:solidFill>
                            <a:srgbClr val="FFFFFF"/>
                          </a:solidFill>
                          <a:latin typeface="Vazirmatn" pitchFamily="34" charset="0"/>
                          <a:ea typeface="Vazirmatn" pitchFamily="34" charset="-122"/>
                          <a:cs typeface="Vazirmatn" pitchFamily="34" charset="-120"/>
                        </a:rPr>
                        <a:t>نام و نام خانوادگی</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c>
                  <a:txBody>
                    <a:bodyPr/>
                    <a:lstStyle/>
                    <a:p>
                      <a:pPr rtl="1" algn="l"/>
                      <a:r>
                        <a:rPr lang="fa-IR" altLang="en-US" sz="1100" b="1" dirty="0">
                          <a:solidFill>
                            <a:srgbClr val="FFFFFF"/>
                          </a:solidFill>
                          <a:latin typeface="Vazirmatn" pitchFamily="34" charset="0"/>
                          <a:ea typeface="Vazirmatn" pitchFamily="34" charset="-122"/>
                          <a:cs typeface="Vazirmatn" pitchFamily="34" charset="-120"/>
                        </a:rPr>
                        <a:t>طلب (سورن)</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شرکت</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سیتکس</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۱۳۵٬۰۰۰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۲</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عباس آشتیانی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۳۸۲٬۵۰۰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۳</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امیرعباس امامی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۲۵۶٬۵۰۰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۴</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سیاوش تفضلی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۵٬۲۶۰٬۰۰۰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۵</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حجت عباسی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۱٬۸۱۸٬۰۰۰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۶</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شرکت</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کوین‌ایران</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۲۶۱٬۰۰۰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۷</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یاشار راشدی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۶۷۹٬۵۰۰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۸</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علیرضا زجاجی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۶٬۷۵۸٬۵۰۰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۹</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خانم</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مهکامه شریف‌زاد</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۱٬۴۰۲٬۰۰۰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سپهر محمدی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۱٬۵۷۵٬۰۰۰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کاوه مشتاق</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۲۹۷٬۰۰۰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۱۲</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خانم</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مریم نعمتی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۶۸۴٬۰۰۰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۱۳</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مصطفی نقی‌پورفر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۳۹۱٬۵۰۰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۱۴</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مهدی نوری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۱٬۱۷۴٬۵۰۰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۱۵</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آقای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سهیل نیکزاد</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۲۵۲٬۰۰۰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endParaRPr lang="fa-IR" sz="1100" dirty="0"/>
                    </a:p>
                  </a:txBody>
                  <a:tcPr marL="91440" marR="91440" marT="27432" marB="27432" anchor="ctr">
                    <a:lnL w="0">
                      <a:noFill/>
                    </a:lnL>
                    <a:lnR w="0">
                      <a:noFill/>
                    </a:lnR>
                    <a:lnT w="0">
                      <a:noFill/>
                    </a:lnT>
                    <a:lnB w="9525">
                      <a:solidFill>
                        <a:srgbClr val="DDE1EE"/>
                      </a:solidFill>
                    </a:lnB>
                    <a:solidFill>
                      <a:srgbClr val="EEF0FB"/>
                    </a:solidFill>
                  </a:tcPr>
                </a:tc>
                <a:tc>
                  <a:txBody>
                    <a:bodyPr/>
                    <a:lstStyle/>
                    <a:p>
                      <a:pPr rtl="1" algn="r"/>
                      <a:endParaRPr lang="fa-IR" sz="1100" dirty="0"/>
                    </a:p>
                  </a:txBody>
                  <a:tcPr marL="91440" marR="91440" marT="27432" marB="27432" anchor="ctr">
                    <a:lnL w="0">
                      <a:noFill/>
                    </a:lnL>
                    <a:lnR w="0">
                      <a:noFill/>
                    </a:lnR>
                    <a:lnT w="0">
                      <a:noFill/>
                    </a:lnT>
                    <a:lnB w="9525">
                      <a:solidFill>
                        <a:srgbClr val="DDE1EE"/>
                      </a:solidFill>
                    </a:lnB>
                    <a:solidFill>
                      <a:srgbClr val="EEF0FB"/>
                    </a:solidFill>
                  </a:tcPr>
                </a:tc>
                <a:tc>
                  <a:txBody>
                    <a:bodyPr/>
                    <a:lstStyle/>
                    <a:p>
                      <a:pPr rtl="1" algn="r"/>
                      <a:r>
                        <a:rPr lang="fa-IR" altLang="en-US" sz="1100" b="1" dirty="0">
                          <a:solidFill>
                            <a:srgbClr val="2F3690"/>
                          </a:solidFill>
                          <a:latin typeface="Vazirmatn" pitchFamily="34" charset="0"/>
                          <a:ea typeface="Vazirmatn" pitchFamily="34" charset="-122"/>
                          <a:cs typeface="Vazirmatn" pitchFamily="34" charset="-120"/>
                        </a:rPr>
                        <a:t>جمع کل</a:t>
                      </a:r>
                      <a:endParaRPr lang="fa-IR" sz="1100" dirty="0"/>
                    </a:p>
                  </a:txBody>
                  <a:tcPr marL="91440" marR="91440" marT="27432" marB="27432" anchor="ctr">
                    <a:lnL w="0">
                      <a:noFill/>
                    </a:lnL>
                    <a:lnR w="0">
                      <a:noFill/>
                    </a:lnR>
                    <a:lnT w="0">
                      <a:noFill/>
                    </a:lnT>
                    <a:lnB w="9525">
                      <a:solidFill>
                        <a:srgbClr val="DDE1EE"/>
                      </a:solidFill>
                    </a:lnB>
                    <a:solidFill>
                      <a:srgbClr val="EEF0FB"/>
                    </a:solidFill>
                  </a:tcPr>
                </a:tc>
                <a:tc>
                  <a:txBody>
                    <a:bodyPr/>
                    <a:lstStyle/>
                    <a:p>
                      <a:pPr rtl="1" algn="l"/>
                      <a:r>
                        <a:rPr lang="fa-IR" altLang="en-US" sz="1100" b="1" dirty="0">
                          <a:solidFill>
                            <a:srgbClr val="2F3690"/>
                          </a:solidFill>
                          <a:latin typeface="Vazirmatn" pitchFamily="34" charset="0"/>
                          <a:ea typeface="Vazirmatn" pitchFamily="34" charset="-122"/>
                          <a:cs typeface="Vazirmatn" pitchFamily="34" charset="-120"/>
                        </a:rPr>
                        <a:t>۲۱٬۳۲۷٬۰۰۰</a:t>
                      </a:r>
                      <a:endParaRPr lang="fa-IR" sz="1100" dirty="0"/>
                    </a:p>
                  </a:txBody>
                  <a:tcPr marL="91440" marR="91440" marT="27432" marB="27432" anchor="ctr">
                    <a:lnL w="0">
                      <a:noFill/>
                    </a:lnL>
                    <a:lnR w="0">
                      <a:noFill/>
                    </a:lnR>
                    <a:lnT w="0">
                      <a:noFill/>
                    </a:lnT>
                    <a:lnB w="9525">
                      <a:solidFill>
                        <a:srgbClr val="DDE1EE"/>
                      </a:solidFill>
                    </a:lnB>
                    <a:solidFill>
                      <a:srgbClr val="EEF0FB"/>
                    </a:solidFill>
                  </a:tcPr>
                </a:tc>
              </a:tr>
            </a:tbl>
          </a:graphicData>
        </a:graphic>
      </p:graphicFrame>
      <p:sp>
        <p:nvSpPr>
          <p:cNvPr id="22" name="Text 23"/>
          <p:cNvSpPr txBox="1"/>
          <p:nvPr/>
        </p:nvSpPr>
        <p:spPr>
          <a:xfrm>
            <a:off x="548640" y="1261872"/>
            <a:ext cx="4754880" cy="310896"/>
          </a:xfrm>
          <a:prstGeom prst="rect">
            <a:avLst/>
          </a:prstGeom>
          <a:noFill/>
          <a:ln/>
        </p:spPr>
        <p:txBody>
          <a:bodyPr wrap="square" lIns="0" tIns="0" rIns="0" bIns="0" rtlCol="0" anchor="t"/>
          <a:lstStyle/>
          <a:p>
            <a:pPr rtl="1" algn="r" indent="0" marL="0">
              <a:lnSpc>
                <a:spcPct val="105000"/>
              </a:lnSpc>
              <a:buNone/>
            </a:pPr>
            <a:r>
              <a:rPr lang="fa-IR" altLang="en-US" sz="1400" b="1" dirty="0">
                <a:solidFill>
                  <a:srgbClr val="2F3690"/>
                </a:solidFill>
                <a:latin typeface="Vazirmatn" pitchFamily="34" charset="0"/>
                <a:ea typeface="Vazirmatn" pitchFamily="34" charset="-122"/>
                <a:cs typeface="Vazirmatn" pitchFamily="34" charset="-120"/>
              </a:rPr>
              <a:t>مطالبات ولیدیتورهای اولیه (ردیف ۲) — ۱۱٬۹۸۴٬۰۰۰ سورن</a:t>
            </a:r>
          </a:p>
        </p:txBody>
      </p:sp>
      <p:graphicFrame>
        <p:nvGraphicFramePr>
          <p:cNvPr id="23" name="Table 24"/>
          <p:cNvGraphicFramePr>
            <a:graphicFrameLocks noGrp="1"/>
          </p:cNvGraphicFramePr>
          <p:nvPr/>
        </p:nvGraphicFramePr>
        <p:xfrm>
          <a:off x="548640" y="1627632"/>
          <a:ext cx="4754880" cy="2386584"/>
        </p:xfrm>
        <a:graphic>
          <a:graphicData uri="http://schemas.openxmlformats.org/drawingml/2006/table">
            <a:tbl>
              <a:tblPr rtl="1" firstRow="1"/>
              <a:tblGrid>
                <a:gridCol w="548640"/>
                <a:gridCol w="1737360"/>
                <a:gridCol w="2468880"/>
              </a:tblGrid>
              <a:tr h="265176">
                <a:tc>
                  <a:txBody>
                    <a:bodyPr/>
                    <a:lstStyle/>
                    <a:p>
                      <a:pPr rtl="1" algn="ctr"/>
                      <a:r>
                        <a:rPr lang="fa-IR" altLang="en-US" sz="1100" b="1" dirty="0">
                          <a:solidFill>
                            <a:srgbClr val="FFFFFF"/>
                          </a:solidFill>
                          <a:latin typeface="Vazirmatn" pitchFamily="34" charset="0"/>
                          <a:ea typeface="Vazirmatn" pitchFamily="34" charset="-122"/>
                          <a:cs typeface="Vazirmatn" pitchFamily="34" charset="-120"/>
                        </a:rPr>
                        <a:t>ردیف</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c>
                  <a:txBody>
                    <a:bodyPr/>
                    <a:lstStyle/>
                    <a:p>
                      <a:pPr rtl="1" algn="r"/>
                      <a:r>
                        <a:rPr lang="fa-IR" altLang="en-US" sz="1100" b="1" dirty="0">
                          <a:solidFill>
                            <a:srgbClr val="FFFFFF"/>
                          </a:solidFill>
                          <a:latin typeface="Vazirmatn" pitchFamily="34" charset="0"/>
                          <a:ea typeface="Vazirmatn" pitchFamily="34" charset="-122"/>
                          <a:cs typeface="Vazirmatn" pitchFamily="34" charset="-120"/>
                        </a:rPr>
                        <a:t>صاحب نود</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c>
                  <a:txBody>
                    <a:bodyPr/>
                    <a:lstStyle/>
                    <a:p>
                      <a:pPr rtl="1" algn="l"/>
                      <a:r>
                        <a:rPr lang="fa-IR" altLang="en-US" sz="1100" b="1" dirty="0">
                          <a:solidFill>
                            <a:srgbClr val="FFFFFF"/>
                          </a:solidFill>
                          <a:latin typeface="Vazirmatn" pitchFamily="34" charset="0"/>
                          <a:ea typeface="Vazirmatn" pitchFamily="34" charset="-122"/>
                          <a:cs typeface="Vazirmatn" pitchFamily="34" charset="-120"/>
                        </a:rPr>
                        <a:t>جمع سورن دریافتی بابت ولیدیتوری</a:t>
                      </a:r>
                      <a:endParaRPr lang="fa-IR" sz="1100" dirty="0"/>
                    </a:p>
                  </a:txBody>
                  <a:tcPr marL="91440" marR="91440" marT="27432" marB="27432" anchor="ctr">
                    <a:lnL w="0">
                      <a:noFill/>
                    </a:lnL>
                    <a:lnR w="0">
                      <a:noFill/>
                    </a:lnR>
                    <a:lnT w="0">
                      <a:noFill/>
                    </a:lnT>
                    <a:lnB w="9525">
                      <a:solidFill>
                        <a:srgbClr val="DDE1EE"/>
                      </a:solidFill>
                    </a:lnB>
                    <a:solidFill>
                      <a:srgbClr val="2F3690"/>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سیتکس نود 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۱٬۷۵۴٬۰۰۰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۲</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سیتکس نود ۲</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۱٬۵۴۴٬۰۰۰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۳</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سپهر محمدی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۱٬۷۵۴٬۰۰۰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۴</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سیاوش تفضلی</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۱٬۷۵۴٬۰۰۰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۵</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مصطفی نقی‌پورفر</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۱٬۷۵۴٬۰۰۰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۶</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مهکامه شریف‌زاد</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۱٬۷۱۲٬۰۰۰</a:t>
                      </a:r>
                      <a:endParaRPr lang="fa-IR" sz="1100" dirty="0"/>
                    </a:p>
                  </a:txBody>
                  <a:tcPr marL="91440" marR="91440" marT="27432" marB="27432" anchor="ctr">
                    <a:lnL w="0">
                      <a:noFill/>
                    </a:lnL>
                    <a:lnR w="0">
                      <a:noFill/>
                    </a:lnR>
                    <a:lnT w="0">
                      <a:noFill/>
                    </a:lnT>
                    <a:lnB w="9525">
                      <a:solidFill>
                        <a:srgbClr val="DDE1EE"/>
                      </a:solidFill>
                    </a:lnB>
                    <a:solidFill>
                      <a:srgbClr val="F7F9FC"/>
                    </a:solidFill>
                  </a:tcPr>
                </a:tc>
              </a:tr>
              <a:tr h="265176">
                <a:tc>
                  <a:txBody>
                    <a:bodyPr/>
                    <a:lstStyle/>
                    <a:p>
                      <a:pPr rtl="1" algn="ctr"/>
                      <a:r>
                        <a:rPr lang="fa-IR" altLang="en-US" sz="1100" b="0" dirty="0">
                          <a:solidFill>
                            <a:srgbClr val="1B1B2F"/>
                          </a:solidFill>
                          <a:latin typeface="Vazirmatn" pitchFamily="34" charset="0"/>
                          <a:ea typeface="Vazirmatn" pitchFamily="34" charset="-122"/>
                          <a:cs typeface="Vazirmatn" pitchFamily="34" charset="-120"/>
                        </a:rPr>
                        <a:t>۷</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r"/>
                      <a:r>
                        <a:rPr lang="fa-IR" altLang="en-US" sz="1100" b="0" dirty="0">
                          <a:solidFill>
                            <a:srgbClr val="1B1B2F"/>
                          </a:solidFill>
                          <a:latin typeface="Vazirmatn" pitchFamily="34" charset="0"/>
                          <a:ea typeface="Vazirmatn" pitchFamily="34" charset="-122"/>
                          <a:cs typeface="Vazirmatn" pitchFamily="34" charset="-120"/>
                        </a:rPr>
                        <a:t>علیرضا زجاجی</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c>
                  <a:txBody>
                    <a:bodyPr/>
                    <a:lstStyle/>
                    <a:p>
                      <a:pPr rtl="1" algn="l"/>
                      <a:r>
                        <a:rPr lang="fa-IR" altLang="en-US" sz="1100" b="0" dirty="0">
                          <a:solidFill>
                            <a:srgbClr val="1B1B2F"/>
                          </a:solidFill>
                          <a:latin typeface="Vazirmatn" pitchFamily="34" charset="0"/>
                          <a:ea typeface="Vazirmatn" pitchFamily="34" charset="-122"/>
                          <a:cs typeface="Vazirmatn" pitchFamily="34" charset="-120"/>
                        </a:rPr>
                        <a:t>۱٬۷۱۲٬۰۰۰</a:t>
                      </a:r>
                      <a:endParaRPr lang="fa-IR" sz="1100" dirty="0"/>
                    </a:p>
                  </a:txBody>
                  <a:tcPr marL="91440" marR="91440" marT="27432" marB="27432" anchor="ctr">
                    <a:lnL w="0">
                      <a:noFill/>
                    </a:lnL>
                    <a:lnR w="0">
                      <a:noFill/>
                    </a:lnR>
                    <a:lnT w="0">
                      <a:noFill/>
                    </a:lnT>
                    <a:lnB w="9525">
                      <a:solidFill>
                        <a:srgbClr val="DDE1EE"/>
                      </a:solidFill>
                    </a:lnB>
                    <a:solidFill>
                      <a:srgbClr val="FFFFFF"/>
                    </a:solidFill>
                  </a:tcPr>
                </a:tc>
              </a:tr>
              <a:tr h="265176">
                <a:tc>
                  <a:txBody>
                    <a:bodyPr/>
                    <a:lstStyle/>
                    <a:p>
                      <a:pPr rtl="1" algn="ctr"/>
                      <a:endParaRPr lang="fa-IR" sz="1100" dirty="0"/>
                    </a:p>
                  </a:txBody>
                  <a:tcPr marL="91440" marR="91440" marT="27432" marB="27432" anchor="ctr">
                    <a:lnL w="0">
                      <a:noFill/>
                    </a:lnL>
                    <a:lnR w="0">
                      <a:noFill/>
                    </a:lnR>
                    <a:lnT w="0">
                      <a:noFill/>
                    </a:lnT>
                    <a:lnB w="9525">
                      <a:solidFill>
                        <a:srgbClr val="DDE1EE"/>
                      </a:solidFill>
                    </a:lnB>
                    <a:solidFill>
                      <a:srgbClr val="EEF0FB"/>
                    </a:solidFill>
                  </a:tcPr>
                </a:tc>
                <a:tc>
                  <a:txBody>
                    <a:bodyPr/>
                    <a:lstStyle/>
                    <a:p>
                      <a:pPr rtl="1" algn="r"/>
                      <a:r>
                        <a:rPr lang="fa-IR" altLang="en-US" sz="1100" b="1" dirty="0">
                          <a:solidFill>
                            <a:srgbClr val="2F3690"/>
                          </a:solidFill>
                          <a:latin typeface="Vazirmatn" pitchFamily="34" charset="0"/>
                          <a:ea typeface="Vazirmatn" pitchFamily="34" charset="-122"/>
                          <a:cs typeface="Vazirmatn" pitchFamily="34" charset="-120"/>
                        </a:rPr>
                        <a:t>جمع</a:t>
                      </a:r>
                      <a:endParaRPr lang="fa-IR" sz="1100" dirty="0"/>
                    </a:p>
                  </a:txBody>
                  <a:tcPr marL="91440" marR="91440" marT="27432" marB="27432" anchor="ctr">
                    <a:lnL w="0">
                      <a:noFill/>
                    </a:lnL>
                    <a:lnR w="0">
                      <a:noFill/>
                    </a:lnR>
                    <a:lnT w="0">
                      <a:noFill/>
                    </a:lnT>
                    <a:lnB w="9525">
                      <a:solidFill>
                        <a:srgbClr val="DDE1EE"/>
                      </a:solidFill>
                    </a:lnB>
                    <a:solidFill>
                      <a:srgbClr val="EEF0FB"/>
                    </a:solidFill>
                  </a:tcPr>
                </a:tc>
                <a:tc>
                  <a:txBody>
                    <a:bodyPr/>
                    <a:lstStyle/>
                    <a:p>
                      <a:pPr rtl="1" algn="l"/>
                      <a:r>
                        <a:rPr lang="fa-IR" altLang="en-US" sz="1100" b="1" dirty="0">
                          <a:solidFill>
                            <a:srgbClr val="2F3690"/>
                          </a:solidFill>
                          <a:latin typeface="Vazirmatn" pitchFamily="34" charset="0"/>
                          <a:ea typeface="Vazirmatn" pitchFamily="34" charset="-122"/>
                          <a:cs typeface="Vazirmatn" pitchFamily="34" charset="-120"/>
                        </a:rPr>
                        <a:t>۱۱٬۹۸۴٬۰۰۰</a:t>
                      </a:r>
                      <a:endParaRPr lang="fa-IR" sz="1100" dirty="0"/>
                    </a:p>
                  </a:txBody>
                  <a:tcPr marL="91440" marR="91440" marT="27432" marB="27432" anchor="ctr">
                    <a:lnL w="0">
                      <a:noFill/>
                    </a:lnL>
                    <a:lnR w="0">
                      <a:noFill/>
                    </a:lnR>
                    <a:lnT w="0">
                      <a:noFill/>
                    </a:lnT>
                    <a:lnB w="9525">
                      <a:solidFill>
                        <a:srgbClr val="DDE1EE"/>
                      </a:solidFill>
                    </a:lnB>
                    <a:solidFill>
                      <a:srgbClr val="EEF0FB"/>
                    </a:solidFill>
                  </a:tcPr>
                </a:tc>
              </a:tr>
            </a:tbl>
          </a:graphicData>
        </a:graphic>
      </p:graphicFrame>
      <p:sp>
        <p:nvSpPr>
          <p:cNvPr id="24" name="Shape 25"/>
          <p:cNvSpPr/>
          <p:nvPr/>
        </p:nvSpPr>
        <p:spPr>
          <a:xfrm>
            <a:off x="548640" y="4251960"/>
            <a:ext cx="4754880" cy="1508760"/>
          </a:xfrm>
          <a:prstGeom prst="roundRect">
            <a:avLst>
              <a:gd name="adj" fmla="val 3380"/>
            </a:avLst>
          </a:prstGeom>
          <a:solidFill>
            <a:srgbClr val="F7F9FC"/>
          </a:solidFill>
          <a:ln w="9525">
            <a:solidFill>
              <a:srgbClr val="DDE1EE"/>
            </a:solidFill>
            <a:prstDash val="solid"/>
          </a:ln>
        </p:spPr>
      </p:sp>
      <p:sp>
        <p:nvSpPr>
          <p:cNvPr id="25" name="Text 26"/>
          <p:cNvSpPr txBox="1"/>
          <p:nvPr/>
        </p:nvSpPr>
        <p:spPr>
          <a:xfrm>
            <a:off x="731520" y="4370832"/>
            <a:ext cx="4389120" cy="1325880"/>
          </a:xfrm>
          <a:prstGeom prst="rect">
            <a:avLst/>
          </a:prstGeom>
          <a:noFill/>
          <a:ln/>
        </p:spPr>
        <p:txBody>
          <a:bodyPr wrap="square" lIns="0" tIns="0" rIns="0" bIns="0" rtlCol="0" anchor="t"/>
          <a:lstStyle/>
          <a:p>
            <a:pPr rtl="1" algn="r" indent="0" marL="0">
              <a:lnSpc>
                <a:spcPct val="105000"/>
              </a:lnSpc>
              <a:buNone/>
            </a:pPr>
            <a:r>
              <a:rPr lang="fa-IR" altLang="en-US" sz="1300" b="1" dirty="0">
                <a:solidFill>
                  <a:srgbClr val="565D7A"/>
                </a:solidFill>
                <a:latin typeface="Vazirmatn" pitchFamily="34" charset="0"/>
                <a:ea typeface="Vazirmatn" pitchFamily="34" charset="-122"/>
                <a:cs typeface="Vazirmatn" pitchFamily="34" charset="-120"/>
              </a:rPr>
              <a:t>عرضه‌ی کل در بلاک آغازین</a:t>
            </a:r>
          </a:p>
          <a:p>
            <a:pPr rtl="1" algn="r" indent="0" marL="0">
              <a:lnSpc>
                <a:spcPct val="105000"/>
              </a:lnSpc>
              <a:buNone/>
            </a:pPr>
            <a:r>
              <a:rPr lang="fa-IR" altLang="en-US" sz="2600" b="1" dirty="0">
                <a:solidFill>
                  <a:srgbClr val="2F3690"/>
                </a:solidFill>
                <a:latin typeface="Vazirmatn" pitchFamily="34" charset="0"/>
                <a:ea typeface="Vazirmatn" pitchFamily="34" charset="-122"/>
                <a:cs typeface="Vazirmatn" pitchFamily="34" charset="-120"/>
              </a:rPr>
              <a:t>۵۳٬۳۱۱٬۰۰۰ سورن</a:t>
            </a:r>
          </a:p>
          <a:p>
            <a:pPr rtl="1" algn="r" indent="0" marL="0">
              <a:lnSpc>
                <a:spcPct val="105000"/>
              </a:lnSpc>
              <a:buNone/>
            </a:pPr>
            <a:r>
              <a:rPr lang="fa-IR" altLang="en-US" sz="1150" dirty="0">
                <a:solidFill>
                  <a:srgbClr val="1B1B2F"/>
                </a:solidFill>
                <a:latin typeface="Vazirmatn" pitchFamily="34" charset="0"/>
                <a:ea typeface="Vazirmatn" pitchFamily="34" charset="-122"/>
                <a:cs typeface="Vazirmatn" pitchFamily="34" charset="-120"/>
              </a:rPr>
              <a:t>۲۰٬۰۰۰٬۰۰۰ (ردیف ۱) + ۱۱٬۹۸۴٬۰۰۰ (ردیف ۲) + ۲۱٬۳۲۷٬۰۰۰ (ردیف ۳)</a:t>
            </a:r>
          </a:p>
          <a:p>
            <a:pPr rtl="1" algn="r" indent="0" marL="0">
              <a:lnSpc>
                <a:spcPct val="105000"/>
              </a:lnSpc>
              <a:buNone/>
            </a:pPr>
            <a:r>
              <a:rPr lang="fa-IR" altLang="en-US" sz="1100" dirty="0">
                <a:solidFill>
                  <a:srgbClr val="565D7A"/>
                </a:solidFill>
                <a:latin typeface="Vazirmatn" pitchFamily="34" charset="0"/>
                <a:ea typeface="Vazirmatn" pitchFamily="34" charset="-122"/>
                <a:cs typeface="Vazirmatn" pitchFamily="34" charset="-120"/>
              </a:rPr>
              <a:t>آدرس گیرندگان هنوز جمع‌آوری نشده؛ ارزیابی مستقل اصل مبالغ همچنان باز است.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azirmat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بنیاد سور</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بلاک‌چین سور — طرح فعلی (ارائه به هیأت‌مدیره‌ی بنیاد)</dc:title>
  <dc:subject>PptxGenJS Presentation</dc:subject>
  <dc:creator>بنیاد سور</dc:creator>
  <cp:lastModifiedBy>بنیاد سور</cp:lastModifiedBy>
  <cp:revision>1</cp:revision>
  <dcterms:created xsi:type="dcterms:W3CDTF">2026-10-04T05:37:38Z</dcterms:created>
  <dcterms:modified xsi:type="dcterms:W3CDTF">2026-10-04T05:37:38Z</dcterms:modified>
</cp:coreProperties>
</file>