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75520" y="-1371600"/>
            <a:ext cx="4572000" cy="4572000"/>
          </a:xfrm>
          <a:prstGeom prst="ellipse">
            <a:avLst/>
          </a:prstGeom>
          <a:solidFill>
            <a:srgbClr val="3D46A8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371600" y="4572000"/>
            <a:ext cx="3657600" cy="3657600"/>
          </a:xfrm>
          <a:prstGeom prst="ellipse">
            <a:avLst/>
          </a:prstGeom>
          <a:solidFill>
            <a:srgbClr val="3D46A8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0332720" y="411480"/>
            <a:ext cx="1371600" cy="13716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594360"/>
            <a:ext cx="1005840" cy="10058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22860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spc="200" kern="0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ارائه به هیأت‌مدیره‌ی بنیاد سور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74320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ساختار جدید بلاک‌چین سور</a:t>
            </a:r>
            <a:endParaRPr lang="en-US" sz="42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425196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بازطراحی کامل معماری فنی، حکمرانی، و اقتصادی — نسخه‌ی جامع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نمای کلی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دستور جلسه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0881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مشکلات نسخه‌ی قبلی و راه‌حل هرکدام در طرح جدید</a:t>
            </a:r>
            <a:endParaRPr lang="en-US" sz="1600" dirty="0"/>
          </a:p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معماری کامل: شش قرارداد ساختاری و نقش هرکدام</a:t>
            </a:r>
            <a:endParaRPr lang="en-US" sz="1600" dirty="0"/>
          </a:p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توزیع توکن اولیه (genesis) و توزیع ریوارد/فی جاری</a:t>
            </a:r>
            <a:endParaRPr lang="en-US" sz="1600" dirty="0"/>
          </a:p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حاکمیت و وظایف ولیدیتورها</a:t>
            </a:r>
            <a:endParaRPr lang="en-US" sz="1600" dirty="0"/>
          </a:p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حاکمیت و وظایف بنیاد، و نحوه‌ی خرج از کیف‌پول بنیاد</a:t>
            </a:r>
            <a:endParaRPr lang="en-US" sz="1600" dirty="0"/>
          </a:p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مزیت‌های رقابتی، نقشه‌ی راه بازاریابی، و بودجه</a:t>
            </a:r>
            <a:endParaRPr lang="en-US" sz="1600" dirty="0"/>
          </a:p>
          <a:p>
            <a:pPr rtl="1" algn="r" indent="0" marL="0">
              <a:spcAft>
                <a:spcPts val="2000"/>
              </a:spcAft>
              <a:buNone/>
            </a:pPr>
            <a:r>
              <a:rPr lang="en-US" sz="16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وضعیت حقوقی و تصمیمات باز نیازمند تأیید شما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مشکلات نسخه‌ی قبلی و راه‌حل‌ها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لایوینس ولیدیتور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اثبات فعال‌بودن واقعی نود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263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E8F5E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BE9E7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537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جدید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قبلی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فقط verifier (پس از بررسی واقعی) می‌تواند reportLiveness بزند — برای Probation از admin_peers، برای Active از تولید واقعی بلاک.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خودِ ولیدیتور تراکنش heartbeat می‌فرستاد — این فقط ثابت می‌کرد یک کیف‌پول می‌تواند امضا کند، نه این‌که یک نود واقعی و سالم در حال اجراست.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1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هویت کاربران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جداسازی از منطق ولیدیتوری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263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E8F5E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BE9E7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537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جدید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قبلی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قرارداد کاملاً مستقل IdentityRegistry (ششمین قرارداد ساختاری) — برای کل کاربران شبکه، نه فقط ولیدیتورها؛ حتی لایه‌ی KYC اختیاری هم دارد.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هویت (نام، وریفای موبایل/تلگرام) داخل ValidatorsRegistry تعریف شده بود — مخلوط با منطق کاملاً متفاوت ولیدیتوری.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1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رابطه‌ی بنیاد و خزانه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استقلال کامل بنیاد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263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E8F5E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BE9E7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537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جدید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قبلی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بودجه‌ی کمپین همچنان بدون اتصال کدی است؛ فقط هزینه‌ی جاری بنیاد (۱۵٪ کل بلاک‌ریوارد، مستقل از سهم خزانه) اکنون خودکار و مستقیم منتقل می‌شود.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یک تابع (proposeRequestTreasuryBudget) مستقیم بنیاد را به خزانه‌ی ولیدیتورها متصل می‌کرد.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1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ماهیت توکن سورن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سادگی و اطمینان بیشتر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263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E8F5E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BE9E7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537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جدید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قبلی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سورن ارز بومی خودِ زنجیره است (دقیقاً مثل ETH روی اتریوم) — انتقال با msg.value ساده، بدون پیچیدگی قرارداد جدا.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فرض اولیه این بود که سورن یک توکن قراردادی (ERC20) است — نیازمند مدیریت approve/transferFrom جداگانه.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1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نصاب رأی‌گیری بنیاد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تمایز ریسک تصمیمات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263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E8F5E9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BE9E7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537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جدید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طرح قبلی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نصاب دوگانه: فقط افزودن/حذف عضو نیازمند دوسوم آرا؛ بقیه (خرج سورن، ERC20، Execute) اکثریت ساده.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همه‌ی انواع پیشنهاد (افزودن عضو، خرج پول، اجرای دلخواه) یک نصاب یکسان (اکثریت ساده) داشتند.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1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معماری کامل: شش قرارداد ساختاری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آدرس‌های ثابت genesis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شش قرارداد و نقش هرکدام</a:t>
            </a:r>
            <a:endParaRPr lang="en-US" sz="25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66620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قرارداد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آدرس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نقش کامل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FoundationDAO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0x1111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حکمرانی داخلی بنیاد (۱۵ عضو) — صفر کنترل روی شبکه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BlockRewardDistributor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0x2222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دریافت خودکار ریوارد+فی، توزیع دوره‌ای بین ولیدیتورها و خزانه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ValidatorsRegistry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0x3333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مرجع اجماع (getValidators) و پرداخت (isValidator)؛ وثیقه، لایوینس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ValidatorsBoard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0x4444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هیأت ۵نفره‌ی ولیدیتورها؛ شش اختیار تفویضی محدود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ValidatorsTreasury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0x5555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خزانه‌ی مشترک ولیدیتورها؛ دو مسیر خرج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IdentityRegistry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0x6666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هویت کل کاربران شبکه؛ کنترل دست بنیاد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اصل طراحی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چرا این معماری امن‌تر است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966960" y="240944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5" name="Image 0" descr="/home/claude/deck1/icons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57111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هیچ نهاد واحدی هم‌زمان مرجع اجماع و مرجع مالی نیست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بنیاد فقط حکمرانی داخلی؛ ولیدیتورها فقط اجماع و اقتصاد شبکه — این تفکیک در سراسر معماری تکرار می‌شود.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87705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483260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10" name="Image 1" descr="/home/claude/deck1/icons/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499427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9319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همه در genesis با آدرس ثابت — بدون نیاز به سیم‌کشی بعدی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27939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چون آدرس هر شش از قبل معلوم است، هرکدام آدرس بقیه را مستقیم در کد هاردکد می‌کنند.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4" name="Image 2" descr="/home/claude/deck1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6" name="Text 11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توزیع توکن اولیه و جاری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Genesis — سه ردیف مجزا (تصمیم تازه)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توزیع اولیه‌ی سورن</a:t>
            </a:r>
            <a:endParaRPr lang="en-US" sz="2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11658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ردیف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مقدار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مقصد / مصرف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</a:tr>
              <a:tr h="116586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۱. توسعه‌ی اکوسیستم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۲۰,۰۰۰,۰۰۰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آدرس بنیاد — توسعه/آموزش/تبلیغات، فروش پگ ۶ماهه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16586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۲. جبران ولیدیتورهای شبکه‌ی قبلی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🔶 نامشخص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مستقیم به آدرس ولیدیتورهای سابق — جبران خسارت، نه هدیه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1165860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۳. تسویه‌ی بدهی بنیاد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۱۵,۵۳۰,۰۰۰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مستقیم و ردیفی به آدرس شخصی هر طلبکار — افشاشده، بدون اعتراض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چرا ردیفی، نه یک‌جا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منطق تخصیص مستقیم ردیف ۳ در genesis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5" name="Image 0" descr="/home/claude/deck1/icons/user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بزرگ‌ترین طلبکاران، خودِ اعضای هیأت‌مدیره‌اند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حقوق خودشان + حقوق مدیرعامل (عضو هیأت) + قرض‌های شخصی‌شان به بنیاد.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8B0000"/>
          </a:solidFill>
          <a:ln/>
        </p:spPr>
        <p:txBody>
          <a:bodyPr/>
          <a:p/>
        </p:txBody>
      </p:sp>
      <p:pic>
        <p:nvPicPr>
          <p:cNvPr id="10" name="Image 1" descr="/home/claude/deck1/icons/bala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پرداخت دسته‌جمعی به یک آدرس مشترک = تضاد منافع آشکار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چون همان افراد باید بعداً رأی می‌دادند چطور بین خودشان تقسیم شود.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1B5E20"/>
          </a:solidFill>
          <a:ln/>
        </p:spPr>
        <p:txBody>
          <a:bodyPr/>
          <a:p/>
        </p:txBody>
      </p:sp>
      <p:pic>
        <p:nvPicPr>
          <p:cNvPr id="15" name="Image 2" descr="/home/claude/deck1/icons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راه‌حل: تخصیص مستقیم و ردیفی در خودِ genesis</a:t>
            </a:r>
            <a:endParaRPr lang="en-US" sz="155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چون فهرست دقیق «کدام عضو، چقدر» از قبل مشخص است، نیازی به هیچ رأی‌گیری‌ای نیست — شفافیت کامل، بدون تضاد منافع.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9" name="Image 3" descr="/home/claude/deck1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اثر روی تورم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پایه‌ی genesis بزرگ‌تر = تورم سال اول ملایم‌تر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444240" cy="210312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548640" y="1965960"/>
            <a:ext cx="344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2F3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۳۵.۵۳M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8803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پایه‌ی جدید genesis (ردیف ۱+۳، بدون ردیف ۲)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21480" y="1783080"/>
            <a:ext cx="3444240" cy="210312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4221480" y="1965960"/>
            <a:ext cx="344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2F3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۳۷.۲٪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4358640" y="28803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نرخ رشد سال اول (به‌جای رقم بسیار بالاتر با پایه‌ی قدیم)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894320" y="1783080"/>
            <a:ext cx="3444240" cy="210312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7894320" y="1965960"/>
            <a:ext cx="344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2F3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۸.۶٪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8031480" y="28803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نرخ رشد سال دهم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206240"/>
            <a:ext cx="10881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این جدول باید دوباره به‌روزرسانی شود وقتی مبلغ دقیق ردیف ۲ (جبران ولیدیتورهای شبکه‌ی قبلی) مشخص شد.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فروش پگ ۶ماهه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قرارداد SurenSale — فروش خودکار و شفاف (فقط ردیف ۱)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58977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5" name="Image 0" descr="/home/claude/deck1/icons/coi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9965" y="2293315"/>
            <a:ext cx="351130" cy="3511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7148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957148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70966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شروع: ۱۰۰ تومان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70966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قیمت پایه، محاسبه‌شده مستقل از block.timestamp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48106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86943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12" name="Image 1" descr="/home/claude/deck1/icons/cha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625" y="2293315"/>
            <a:ext cx="351130" cy="35113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85114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4" name="Text 10"/>
          <p:cNvSpPr txBox="1"/>
          <p:nvPr/>
        </p:nvSpPr>
        <p:spPr>
          <a:xfrm>
            <a:off x="685114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98932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پله‌ی ۳٪ ماهانه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598932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رشد مرکب هاردکد؛ پایان دوره ~۱۱۶ تومان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76072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414909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19" name="Image 2" descr="/home/claude/deck1/icons/lo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9285" y="2293315"/>
            <a:ext cx="351130" cy="35113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13080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21" name="Text 16"/>
          <p:cNvSpPr txBox="1"/>
          <p:nvPr/>
        </p:nvSpPr>
        <p:spPr>
          <a:xfrm>
            <a:off x="413080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326898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فروش یک‌طرفه، خودکار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326898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بنیاد فقط می‌فروشد؛ قرارداد خودش سورن را می‌فرستد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304038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  <p:txBody>
          <a:bodyPr/>
          <a:p/>
        </p:txBody>
      </p:sp>
      <p:sp>
        <p:nvSpPr>
          <p:cNvPr id="25" name="Shape 20"/>
          <p:cNvSpPr/>
          <p:nvPr/>
        </p:nvSpPr>
        <p:spPr>
          <a:xfrm>
            <a:off x="142875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26" name="Image 3" descr="/home/claude/deck1/icons/searc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8945" y="2293315"/>
            <a:ext cx="351130" cy="351130"/>
          </a:xfrm>
          <a:prstGeom prst="rect">
            <a:avLst/>
          </a:prstGeom>
        </p:spPr>
      </p:pic>
      <p:sp>
        <p:nvSpPr>
          <p:cNvPr id="27" name="Shape 21"/>
          <p:cNvSpPr/>
          <p:nvPr/>
        </p:nvSpPr>
        <p:spPr>
          <a:xfrm>
            <a:off x="141046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28" name="Text 22"/>
          <p:cNvSpPr txBox="1"/>
          <p:nvPr/>
        </p:nvSpPr>
        <p:spPr>
          <a:xfrm>
            <a:off x="141046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بازار آزاد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54864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بعد از ۶ ماه: ابتدا ۴۵ روز گذار کنترل‌شده، سپس عرضه/تقاضا قیمت را تعیین می‌کند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32" name="Image 4" descr="/home/claude/deck1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جریان ریوارد بلاک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توزیع ریوارد جاری — هر بلاک ۲ سورن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0881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۲ سورن هر بلاک، مستقیم و خودکار به BlockRewardDistributor واریز می‌شود (بدون فراخوانی قرارداد)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۱۵٪ ثابت → بنیاد؛ ۵۰٪ پیش‌فرض (حکمرانی‌شونده، ۴۰-۶۵٪) → مستقیم بین ولیدیتورها؛ ۳۵٪ باقی‌مانده → خزانه‌ی مشترک ولیدیتورها (ValidatorsTreasury)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از فی معمولی تراکنش‌ها: ۳۰٪ سوزانده می‌شود، ۷۰٪ + ۱۰۰٪ کارمزد عضویت → مستقیم بین ولیدیتورها، به نسبت تعداد بلاک تولیدی هرکدام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این توزیع را سرویس آف‌چین RewardRouter هر ۲۳ ساعت محاسبه و اجرا می‌کند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حاکمیت و وظایف ولیدیتورها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دو رکن ولیدیتوری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مجمع ولیدیتورها در مقابل هیأت‌مدیره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263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EFF3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600200"/>
            <a:ext cx="5349240" cy="4709160"/>
          </a:xfrm>
          <a:prstGeom prst="roundRect">
            <a:avLst>
              <a:gd name="adj" fmla="val 1553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537960" y="17830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مجمع ولیدیتورها (کل ولیدیتورهای فعال)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7830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8B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هیأت‌مدیره‌ی ولیدیتورها (۵ عضو منتخب)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537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رأی کامل برای پارامترهای امنیتی بنیادین</a:t>
            </a:r>
            <a:endParaRPr lang="en-US" sz="125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درصد اسلش، آستانه‌ی غیرفعالی، دوره‌ی بازگشت، cooldown خروج</a:t>
            </a:r>
            <a:endParaRPr lang="en-US" sz="125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بالاترین سطح تصمیم‌گیری شبکه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286000"/>
            <a:ext cx="480060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فقط شش اختیار تفویضی محدود و صریح</a:t>
            </a:r>
            <a:endParaRPr lang="en-US" sz="125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انتخاب با رأی‌گیری تأییدی مستمر، بدون دوره‌ی ثابت</a:t>
            </a:r>
            <a:endParaRPr lang="en-US" sz="1250" dirty="0"/>
          </a:p>
          <a:p>
            <a:pPr rtl="1" algn="r" indent="0" marL="0">
              <a:spcAft>
                <a:spcPts val="1200"/>
              </a:spcAft>
              <a:buNone/>
            </a:pPr>
            <a:r>
              <a:rPr lang="en-US" sz="12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هیچ پارامتر امنیتی بنیادین را نمی‌تواند تغییر دهد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1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تعهدات هر ولیدیتور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وظایف و مسئولیت‌های ولیدیتور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0881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قفل وثیقه هنگام عضویت (requestMembership) — مطابق منحنی هزینه‌ی ورود نمایی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پرداخت کارمزد عضویت (۴٪ وثیقه) — غیرقابل‌استرداد، مستقیم بین ولیدیتورهای فعال تقسیم می‌شود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ثبت هویت پایه در IdentityRegistry — پیش‌نیاز رأی‌دادن در هیأت‌مدیره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وریفای موبایل و تلگرام — از طریق اپلیکیشن همراه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اجرای مداوم یک نود سالم — لایوینس به‌طور مستقل توسط verifier بررسی می‌شود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امضای قرارداد حقوقی Validator Agreement؛ عدم مشارکت در اقدام هماهنگ برای خاموشی شبکه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اختیارات تفویضی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شش اختیار هیأت‌مدیره‌ی ولیدیتورها</a:t>
            </a:r>
            <a:endParaRPr lang="en-US" sz="25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66620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اختیار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توضیح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چرخش distributionOracle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کلید عملیاتی سرویس RewardRouter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تصویب بودجه‌ی کوچک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زیر سقف smallBudgetCap، از خزانه‌ی ولیدیتورها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تنظیم entryThresholdBase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پایه‌ی منحنی هزینه‌ی ورود ولیدیتور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تنظیم growthFactorPerValidator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ضریب رشد نمایی همان منحنی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تنظیم membershipFeeBps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درصد کارمزد عضویت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چرخش verifier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کلید عملیاتی گزارش لایوینس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پیامد غیرفعالی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چه اتفاقی می‌افتد وقتی سرور یک ولیدیتور از کار می‌افتد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58977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5" name="Image 0" descr="/home/claude/deck1/icons/warn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9965" y="2293315"/>
            <a:ext cx="351130" cy="3511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7148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957148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70966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تشخیص خودکار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70966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بعد از عبور از آستانه‌ی غیرفعالی، هر شخصی (نه فقط بنیاد/هیأت) می‌تواند دموت را permissionless فعال کند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48106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86943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12" name="Image 1" descr="/home/claude/deck1/icons/mon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625" y="2293315"/>
            <a:ext cx="351130" cy="35113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85114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4" name="Text 10"/>
          <p:cNvSpPr txBox="1"/>
          <p:nvPr/>
        </p:nvSpPr>
        <p:spPr>
          <a:xfrm>
            <a:off x="685114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98932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توقف فوری درآمد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598932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از همان لحظه، سهم ریوارد/فی به این ولیدیتور دیگر تعلق نمی‌گیرد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76072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414909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19" name="Image 2" descr="/home/claude/deck1/icons/syn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9285" y="2293315"/>
            <a:ext cx="351130" cy="35113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13080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21" name="Text 16"/>
          <p:cNvSpPr txBox="1"/>
          <p:nvPr/>
        </p:nvSpPr>
        <p:spPr>
          <a:xfrm>
            <a:off x="413080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326898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فرصت بازگشت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326898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حداقل ۴۸ ساعت بعد، اگر نسبت موفقیت لایوینس (۹۵٪+، با حداقل تعداد بررسی کافی) دوباره برقرار شود، به فعال برمی‌گردد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304038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  <p:txBody>
          <a:bodyPr/>
          <a:p/>
        </p:txBody>
      </p:sp>
      <p:sp>
        <p:nvSpPr>
          <p:cNvPr id="25" name="Shape 20"/>
          <p:cNvSpPr/>
          <p:nvPr/>
        </p:nvSpPr>
        <p:spPr>
          <a:xfrm>
            <a:off x="142875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26" name="Image 3" descr="/home/claude/deck1/icons/lo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8945" y="2293315"/>
            <a:ext cx="351130" cy="351130"/>
          </a:xfrm>
          <a:prstGeom prst="rect">
            <a:avLst/>
          </a:prstGeom>
        </p:spPr>
      </p:pic>
      <p:sp>
        <p:nvSpPr>
          <p:cNvPr id="27" name="Shape 21"/>
          <p:cNvSpPr/>
          <p:nvPr/>
        </p:nvSpPr>
        <p:spPr>
          <a:xfrm>
            <a:off x="141046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28" name="Text 22"/>
          <p:cNvSpPr txBox="1"/>
          <p:nvPr/>
        </p:nvSpPr>
        <p:spPr>
          <a:xfrm>
            <a:off x="141046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عدم بازگشت = خروج + اسلش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54864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جریمه‌ی وثیقه (۱٪ طبق درصد اسلش) در لحظه‌ی دموت تعیین‌تکلیف می‌شود — مستقل از تصمیم بعدی برای بازگشت یا خروج رسمی (cooldown یک‌هفته‌ای)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32" name="Image 4" descr="/home/claude/deck1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حاکمیت و وظایف بنیاد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مجمع عمومی بنیاد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۱۵ عضو، دو نوع نصاب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966960" y="240944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5" name="Image 0" descr="/home/claude/deck1/icons/gav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57111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نصاب دوسوم: فقط افزودن/حذف عضو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 ۱۵ عضو یعنی حداقل ۱۰ رأی — تصمیمات با ریسک بالاتر.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87705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4832604"/>
            <a:ext cx="621792" cy="621792"/>
          </a:xfrm>
          <a:prstGeom prst="ellipse">
            <a:avLst/>
          </a:prstGeom>
          <a:solidFill>
            <a:srgbClr val="8B6F00"/>
          </a:solidFill>
          <a:ln/>
        </p:spPr>
        <p:txBody>
          <a:bodyPr/>
          <a:p/>
        </p:txBody>
      </p:sp>
      <p:pic>
        <p:nvPicPr>
          <p:cNvPr id="10" name="Image 1" descr="/home/claude/deck1/icons/bala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499427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9319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نصاب اکثریت ساده: خرج سورن (proposeSendETH)، انتقال ERC20، اجرای دلخواه (Execute)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27939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 ۱۵ عضو یعنی حداقل ۸ رأی — تصمیمات با انعطاف بیشتر ولی ریسک کنترل‌شده.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4" name="Image 2" descr="/home/claude/deck1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6" name="Text 11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مأموریت بنیاد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وظایف بنیاد سور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108813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توسعه، آموزش، و تبلیغات اکوسیستم — طبق اساسنامه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مدیریت موجودی ۲۰میلیونی genesis (ردیف ۱) و اجرای فروش دوره‌ی قیمت ثابت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هیچ کنترلی روی شبکه، ولیدیتورها، یا اوراکل‌های مرتبط با اجماع ندارد (جز دو اوراکل عملیاتی خودش: هویت و پرداخت)</a:t>
            </a:r>
            <a:endParaRPr lang="en-US" sz="1400" dirty="0"/>
          </a:p>
          <a:p>
            <a:pPr rtl="1" algn="r" indent="0" marL="0">
              <a:spcAft>
                <a:spcPts val="1400"/>
              </a:spcAft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  عضویت در بنیاد هیچ حقی را محدود نمی‌کند — یک نفر می‌تواند هم‌زمان عضو بنیاد و ولیدیتور باشد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مثال عملی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نحوه‌ی خرج از کیف‌پول بنیاد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58977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5" name="Image 0" descr="/home/claude/deck1/icons/handsh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9965" y="2293315"/>
            <a:ext cx="351130" cy="3511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57148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957148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70966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پیشنهاد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70966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یک عضو proposeSendETH را با توضیح، مقصد، و مبلغ فراخوانی می‌کند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48106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86943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12" name="Image 1" descr="/home/claude/deck1/icons/us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625" y="2293315"/>
            <a:ext cx="351130" cy="35113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85114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4" name="Text 10"/>
          <p:cNvSpPr txBox="1"/>
          <p:nvPr/>
        </p:nvSpPr>
        <p:spPr>
          <a:xfrm>
            <a:off x="685114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598932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رأی‌گیری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598932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سایر اعضا با vote(proposalId) موافقت خود را ثبت می‌کنند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76072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414909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19" name="Image 2" descr="/home/claude/deck1/icons/clipboar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9285" y="2293315"/>
            <a:ext cx="351130" cy="35113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413080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21" name="Text 16"/>
          <p:cNvSpPr txBox="1"/>
          <p:nvPr/>
        </p:nvSpPr>
        <p:spPr>
          <a:xfrm>
            <a:off x="413080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326898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رسیدن به نصاب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326898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برای SendETH، حداقل ۸ رأی از ۱۵ عضو لازم است (اکثریت ساده — نه دوسوم)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3040380" y="2468880"/>
            <a:ext cx="228600" cy="0"/>
          </a:xfrm>
          <a:prstGeom prst="line">
            <a:avLst/>
          </a:prstGeom>
          <a:noFill/>
          <a:ln w="19050">
            <a:solidFill>
              <a:srgbClr val="C9CEE0"/>
            </a:solidFill>
            <a:prstDash val="solid"/>
          </a:ln>
        </p:spPr>
        <p:txBody>
          <a:bodyPr/>
          <a:p/>
        </p:txBody>
      </p:sp>
      <p:sp>
        <p:nvSpPr>
          <p:cNvPr id="25" name="Shape 20"/>
          <p:cNvSpPr/>
          <p:nvPr/>
        </p:nvSpPr>
        <p:spPr>
          <a:xfrm>
            <a:off x="1428750" y="2103120"/>
            <a:ext cx="731520" cy="731520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26" name="Image 3" descr="/home/claude/deck1/icons/coin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8945" y="2293315"/>
            <a:ext cx="351130" cy="351130"/>
          </a:xfrm>
          <a:prstGeom prst="rect">
            <a:avLst/>
          </a:prstGeom>
        </p:spPr>
      </p:pic>
      <p:sp>
        <p:nvSpPr>
          <p:cNvPr id="27" name="Shape 21"/>
          <p:cNvSpPr/>
          <p:nvPr/>
        </p:nvSpPr>
        <p:spPr>
          <a:xfrm>
            <a:off x="1410462" y="1965960"/>
            <a:ext cx="329184" cy="329184"/>
          </a:xfrm>
          <a:prstGeom prst="ellipse">
            <a:avLst/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28" name="Text 22"/>
          <p:cNvSpPr txBox="1"/>
          <p:nvPr/>
        </p:nvSpPr>
        <p:spPr>
          <a:xfrm>
            <a:off x="1410462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36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3"/>
          <p:cNvSpPr txBox="1"/>
          <p:nvPr/>
        </p:nvSpPr>
        <p:spPr>
          <a:xfrm>
            <a:off x="548640" y="3063240"/>
            <a:ext cx="24917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اجرای خودکار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548640" y="3611880"/>
            <a:ext cx="24917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در همان تراکنش رأی نهایی، انتقال سورن با .call انجام می‌شود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32" name="Image 4" descr="/home/claude/deck1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34" name="Text 27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مزیت‌های رقابتی و بازاریابی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پیشنهادهای زیرساختی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مزیت‌های رقابتی و ایده‌های کسب‌وکاری — به‌روزرسانی شد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5" name="Image 0" descr="/home/claude/deck1/icons/finger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مزیت‌های واقعی پلتفرم — ۱۲ مورد مستند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حکمرانی کدمحور، بدون فورک کلاینت — در sur-competitive-advantages.md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10" name="Image 1" descr="/home/claude/deck1/icons/gav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تراکنش‌های محرمانه (Zether) — افزوده‌ی تازه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پیشنهاد و قرارداد اسکلت آماده؛ نیازمند تصمیم فورک پیاده‌سازی آدیت‌شده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15" name="Image 2" descr="/home/claude/deck1/icons/sear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۱۰۰ ایده‌ی کسب‌وکاری/دپ مستندشده</a:t>
            </a:r>
            <a:endParaRPr lang="en-US" sz="155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از فاکتورینگ تا صرافی غیرمتمرکز — در sur-dapp-business-ideas.md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9" name="Image 3" descr="/home/claude/deck1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بودجه‌ی بازاریابی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برآورد کمبود بودجه — یک واقعیت روز اول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444240" cy="210312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548640" y="1965960"/>
            <a:ext cx="344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2F3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۲۰M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8803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موجودی ردیف ۱ برای کل بازاریابی/توسعه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21480" y="1783080"/>
            <a:ext cx="3444240" cy="210312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4221480" y="1965960"/>
            <a:ext cx="344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2F3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۳۹-۶۵M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4358640" y="28803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نیاز واقعی برای اجرای کامل رودمپ (۳-۵ سال)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894320" y="1783080"/>
            <a:ext cx="3444240" cy="2103120"/>
          </a:xfrm>
          <a:prstGeom prst="roundRect">
            <a:avLst>
              <a:gd name="adj" fmla="val 4348"/>
            </a:avLst>
          </a:prstGeom>
          <a:solidFill>
            <a:srgbClr val="F7F9FC"/>
          </a:solidFill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7894320" y="1965960"/>
            <a:ext cx="344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200" b="1" dirty="0">
                <a:solidFill>
                  <a:srgbClr val="2F36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~۲-۳x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8031480" y="2880360"/>
            <a:ext cx="316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نسبت کمبود نسبت به موجودی فعلی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206240"/>
            <a:ext cx="108813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راه‌حل پیشنهادی: ۲۰ میلیون به‌عنوان حداقل (نه سقف) در نظر گرفته شود؛ کمبود از طریق کانال درخواست تکمیلی (هیأت‌مدیره‌ی ولیدیتورها) تأمین شود.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راه‌حل واقعی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خزانه‌ی ولیدیتورها — یک منبع تکمیلی، نه فقط یک ایده روی کاغذ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966960" y="240944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5" name="Image 0" descr="/home/claude/deck1/icons/handsh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57111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کارکرد خزانه: بودجه‌ی ترویج خودگردانِ ولیدیتورها، نه پورسانت شخصی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ولیدیتور هزینه‌ی جداگانه‌ای ندارد؛ رشد شبکه مستقیماً به نفع خودشان است (فی بیشتر، سورن باارزش‌تر) — همین انگیزه‌ی اقتصادی واقعی برای موافقت با کمک به بودجه‌ی بنیاد است.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87705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4832604"/>
            <a:ext cx="621792" cy="621792"/>
          </a:xfrm>
          <a:prstGeom prst="ellipse">
            <a:avLst/>
          </a:prstGeom>
          <a:solidFill>
            <a:srgbClr val="1B5E20"/>
          </a:solidFill>
          <a:ln/>
        </p:spPr>
        <p:txBody>
          <a:bodyPr/>
          <a:p/>
        </p:txBody>
      </p:sp>
      <p:pic>
        <p:nvPicPr>
          <p:cNvPr id="10" name="Image 1" descr="/home/claude/deck1/icons/mone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499427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9319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توان مالی واقعی: ~۳۶.۷۹ میلیون سورن تجمعی تا سال پنجم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4279392"/>
            <a:ext cx="9144000" cy="2039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پس از کسر ۱۵٪ ثابت بنیاد و سهم مستقیم حکمرانی‌شونده‌ی ولیدیتورها (پیش‌فرض ۵۰٪)، (~۷.۳۶ میلیون سورن در سال)، بدون احتساب کارمزد عضویت (اکنون مستقیم بین ولیدیتورها)/اسلش — پوشش بخش بزرگی از کمبود چندساله‌ی بنیاد.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4" name="Image 2" descr="/home/claude/deck1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16" name="Text 11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وضعیت حقوقی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بانک مرکزی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تفکیک صریح: توکن‌سازی در مقابل ابزار پرداخت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9966960" y="2005584"/>
            <a:ext cx="621792" cy="621792"/>
          </a:xfrm>
          <a:prstGeom prst="ellipse">
            <a:avLst/>
          </a:prstGeom>
          <a:solidFill>
            <a:srgbClr val="8B0000"/>
          </a:solidFill>
          <a:ln/>
        </p:spPr>
        <p:txBody>
          <a:bodyPr/>
          <a:p/>
        </p:txBody>
      </p:sp>
      <p:pic>
        <p:nvPicPr>
          <p:cNvPr id="5" name="Image 0" descr="/home/claude/deck1/icons/bala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8626" y="2167250"/>
            <a:ext cx="298460" cy="298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ممنوعیت استفاده از رمزارز به‌عنوان ابزار پرداخت هنوز پابرجاست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5623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به‌تازگی (آذر ۱۴۰۴) توسط معاون بانک مرکزی صریحاً تکرار شد.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06933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9966960" y="3621024"/>
            <a:ext cx="621792" cy="621792"/>
          </a:xfrm>
          <a:prstGeom prst="ellipse">
            <a:avLst/>
          </a:prstGeom>
          <a:solidFill>
            <a:srgbClr val="2F3690"/>
          </a:solidFill>
          <a:ln/>
        </p:spPr>
        <p:txBody>
          <a:bodyPr/>
          <a:p/>
        </p:txBody>
      </p:sp>
      <p:pic>
        <p:nvPicPr>
          <p:cNvPr id="10" name="Image 1" descr="/home/claude/deck1/icons/handshak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8626" y="3782690"/>
            <a:ext cx="298460" cy="298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8640" y="3124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ولی «توکن‌سازی» به‌طور صریح تشویق می‌شود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47167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بانک مرکزی این دو مقوله را رسماً از هم جدا کرده؛ این‌که سورن دقیقاً در کدام دسته جا می‌گیرد، نیازمند تأیید مستقل حقوقی است.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48640" y="4684776"/>
            <a:ext cx="10881360" cy="0"/>
          </a:xfrm>
          <a:prstGeom prst="line">
            <a:avLst/>
          </a:prstGeom>
          <a:noFill/>
          <a:ln w="12700">
            <a:solidFill>
              <a:srgbClr val="E5E8F0"/>
            </a:solidFill>
            <a:prstDash val="solid"/>
          </a:ln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9966960" y="5236464"/>
            <a:ext cx="621792" cy="621792"/>
          </a:xfrm>
          <a:prstGeom prst="ellipse">
            <a:avLst/>
          </a:prstGeom>
          <a:solidFill>
            <a:srgbClr val="8B6F00"/>
          </a:solidFill>
          <a:ln/>
        </p:spPr>
        <p:txBody>
          <a:bodyPr/>
          <a:p/>
        </p:txBody>
      </p:sp>
      <p:pic>
        <p:nvPicPr>
          <p:cNvPr id="15" name="Image 2" descr="/home/claude/deck1/icons/warn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8626" y="5398130"/>
            <a:ext cx="298460" cy="298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48640" y="4739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توکن پگ‌شده به ریال همچنان مسدود است</a:t>
            </a:r>
            <a:endParaRPr lang="en-US" sz="155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087112"/>
            <a:ext cx="9144000" cy="1231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444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این مسیر فقط برای بانک مرکزی و بانک‌های دارای مجوز بانکی باز است.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19" name="Image 3" descr="/home/claude/deck1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600" b="1" dirty="0">
                <a:solidFill>
                  <a:srgbClr val="3D48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3657600" y="283464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تصمیمات باز نیازمند تأیید شما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5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b="1" spc="150" kern="0" dirty="0">
                <a:solidFill>
                  <a:srgbClr val="2F3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جمع‌بندی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7607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5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مهم‌ترین تصمیمات باز</a:t>
            </a:r>
            <a:endParaRPr lang="en-US" sz="25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466344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66620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دسته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مورد باز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3690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توزیع genesis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مبلغ دقیق کل و فهرست ردیف ۲ (جبران ولیدیتورهای شبکه‌ی قبلی)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پارامترهای امنیتی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آستانه‌ی توقف جریمه‌ی دسته‌جمعی (فعلاً ۲۰٪)؛ آزمون اجرایی inactivityThreshold پیش از شبکه‌ی اصلی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بودجه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روش/زمان دقیق درخواست بودجه‌ی تکمیلی بازاریابی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حسابرسی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انتخاب تیم حسابرسی امنیتی + منبع بودجه‌اش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حقوقی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نوع دقیق ثبت حقوقی بنیاد، مشاوره‌ی حقوقی مستقل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66206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سپیدنامه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تیم و مشاوران؛ تاریخ‌های دقیق نقشه‌ی راه (پیشینه و فازبندی ✅ تکمیل شدند)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29768" y="6446520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6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73952"/>
            <a:ext cx="256032" cy="25603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04672" y="65379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بلاک‌چین سور — ارائه به هیأت‌مدیره‌ی بنیاد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1430000" y="65379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8B9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2F369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5486400" cy="5486400"/>
          </a:xfrm>
          <a:prstGeom prst="ellipse">
            <a:avLst/>
          </a:prstGeom>
          <a:solidFill>
            <a:srgbClr val="3D46A8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332720" y="411480"/>
            <a:ext cx="1371600" cy="13716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p/>
        </p:txBody>
      </p:sp>
      <p:pic>
        <p:nvPicPr>
          <p:cNvPr id="4" name="Image 0" descr="/home/claude/deck1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0" y="594360"/>
            <a:ext cx="1005840" cy="1005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14400" y="265176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جمع‌بندی و گام‌های بعدی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365760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فهرست کامل تصمیمات باز در سند «sur-master-open-items.md» موجود است — آماده‌ی پاسخ به سؤالات هیأت‌مدیره هستیم.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2026-08-29T07:15:10Z</dcterms:created>
  <dcterms:modified xsi:type="dcterms:W3CDTF">2026-08-29T07:15:10Z</dcterms:modified>
</cp:coreProperties>
</file>