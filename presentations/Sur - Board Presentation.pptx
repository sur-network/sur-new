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 (تومان)</c:v>
                </c:pt>
              </c:strCache>
            </c:strRef>
          </c:tx>
          <c:spPr>
            <a:solidFill>
              <a:srgbClr val="2F3690"/>
            </a:solidFill>
            <a:effectLst/>
          </c:spPr>
          <c:invertIfNegative val="0"/>
          <c:dLbls>
            <c:numFmt formatCode="0.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106.1</c:v>
                </c:pt>
                <c:pt idx="3">
                  <c:v>109.3</c:v>
                </c:pt>
                <c:pt idx="4">
                  <c:v>112.6</c:v>
                </c:pt>
                <c:pt idx="5">
                  <c:v>115.9</c:v>
                </c:pt>
              </c:numCache>
            </c:numRef>
          </c:val>
        </c:ser>
        <c:dLbls>
          <c:numFmt formatCode="0.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4-1.png"/><Relationship Id="rId3" Type="http://schemas.openxmlformats.org/officeDocument/2006/relationships/image" Target="../media/image-24-2.png"/><Relationship Id="rId4" Type="http://schemas.openxmlformats.org/officeDocument/2006/relationships/image" Target="../media/image-24-3.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نتیجه فقط با refreshBoard (حداکثر هر ۳۰ روز) اعمال می‌شود و نبودِ رأی هیأت را خالی نمی‌کند.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لزوم تغییر فایل و ری‌استارت نودها فرضی است و روی Besu واقعی هنوز آزموده نشده.</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فروش سورن: دوره‌ی قیمت ثابت ۶ ماهه و پنجره‌ی گذار ۴۵ روزه</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852160" cy="3749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257800"/>
            <a:ext cx="585216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قیمت هر سورن به تومان؛ رشد مرکب ۳٪ در ماه، کل دوره حدود ۱۶٪</a:t>
            </a:r>
            <a:endParaRPr lang="en-US" sz="1200" dirty="0"/>
          </a:p>
        </p:txBody>
      </p:sp>
      <p:sp>
        <p:nvSpPr>
          <p:cNvPr id="8" name="Shape 5"/>
          <p:cNvSpPr/>
          <p:nvPr/>
        </p:nvSpPr>
        <p:spPr>
          <a:xfrm>
            <a:off x="6613855" y="1463040"/>
            <a:ext cx="502920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581912"/>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05356"/>
            <a:ext cx="210312" cy="210312"/>
          </a:xfrm>
          <a:prstGeom prst="rect">
            <a:avLst/>
          </a:prstGeom>
        </p:spPr>
      </p:pic>
      <p:sp>
        <p:nvSpPr>
          <p:cNvPr id="11" name="Text 7"/>
          <p:cNvSpPr txBox="1"/>
          <p:nvPr/>
        </p:nvSpPr>
        <p:spPr>
          <a:xfrm>
            <a:off x="6796735" y="1581912"/>
            <a:ext cx="4114800" cy="457200"/>
          </a:xfrm>
          <a:prstGeom prst="rect">
            <a:avLst/>
          </a:prstGeom>
          <a:noFill/>
          <a:ln/>
        </p:spPr>
        <p:txBody>
          <a:bodyPr wrap="square" lIns="0" tIns="0" rIns="0" bIns="0" rtlCol="0" anchor="ctr"/>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قرارداد SurenSale</a:t>
            </a:r>
            <a:endParaRPr lang="en-US" sz="1450" dirty="0"/>
          </a:p>
        </p:txBody>
      </p:sp>
      <p:sp>
        <p:nvSpPr>
          <p:cNvPr id="12" name="Text 8"/>
          <p:cNvSpPr txBox="1"/>
          <p:nvPr/>
        </p:nvSpPr>
        <p:spPr>
          <a:xfrm>
            <a:off x="6796735" y="2084832"/>
            <a:ext cx="4663440" cy="8229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فروش خودکار و شفاف؛ قیمت فقط از block.timestamp محاسبه می‌شود. paymentOracle فقط پرداخت تأییدشده را گزارش می‌کند و نمی‌تواند قیمت را تغییر دهد؛ گزارش‌ها idempotent‌اند.</a:t>
            </a:r>
            <a:endParaRPr lang="en-US" sz="1150" dirty="0"/>
          </a:p>
        </p:txBody>
      </p:sp>
      <p:sp>
        <p:nvSpPr>
          <p:cNvPr id="13" name="Shape 9"/>
          <p:cNvSpPr/>
          <p:nvPr/>
        </p:nvSpPr>
        <p:spPr>
          <a:xfrm>
            <a:off x="6613855" y="3063240"/>
            <a:ext cx="502920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182112"/>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05556"/>
            <a:ext cx="210312" cy="210312"/>
          </a:xfrm>
          <a:prstGeom prst="rect">
            <a:avLst/>
          </a:prstGeom>
        </p:spPr>
      </p:pic>
      <p:sp>
        <p:nvSpPr>
          <p:cNvPr id="16" name="Text 11"/>
          <p:cNvSpPr txBox="1"/>
          <p:nvPr/>
        </p:nvSpPr>
        <p:spPr>
          <a:xfrm>
            <a:off x="6796735" y="3182112"/>
            <a:ext cx="4114800" cy="457200"/>
          </a:xfrm>
          <a:prstGeom prst="rect">
            <a:avLst/>
          </a:prstGeom>
          <a:noFill/>
          <a:ln/>
        </p:spPr>
        <p:txBody>
          <a:bodyPr wrap="square" lIns="0" tIns="0" rIns="0" bIns="0" rtlCol="0" anchor="ctr"/>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فقط فروش، بدون بازخرید</a:t>
            </a:r>
            <a:endParaRPr lang="en-US" sz="1450" dirty="0"/>
          </a:p>
        </p:txBody>
      </p:sp>
      <p:sp>
        <p:nvSpPr>
          <p:cNvPr id="17" name="Text 12"/>
          <p:cNvSpPr txBox="1"/>
          <p:nvPr/>
        </p:nvSpPr>
        <p:spPr>
          <a:xfrm>
            <a:off x="6796735" y="3685032"/>
            <a:ext cx="4663440" cy="8229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بنیاد سقف قیمت بازار ثانویه است، ولی کفی ندارد. فروش دوره‌ای تأمین موجودی (نه یک‌جا) سقف زیان کلید هک‌شده را محدود می‌کند.</a:t>
            </a:r>
            <a:endParaRPr lang="en-US" sz="1150" dirty="0"/>
          </a:p>
        </p:txBody>
      </p:sp>
      <p:sp>
        <p:nvSpPr>
          <p:cNvPr id="18" name="Shape 13"/>
          <p:cNvSpPr/>
          <p:nvPr/>
        </p:nvSpPr>
        <p:spPr>
          <a:xfrm>
            <a:off x="6613855" y="4663440"/>
            <a:ext cx="5029200" cy="1463040"/>
          </a:xfrm>
          <a:prstGeom prst="roundRect">
            <a:avLst>
              <a:gd name="adj" fmla="val 7500"/>
            </a:avLst>
          </a:prstGeom>
          <a:solidFill>
            <a:srgbClr val="FCEAE4"/>
          </a:solidFill>
          <a:ln w="9525">
            <a:solidFill>
              <a:srgbClr val="FCEAE4"/>
            </a:solidFill>
            <a:prstDash val="solid"/>
          </a:ln>
        </p:spPr>
      </p:sp>
      <p:sp>
        <p:nvSpPr>
          <p:cNvPr id="19" name="Shape 14"/>
          <p:cNvSpPr/>
          <p:nvPr/>
        </p:nvSpPr>
        <p:spPr>
          <a:xfrm>
            <a:off x="11048695" y="4782312"/>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905756"/>
            <a:ext cx="210312" cy="210312"/>
          </a:xfrm>
          <a:prstGeom prst="rect">
            <a:avLst/>
          </a:prstGeom>
        </p:spPr>
      </p:pic>
      <p:sp>
        <p:nvSpPr>
          <p:cNvPr id="21" name="Text 15"/>
          <p:cNvSpPr txBox="1"/>
          <p:nvPr/>
        </p:nvSpPr>
        <p:spPr>
          <a:xfrm>
            <a:off x="6796735" y="4782312"/>
            <a:ext cx="4114800" cy="457200"/>
          </a:xfrm>
          <a:prstGeom prst="rect">
            <a:avLst/>
          </a:prstGeom>
          <a:noFill/>
          <a:ln/>
        </p:spPr>
        <p:txBody>
          <a:bodyPr wrap="square" lIns="0" tIns="0" rIns="0" bIns="0" rtlCol="0" anchor="ctr"/>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پنجره‌ی گذار ۴۵ روزه</a:t>
            </a:r>
            <a:endParaRPr lang="en-US" sz="1450" dirty="0"/>
          </a:p>
        </p:txBody>
      </p:sp>
      <p:sp>
        <p:nvSpPr>
          <p:cNvPr id="22" name="Text 16"/>
          <p:cNvSpPr txBox="1"/>
          <p:nvPr/>
        </p:nvSpPr>
        <p:spPr>
          <a:xfrm>
            <a:off x="6796735" y="5285232"/>
            <a:ext cx="4663440" cy="8229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تغییر روزانه ±۰٫۵٪ بر پایه‌ی حجم فروش نسبت به میانگین ۷روزه؛ کف ۹۰ و سقف ۱۵۰ تومان؛ پایان با ۴۵ روز یا اتمام موجودی. این منطق هنوز در قرارداد پیاده نشده است.</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و آزمون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آزمون: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transitions.qbft رفت‌وبرگشت) در سپتامبر ۲۰۲۶ روی Besu واقعی آزموده شد. فرایند سازمانی ۵ از ۷ و جایگزینی مجموعه‌ی ولیدیتوری واقعاً متفاوت آزموده نشده، و ابزار کمکی آف‌چین هنوز نوشته نشده است.</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و آزمون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ویژگی‌های سقف پاداش، حکمرانی نرخ، واجدان رأی، ترتیب آدرس‌ها، فاصله‌ی تغییر سهم و نسخه‌ی ترکیب هیأت در آزمون خودکار قراردادها (روی شبکه‌ی شبیه‌ساز Hardhat) تأیید شده‌اند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نسخه‌ی فعلی کد هنوز روی Besu واقعی آزموده نشده است (برنامه‌ی آزمون نوشته شده، اجرا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آزمون روی Besu واقعی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و آزمون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این جدول آمادگی production را اعلام نمی‌کند؛ نتیجه‌ی آزمون روی شبکه‌ی شبیه‌ساز جایگزین آزمون روی Besu واقعی نیست.</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اجرای Zether و پنجره‌ی گذار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2026-10-03T11:48:49Z</dcterms:created>
  <dcterms:modified xsi:type="dcterms:W3CDTF">2026-10-03T11:48:49Z</dcterms:modified>
</cp:coreProperties>
</file>